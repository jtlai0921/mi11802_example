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ja-JP"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付款方法</a:t>
            </a:r>
            <a:endParaRPr lang="ja-JP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比例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10A-4527-A276-C1AE74F5A1A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10A-4527-A276-C1AE74F5A1A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10A-4527-A276-C1AE74F5A1A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10A-4527-A276-C1AE74F5A1A9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A9EC-41AF-98C6-61E7C89DF88D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A9EC-41AF-98C6-61E7C89DF88D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A9EC-41AF-98C6-61E7C89DF88D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lang="ja-JP" sz="16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A10A-4527-A276-C1AE74F5A1A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ja-JP"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現金、信用卡</c:v>
                </c:pt>
                <c:pt idx="1">
                  <c:v>現金、信用卡、行動錢包</c:v>
                </c:pt>
                <c:pt idx="2">
                  <c:v>僅現金</c:v>
                </c:pt>
                <c:pt idx="3">
                  <c:v>現金、行動錢包</c:v>
                </c:pt>
                <c:pt idx="4">
                  <c:v>僅信用卡</c:v>
                </c:pt>
                <c:pt idx="5">
                  <c:v>僅行動錢包</c:v>
                </c:pt>
                <c:pt idx="6">
                  <c:v>信用卡、行動錢包</c:v>
                </c:pt>
              </c:strCache>
            </c:strRef>
          </c:cat>
          <c:val>
            <c:numRef>
              <c:f>Sheet1!$B$2:$B$8</c:f>
              <c:numCache>
                <c:formatCode>0.0%</c:formatCode>
                <c:ptCount val="7"/>
                <c:pt idx="0">
                  <c:v>0.53100000000000003</c:v>
                </c:pt>
                <c:pt idx="1">
                  <c:v>0.215</c:v>
                </c:pt>
                <c:pt idx="2">
                  <c:v>0.13400000000000001</c:v>
                </c:pt>
                <c:pt idx="3">
                  <c:v>7.4999999999999997E-2</c:v>
                </c:pt>
                <c:pt idx="4">
                  <c:v>0.02</c:v>
                </c:pt>
                <c:pt idx="5">
                  <c:v>1.2999999999999999E-2</c:v>
                </c:pt>
                <c:pt idx="6">
                  <c:v>1.2E-2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1D-40B9-B7DB-1C12FF014F51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197" b="0" i="0" u="none" strike="noStrike" kern="1200" baseline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ja-JP" sz="1862" b="0" i="0" u="none" strike="noStrike" kern="1200" spc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使用行動錢包付款的比例</a:t>
            </a:r>
            <a:endParaRPr lang="ja-JP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862" b="0" i="0" u="none" strike="noStrike" kern="1200" spc="0" baseline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defRPr>
          </a:pPr>
          <a:endParaRPr lang="zh-TW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比例</c:v>
                </c:pt>
              </c:strCache>
            </c:strRef>
          </c:tx>
          <c:dPt>
            <c:idx val="0"/>
            <c:bubble3D val="0"/>
            <c:spPr>
              <a:solidFill>
                <a:srgbClr val="00339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10A-4527-A276-C1AE74F5A1A9}"/>
              </c:ext>
            </c:extLst>
          </c:dPt>
          <c:dPt>
            <c:idx val="1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10A-4527-A276-C1AE74F5A1A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10A-4527-A276-C1AE74F5A1A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10A-4527-A276-C1AE74F5A1A9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A9EC-41AF-98C6-61E7C89DF88D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A9EC-41AF-98C6-61E7C89DF88D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A9EC-41AF-98C6-61E7C89DF88D}"/>
              </c:ext>
            </c:extLst>
          </c:dPt>
          <c:dLbls>
            <c:dLbl>
              <c:idx val="0"/>
              <c:layout>
                <c:manualLayout>
                  <c:x val="-0.23587113870381593"/>
                  <c:y val="0.19270455839608125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lang="ja-JP" sz="3600" b="0" i="0" u="none" strike="noStrike" kern="1200" baseline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defRPr>
                    </a:pPr>
                    <a:fld id="{B55C15B0-26EA-4035-875C-4F9D833E5453}" type="CATEGORYNAME">
                      <a:rPr lang="ja-JP" altLang="en-US" sz="3600" b="1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rPr>
                      <a:pPr>
                        <a:defRPr lang="ja-JP" sz="360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defRPr>
                      </a:pPr>
                      <a:t>[類別名稱]</a:t>
                    </a:fld>
                    <a:r>
                      <a:rPr lang="ja-JP" altLang="en-US" sz="3600" baseline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 </a:t>
                    </a:r>
                    <a:fld id="{A6F05820-5FA7-4093-87CC-03A598199B13}" type="PERCENTAGE">
                      <a:rPr lang="en-US" altLang="ja-JP" sz="3600" baseline="0"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pPr>
                        <a:defRPr lang="ja-JP" sz="360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defRPr>
                      </a:pPr>
                      <a:t>[百分比]</a:t>
                    </a:fld>
                    <a:endParaRPr lang="ja-JP" altLang="en-US" sz="3600" baseline="0" dirty="0"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c:rich>
              </c:tx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lang="ja-JP" sz="3600" b="0" i="0" u="none" strike="noStrike" kern="1200" baseline="0">
                      <a:solidFill>
                        <a:schemeClr val="bg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Arial" panose="020B0604020202020204" pitchFamily="34" charset="0"/>
                    </a:defRPr>
                  </a:pPr>
                  <a:endParaRPr lang="zh-TW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4807692307692308"/>
                      <c:h val="0.4212691988742278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A10A-4527-A276-C1AE74F5A1A9}"/>
                </c:ext>
              </c:extLst>
            </c:dLbl>
            <c:dLbl>
              <c:idx val="1"/>
              <c:dLblPos val="ctr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10A-4527-A276-C1AE74F5A1A9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ja-JP" sz="1197" b="0" i="0" u="none" strike="noStrike" kern="1200" baseline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defRPr>
                </a:pPr>
                <a:endParaRPr lang="zh-TW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使用</c:v>
                </c:pt>
                <c:pt idx="1">
                  <c:v>不使用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0.30299999999999999</c:v>
                </c:pt>
                <c:pt idx="1">
                  <c:v>0.69699999999999995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1D-40B9-B7DB-1C12FF014F51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9688D639-AA55-412F-B4A4-B170696AA7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8012538"/>
              </p:ext>
            </p:extLst>
          </p:nvPr>
        </p:nvGraphicFramePr>
        <p:xfrm>
          <a:off x="1651000" y="1227666"/>
          <a:ext cx="6604000" cy="4402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9688D639-AA55-412F-B4A4-B170696AA7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6405484"/>
              </p:ext>
            </p:extLst>
          </p:nvPr>
        </p:nvGraphicFramePr>
        <p:xfrm>
          <a:off x="1651000" y="1227666"/>
          <a:ext cx="6604000" cy="4402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吹き出し: 円形 2">
            <a:extLst>
              <a:ext uri="{FF2B5EF4-FFF2-40B4-BE49-F238E27FC236}">
                <a16:creationId xmlns:a16="http://schemas.microsoft.com/office/drawing/2014/main" id="{17E6336A-AE75-4F06-8441-D66AE78DFBC1}"/>
              </a:ext>
            </a:extLst>
          </p:cNvPr>
          <p:cNvSpPr/>
          <p:nvPr/>
        </p:nvSpPr>
        <p:spPr>
          <a:xfrm>
            <a:off x="6117685" y="1773043"/>
            <a:ext cx="2594994" cy="568711"/>
          </a:xfrm>
          <a:prstGeom prst="wedgeEllipseCallout">
            <a:avLst>
              <a:gd name="adj1" fmla="val -34691"/>
              <a:gd name="adj2" fmla="val 92878"/>
            </a:avLst>
          </a:prstGeom>
          <a:noFill/>
          <a:ln w="12700">
            <a:solidFill>
              <a:srgbClr val="003399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2000">
                <a:solidFill>
                  <a:srgbClr val="0033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每</a:t>
            </a:r>
            <a:r>
              <a:rPr lang="en-US" altLang="zh-TW" sz="2000">
                <a:solidFill>
                  <a:srgbClr val="0033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3</a:t>
            </a:r>
            <a:r>
              <a:rPr lang="zh-TW" altLang="en-US" sz="2000">
                <a:solidFill>
                  <a:srgbClr val="0033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人就有</a:t>
            </a:r>
            <a:r>
              <a:rPr lang="en-US" altLang="zh-TW" sz="2000">
                <a:solidFill>
                  <a:srgbClr val="0033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1</a:t>
            </a:r>
            <a:r>
              <a:rPr lang="zh-TW" altLang="en-US" sz="2000">
                <a:solidFill>
                  <a:srgbClr val="0033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人</a:t>
            </a:r>
            <a:endParaRPr lang="ja-JP" sz="2000" dirty="0">
              <a:solidFill>
                <a:srgbClr val="00339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798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232</TotalTime>
  <Words>19</Words>
  <Application>Microsoft Office PowerPoint</Application>
  <PresentationFormat>A4 紙張 (210x297 公釐)</PresentationFormat>
  <Paragraphs>6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9" baseType="lpstr">
      <vt:lpstr>游ゴシック</vt:lpstr>
      <vt:lpstr>游ゴシック Light</vt:lpstr>
      <vt:lpstr>微軟正黑體</vt:lpstr>
      <vt:lpstr>Arial</vt:lpstr>
      <vt:lpstr>Calibri</vt:lpstr>
      <vt:lpstr>Calibri Light</vt:lpstr>
      <vt:lpstr>Office テーマ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Windows 使用者</cp:lastModifiedBy>
  <cp:revision>32</cp:revision>
  <dcterms:created xsi:type="dcterms:W3CDTF">2017-11-09T07:26:57Z</dcterms:created>
  <dcterms:modified xsi:type="dcterms:W3CDTF">2018-10-02T09:48:41Z</dcterms:modified>
</cp:coreProperties>
</file>