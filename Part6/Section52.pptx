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8" r:id="rId3"/>
    <p:sldId id="257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99CCFF"/>
    <a:srgbClr val="66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3992" autoAdjust="0"/>
  </p:normalViewPr>
  <p:slideViewPr>
    <p:cSldViewPr snapToGrid="0">
      <p:cViewPr varScale="1">
        <p:scale>
          <a:sx n="101" d="100"/>
          <a:sy n="101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A60879B-958F-4867-AFDB-C9398F671B96}"/>
              </a:ext>
            </a:extLst>
          </p:cNvPr>
          <p:cNvGrpSpPr/>
          <p:nvPr/>
        </p:nvGrpSpPr>
        <p:grpSpPr>
          <a:xfrm>
            <a:off x="0" y="-2"/>
            <a:ext cx="9424220" cy="6880304"/>
            <a:chOff x="0" y="-2"/>
            <a:chExt cx="9424220" cy="6880304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5FEFD98E-48E5-487D-9055-54660E525FEC}"/>
                </a:ext>
              </a:extLst>
            </p:cNvPr>
            <p:cNvSpPr/>
            <p:nvPr/>
          </p:nvSpPr>
          <p:spPr>
            <a:xfrm>
              <a:off x="0" y="3740379"/>
              <a:ext cx="5838002" cy="313992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D43DE0B-81D9-4C90-86B7-BFFA2E689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"/>
              <a:ext cx="5838002" cy="3718079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6307393" y="1296942"/>
              <a:ext cx="301358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可攝取到許多酵素和營養素的果汁，最適合美容和瘦身。以女性為主的這份企劃，便是以這個特徵作為主要訴求。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選擇人潮眾多的店鋪，透過實際的操作銷售，讓客戶實際感受到新鮮果汁的美味。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月預定使用新產品</a:t>
              </a:r>
              <a:r>
                <a:rPr kumimoji="1" lang="en-US" altLang="ja-JP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AJ-700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系列進行下次的促銷計劃。詳細請參考附件。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19" name="図 18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48C402F-1957-454B-AE5E-DCE190A19D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7607245" y="5195801"/>
              <a:ext cx="413884" cy="1262525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691E422-522F-48CF-94E3-380CD55C5723}"/>
                </a:ext>
              </a:extLst>
            </p:cNvPr>
            <p:cNvSpPr txBox="1"/>
            <p:nvPr/>
          </p:nvSpPr>
          <p:spPr>
            <a:xfrm>
              <a:off x="8183713" y="5950495"/>
              <a:ext cx="124050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多功能果汁機</a:t>
              </a:r>
              <a:endParaRPr kumimoji="1"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en-US" altLang="ja-JP" sz="9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AJ-700W</a:t>
              </a:r>
            </a:p>
            <a:p>
              <a:pPr algn="just"/>
              <a:r>
                <a:rPr kumimoji="1" lang="en-US" altLang="ja-JP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39,500</a:t>
              </a:r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日圓（未稅）</a:t>
              </a:r>
              <a:endParaRPr kumimoji="1"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6D70449-6FE8-4BFB-9B15-FC9B60E7F1BD}"/>
                </a:ext>
              </a:extLst>
            </p:cNvPr>
            <p:cNvSpPr txBox="1"/>
            <p:nvPr/>
          </p:nvSpPr>
          <p:spPr>
            <a:xfrm>
              <a:off x="1412207" y="5057206"/>
              <a:ext cx="301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促銷計劃</a:t>
              </a:r>
              <a:endParaRPr lang="ja-JP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486292D-6442-4188-AE54-701E47D0B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193125"/>
              </p:ext>
            </p:extLst>
          </p:nvPr>
        </p:nvGraphicFramePr>
        <p:xfrm>
          <a:off x="6307393" y="3177196"/>
          <a:ext cx="3013587" cy="13236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04529">
                  <a:extLst>
                    <a:ext uri="{9D8B030D-6E8A-4147-A177-3AD203B41FA5}">
                      <a16:colId xmlns:a16="http://schemas.microsoft.com/office/drawing/2014/main" val="3755233174"/>
                    </a:ext>
                  </a:extLst>
                </a:gridCol>
                <a:gridCol w="1004529">
                  <a:extLst>
                    <a:ext uri="{9D8B030D-6E8A-4147-A177-3AD203B41FA5}">
                      <a16:colId xmlns:a16="http://schemas.microsoft.com/office/drawing/2014/main" val="169980476"/>
                    </a:ext>
                  </a:extLst>
                </a:gridCol>
                <a:gridCol w="1004529">
                  <a:extLst>
                    <a:ext uri="{9D8B030D-6E8A-4147-A177-3AD203B41FA5}">
                      <a16:colId xmlns:a16="http://schemas.microsoft.com/office/drawing/2014/main" val="3732257823"/>
                    </a:ext>
                  </a:extLst>
                </a:gridCol>
              </a:tblGrid>
              <a:tr h="264737">
                <a:tc>
                  <a:txBody>
                    <a:bodyPr/>
                    <a:lstStyle/>
                    <a:p>
                      <a:r>
                        <a:rPr kumimoji="1" lang="en-US" altLang="ja-JP" sz="11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zh-TW" altLang="en-US" sz="11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月</a:t>
                      </a:r>
                      <a:endParaRPr kumimoji="1" lang="ja-JP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場所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內容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972358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百貨公司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實演銷售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36103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超市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實演銷售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074897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家電量販店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促銷活動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5048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多元廣場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活動</a:t>
                      </a:r>
                      <a:endParaRPr kumimoji="1" lang="ja-JP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788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20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486292D-6442-4188-AE54-701E47D0B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51987"/>
              </p:ext>
            </p:extLst>
          </p:nvPr>
        </p:nvGraphicFramePr>
        <p:xfrm>
          <a:off x="5338311" y="3549160"/>
          <a:ext cx="3582978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4326">
                  <a:extLst>
                    <a:ext uri="{9D8B030D-6E8A-4147-A177-3AD203B41FA5}">
                      <a16:colId xmlns:a16="http://schemas.microsoft.com/office/drawing/2014/main" val="3755233174"/>
                    </a:ext>
                  </a:extLst>
                </a:gridCol>
                <a:gridCol w="1194326">
                  <a:extLst>
                    <a:ext uri="{9D8B030D-6E8A-4147-A177-3AD203B41FA5}">
                      <a16:colId xmlns:a16="http://schemas.microsoft.com/office/drawing/2014/main" val="169980476"/>
                    </a:ext>
                  </a:extLst>
                </a:gridCol>
                <a:gridCol w="1194326">
                  <a:extLst>
                    <a:ext uri="{9D8B030D-6E8A-4147-A177-3AD203B41FA5}">
                      <a16:colId xmlns:a16="http://schemas.microsoft.com/office/drawing/2014/main" val="3732257823"/>
                    </a:ext>
                  </a:extLst>
                </a:gridCol>
              </a:tblGrid>
              <a:tr h="264737"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zh-TW" altLang="en-US" sz="14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月</a:t>
                      </a:r>
                      <a:endParaRPr kumimoji="1" lang="ja-JP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場所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內容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972358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百貨公司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實演銷售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9CC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36103"/>
                  </a:ext>
                </a:extLst>
              </a:tr>
              <a:tr h="223485"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超市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實演銷售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074897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家電量販店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促銷活動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9CC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05048"/>
                  </a:ext>
                </a:extLst>
              </a:tr>
              <a:tr h="264737"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</a:t>
                      </a:r>
                      <a:r>
                        <a:rPr kumimoji="1" lang="en-US" altLang="ja-JP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週末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多元廣場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活動</a:t>
                      </a:r>
                      <a:endParaRPr kumimoji="1" lang="ja-JP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788101"/>
                  </a:ext>
                </a:extLst>
              </a:tr>
            </a:tbl>
          </a:graphicData>
        </a:graphic>
      </p:graphicFrame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A2C8D8F-A1A0-468F-8B13-EEF34A033F73}"/>
              </a:ext>
            </a:extLst>
          </p:cNvPr>
          <p:cNvGrpSpPr/>
          <p:nvPr/>
        </p:nvGrpSpPr>
        <p:grpSpPr>
          <a:xfrm>
            <a:off x="0" y="-2"/>
            <a:ext cx="9120074" cy="6858002"/>
            <a:chOff x="0" y="-2"/>
            <a:chExt cx="9120074" cy="685800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5FEFD98E-48E5-487D-9055-54660E525FEC}"/>
                </a:ext>
              </a:extLst>
            </p:cNvPr>
            <p:cNvSpPr/>
            <p:nvPr/>
          </p:nvSpPr>
          <p:spPr>
            <a:xfrm>
              <a:off x="0" y="2772697"/>
              <a:ext cx="4353598" cy="408530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D43DE0B-81D9-4C90-86B7-BFFA2E689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"/>
              <a:ext cx="4353598" cy="2772699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5338311" y="1332254"/>
              <a:ext cx="3582976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可攝取到許多酵素和營養素的果汁，最適合美容和瘦身。以女性為主的這份企劃，便是以這個特徵作為主要訴求。</a:t>
              </a: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選擇人潮眾多的店鋪，透過實際的操作銷售，讓客戶實際感受到新鮮果汁的美味。</a:t>
              </a:r>
            </a:p>
            <a:p>
              <a:pPr algn="just"/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月預定使用新產品</a:t>
              </a:r>
              <a:r>
                <a:rPr kumimoji="1"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AJ-700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系列進行下次的促銷計劃。詳細請參考附件。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19" name="図 18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48C402F-1957-454B-AE5E-DCE190A19D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5485133" y="5807697"/>
              <a:ext cx="236030" cy="720000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691E422-522F-48CF-94E3-380CD55C5723}"/>
                </a:ext>
              </a:extLst>
            </p:cNvPr>
            <p:cNvSpPr txBox="1"/>
            <p:nvPr/>
          </p:nvSpPr>
          <p:spPr>
            <a:xfrm>
              <a:off x="7879567" y="6019866"/>
              <a:ext cx="124050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多功能果汁機</a:t>
              </a:r>
              <a:endParaRPr kumimoji="1"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en-US" altLang="ja-JP" sz="9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AJ-700W</a:t>
              </a:r>
            </a:p>
            <a:p>
              <a:pPr algn="just"/>
              <a:r>
                <a:rPr kumimoji="1" lang="en-US" altLang="ja-JP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39,500</a:t>
              </a:r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日圓（未稅）</a:t>
              </a:r>
              <a:endParaRPr kumimoji="1"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6D70449-6FE8-4BFB-9B15-FC9B60E7F1BD}"/>
                </a:ext>
              </a:extLst>
            </p:cNvPr>
            <p:cNvSpPr txBox="1"/>
            <p:nvPr/>
          </p:nvSpPr>
          <p:spPr>
            <a:xfrm>
              <a:off x="5623005" y="584218"/>
              <a:ext cx="3013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促銷計劃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0" name="図 9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E69D2E2-19B2-4208-A042-CF2BE8C17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4480237" y="5807697"/>
              <a:ext cx="236030" cy="720000"/>
            </a:xfrm>
            <a:prstGeom prst="rect">
              <a:avLst/>
            </a:prstGeom>
          </p:spPr>
        </p:pic>
        <p:pic>
          <p:nvPicPr>
            <p:cNvPr id="11" name="図 10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7A34ACDF-3A08-4DBC-9E13-FA5E3E2CE8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 rot="900000">
              <a:off x="3475341" y="5807697"/>
              <a:ext cx="236030" cy="720000"/>
            </a:xfrm>
            <a:prstGeom prst="rect">
              <a:avLst/>
            </a:prstGeom>
          </p:spPr>
        </p:pic>
        <p:pic>
          <p:nvPicPr>
            <p:cNvPr id="12" name="図 11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C4667C6E-DE79-4356-A796-952AD7620D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2470445" y="5807697"/>
              <a:ext cx="236030" cy="720000"/>
            </a:xfrm>
            <a:prstGeom prst="rect">
              <a:avLst/>
            </a:prstGeom>
          </p:spPr>
        </p:pic>
        <p:pic>
          <p:nvPicPr>
            <p:cNvPr id="14" name="図 13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E40239AF-ABB1-4409-BB72-AB49970AA6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1465549" y="5807697"/>
              <a:ext cx="236030" cy="720000"/>
            </a:xfrm>
            <a:prstGeom prst="rect">
              <a:avLst/>
            </a:prstGeom>
          </p:spPr>
        </p:pic>
        <p:pic>
          <p:nvPicPr>
            <p:cNvPr id="16" name="図 15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DF9FDE6A-ECC3-4FD2-BEFF-8DC5487C1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6490029" y="5807697"/>
              <a:ext cx="236030" cy="720000"/>
            </a:xfrm>
            <a:prstGeom prst="rect">
              <a:avLst/>
            </a:prstGeom>
          </p:spPr>
        </p:pic>
        <p:pic>
          <p:nvPicPr>
            <p:cNvPr id="21" name="図 20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B7234ACF-1D7C-4A85-BFF9-435DFAA3CF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460653" y="5807697"/>
              <a:ext cx="236030" cy="720000"/>
            </a:xfrm>
            <a:prstGeom prst="rect">
              <a:avLst/>
            </a:prstGeom>
          </p:spPr>
        </p:pic>
        <p:pic>
          <p:nvPicPr>
            <p:cNvPr id="34" name="図 33" descr="テーブル, 食べ物, カップ, 室内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27A4822C-747A-432B-9B46-CEFC802F4D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375" b="97056" l="58625" r="74188">
                          <a14:foregroundMark x1="59625" y1="23356" x2="73063" y2="22375"/>
                          <a14:foregroundMark x1="59313" y1="23062" x2="60188" y2="91266"/>
                          <a14:foregroundMark x1="71438" y1="50834" x2="71688" y2="92934"/>
                          <a14:foregroundMark x1="72875" y1="26497" x2="71313" y2="37390"/>
                          <a14:foregroundMark x1="58938" y1="22473" x2="59000" y2="41806"/>
                          <a14:foregroundMark x1="59813" y1="41021" x2="60250" y2="45927"/>
                          <a14:foregroundMark x1="63125" y1="64082" x2="64188" y2="81747"/>
                          <a14:foregroundMark x1="72500" y1="77134" x2="72813" y2="90186"/>
                          <a14:foregroundMark x1="73875" y1="85378" x2="73250" y2="91560"/>
                          <a14:foregroundMark x1="73500" y1="31501" x2="73500" y2="31501"/>
                          <a14:foregroundMark x1="73500" y1="31501" x2="73250" y2="34740"/>
                          <a14:foregroundMark x1="74063" y1="33660" x2="72875" y2="58194"/>
                          <a14:foregroundMark x1="58625" y1="30422" x2="60188" y2="58979"/>
                          <a14:foregroundMark x1="62813" y1="61138" x2="67625" y2="82041"/>
                          <a14:foregroundMark x1="64688" y1="57507" x2="64688" y2="57507"/>
                          <a14:foregroundMark x1="73875" y1="90186" x2="73875" y2="90186"/>
                          <a14:foregroundMark x1="62313" y1="95093" x2="70375" y2="95093"/>
                          <a14:foregroundMark x1="72000" y1="97056" x2="69063" y2="96762"/>
                          <a14:foregroundMark x1="58625" y1="77134" x2="58938" y2="89696"/>
                          <a14:foregroundMark x1="63438" y1="57507" x2="63438" y2="57507"/>
                          <a14:foregroundMark x1="74188" y1="23258" x2="74188" y2="2325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43" t="18350" r="25646" b="2565"/>
            <a:stretch/>
          </p:blipFill>
          <p:spPr>
            <a:xfrm>
              <a:off x="7494925" y="5807697"/>
              <a:ext cx="23603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916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F08568E-BDE0-4335-9DD0-DC4E06231E5D}"/>
              </a:ext>
            </a:extLst>
          </p:cNvPr>
          <p:cNvGrpSpPr/>
          <p:nvPr/>
        </p:nvGrpSpPr>
        <p:grpSpPr>
          <a:xfrm>
            <a:off x="5838000" y="0"/>
            <a:ext cx="4068000" cy="6858000"/>
            <a:chOff x="5838000" y="0"/>
            <a:chExt cx="4068000" cy="6858000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4561B67-039F-49FA-8904-F64418B756B9}"/>
                </a:ext>
              </a:extLst>
            </p:cNvPr>
            <p:cNvSpPr/>
            <p:nvPr/>
          </p:nvSpPr>
          <p:spPr>
            <a:xfrm>
              <a:off x="5838000" y="0"/>
              <a:ext cx="4068000" cy="6858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6182512" y="3577132"/>
              <a:ext cx="32203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對雄厚實力的累積來說，起跑的第一步十分重要。配合課程，從頭開始邁入學習，便是達成目標的第一步。全新課程的加入，是從新年度開始學習的最大優勢。新年度的課程就從這個時期開始，請務必和我們一起努力吧！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6182512" y="2815683"/>
              <a:ext cx="3220375" cy="461665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新年度</a:t>
              </a:r>
              <a:r>
                <a:rPr lang="ja-JP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 </a:t>
              </a:r>
              <a:r>
                <a:rPr lang="zh-TW" altLang="en-US" sz="2400" b="1">
                  <a:solidFill>
                    <a:srgbClr val="990000"/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招生</a:t>
              </a:r>
              <a:r>
                <a:rPr lang="zh-TW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受理中</a:t>
              </a:r>
              <a:r>
                <a:rPr lang="en-US" altLang="ja-JP" sz="2400" b="1" i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‼</a:t>
              </a:r>
              <a:endParaRPr lang="ja-JP" altLang="en-US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4B15AAA-6250-4C3C-88D2-08EE420EB0A7}"/>
                </a:ext>
              </a:extLst>
            </p:cNvPr>
            <p:cNvSpPr txBox="1"/>
            <p:nvPr/>
          </p:nvSpPr>
          <p:spPr>
            <a:xfrm>
              <a:off x="6182512" y="5106295"/>
              <a:ext cx="32203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首次報名體免費試聽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次。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現場發放各課程的方針、時間與學費相關資料。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8CA57AE-2970-4050-8941-029DB2896D49}"/>
                </a:ext>
              </a:extLst>
            </p:cNvPr>
            <p:cNvCxnSpPr>
              <a:cxnSpLocks/>
            </p:cNvCxnSpPr>
            <p:nvPr/>
          </p:nvCxnSpPr>
          <p:spPr>
            <a:xfrm>
              <a:off x="6182512" y="5034211"/>
              <a:ext cx="3220375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C17EA70-C274-4627-AEA9-0751C70508FC}"/>
              </a:ext>
            </a:extLst>
          </p:cNvPr>
          <p:cNvGrpSpPr/>
          <p:nvPr/>
        </p:nvGrpSpPr>
        <p:grpSpPr>
          <a:xfrm>
            <a:off x="1252653" y="719404"/>
            <a:ext cx="7400693" cy="6381804"/>
            <a:chOff x="1252653" y="719404"/>
            <a:chExt cx="7400693" cy="6381804"/>
          </a:xfrm>
        </p:grpSpPr>
        <p:pic>
          <p:nvPicPr>
            <p:cNvPr id="5" name="図 4" descr="人, 男性, スーツ, 壁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02164778-FEA2-4159-9F75-2311FC6A50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46" b="95374" l="4938" r="93125">
                          <a14:foregroundMark x1="11063" y1="56228" x2="19000" y2="58126"/>
                          <a14:foregroundMark x1="83625" y1="62396" x2="86688" y2="61922"/>
                          <a14:foregroundMark x1="16125" y1="48043" x2="16438" y2="38078"/>
                          <a14:foregroundMark x1="83313" y1="31435" x2="83313" y2="31435"/>
                          <a14:foregroundMark x1="11125" y1="33096" x2="11125" y2="33096"/>
                          <a14:foregroundMark x1="44563" y1="82681" x2="44563" y2="82681"/>
                          <a14:foregroundMark x1="52812" y1="82088" x2="52812" y2="82088"/>
                          <a14:foregroundMark x1="48188" y1="89087" x2="48188" y2="89087"/>
                          <a14:foregroundMark x1="51875" y1="95136" x2="51875" y2="95136"/>
                          <a14:foregroundMark x1="51000" y1="80308" x2="51000" y2="80308"/>
                          <a14:foregroundMark x1="48500" y1="89561" x2="48500" y2="89561"/>
                          <a14:foregroundMark x1="12188" y1="69039" x2="8375" y2="87782"/>
                          <a14:foregroundMark x1="8375" y1="87782" x2="14500" y2="91934"/>
                          <a14:foregroundMark x1="14500" y1="91934" x2="35000" y2="88849"/>
                          <a14:foregroundMark x1="4938" y1="95255" x2="4938" y2="95492"/>
                          <a14:foregroundMark x1="80500" y1="24555" x2="80500" y2="24555"/>
                          <a14:foregroundMark x1="83500" y1="35231" x2="83500" y2="35231"/>
                          <a14:foregroundMark x1="44688" y1="92289" x2="44688" y2="92289"/>
                          <a14:foregroundMark x1="13938" y1="29300" x2="13938" y2="29300"/>
                          <a14:foregroundMark x1="93125" y1="95136" x2="93125" y2="95136"/>
                          <a14:foregroundMark x1="11375" y1="39146" x2="11375" y2="39146"/>
                          <a14:foregroundMark x1="11375" y1="37604" x2="11375" y2="37604"/>
                          <a14:foregroundMark x1="13563" y1="27284" x2="13563" y2="27284"/>
                          <a14:foregroundMark x1="14188" y1="32384" x2="14188" y2="32384"/>
                          <a14:foregroundMark x1="19313" y1="27995" x2="19313" y2="27877"/>
                          <a14:foregroundMark x1="79938" y1="24318" x2="79938" y2="24318"/>
                          <a14:foregroundMark x1="79750" y1="25148" x2="79750" y2="29537"/>
                          <a14:foregroundMark x1="79750" y1="24555" x2="79750" y2="25148"/>
                          <a14:foregroundMark x1="11125" y1="36299" x2="11125" y2="36299"/>
                          <a14:foregroundMark x1="14500" y1="35113" x2="14500" y2="35113"/>
                          <a14:foregroundMark x1="16875" y1="27046" x2="16875" y2="27046"/>
                          <a14:foregroundMark x1="16188" y1="23843" x2="16188" y2="23843"/>
                          <a14:foregroundMark x1="74438" y1="26097" x2="74438" y2="26097"/>
                          <a14:foregroundMark x1="81063" y1="30368" x2="81063" y2="30368"/>
                          <a14:foregroundMark x1="13688" y1="25267" x2="13688" y2="25267"/>
                          <a14:foregroundMark x1="77875" y1="21590" x2="77875" y2="21590"/>
                          <a14:foregroundMark x1="15921" y1="30509" x2="16125" y2="33689"/>
                          <a14:foregroundMark x1="15500" y1="23962" x2="15653" y2="26345"/>
                          <a14:backgroundMark x1="12812" y1="34638" x2="12812" y2="34638"/>
                          <a14:backgroundMark x1="13063" y1="37841" x2="13063" y2="37841"/>
                          <a14:backgroundMark x1="18063" y1="29419" x2="18313" y2="30842"/>
                          <a14:backgroundMark x1="82250" y1="33926" x2="82250" y2="33926"/>
                          <a14:backgroundMark x1="81938" y1="32740" x2="81938" y2="32740"/>
                          <a14:backgroundMark x1="82125" y1="34875" x2="82125" y2="34875"/>
                          <a14:backgroundMark x1="82000" y1="36418" x2="82000" y2="36418"/>
                          <a14:backgroundMark x1="79250" y1="30842" x2="79250" y2="30842"/>
                          <a14:backgroundMark x1="76563" y1="30961" x2="76563" y2="30961"/>
                          <a14:backgroundMark x1="76563" y1="31910" x2="76563" y2="31910"/>
                          <a14:backgroundMark x1="21250" y1="40925" x2="21250" y2="40925"/>
                          <a14:backgroundMark x1="79125" y1="25148" x2="79125" y2="25148"/>
                          <a14:backgroundMark x1="13125" y1="39502" x2="13125" y2="39502"/>
                          <a14:backgroundMark x1="18125" y1="32740" x2="18125" y2="32740"/>
                          <a14:backgroundMark x1="79188" y1="31435" x2="79188" y2="31435"/>
                          <a14:backgroundMark x1="81750" y1="37604" x2="81750" y2="37604"/>
                          <a14:backgroundMark x1="79375" y1="33333" x2="79375" y2="33333"/>
                          <a14:backgroundMark x1="15250" y1="26453" x2="15563" y2="306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189"/>
            <a:stretch/>
          </p:blipFill>
          <p:spPr>
            <a:xfrm>
              <a:off x="1252654" y="3989178"/>
              <a:ext cx="7400692" cy="3112030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BB14C38-51F8-47F6-BA75-64531009CC83}"/>
                </a:ext>
              </a:extLst>
            </p:cNvPr>
            <p:cNvSpPr txBox="1"/>
            <p:nvPr/>
          </p:nvSpPr>
          <p:spPr>
            <a:xfrm>
              <a:off x="1252653" y="1800405"/>
              <a:ext cx="7400693" cy="2188773"/>
            </a:xfrm>
            <a:prstGeom prst="rect">
              <a:avLst/>
            </a:prstGeom>
            <a:noFill/>
          </p:spPr>
          <p:txBody>
            <a:bodyPr wrap="square" rtlCol="0">
              <a:prstTxWarp prst="textCanUp">
                <a:avLst>
                  <a:gd name="adj" fmla="val 83167"/>
                </a:avLst>
              </a:prstTxWarp>
              <a:spAutoFit/>
            </a:bodyPr>
            <a:lstStyle/>
            <a:p>
              <a:pPr algn="ctr"/>
              <a:r>
                <a:rPr kumimoji="1" lang="en-US" altLang="ja-JP" sz="2000" b="1"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游ゴシック" panose="020B0400000000000000" pitchFamily="50" charset="-128"/>
                  <a:cs typeface="Arial" panose="020B0604020202020204" pitchFamily="34" charset="0"/>
                </a:rPr>
                <a:t>99.9</a:t>
              </a:r>
              <a:r>
                <a:rPr kumimoji="1" lang="en-US" altLang="ja-JP" sz="1200" b="1"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游ゴシック" panose="020B0400000000000000" pitchFamily="50" charset="-128"/>
                  <a:cs typeface="Arial" panose="020B0604020202020204" pitchFamily="34" charset="0"/>
                </a:rPr>
                <a:t>%</a:t>
              </a:r>
              <a:r>
                <a:rPr kumimoji="1" lang="zh-TW" altLang="en-US" sz="2000" b="1" spc="-150"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驚奇的阻隔力</a:t>
              </a:r>
              <a:endParaRPr kumimoji="1" lang="ja-JP" altLang="en-US" sz="2000" b="1" i="1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3CE401D-A265-4DD9-8639-893906021126}"/>
                </a:ext>
              </a:extLst>
            </p:cNvPr>
            <p:cNvSpPr txBox="1"/>
            <p:nvPr/>
          </p:nvSpPr>
          <p:spPr>
            <a:xfrm>
              <a:off x="2055541" y="1080260"/>
              <a:ext cx="57949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高性能過濾口罩「</a:t>
              </a:r>
              <a:r>
                <a:rPr kumimoji="1" lang="en-US" altLang="zh-TW" sz="24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Shatatchi </a:t>
              </a:r>
              <a:r>
                <a:rPr kumimoji="1" lang="zh-TW" altLang="en-US" sz="24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</a:t>
              </a:r>
              <a:endParaRPr kumimoji="1" lang="ja-JP" altLang="en-US" sz="2400" b="1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79AFB76-0C29-4CBE-98F0-2B72D994E199}"/>
                </a:ext>
              </a:extLst>
            </p:cNvPr>
            <p:cNvSpPr txBox="1"/>
            <p:nvPr/>
          </p:nvSpPr>
          <p:spPr>
            <a:xfrm>
              <a:off x="2055541" y="719404"/>
              <a:ext cx="5794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「最強口罩」的熱門話題！</a:t>
              </a:r>
              <a:endParaRPr kumimoji="1" lang="en-US" altLang="ja-JP" sz="16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3" name="図 2" descr="衣類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67FC155-A99D-44D8-ADC7-4CB773AAA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7605" y="5073650"/>
              <a:ext cx="1422000" cy="1224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0270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</TotalTime>
  <Words>347</Words>
  <Application>Microsoft Office PowerPoint</Application>
  <PresentationFormat>A4 紙張 (210x297 公釐)</PresentationFormat>
  <Paragraphs>51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82</cp:revision>
  <dcterms:created xsi:type="dcterms:W3CDTF">2017-11-09T07:26:57Z</dcterms:created>
  <dcterms:modified xsi:type="dcterms:W3CDTF">2018-10-02T15:53:02Z</dcterms:modified>
</cp:coreProperties>
</file>