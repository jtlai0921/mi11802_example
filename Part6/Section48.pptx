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57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20E2FD0-CD50-4A94-8220-F742BCCFC7DC}"/>
              </a:ext>
            </a:extLst>
          </p:cNvPr>
          <p:cNvGrpSpPr/>
          <p:nvPr/>
        </p:nvGrpSpPr>
        <p:grpSpPr>
          <a:xfrm>
            <a:off x="0" y="0"/>
            <a:ext cx="9906000" cy="6601965"/>
            <a:chOff x="0" y="0"/>
            <a:chExt cx="9906000" cy="6601965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C2BDFDC3-A271-4963-B0D1-002AE710FE8A}"/>
                </a:ext>
              </a:extLst>
            </p:cNvPr>
            <p:cNvSpPr/>
            <p:nvPr/>
          </p:nvSpPr>
          <p:spPr>
            <a:xfrm>
              <a:off x="2499731" y="3638405"/>
              <a:ext cx="4946954" cy="156906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F9B18B60-42BA-4A75-B6B3-E1236DD7F722}"/>
                </a:ext>
              </a:extLst>
            </p:cNvPr>
            <p:cNvSpPr/>
            <p:nvPr/>
          </p:nvSpPr>
          <p:spPr>
            <a:xfrm>
              <a:off x="0" y="0"/>
              <a:ext cx="9906000" cy="115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778A8E9B-4B8E-400B-AB4F-F0832D02FDA6}"/>
                </a:ext>
              </a:extLst>
            </p:cNvPr>
            <p:cNvSpPr/>
            <p:nvPr/>
          </p:nvSpPr>
          <p:spPr>
            <a:xfrm>
              <a:off x="2808827" y="532751"/>
              <a:ext cx="428835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3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藝術家培育系統的機制</a:t>
              </a:r>
              <a:endParaRPr lang="ja-JP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4B82ED3E-1927-4E69-9394-598C8683A4DE}"/>
                </a:ext>
              </a:extLst>
            </p:cNvPr>
            <p:cNvSpPr/>
            <p:nvPr/>
          </p:nvSpPr>
          <p:spPr>
            <a:xfrm>
              <a:off x="3905278" y="247255"/>
              <a:ext cx="209544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ja-JP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Artist upbringing system</a:t>
              </a:r>
              <a:endParaRPr lang="ja-JP" alt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D05CC624-D798-432E-8947-6015A84CF52D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>
              <a:off x="6134370" y="2590054"/>
              <a:ext cx="0" cy="504000"/>
            </a:xfrm>
            <a:prstGeom prst="straightConnector1">
              <a:avLst/>
            </a:prstGeom>
            <a:ln w="76200">
              <a:solidFill>
                <a:schemeClr val="accent3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FB316432-345C-4292-838F-BE3CD63E417D}"/>
                </a:ext>
              </a:extLst>
            </p:cNvPr>
            <p:cNvCxnSpPr>
              <a:cxnSpLocks/>
            </p:cNvCxnSpPr>
            <p:nvPr/>
          </p:nvCxnSpPr>
          <p:spPr>
            <a:xfrm>
              <a:off x="3680378" y="2572280"/>
              <a:ext cx="0" cy="504000"/>
            </a:xfrm>
            <a:prstGeom prst="straightConnector1">
              <a:avLst/>
            </a:prstGeom>
            <a:ln w="76200">
              <a:solidFill>
                <a:schemeClr val="accent6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8E632451-B0FC-4AB0-97B0-5FD8C9A26102}"/>
                </a:ext>
              </a:extLst>
            </p:cNvPr>
            <p:cNvSpPr/>
            <p:nvPr/>
          </p:nvSpPr>
          <p:spPr>
            <a:xfrm>
              <a:off x="5221258" y="4321484"/>
              <a:ext cx="2225427" cy="885981"/>
            </a:xfrm>
            <a:prstGeom prst="rect">
              <a:avLst/>
            </a:prstGeom>
            <a:no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0DEF08CC-DEAC-430C-8D72-0D97B9718B30}"/>
                </a:ext>
              </a:extLst>
            </p:cNvPr>
            <p:cNvSpPr/>
            <p:nvPr/>
          </p:nvSpPr>
          <p:spPr>
            <a:xfrm>
              <a:off x="5221258" y="3638404"/>
              <a:ext cx="2225427" cy="683079"/>
            </a:xfrm>
            <a:prstGeom prst="rect">
              <a:avLst/>
            </a:prstGeom>
            <a:no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F1909C4F-C04B-4A7E-BE5E-A98C443BC8CA}"/>
                </a:ext>
              </a:extLst>
            </p:cNvPr>
            <p:cNvSpPr/>
            <p:nvPr/>
          </p:nvSpPr>
          <p:spPr>
            <a:xfrm>
              <a:off x="2499731" y="3115185"/>
              <a:ext cx="4946954" cy="52322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円/楕円 5">
              <a:extLst>
                <a:ext uri="{FF2B5EF4-FFF2-40B4-BE49-F238E27FC236}">
                  <a16:creationId xmlns:a16="http://schemas.microsoft.com/office/drawing/2014/main" id="{AA3F8805-8CDC-4CC3-8477-9A905D5BDCE6}"/>
                </a:ext>
              </a:extLst>
            </p:cNvPr>
            <p:cNvSpPr/>
            <p:nvPr/>
          </p:nvSpPr>
          <p:spPr>
            <a:xfrm>
              <a:off x="713208" y="1435470"/>
              <a:ext cx="1519207" cy="1512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6A4D19FD-8D4D-4656-A017-FC4427C92AC2}"/>
                </a:ext>
              </a:extLst>
            </p:cNvPr>
            <p:cNvSpPr/>
            <p:nvPr/>
          </p:nvSpPr>
          <p:spPr>
            <a:xfrm>
              <a:off x="752104" y="2161985"/>
              <a:ext cx="14414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希望接受援助的</a:t>
              </a:r>
              <a:br>
                <a:rPr lang="en-US" altLang="ja-JP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lang="zh-TW" altLang="en-US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新生代藝術家</a:t>
              </a:r>
              <a:endParaRPr lang="ja-JP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CF5A4AEC-6A4E-4014-BCDD-5A135A6DE7C4}"/>
                </a:ext>
              </a:extLst>
            </p:cNvPr>
            <p:cNvSpPr/>
            <p:nvPr/>
          </p:nvSpPr>
          <p:spPr>
            <a:xfrm>
              <a:off x="3454440" y="3141984"/>
              <a:ext cx="302781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8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仲介網站</a:t>
              </a:r>
              <a:endParaRPr lang="ja-JP" altLang="en-US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8" name="円/楕円 21">
              <a:extLst>
                <a:ext uri="{FF2B5EF4-FFF2-40B4-BE49-F238E27FC236}">
                  <a16:creationId xmlns:a16="http://schemas.microsoft.com/office/drawing/2014/main" id="{31A5356F-433C-458E-B634-9590D055EB3F}"/>
                </a:ext>
              </a:extLst>
            </p:cNvPr>
            <p:cNvSpPr/>
            <p:nvPr/>
          </p:nvSpPr>
          <p:spPr>
            <a:xfrm>
              <a:off x="7714002" y="1435470"/>
              <a:ext cx="1519207" cy="15120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 w="2857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DC77E0CF-CFC4-4FC5-8693-AE8831DB7783}"/>
                </a:ext>
              </a:extLst>
            </p:cNvPr>
            <p:cNvSpPr/>
            <p:nvPr/>
          </p:nvSpPr>
          <p:spPr>
            <a:xfrm>
              <a:off x="7932434" y="2269707"/>
              <a:ext cx="1082348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1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資金提供者</a:t>
              </a:r>
              <a:endParaRPr lang="ja-JP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B434631E-EEC9-46A8-8E0A-AFD71DBF1148}"/>
                </a:ext>
              </a:extLst>
            </p:cNvPr>
            <p:cNvSpPr/>
            <p:nvPr/>
          </p:nvSpPr>
          <p:spPr>
            <a:xfrm>
              <a:off x="2587083" y="3785636"/>
              <a:ext cx="2634174" cy="10294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7800" indent="-1778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希望成為藝術家</a:t>
              </a:r>
              <a:endPara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7800" indent="-1778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請求資金提供</a:t>
              </a:r>
              <a:endPara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7800" indent="-1778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提供</a:t>
              </a:r>
              <a:r>
                <a:rPr lang="ja-JP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○○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給贊助者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6B8A1232-CE73-421F-A6A6-50AC0058CB80}"/>
                </a:ext>
              </a:extLst>
            </p:cNvPr>
            <p:cNvSpPr/>
            <p:nvPr/>
          </p:nvSpPr>
          <p:spPr>
            <a:xfrm>
              <a:off x="3747094" y="5574217"/>
              <a:ext cx="244360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目標金額</a:t>
              </a:r>
              <a:r>
                <a:rPr lang="ja-JP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 ○○○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日圓達成！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43FBCDAD-E542-43BD-8CF5-D5399CC53048}"/>
                </a:ext>
              </a:extLst>
            </p:cNvPr>
            <p:cNvSpPr/>
            <p:nvPr/>
          </p:nvSpPr>
          <p:spPr>
            <a:xfrm>
              <a:off x="5488573" y="3718334"/>
              <a:ext cx="1567021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7800" indent="-177800">
                <a:buFont typeface="Wingdings" panose="05000000000000000000" pitchFamily="2" charset="2"/>
                <a:buChar char="l"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簡介</a:t>
              </a:r>
              <a:endPara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7800" indent="-177800">
                <a:buFont typeface="Wingdings" panose="05000000000000000000" pitchFamily="2" charset="2"/>
                <a:buChar char="l"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自薦影片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958AF2DC-3A3D-43F5-8D86-3CE3CD3C0625}"/>
                </a:ext>
              </a:extLst>
            </p:cNvPr>
            <p:cNvSpPr/>
            <p:nvPr/>
          </p:nvSpPr>
          <p:spPr>
            <a:xfrm>
              <a:off x="5488574" y="4397333"/>
              <a:ext cx="156702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7800" indent="-177800">
                <a:buFont typeface="Wingdings" panose="05000000000000000000" pitchFamily="2" charset="2"/>
                <a:buChar char="l"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創作指導</a:t>
              </a:r>
              <a:endPara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7800" indent="-177800">
                <a:buFont typeface="Wingdings" panose="05000000000000000000" pitchFamily="2" charset="2"/>
                <a:buChar char="l"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活動參加</a:t>
              </a:r>
              <a:endPara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7800" indent="-177800">
                <a:buFont typeface="Wingdings" panose="05000000000000000000" pitchFamily="2" charset="2"/>
                <a:buChar char="l"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宣傳廣告活動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F6D8590A-E5BC-4564-9528-7952E41B89B6}"/>
                </a:ext>
              </a:extLst>
            </p:cNvPr>
            <p:cNvSpPr/>
            <p:nvPr/>
          </p:nvSpPr>
          <p:spPr>
            <a:xfrm>
              <a:off x="3185162" y="1938863"/>
              <a:ext cx="136957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7800" indent="-177800">
                <a:buFont typeface="Wingdings" panose="05000000000000000000" pitchFamily="2" charset="2"/>
                <a:buChar char="l"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目標金額</a:t>
              </a:r>
              <a:endPara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7800" indent="-177800">
                <a:buFont typeface="Wingdings" panose="05000000000000000000" pitchFamily="2" charset="2"/>
                <a:buChar char="l"/>
              </a:pP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提供作品</a:t>
              </a:r>
              <a:endPara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D8BA28DA-B9D9-4DEC-9EB9-D7964216D686}"/>
                </a:ext>
              </a:extLst>
            </p:cNvPr>
            <p:cNvSpPr/>
            <p:nvPr/>
          </p:nvSpPr>
          <p:spPr>
            <a:xfrm>
              <a:off x="3091513" y="1813097"/>
              <a:ext cx="1556878" cy="756747"/>
            </a:xfrm>
            <a:prstGeom prst="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10FD0D18-F6A1-4BA9-92D2-0F1AB82A0B6D}"/>
                </a:ext>
              </a:extLst>
            </p:cNvPr>
            <p:cNvSpPr/>
            <p:nvPr/>
          </p:nvSpPr>
          <p:spPr>
            <a:xfrm>
              <a:off x="5427712" y="2237307"/>
              <a:ext cx="1440000" cy="2880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一口價</a:t>
              </a:r>
              <a:r>
                <a:rPr lang="ja-JP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○○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日圓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6BC1F078-AC79-419C-836F-0C5C24E70E22}"/>
                </a:ext>
              </a:extLst>
            </p:cNvPr>
            <p:cNvSpPr/>
            <p:nvPr/>
          </p:nvSpPr>
          <p:spPr>
            <a:xfrm>
              <a:off x="5436653" y="1792886"/>
              <a:ext cx="1395434" cy="797168"/>
            </a:xfrm>
            <a:prstGeom prst="rect">
              <a:avLst/>
            </a:prstGeom>
            <a:noFill/>
            <a:ln w="19050">
              <a:solidFill>
                <a:schemeClr val="accent4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C8C43482-36B0-4376-852A-3034BDA8FE8B}"/>
                </a:ext>
              </a:extLst>
            </p:cNvPr>
            <p:cNvSpPr/>
            <p:nvPr/>
          </p:nvSpPr>
          <p:spPr>
            <a:xfrm>
              <a:off x="3886298" y="6271438"/>
              <a:ext cx="2165201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管理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298D0CF4-7767-41FC-B9B6-10FF27E356B2}"/>
                </a:ext>
              </a:extLst>
            </p:cNvPr>
            <p:cNvSpPr/>
            <p:nvPr/>
          </p:nvSpPr>
          <p:spPr>
            <a:xfrm>
              <a:off x="4174351" y="2685781"/>
              <a:ext cx="127654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事前交涉、決定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07C4752F-FE7D-4842-A889-213B5ADAA505}"/>
                </a:ext>
              </a:extLst>
            </p:cNvPr>
            <p:cNvCxnSpPr>
              <a:stCxn id="43" idx="2"/>
              <a:endCxn id="44" idx="0"/>
            </p:cNvCxnSpPr>
            <p:nvPr/>
          </p:nvCxnSpPr>
          <p:spPr>
            <a:xfrm>
              <a:off x="4968898" y="5904715"/>
              <a:ext cx="0" cy="337250"/>
            </a:xfrm>
            <a:prstGeom prst="straightConnector1">
              <a:avLst/>
            </a:prstGeom>
            <a:ln w="76200">
              <a:solidFill>
                <a:schemeClr val="accent5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カギ線コネクタ 49">
              <a:extLst>
                <a:ext uri="{FF2B5EF4-FFF2-40B4-BE49-F238E27FC236}">
                  <a16:creationId xmlns:a16="http://schemas.microsoft.com/office/drawing/2014/main" id="{B8AEC778-1C6E-46CE-90AD-295EE7629FC4}"/>
                </a:ext>
              </a:extLst>
            </p:cNvPr>
            <p:cNvCxnSpPr>
              <a:stCxn id="44" idx="3"/>
              <a:endCxn id="18" idx="4"/>
            </p:cNvCxnSpPr>
            <p:nvPr/>
          </p:nvCxnSpPr>
          <p:spPr>
            <a:xfrm flipV="1">
              <a:off x="6190703" y="2947470"/>
              <a:ext cx="2282902" cy="3474495"/>
            </a:xfrm>
            <a:prstGeom prst="bentConnector2">
              <a:avLst/>
            </a:prstGeom>
            <a:ln w="76200">
              <a:solidFill>
                <a:schemeClr val="accent5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83700AAF-4E60-4839-8004-99790B041F8A}"/>
                </a:ext>
              </a:extLst>
            </p:cNvPr>
            <p:cNvCxnSpPr>
              <a:stCxn id="9" idx="2"/>
              <a:endCxn id="43" idx="0"/>
            </p:cNvCxnSpPr>
            <p:nvPr/>
          </p:nvCxnSpPr>
          <p:spPr>
            <a:xfrm flipH="1">
              <a:off x="4968898" y="5207466"/>
              <a:ext cx="0" cy="337249"/>
            </a:xfrm>
            <a:prstGeom prst="straightConnector1">
              <a:avLst/>
            </a:prstGeom>
            <a:ln w="76200">
              <a:solidFill>
                <a:schemeClr val="accent5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矢印コネクタ 35">
              <a:extLst>
                <a:ext uri="{FF2B5EF4-FFF2-40B4-BE49-F238E27FC236}">
                  <a16:creationId xmlns:a16="http://schemas.microsoft.com/office/drawing/2014/main" id="{35BD4D91-E570-4DC0-AE56-772986C896F9}"/>
                </a:ext>
              </a:extLst>
            </p:cNvPr>
            <p:cNvCxnSpPr>
              <a:cxnSpLocks/>
              <a:stCxn id="14" idx="6"/>
              <a:endCxn id="27" idx="1"/>
            </p:cNvCxnSpPr>
            <p:nvPr/>
          </p:nvCxnSpPr>
          <p:spPr>
            <a:xfrm>
              <a:off x="2232415" y="2191470"/>
              <a:ext cx="859098" cy="1"/>
            </a:xfrm>
            <a:prstGeom prst="straightConnector1">
              <a:avLst/>
            </a:prstGeom>
            <a:ln w="76200">
              <a:solidFill>
                <a:schemeClr val="accent6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07A91F1C-4E3A-4944-84C9-1797AAE46E51}"/>
                </a:ext>
              </a:extLst>
            </p:cNvPr>
            <p:cNvCxnSpPr>
              <a:cxnSpLocks/>
              <a:stCxn id="18" idx="2"/>
              <a:endCxn id="30" idx="3"/>
            </p:cNvCxnSpPr>
            <p:nvPr/>
          </p:nvCxnSpPr>
          <p:spPr>
            <a:xfrm flipH="1">
              <a:off x="6832087" y="2191470"/>
              <a:ext cx="881915" cy="0"/>
            </a:xfrm>
            <a:prstGeom prst="straightConnector1">
              <a:avLst/>
            </a:prstGeom>
            <a:ln w="76200">
              <a:solidFill>
                <a:schemeClr val="accent3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矢印コネクタ 37">
              <a:extLst>
                <a:ext uri="{FF2B5EF4-FFF2-40B4-BE49-F238E27FC236}">
                  <a16:creationId xmlns:a16="http://schemas.microsoft.com/office/drawing/2014/main" id="{1715825A-3465-4AED-B0CE-07AC174384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0180" y="2572280"/>
              <a:ext cx="1" cy="504000"/>
            </a:xfrm>
            <a:prstGeom prst="straightConnector1">
              <a:avLst/>
            </a:prstGeom>
            <a:ln w="76200">
              <a:solidFill>
                <a:schemeClr val="accent5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F32CEFC4-CEE9-4A99-AD17-1F02BF1B7A26}"/>
                </a:ext>
              </a:extLst>
            </p:cNvPr>
            <p:cNvSpPr/>
            <p:nvPr/>
          </p:nvSpPr>
          <p:spPr>
            <a:xfrm>
              <a:off x="2301603" y="2685781"/>
              <a:ext cx="127654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填寫、登錄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78238FDD-4C1C-47A6-9D4B-07C48DBA884A}"/>
                </a:ext>
              </a:extLst>
            </p:cNvPr>
            <p:cNvSpPr/>
            <p:nvPr/>
          </p:nvSpPr>
          <p:spPr>
            <a:xfrm>
              <a:off x="6277951" y="2685781"/>
              <a:ext cx="49244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出資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cxnSp>
          <p:nvCxnSpPr>
            <p:cNvPr id="41" name="カギ線コネクタ 79">
              <a:extLst>
                <a:ext uri="{FF2B5EF4-FFF2-40B4-BE49-F238E27FC236}">
                  <a16:creationId xmlns:a16="http://schemas.microsoft.com/office/drawing/2014/main" id="{F7DA0A96-1A70-46D6-B843-EF1744805EA2}"/>
                </a:ext>
              </a:extLst>
            </p:cNvPr>
            <p:cNvCxnSpPr>
              <a:stCxn id="43" idx="1"/>
            </p:cNvCxnSpPr>
            <p:nvPr/>
          </p:nvCxnSpPr>
          <p:spPr>
            <a:xfrm rot="10800000">
              <a:off x="1643306" y="2956865"/>
              <a:ext cx="2103786" cy="2767851"/>
            </a:xfrm>
            <a:prstGeom prst="bentConnector2">
              <a:avLst/>
            </a:prstGeom>
            <a:ln w="76200">
              <a:solidFill>
                <a:schemeClr val="accent5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カギ線コネクタ 82">
              <a:extLst>
                <a:ext uri="{FF2B5EF4-FFF2-40B4-BE49-F238E27FC236}">
                  <a16:creationId xmlns:a16="http://schemas.microsoft.com/office/drawing/2014/main" id="{1F55E910-5DA8-4E47-B206-071A1C8A76C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53628" y="3428501"/>
              <a:ext cx="3469760" cy="2517168"/>
            </a:xfrm>
            <a:prstGeom prst="bentConnector2">
              <a:avLst/>
            </a:prstGeom>
            <a:ln w="76200">
              <a:solidFill>
                <a:schemeClr val="accent6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CB3F43AD-45DE-4E90-95C0-BE7B9504EA66}"/>
                </a:ext>
              </a:extLst>
            </p:cNvPr>
            <p:cNvSpPr/>
            <p:nvPr/>
          </p:nvSpPr>
          <p:spPr>
            <a:xfrm>
              <a:off x="3747093" y="5544715"/>
              <a:ext cx="2443611" cy="360000"/>
            </a:xfrm>
            <a:prstGeom prst="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60B8A937-56D0-4CFD-97A5-202B7158AD29}"/>
                </a:ext>
              </a:extLst>
            </p:cNvPr>
            <p:cNvSpPr/>
            <p:nvPr/>
          </p:nvSpPr>
          <p:spPr>
            <a:xfrm>
              <a:off x="3747093" y="6241965"/>
              <a:ext cx="2443611" cy="360000"/>
            </a:xfrm>
            <a:prstGeom prst="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60C418A3-020D-4E5D-A4F6-5AA3FB5F4A42}"/>
                </a:ext>
              </a:extLst>
            </p:cNvPr>
            <p:cNvSpPr/>
            <p:nvPr/>
          </p:nvSpPr>
          <p:spPr>
            <a:xfrm>
              <a:off x="2119129" y="5364939"/>
              <a:ext cx="110799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提供集資金額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13C43141-3A58-46C0-912A-3B01EA8186EE}"/>
                </a:ext>
              </a:extLst>
            </p:cNvPr>
            <p:cNvSpPr/>
            <p:nvPr/>
          </p:nvSpPr>
          <p:spPr>
            <a:xfrm>
              <a:off x="1811684" y="6060524"/>
              <a:ext cx="126188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提供作品或服務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27FD7B2A-7B17-4506-A8DA-6A0459C419A0}"/>
                </a:ext>
              </a:extLst>
            </p:cNvPr>
            <p:cNvSpPr/>
            <p:nvPr/>
          </p:nvSpPr>
          <p:spPr>
            <a:xfrm>
              <a:off x="6275789" y="6060524"/>
              <a:ext cx="126188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提供作品或服務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pic>
          <p:nvPicPr>
            <p:cNvPr id="49" name="グラフィックス 48" descr="ユーザー">
              <a:extLst>
                <a:ext uri="{FF2B5EF4-FFF2-40B4-BE49-F238E27FC236}">
                  <a16:creationId xmlns:a16="http://schemas.microsoft.com/office/drawing/2014/main" id="{97CC3B83-BF8A-4179-9E76-2E57DD84C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90557" y="1435489"/>
              <a:ext cx="764509" cy="760882"/>
            </a:xfrm>
            <a:prstGeom prst="rect">
              <a:avLst/>
            </a:prstGeom>
          </p:spPr>
        </p:pic>
        <p:pic>
          <p:nvPicPr>
            <p:cNvPr id="50" name="グラフィックス 49" descr="ユーザー">
              <a:extLst>
                <a:ext uri="{FF2B5EF4-FFF2-40B4-BE49-F238E27FC236}">
                  <a16:creationId xmlns:a16="http://schemas.microsoft.com/office/drawing/2014/main" id="{564FC36A-C90C-40C7-8070-4CE8F59C1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91351" y="1435489"/>
              <a:ext cx="764509" cy="760882"/>
            </a:xfrm>
            <a:prstGeom prst="rect">
              <a:avLst/>
            </a:prstGeom>
          </p:spPr>
        </p:pic>
        <p:pic>
          <p:nvPicPr>
            <p:cNvPr id="54" name="グラフィックス 53" descr="お金">
              <a:extLst>
                <a:ext uri="{FF2B5EF4-FFF2-40B4-BE49-F238E27FC236}">
                  <a16:creationId xmlns:a16="http://schemas.microsoft.com/office/drawing/2014/main" id="{A25A47CA-F6BE-4316-85DD-B6B319FD1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1038602">
              <a:off x="5808826" y="1647006"/>
              <a:ext cx="651089" cy="64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9391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8692C95-1DDB-42EA-9DFD-BD48A36FCDAE}"/>
              </a:ext>
            </a:extLst>
          </p:cNvPr>
          <p:cNvGrpSpPr/>
          <p:nvPr/>
        </p:nvGrpSpPr>
        <p:grpSpPr>
          <a:xfrm>
            <a:off x="0" y="0"/>
            <a:ext cx="9906000" cy="6313995"/>
            <a:chOff x="0" y="0"/>
            <a:chExt cx="9906000" cy="6313995"/>
          </a:xfrm>
        </p:grpSpPr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F9B18B60-42BA-4A75-B6B3-E1236DD7F722}"/>
                </a:ext>
              </a:extLst>
            </p:cNvPr>
            <p:cNvSpPr/>
            <p:nvPr/>
          </p:nvSpPr>
          <p:spPr>
            <a:xfrm>
              <a:off x="0" y="0"/>
              <a:ext cx="9906000" cy="115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778A8E9B-4B8E-400B-AB4F-F0832D02FDA6}"/>
                </a:ext>
              </a:extLst>
            </p:cNvPr>
            <p:cNvSpPr/>
            <p:nvPr/>
          </p:nvSpPr>
          <p:spPr>
            <a:xfrm>
              <a:off x="2808827" y="532751"/>
              <a:ext cx="428835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3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藝術家培育系統的內容</a:t>
              </a:r>
              <a:endParaRPr lang="ja-JP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4B82ED3E-1927-4E69-9394-598C8683A4DE}"/>
                </a:ext>
              </a:extLst>
            </p:cNvPr>
            <p:cNvSpPr/>
            <p:nvPr/>
          </p:nvSpPr>
          <p:spPr>
            <a:xfrm>
              <a:off x="3905278" y="247255"/>
              <a:ext cx="209544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ja-JP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Artist upbringing system</a:t>
              </a:r>
              <a:endParaRPr lang="ja-JP" alt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6A4D19FD-8D4D-4656-A017-FC4427C92AC2}"/>
                </a:ext>
              </a:extLst>
            </p:cNvPr>
            <p:cNvSpPr/>
            <p:nvPr/>
          </p:nvSpPr>
          <p:spPr>
            <a:xfrm>
              <a:off x="631035" y="1543458"/>
              <a:ext cx="8643931" cy="47705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援助以美術、書法或工藝等藝術家為目標的人的系統。為使未來的藝術家免為生活愁苦，同時又能專心於創造，由本公司代為招募資金提供者，同時進行仲介之後的管理。本系統的機制概略由下列步驟所構成。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r>
                <a:rPr lang="zh-TW" altLang="en-US" sz="1600" b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（</a:t>
              </a:r>
              <a:r>
                <a:rPr lang="en-US" altLang="ja-JP" sz="1600" b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lang="zh-TW" altLang="en-US" sz="1600" b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）希望者的網站登錄</a:t>
              </a:r>
              <a:endParaRPr lang="en-US" altLang="ja-JP"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希望接受援助的藝術家，透過網路所指定的表格，填寫活動所需的目標金額、可提供的作品或服務等資料，進行人才登錄。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r>
                <a:rPr lang="zh-TW" altLang="en-US" sz="1600" b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（</a:t>
              </a:r>
              <a:r>
                <a:rPr lang="en-US" altLang="ja-JP" sz="1600" b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</a:t>
              </a:r>
              <a:r>
                <a:rPr lang="zh-TW" altLang="en-US" sz="1600" b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）仲介的網站營運</a:t>
              </a:r>
              <a:endParaRPr lang="en-US" altLang="ja-JP"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本公司建構仲介網站，並進行登錄藝術家的選用。挖掘具未來性的藝術家，在進行事前交涉與決定之後，在網站上公開藝術家的資料，然後招募資金提供者。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在網站上，除藝術家的自薦影片之外，也將載明可提供的作品或服務的詳細內容。一旦達到目標金額，便會通知藝術家本人，並進行付款。同時，與藝術家簽定雇用契約，進行創作活動的管理。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r>
                <a:rPr lang="zh-TW" altLang="en-US" sz="1600" b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（</a:t>
              </a:r>
              <a:r>
                <a:rPr lang="en-US" altLang="ja-JP" sz="1600" b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lang="zh-TW" altLang="en-US" sz="1600" b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）資金提供者可享受作品</a:t>
              </a:r>
              <a:endParaRPr lang="en-US" altLang="ja-JP"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資金提供者以「一口價○○日圓」的出資額，投資希望的金額。可得到藝術家所設定的作品或是服務。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9060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8DBC261E-A1F0-4966-8268-301DACA181D5}"/>
              </a:ext>
            </a:extLst>
          </p:cNvPr>
          <p:cNvGrpSpPr/>
          <p:nvPr/>
        </p:nvGrpSpPr>
        <p:grpSpPr>
          <a:xfrm>
            <a:off x="0" y="0"/>
            <a:ext cx="9906000" cy="6287170"/>
            <a:chOff x="0" y="0"/>
            <a:chExt cx="9906000" cy="6287170"/>
          </a:xfrm>
        </p:grpSpPr>
        <p:sp>
          <p:nvSpPr>
            <p:cNvPr id="156" name="正方形/長方形 155">
              <a:extLst>
                <a:ext uri="{FF2B5EF4-FFF2-40B4-BE49-F238E27FC236}">
                  <a16:creationId xmlns:a16="http://schemas.microsoft.com/office/drawing/2014/main" id="{911B9987-FB57-4263-99BD-83F1ED933436}"/>
                </a:ext>
              </a:extLst>
            </p:cNvPr>
            <p:cNvSpPr/>
            <p:nvPr/>
          </p:nvSpPr>
          <p:spPr>
            <a:xfrm>
              <a:off x="3371387" y="4745712"/>
              <a:ext cx="3163226" cy="60701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正方形/長方形 122">
              <a:extLst>
                <a:ext uri="{FF2B5EF4-FFF2-40B4-BE49-F238E27FC236}">
                  <a16:creationId xmlns:a16="http://schemas.microsoft.com/office/drawing/2014/main" id="{B912BC3F-7C7C-4FB3-A8B1-00658EC457B9}"/>
                </a:ext>
              </a:extLst>
            </p:cNvPr>
            <p:cNvSpPr/>
            <p:nvPr/>
          </p:nvSpPr>
          <p:spPr>
            <a:xfrm>
              <a:off x="0" y="0"/>
              <a:ext cx="9906000" cy="115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正方形/長方形 123">
              <a:extLst>
                <a:ext uri="{FF2B5EF4-FFF2-40B4-BE49-F238E27FC236}">
                  <a16:creationId xmlns:a16="http://schemas.microsoft.com/office/drawing/2014/main" id="{B99D0FD5-1F04-480A-A6B0-DCF96BBF3FCC}"/>
                </a:ext>
              </a:extLst>
            </p:cNvPr>
            <p:cNvSpPr/>
            <p:nvPr/>
          </p:nvSpPr>
          <p:spPr>
            <a:xfrm>
              <a:off x="2808821" y="532751"/>
              <a:ext cx="428835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3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藝術家培育系統的概要</a:t>
              </a:r>
              <a:endParaRPr lang="ja-JP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25" name="正方形/長方形 124">
              <a:extLst>
                <a:ext uri="{FF2B5EF4-FFF2-40B4-BE49-F238E27FC236}">
                  <a16:creationId xmlns:a16="http://schemas.microsoft.com/office/drawing/2014/main" id="{12F01382-4E0A-4AA2-B4B5-CF654F4F9877}"/>
                </a:ext>
              </a:extLst>
            </p:cNvPr>
            <p:cNvSpPr/>
            <p:nvPr/>
          </p:nvSpPr>
          <p:spPr>
            <a:xfrm>
              <a:off x="3905278" y="247255"/>
              <a:ext cx="209544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ja-JP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Artist upbringing system</a:t>
              </a:r>
              <a:endParaRPr lang="ja-JP" alt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2" name="グループ化 131">
              <a:extLst>
                <a:ext uri="{FF2B5EF4-FFF2-40B4-BE49-F238E27FC236}">
                  <a16:creationId xmlns:a16="http://schemas.microsoft.com/office/drawing/2014/main" id="{73B508CC-09A8-47BF-AD2B-3908BDF3B21C}"/>
                </a:ext>
              </a:extLst>
            </p:cNvPr>
            <p:cNvGrpSpPr/>
            <p:nvPr/>
          </p:nvGrpSpPr>
          <p:grpSpPr>
            <a:xfrm>
              <a:off x="616831" y="2096940"/>
              <a:ext cx="1848210" cy="1839440"/>
              <a:chOff x="704824" y="2286511"/>
              <a:chExt cx="1848210" cy="1839440"/>
            </a:xfrm>
          </p:grpSpPr>
          <p:sp>
            <p:nvSpPr>
              <p:cNvPr id="126" name="円/楕円 5">
                <a:extLst>
                  <a:ext uri="{FF2B5EF4-FFF2-40B4-BE49-F238E27FC236}">
                    <a16:creationId xmlns:a16="http://schemas.microsoft.com/office/drawing/2014/main" id="{DB139C45-E787-4E56-89B8-A55E3F2F22C6}"/>
                  </a:ext>
                </a:extLst>
              </p:cNvPr>
              <p:cNvSpPr/>
              <p:nvPr/>
            </p:nvSpPr>
            <p:spPr>
              <a:xfrm>
                <a:off x="704824" y="2286511"/>
                <a:ext cx="1848210" cy="183944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正方形/長方形 126">
                <a:extLst>
                  <a:ext uri="{FF2B5EF4-FFF2-40B4-BE49-F238E27FC236}">
                    <a16:creationId xmlns:a16="http://schemas.microsoft.com/office/drawing/2014/main" id="{7B470C40-6897-4389-9F9B-38963F542560}"/>
                  </a:ext>
                </a:extLst>
              </p:cNvPr>
              <p:cNvSpPr/>
              <p:nvPr/>
            </p:nvSpPr>
            <p:spPr>
              <a:xfrm>
                <a:off x="818455" y="3176746"/>
                <a:ext cx="162095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TW" altLang="en-US" sz="160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希望接受援助的</a:t>
                </a:r>
                <a:br>
                  <a:rPr lang="en-US" altLang="ja-JP" sz="160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</a:br>
                <a:r>
                  <a:rPr lang="zh-TW" altLang="en-US" sz="160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新生代藝術家</a:t>
                </a:r>
                <a:endParaRPr lang="ja-JP" altLang="en-US" sz="16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pic>
            <p:nvPicPr>
              <p:cNvPr id="130" name="グラフィックス 129" descr="ユーザー">
                <a:extLst>
                  <a:ext uri="{FF2B5EF4-FFF2-40B4-BE49-F238E27FC236}">
                    <a16:creationId xmlns:a16="http://schemas.microsoft.com/office/drawing/2014/main" id="{116F0DDD-AE99-43C1-B1C9-31344CF163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46675" y="2450250"/>
                <a:ext cx="764509" cy="760882"/>
              </a:xfrm>
              <a:prstGeom prst="rect">
                <a:avLst/>
              </a:prstGeom>
            </p:spPr>
          </p:pic>
        </p:grpSp>
        <p:grpSp>
          <p:nvGrpSpPr>
            <p:cNvPr id="133" name="グループ化 132">
              <a:extLst>
                <a:ext uri="{FF2B5EF4-FFF2-40B4-BE49-F238E27FC236}">
                  <a16:creationId xmlns:a16="http://schemas.microsoft.com/office/drawing/2014/main" id="{80728714-1D71-4013-9F9D-BB1584776A50}"/>
                </a:ext>
              </a:extLst>
            </p:cNvPr>
            <p:cNvGrpSpPr/>
            <p:nvPr/>
          </p:nvGrpSpPr>
          <p:grpSpPr>
            <a:xfrm>
              <a:off x="7440959" y="2096940"/>
              <a:ext cx="1848210" cy="1839440"/>
              <a:chOff x="7735221" y="2286511"/>
              <a:chExt cx="1848210" cy="1839440"/>
            </a:xfrm>
          </p:grpSpPr>
          <p:sp>
            <p:nvSpPr>
              <p:cNvPr id="128" name="円/楕円 21">
                <a:extLst>
                  <a:ext uri="{FF2B5EF4-FFF2-40B4-BE49-F238E27FC236}">
                    <a16:creationId xmlns:a16="http://schemas.microsoft.com/office/drawing/2014/main" id="{1C0682B9-0257-49EB-BB9E-2A2D70345D8F}"/>
                  </a:ext>
                </a:extLst>
              </p:cNvPr>
              <p:cNvSpPr/>
              <p:nvPr/>
            </p:nvSpPr>
            <p:spPr>
              <a:xfrm>
                <a:off x="7735221" y="2286511"/>
                <a:ext cx="1848210" cy="1839440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9" name="正方形/長方形 128">
                <a:extLst>
                  <a:ext uri="{FF2B5EF4-FFF2-40B4-BE49-F238E27FC236}">
                    <a16:creationId xmlns:a16="http://schemas.microsoft.com/office/drawing/2014/main" id="{72E87BB0-C616-46EB-8CF3-5CD763AACA9D}"/>
                  </a:ext>
                </a:extLst>
              </p:cNvPr>
              <p:cNvSpPr/>
              <p:nvPr/>
            </p:nvSpPr>
            <p:spPr>
              <a:xfrm>
                <a:off x="8054037" y="3299856"/>
                <a:ext cx="1210588" cy="3385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TW" altLang="en-US" sz="160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資金提供者</a:t>
                </a:r>
                <a:endParaRPr lang="ja-JP" altLang="en-US" sz="16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pic>
            <p:nvPicPr>
              <p:cNvPr id="131" name="グラフィックス 130" descr="ユーザー">
                <a:extLst>
                  <a:ext uri="{FF2B5EF4-FFF2-40B4-BE49-F238E27FC236}">
                    <a16:creationId xmlns:a16="http://schemas.microsoft.com/office/drawing/2014/main" id="{792DE6B7-DE87-42A8-9E26-B818C0061E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277072" y="2450250"/>
                <a:ext cx="764509" cy="760882"/>
              </a:xfrm>
              <a:prstGeom prst="rect">
                <a:avLst/>
              </a:prstGeom>
            </p:spPr>
          </p:pic>
        </p:grpSp>
        <p:sp>
          <p:nvSpPr>
            <p:cNvPr id="135" name="円/楕円 21">
              <a:extLst>
                <a:ext uri="{FF2B5EF4-FFF2-40B4-BE49-F238E27FC236}">
                  <a16:creationId xmlns:a16="http://schemas.microsoft.com/office/drawing/2014/main" id="{194CA55C-574C-47C1-B978-9A6B4F4AE785}"/>
                </a:ext>
              </a:extLst>
            </p:cNvPr>
            <p:cNvSpPr/>
            <p:nvPr/>
          </p:nvSpPr>
          <p:spPr>
            <a:xfrm>
              <a:off x="4028895" y="2096940"/>
              <a:ext cx="1848210" cy="183944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4C7EC3B3-1B73-4DF8-A917-2138493C9026}"/>
                </a:ext>
              </a:extLst>
            </p:cNvPr>
            <p:cNvSpPr/>
            <p:nvPr/>
          </p:nvSpPr>
          <p:spPr>
            <a:xfrm>
              <a:off x="4322058" y="2755050"/>
              <a:ext cx="1261884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28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本公司</a:t>
              </a:r>
              <a:endParaRPr lang="ja-JP" altLang="en-US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145" name="グループ化 144">
              <a:extLst>
                <a:ext uri="{FF2B5EF4-FFF2-40B4-BE49-F238E27FC236}">
                  <a16:creationId xmlns:a16="http://schemas.microsoft.com/office/drawing/2014/main" id="{F86E09AB-EBD3-4A92-A6F4-E7615918FB82}"/>
                </a:ext>
              </a:extLst>
            </p:cNvPr>
            <p:cNvGrpSpPr/>
            <p:nvPr/>
          </p:nvGrpSpPr>
          <p:grpSpPr>
            <a:xfrm>
              <a:off x="2526968" y="2730418"/>
              <a:ext cx="1440000" cy="577145"/>
              <a:chOff x="2552895" y="3061265"/>
              <a:chExt cx="1440000" cy="577145"/>
            </a:xfrm>
          </p:grpSpPr>
          <p:cxnSp>
            <p:nvCxnSpPr>
              <p:cNvPr id="139" name="直線矢印コネクタ 138">
                <a:extLst>
                  <a:ext uri="{FF2B5EF4-FFF2-40B4-BE49-F238E27FC236}">
                    <a16:creationId xmlns:a16="http://schemas.microsoft.com/office/drawing/2014/main" id="{1AD72BE5-344F-40C2-9A4E-E4E95ED115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2895" y="3061265"/>
                <a:ext cx="1440000" cy="0"/>
              </a:xfrm>
              <a:prstGeom prst="straightConnector1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線矢印コネクタ 142">
                <a:extLst>
                  <a:ext uri="{FF2B5EF4-FFF2-40B4-BE49-F238E27FC236}">
                    <a16:creationId xmlns:a16="http://schemas.microsoft.com/office/drawing/2014/main" id="{99DD697D-BCB2-4AAD-9E6B-07EBDA5CC3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52895" y="3638410"/>
                <a:ext cx="1440000" cy="0"/>
              </a:xfrm>
              <a:prstGeom prst="straightConnector1">
                <a:avLst/>
              </a:prstGeom>
              <a:ln w="76200">
                <a:solidFill>
                  <a:schemeClr val="accent5">
                    <a:lumMod val="75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直線矢印コネクタ 141">
              <a:extLst>
                <a:ext uri="{FF2B5EF4-FFF2-40B4-BE49-F238E27FC236}">
                  <a16:creationId xmlns:a16="http://schemas.microsoft.com/office/drawing/2014/main" id="{93AD7D2A-2A01-40E2-9C12-0E87DD9BD3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39032" y="2730418"/>
              <a:ext cx="1440000" cy="0"/>
            </a:xfrm>
            <a:prstGeom prst="straightConnector1">
              <a:avLst/>
            </a:prstGeom>
            <a:ln w="76200">
              <a:solidFill>
                <a:schemeClr val="accent3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線矢印コネクタ 143">
              <a:extLst>
                <a:ext uri="{FF2B5EF4-FFF2-40B4-BE49-F238E27FC236}">
                  <a16:creationId xmlns:a16="http://schemas.microsoft.com/office/drawing/2014/main" id="{E8BACDC6-E8B6-44D8-8998-192B91E47C49}"/>
                </a:ext>
              </a:extLst>
            </p:cNvPr>
            <p:cNvCxnSpPr>
              <a:cxnSpLocks/>
            </p:cNvCxnSpPr>
            <p:nvPr/>
          </p:nvCxnSpPr>
          <p:spPr>
            <a:xfrm>
              <a:off x="5939032" y="3307563"/>
              <a:ext cx="1440000" cy="0"/>
            </a:xfrm>
            <a:prstGeom prst="straightConnector1">
              <a:avLst/>
            </a:prstGeom>
            <a:ln w="76200">
              <a:solidFill>
                <a:schemeClr val="accent5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正方形/長方形 146">
              <a:extLst>
                <a:ext uri="{FF2B5EF4-FFF2-40B4-BE49-F238E27FC236}">
                  <a16:creationId xmlns:a16="http://schemas.microsoft.com/office/drawing/2014/main" id="{02EBC78C-56A9-41DD-BF09-31D39AA99228}"/>
                </a:ext>
              </a:extLst>
            </p:cNvPr>
            <p:cNvSpPr/>
            <p:nvPr/>
          </p:nvSpPr>
          <p:spPr>
            <a:xfrm>
              <a:off x="2526968" y="2182727"/>
              <a:ext cx="144000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填寫、登錄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48" name="正方形/長方形 147">
              <a:extLst>
                <a:ext uri="{FF2B5EF4-FFF2-40B4-BE49-F238E27FC236}">
                  <a16:creationId xmlns:a16="http://schemas.microsoft.com/office/drawing/2014/main" id="{CF462B6D-E7AE-49BB-99EF-718015220116}"/>
                </a:ext>
              </a:extLst>
            </p:cNvPr>
            <p:cNvSpPr/>
            <p:nvPr/>
          </p:nvSpPr>
          <p:spPr>
            <a:xfrm>
              <a:off x="2526968" y="3571950"/>
              <a:ext cx="144000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管理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49" name="正方形/長方形 148">
              <a:extLst>
                <a:ext uri="{FF2B5EF4-FFF2-40B4-BE49-F238E27FC236}">
                  <a16:creationId xmlns:a16="http://schemas.microsoft.com/office/drawing/2014/main" id="{0CCEE41E-E6C1-4CAC-8B9C-3BBED2C94BDF}"/>
                </a:ext>
              </a:extLst>
            </p:cNvPr>
            <p:cNvSpPr/>
            <p:nvPr/>
          </p:nvSpPr>
          <p:spPr>
            <a:xfrm>
              <a:off x="5939032" y="2182727"/>
              <a:ext cx="144000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出資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9A3E758B-3435-484F-9598-C1B713E3832A}"/>
                </a:ext>
              </a:extLst>
            </p:cNvPr>
            <p:cNvSpPr/>
            <p:nvPr/>
          </p:nvSpPr>
          <p:spPr>
            <a:xfrm>
              <a:off x="5848987" y="3571950"/>
              <a:ext cx="162009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作品或服務的提供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cxnSp>
          <p:nvCxnSpPr>
            <p:cNvPr id="152" name="直線コネクタ 151">
              <a:extLst>
                <a:ext uri="{FF2B5EF4-FFF2-40B4-BE49-F238E27FC236}">
                  <a16:creationId xmlns:a16="http://schemas.microsoft.com/office/drawing/2014/main" id="{D0BC2C33-4B3F-4472-8E5B-7F1AD3759989}"/>
                </a:ext>
              </a:extLst>
            </p:cNvPr>
            <p:cNvCxnSpPr>
              <a:cxnSpLocks/>
            </p:cNvCxnSpPr>
            <p:nvPr/>
          </p:nvCxnSpPr>
          <p:spPr>
            <a:xfrm>
              <a:off x="4953000" y="4014439"/>
              <a:ext cx="0" cy="669073"/>
            </a:xfrm>
            <a:prstGeom prst="line">
              <a:avLst/>
            </a:prstGeom>
            <a:ln w="82550" cap="rnd">
              <a:solidFill>
                <a:schemeClr val="accent5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4015439C-B6C5-488C-A5AB-E3329402B2A0}"/>
                </a:ext>
              </a:extLst>
            </p:cNvPr>
            <p:cNvSpPr/>
            <p:nvPr/>
          </p:nvSpPr>
          <p:spPr>
            <a:xfrm>
              <a:off x="3449457" y="4849162"/>
              <a:ext cx="300708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仲介網站的營運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55" name="正方形/長方形 154">
              <a:extLst>
                <a:ext uri="{FF2B5EF4-FFF2-40B4-BE49-F238E27FC236}">
                  <a16:creationId xmlns:a16="http://schemas.microsoft.com/office/drawing/2014/main" id="{CBDAC3A2-2251-4F36-A26D-1500191422C8}"/>
                </a:ext>
              </a:extLst>
            </p:cNvPr>
            <p:cNvSpPr/>
            <p:nvPr/>
          </p:nvSpPr>
          <p:spPr>
            <a:xfrm>
              <a:off x="3449450" y="5456173"/>
              <a:ext cx="300710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7800" indent="-177800">
                <a:buFont typeface="Wingdings" panose="05000000000000000000" pitchFamily="2" charset="2"/>
                <a:buChar char="l"/>
              </a:pPr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藝術家的資料介紹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7800" indent="-177800">
                <a:buFont typeface="Wingdings" panose="05000000000000000000" pitchFamily="2" charset="2"/>
                <a:buChar char="l"/>
              </a:pPr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一口價和目標額的公開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177800" indent="-177800">
                <a:buFont typeface="Wingdings" panose="05000000000000000000" pitchFamily="2" charset="2"/>
                <a:buChar char="l"/>
              </a:pPr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提供作品和服務的介紹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赤紫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500</TotalTime>
  <Words>368</Words>
  <Application>Microsoft Office PowerPoint</Application>
  <PresentationFormat>A4 紙張 (210x297 公釐)</PresentationFormat>
  <Paragraphs>51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Wingdings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68</cp:revision>
  <dcterms:created xsi:type="dcterms:W3CDTF">2017-11-09T07:26:57Z</dcterms:created>
  <dcterms:modified xsi:type="dcterms:W3CDTF">2018-10-02T08:05:17Z</dcterms:modified>
</cp:coreProperties>
</file>