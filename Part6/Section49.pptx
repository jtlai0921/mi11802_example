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57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FF9900"/>
    <a:srgbClr val="CC9900"/>
    <a:srgbClr val="FF3300"/>
    <a:srgbClr val="FF00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" y="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2A4D308-0400-4806-A66F-FC730010A965}"/>
              </a:ext>
            </a:extLst>
          </p:cNvPr>
          <p:cNvGrpSpPr/>
          <p:nvPr/>
        </p:nvGrpSpPr>
        <p:grpSpPr>
          <a:xfrm>
            <a:off x="0" y="0"/>
            <a:ext cx="9905999" cy="6720663"/>
            <a:chOff x="0" y="0"/>
            <a:chExt cx="9905999" cy="6720663"/>
          </a:xfrm>
        </p:grpSpPr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F8C9B409-84A1-4869-B21E-A59ECDC01278}"/>
                </a:ext>
              </a:extLst>
            </p:cNvPr>
            <p:cNvSpPr/>
            <p:nvPr/>
          </p:nvSpPr>
          <p:spPr>
            <a:xfrm>
              <a:off x="0" y="0"/>
              <a:ext cx="9905999" cy="932373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40000"/>
                    <a:lumOff val="60000"/>
                  </a:schemeClr>
                </a:gs>
                <a:gs pos="80000">
                  <a:schemeClr val="accent1"/>
                </a:gs>
                <a:gs pos="20000">
                  <a:schemeClr val="accent1"/>
                </a:gs>
                <a:gs pos="50000">
                  <a:schemeClr val="accent1">
                    <a:lumMod val="75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285C3CF0-3839-4E2B-9411-05C3E5F3AADF}"/>
                </a:ext>
              </a:extLst>
            </p:cNvPr>
            <p:cNvCxnSpPr>
              <a:cxnSpLocks/>
              <a:stCxn id="58" idx="3"/>
              <a:endCxn id="56" idx="1"/>
            </p:cNvCxnSpPr>
            <p:nvPr/>
          </p:nvCxnSpPr>
          <p:spPr>
            <a:xfrm>
              <a:off x="4953000" y="2991887"/>
              <a:ext cx="2585" cy="366653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sp>
          <p:nvSpPr>
            <p:cNvPr id="6" name="テキスト ボックス 22">
              <a:extLst>
                <a:ext uri="{FF2B5EF4-FFF2-40B4-BE49-F238E27FC236}">
                  <a16:creationId xmlns:a16="http://schemas.microsoft.com/office/drawing/2014/main" id="{0D33CF65-D505-4458-BF7B-D33C53627390}"/>
                </a:ext>
              </a:extLst>
            </p:cNvPr>
            <p:cNvSpPr txBox="1"/>
            <p:nvPr/>
          </p:nvSpPr>
          <p:spPr>
            <a:xfrm>
              <a:off x="4097302" y="1209779"/>
              <a:ext cx="1697601" cy="51042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TW" altLang="en-US" sz="1600"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獨特的戰略</a:t>
              </a:r>
              <a:endParaRPr kumimoji="1" lang="ja-JP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23">
              <a:extLst>
                <a:ext uri="{FF2B5EF4-FFF2-40B4-BE49-F238E27FC236}">
                  <a16:creationId xmlns:a16="http://schemas.microsoft.com/office/drawing/2014/main" id="{17957595-1A99-4F9A-84B1-0556771DDBB8}"/>
                </a:ext>
              </a:extLst>
            </p:cNvPr>
            <p:cNvSpPr txBox="1"/>
            <p:nvPr/>
          </p:nvSpPr>
          <p:spPr>
            <a:xfrm>
              <a:off x="4097302" y="6210238"/>
              <a:ext cx="1697601" cy="51042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1600"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獨創性</a:t>
              </a:r>
              <a:endParaRPr kumimoji="1" lang="ja-JP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8" name="テキスト ボックス 24">
              <a:extLst>
                <a:ext uri="{FF2B5EF4-FFF2-40B4-BE49-F238E27FC236}">
                  <a16:creationId xmlns:a16="http://schemas.microsoft.com/office/drawing/2014/main" id="{36CB9745-9FCE-45CE-9D8F-C6ACC9FFC4D7}"/>
                </a:ext>
              </a:extLst>
            </p:cNvPr>
            <p:cNvSpPr txBox="1"/>
            <p:nvPr/>
          </p:nvSpPr>
          <p:spPr>
            <a:xfrm>
              <a:off x="1798575" y="2213382"/>
              <a:ext cx="1442121" cy="51042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1600"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自主性</a:t>
              </a:r>
              <a:endParaRPr kumimoji="1" lang="ja-JP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0" name="テキスト ボックス 26">
              <a:extLst>
                <a:ext uri="{FF2B5EF4-FFF2-40B4-BE49-F238E27FC236}">
                  <a16:creationId xmlns:a16="http://schemas.microsoft.com/office/drawing/2014/main" id="{7D408712-60EB-4DE7-845F-BEB7BFC970EC}"/>
                </a:ext>
              </a:extLst>
            </p:cNvPr>
            <p:cNvSpPr txBox="1"/>
            <p:nvPr/>
          </p:nvSpPr>
          <p:spPr>
            <a:xfrm>
              <a:off x="1798575" y="5216520"/>
              <a:ext cx="1442121" cy="51042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0" lang="zh-TW" altLang="en-US" sz="1600">
                  <a:solidFill>
                    <a:schemeClr val="tx1"/>
                  </a:solidFill>
                  <a:effectLst/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年代的融合</a:t>
              </a:r>
              <a:endParaRPr kumimoji="1" lang="ja-JP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9" name="テキスト ボックス 25">
              <a:extLst>
                <a:ext uri="{FF2B5EF4-FFF2-40B4-BE49-F238E27FC236}">
                  <a16:creationId xmlns:a16="http://schemas.microsoft.com/office/drawing/2014/main" id="{70625870-A48D-4B5B-99C2-D04395AB5007}"/>
                </a:ext>
              </a:extLst>
            </p:cNvPr>
            <p:cNvSpPr txBox="1"/>
            <p:nvPr/>
          </p:nvSpPr>
          <p:spPr>
            <a:xfrm>
              <a:off x="6531152" y="2130482"/>
              <a:ext cx="1831753" cy="51042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TW" altLang="en-US" sz="16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群眾外包</a:t>
              </a:r>
              <a:endParaRPr kumimoji="1" lang="ja-JP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1" name="テキスト ボックス 27">
              <a:extLst>
                <a:ext uri="{FF2B5EF4-FFF2-40B4-BE49-F238E27FC236}">
                  <a16:creationId xmlns:a16="http://schemas.microsoft.com/office/drawing/2014/main" id="{87FBC236-F527-40AC-A78C-49AA2D0F4E40}"/>
                </a:ext>
              </a:extLst>
            </p:cNvPr>
            <p:cNvSpPr txBox="1"/>
            <p:nvPr/>
          </p:nvSpPr>
          <p:spPr>
            <a:xfrm>
              <a:off x="6598229" y="5216520"/>
              <a:ext cx="1442122" cy="510425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no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TW" altLang="en-US" sz="1600">
                  <a:solidFill>
                    <a:schemeClr val="tx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堅持</a:t>
              </a:r>
              <a:endParaRPr kumimoji="1" lang="ja-JP" altLang="en-US" sz="16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30">
              <a:extLst>
                <a:ext uri="{FF2B5EF4-FFF2-40B4-BE49-F238E27FC236}">
                  <a16:creationId xmlns:a16="http://schemas.microsoft.com/office/drawing/2014/main" id="{F1F6C253-97BF-4F60-B107-8886FAB65349}"/>
                </a:ext>
              </a:extLst>
            </p:cNvPr>
            <p:cNvSpPr txBox="1"/>
            <p:nvPr/>
          </p:nvSpPr>
          <p:spPr>
            <a:xfrm>
              <a:off x="2447253" y="255265"/>
              <a:ext cx="5011494" cy="49244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3200" spc="-15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2020</a:t>
              </a:r>
              <a:r>
                <a:rPr kumimoji="1" lang="zh-TW" altLang="en-US" sz="3200" spc="-15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年的組織戰略</a:t>
              </a:r>
              <a:endParaRPr kumimoji="1" lang="ja-JP" altLang="en-US" sz="3200" spc="-15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2A4C5330-1975-4D9A-AD2B-41FCE035379C}"/>
                </a:ext>
              </a:extLst>
            </p:cNvPr>
            <p:cNvCxnSpPr>
              <a:cxnSpLocks/>
              <a:stCxn id="56" idx="3"/>
              <a:endCxn id="64" idx="1"/>
            </p:cNvCxnSpPr>
            <p:nvPr/>
          </p:nvCxnSpPr>
          <p:spPr>
            <a:xfrm flipH="1">
              <a:off x="4953000" y="4576290"/>
              <a:ext cx="2585" cy="361484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83" name="直線コネクタ 82">
              <a:extLst>
                <a:ext uri="{FF2B5EF4-FFF2-40B4-BE49-F238E27FC236}">
                  <a16:creationId xmlns:a16="http://schemas.microsoft.com/office/drawing/2014/main" id="{B0997D8F-13E4-484C-90B4-077D24BAFD10}"/>
                </a:ext>
              </a:extLst>
            </p:cNvPr>
            <p:cNvCxnSpPr>
              <a:cxnSpLocks/>
              <a:stCxn id="66" idx="2"/>
              <a:endCxn id="62" idx="0"/>
            </p:cNvCxnSpPr>
            <p:nvPr/>
          </p:nvCxnSpPr>
          <p:spPr>
            <a:xfrm>
              <a:off x="4191634" y="4754447"/>
              <a:ext cx="1522732" cy="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88" name="直線コネクタ 87">
              <a:extLst>
                <a:ext uri="{FF2B5EF4-FFF2-40B4-BE49-F238E27FC236}">
                  <a16:creationId xmlns:a16="http://schemas.microsoft.com/office/drawing/2014/main" id="{AF7E4699-82E9-44C7-8801-0EB7BB7BADB9}"/>
                </a:ext>
              </a:extLst>
            </p:cNvPr>
            <p:cNvCxnSpPr>
              <a:cxnSpLocks/>
              <a:stCxn id="68" idx="2"/>
              <a:endCxn id="60" idx="0"/>
            </p:cNvCxnSpPr>
            <p:nvPr/>
          </p:nvCxnSpPr>
          <p:spPr>
            <a:xfrm>
              <a:off x="4191634" y="3175214"/>
              <a:ext cx="1522732" cy="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sp>
          <p:nvSpPr>
            <p:cNvPr id="96" name="六角形 95">
              <a:extLst>
                <a:ext uri="{FF2B5EF4-FFF2-40B4-BE49-F238E27FC236}">
                  <a16:creationId xmlns:a16="http://schemas.microsoft.com/office/drawing/2014/main" id="{E85CC998-A85C-4434-B585-15779671D3AF}"/>
                </a:ext>
              </a:extLst>
            </p:cNvPr>
            <p:cNvSpPr/>
            <p:nvPr/>
          </p:nvSpPr>
          <p:spPr>
            <a:xfrm rot="5400000">
              <a:off x="3331317" y="2493156"/>
              <a:ext cx="3256907" cy="2884245"/>
            </a:xfrm>
            <a:prstGeom prst="hexagon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kumimoji="1" lang="ja-JP" alt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97" name="直線コネクタ 96">
              <a:extLst>
                <a:ext uri="{FF2B5EF4-FFF2-40B4-BE49-F238E27FC236}">
                  <a16:creationId xmlns:a16="http://schemas.microsoft.com/office/drawing/2014/main" id="{C0C485F8-30E2-4587-B8EB-A4343BB3F423}"/>
                </a:ext>
              </a:extLst>
            </p:cNvPr>
            <p:cNvCxnSpPr>
              <a:cxnSpLocks/>
              <a:stCxn id="96" idx="3"/>
              <a:endCxn id="96" idx="5"/>
            </p:cNvCxnSpPr>
            <p:nvPr/>
          </p:nvCxnSpPr>
          <p:spPr>
            <a:xfrm>
              <a:off x="4959770" y="2306825"/>
              <a:ext cx="1442122" cy="2535846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99" name="直線コネクタ 98">
              <a:extLst>
                <a:ext uri="{FF2B5EF4-FFF2-40B4-BE49-F238E27FC236}">
                  <a16:creationId xmlns:a16="http://schemas.microsoft.com/office/drawing/2014/main" id="{7EEA512F-20FC-480B-AC26-7AAEDA3D7FED}"/>
                </a:ext>
              </a:extLst>
            </p:cNvPr>
            <p:cNvCxnSpPr>
              <a:cxnSpLocks/>
              <a:stCxn id="96" idx="2"/>
              <a:endCxn id="96" idx="0"/>
            </p:cNvCxnSpPr>
            <p:nvPr/>
          </p:nvCxnSpPr>
          <p:spPr>
            <a:xfrm>
              <a:off x="3517649" y="3027886"/>
              <a:ext cx="1442121" cy="2535846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C5EF533E-E4CF-4CD7-AD5D-0413544C01B6}"/>
                </a:ext>
              </a:extLst>
            </p:cNvPr>
            <p:cNvCxnSpPr>
              <a:cxnSpLocks/>
              <a:stCxn id="96" idx="4"/>
            </p:cNvCxnSpPr>
            <p:nvPr/>
          </p:nvCxnSpPr>
          <p:spPr>
            <a:xfrm flipH="1">
              <a:off x="3516350" y="3027886"/>
              <a:ext cx="2885542" cy="1821980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E9252B38-21EC-4050-84F7-D5999A164752}"/>
                </a:ext>
              </a:extLst>
            </p:cNvPr>
            <p:cNvCxnSpPr>
              <a:cxnSpLocks/>
              <a:stCxn id="96" idx="3"/>
              <a:endCxn id="96" idx="1"/>
            </p:cNvCxnSpPr>
            <p:nvPr/>
          </p:nvCxnSpPr>
          <p:spPr>
            <a:xfrm flipH="1">
              <a:off x="3517649" y="2306825"/>
              <a:ext cx="1442121" cy="2535846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D0747556-E290-4FCF-BAD2-E571AC849F55}"/>
                </a:ext>
              </a:extLst>
            </p:cNvPr>
            <p:cNvCxnSpPr>
              <a:cxnSpLocks/>
              <a:stCxn id="96" idx="2"/>
              <a:endCxn id="96" idx="5"/>
            </p:cNvCxnSpPr>
            <p:nvPr/>
          </p:nvCxnSpPr>
          <p:spPr>
            <a:xfrm>
              <a:off x="3517649" y="3027886"/>
              <a:ext cx="2884243" cy="1814785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cxnSp>
          <p:nvCxnSpPr>
            <p:cNvPr id="112" name="直線コネクタ 111">
              <a:extLst>
                <a:ext uri="{FF2B5EF4-FFF2-40B4-BE49-F238E27FC236}">
                  <a16:creationId xmlns:a16="http://schemas.microsoft.com/office/drawing/2014/main" id="{28112BEF-0713-4168-82BB-997910EC78BA}"/>
                </a:ext>
              </a:extLst>
            </p:cNvPr>
            <p:cNvCxnSpPr>
              <a:cxnSpLocks/>
              <a:endCxn id="96" idx="0"/>
            </p:cNvCxnSpPr>
            <p:nvPr/>
          </p:nvCxnSpPr>
          <p:spPr>
            <a:xfrm flipH="1">
              <a:off x="4959770" y="3027886"/>
              <a:ext cx="1442122" cy="2535846"/>
            </a:xfrm>
            <a:prstGeom prst="line">
              <a:avLst/>
            </a:prstGeom>
            <a:noFill/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cxnSp>
        <p:sp>
          <p:nvSpPr>
            <p:cNvPr id="56" name="フリーフォーム: 図形 55">
              <a:extLst>
                <a:ext uri="{FF2B5EF4-FFF2-40B4-BE49-F238E27FC236}">
                  <a16:creationId xmlns:a16="http://schemas.microsoft.com/office/drawing/2014/main" id="{505203FE-4163-4302-82F3-C88978422180}"/>
                </a:ext>
              </a:extLst>
            </p:cNvPr>
            <p:cNvSpPr/>
            <p:nvPr/>
          </p:nvSpPr>
          <p:spPr>
            <a:xfrm>
              <a:off x="4346710" y="3358540"/>
              <a:ext cx="1217749" cy="121774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9008" tIns="189008" rIns="189008" bIns="189008" numCol="1" spcCol="1270" anchor="ctr" anchorCtr="0">
              <a:noAutofit/>
            </a:bodyPr>
            <a:lstStyle/>
            <a:p>
              <a:pPr marL="0" lvl="0" indent="0" algn="ctr" defTabSz="8001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價值觀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Shared Value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58" name="フリーフォーム: 図形 57">
              <a:extLst>
                <a:ext uri="{FF2B5EF4-FFF2-40B4-BE49-F238E27FC236}">
                  <a16:creationId xmlns:a16="http://schemas.microsoft.com/office/drawing/2014/main" id="{E1BBBE0E-4CED-47BF-BFF6-5DA6AAA8EB6A}"/>
                </a:ext>
              </a:extLst>
            </p:cNvPr>
            <p:cNvSpPr/>
            <p:nvPr/>
          </p:nvSpPr>
          <p:spPr>
            <a:xfrm>
              <a:off x="4346710" y="1779307"/>
              <a:ext cx="1212579" cy="121257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738" tIns="187738" rIns="187738" bIns="187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戰略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Strategy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0" name="フリーフォーム: 図形 59">
              <a:extLst>
                <a:ext uri="{FF2B5EF4-FFF2-40B4-BE49-F238E27FC236}">
                  <a16:creationId xmlns:a16="http://schemas.microsoft.com/office/drawing/2014/main" id="{9C4470F9-0A95-4FB9-9E0B-CBD52D6296A8}"/>
                </a:ext>
              </a:extLst>
            </p:cNvPr>
            <p:cNvSpPr/>
            <p:nvPr/>
          </p:nvSpPr>
          <p:spPr>
            <a:xfrm>
              <a:off x="5714366" y="2568924"/>
              <a:ext cx="1212579" cy="121257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738" tIns="187738" rIns="187738" bIns="187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社內</a:t>
              </a:r>
              <a:br>
                <a:rPr kumimoji="1" lang="en-US" altLang="ja-JP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系統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System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2" name="フリーフォーム: 図形 61">
              <a:extLst>
                <a:ext uri="{FF2B5EF4-FFF2-40B4-BE49-F238E27FC236}">
                  <a16:creationId xmlns:a16="http://schemas.microsoft.com/office/drawing/2014/main" id="{1BA541C6-5F0D-48D0-9BE9-3CAF08FC5B82}"/>
                </a:ext>
              </a:extLst>
            </p:cNvPr>
            <p:cNvSpPr/>
            <p:nvPr/>
          </p:nvSpPr>
          <p:spPr>
            <a:xfrm>
              <a:off x="5714366" y="4148157"/>
              <a:ext cx="1212579" cy="121257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738" tIns="187738" rIns="187738" bIns="187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技能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Skill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5CBAD8F8-BD0A-4A9E-9DAD-DBC209B8E934}"/>
                </a:ext>
              </a:extLst>
            </p:cNvPr>
            <p:cNvSpPr/>
            <p:nvPr/>
          </p:nvSpPr>
          <p:spPr>
            <a:xfrm>
              <a:off x="4346710" y="4937774"/>
              <a:ext cx="1212579" cy="121257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738" tIns="187738" rIns="187738" bIns="187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經營型態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Style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171FDE8E-9037-418E-99E8-A462116C1B5E}"/>
                </a:ext>
              </a:extLst>
            </p:cNvPr>
            <p:cNvSpPr/>
            <p:nvPr/>
          </p:nvSpPr>
          <p:spPr>
            <a:xfrm>
              <a:off x="2979054" y="4148157"/>
              <a:ext cx="1212579" cy="121257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738" tIns="187738" rIns="187738" bIns="187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人才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Staff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C772C28B-86DA-4E38-9691-D3F34E712FF9}"/>
                </a:ext>
              </a:extLst>
            </p:cNvPr>
            <p:cNvSpPr/>
            <p:nvPr/>
          </p:nvSpPr>
          <p:spPr>
            <a:xfrm>
              <a:off x="2979054" y="2568924"/>
              <a:ext cx="1212579" cy="1212579"/>
            </a:xfrm>
            <a:custGeom>
              <a:avLst/>
              <a:gdLst>
                <a:gd name="connsiteX0" fmla="*/ 0 w 1212579"/>
                <a:gd name="connsiteY0" fmla="*/ 606290 h 1212579"/>
                <a:gd name="connsiteX1" fmla="*/ 606290 w 1212579"/>
                <a:gd name="connsiteY1" fmla="*/ 0 h 1212579"/>
                <a:gd name="connsiteX2" fmla="*/ 1212580 w 1212579"/>
                <a:gd name="connsiteY2" fmla="*/ 606290 h 1212579"/>
                <a:gd name="connsiteX3" fmla="*/ 606290 w 1212579"/>
                <a:gd name="connsiteY3" fmla="*/ 1212580 h 1212579"/>
                <a:gd name="connsiteX4" fmla="*/ 0 w 1212579"/>
                <a:gd name="connsiteY4" fmla="*/ 606290 h 1212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2579" h="1212579">
                  <a:moveTo>
                    <a:pt x="0" y="606290"/>
                  </a:moveTo>
                  <a:cubicBezTo>
                    <a:pt x="0" y="271445"/>
                    <a:pt x="271445" y="0"/>
                    <a:pt x="606290" y="0"/>
                  </a:cubicBezTo>
                  <a:cubicBezTo>
                    <a:pt x="941135" y="0"/>
                    <a:pt x="1212580" y="271445"/>
                    <a:pt x="1212580" y="606290"/>
                  </a:cubicBezTo>
                  <a:cubicBezTo>
                    <a:pt x="1212580" y="941135"/>
                    <a:pt x="941135" y="1212580"/>
                    <a:pt x="606290" y="1212580"/>
                  </a:cubicBezTo>
                  <a:cubicBezTo>
                    <a:pt x="271445" y="1212580"/>
                    <a:pt x="0" y="941135"/>
                    <a:pt x="0" y="606290"/>
                  </a:cubicBez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87738" tIns="187738" rIns="187738" bIns="187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zh-TW" altLang="en-US" sz="1600" kern="12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組織</a:t>
              </a:r>
              <a:br>
                <a:rPr kumimoji="1" lang="en-US" altLang="ja-JP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</a:br>
              <a:r>
                <a:rPr kumimoji="1" lang="en-US" altLang="en-US" sz="1600" kern="120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Structure</a:t>
              </a:r>
              <a:endParaRPr kumimoji="1" lang="ja-JP" altLang="en-US" sz="1600" kern="12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2713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BD043BA-E490-4E1C-A55B-165AE7A24C3C}"/>
              </a:ext>
            </a:extLst>
          </p:cNvPr>
          <p:cNvGrpSpPr/>
          <p:nvPr/>
        </p:nvGrpSpPr>
        <p:grpSpPr>
          <a:xfrm>
            <a:off x="620710" y="395171"/>
            <a:ext cx="8679744" cy="5724676"/>
            <a:chOff x="620710" y="395171"/>
            <a:chExt cx="8679744" cy="5724676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3AA0A8DD-789F-454F-9127-D1590C717397}"/>
                </a:ext>
              </a:extLst>
            </p:cNvPr>
            <p:cNvSpPr/>
            <p:nvPr/>
          </p:nvSpPr>
          <p:spPr>
            <a:xfrm>
              <a:off x="2144751" y="395171"/>
              <a:ext cx="5616498" cy="66199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B2273AF7-1763-4319-9F61-4FA2BCD54E63}"/>
                </a:ext>
              </a:extLst>
            </p:cNvPr>
            <p:cNvSpPr/>
            <p:nvPr/>
          </p:nvSpPr>
          <p:spPr>
            <a:xfrm>
              <a:off x="3147957" y="2068513"/>
              <a:ext cx="3698240" cy="3698240"/>
            </a:xfrm>
            <a:custGeom>
              <a:avLst/>
              <a:gdLst>
                <a:gd name="connsiteX0" fmla="*/ 1849120 w 3698240"/>
                <a:gd name="connsiteY0" fmla="*/ 0 h 3698240"/>
                <a:gd name="connsiteX1" fmla="*/ 3698240 w 3698240"/>
                <a:gd name="connsiteY1" fmla="*/ 1849120 h 3698240"/>
                <a:gd name="connsiteX2" fmla="*/ 1849120 w 3698240"/>
                <a:gd name="connsiteY2" fmla="*/ 1849120 h 3698240"/>
                <a:gd name="connsiteX3" fmla="*/ 1849120 w 3698240"/>
                <a:gd name="connsiteY3" fmla="*/ 0 h 369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8240" h="3698240">
                  <a:moveTo>
                    <a:pt x="1849120" y="0"/>
                  </a:moveTo>
                  <a:cubicBezTo>
                    <a:pt x="2870361" y="0"/>
                    <a:pt x="3698240" y="827879"/>
                    <a:pt x="3698240" y="1849120"/>
                  </a:cubicBezTo>
                  <a:lnTo>
                    <a:pt x="1849120" y="1849120"/>
                  </a:lnTo>
                  <a:lnTo>
                    <a:pt x="184912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8709" tIns="802065" rIns="405825" bIns="1954682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2800" kern="1200" dirty="0"/>
                <a:t>PLAN</a:t>
              </a:r>
              <a:br>
                <a:rPr kumimoji="1" lang="en-US" altLang="ja-JP" sz="2800" kern="1200"/>
              </a:br>
              <a:r>
                <a:rPr kumimoji="1" lang="zh-TW" altLang="en-US" kern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計劃</a:t>
              </a:r>
              <a:endParaRPr kumimoji="1" lang="ja-JP" altLang="en-US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8EECE265-5E12-45B9-84E7-D3D1B8E68559}"/>
                </a:ext>
              </a:extLst>
            </p:cNvPr>
            <p:cNvSpPr/>
            <p:nvPr/>
          </p:nvSpPr>
          <p:spPr>
            <a:xfrm>
              <a:off x="3147957" y="2192668"/>
              <a:ext cx="3698240" cy="3698240"/>
            </a:xfrm>
            <a:custGeom>
              <a:avLst/>
              <a:gdLst>
                <a:gd name="connsiteX0" fmla="*/ 3698240 w 3698240"/>
                <a:gd name="connsiteY0" fmla="*/ 1849120 h 3698240"/>
                <a:gd name="connsiteX1" fmla="*/ 1849120 w 3698240"/>
                <a:gd name="connsiteY1" fmla="*/ 3698240 h 3698240"/>
                <a:gd name="connsiteX2" fmla="*/ 1849120 w 3698240"/>
                <a:gd name="connsiteY2" fmla="*/ 1849120 h 3698240"/>
                <a:gd name="connsiteX3" fmla="*/ 3698240 w 3698240"/>
                <a:gd name="connsiteY3" fmla="*/ 1849120 h 369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8240" h="3698240">
                  <a:moveTo>
                    <a:pt x="3698240" y="1849120"/>
                  </a:moveTo>
                  <a:cubicBezTo>
                    <a:pt x="3698240" y="2870361"/>
                    <a:pt x="2870361" y="3698240"/>
                    <a:pt x="1849120" y="3698240"/>
                  </a:cubicBezTo>
                  <a:lnTo>
                    <a:pt x="1849120" y="1849120"/>
                  </a:lnTo>
                  <a:lnTo>
                    <a:pt x="3698240" y="184912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98709" tIns="1954683" rIns="405825" bIns="8020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2800" kern="1200" dirty="0"/>
                <a:t>DO</a:t>
              </a:r>
              <a:br>
                <a:rPr kumimoji="1" lang="en-US" altLang="ja-JP" sz="2800" kern="1200"/>
              </a:br>
              <a:r>
                <a:rPr kumimoji="1" lang="zh-TW" altLang="en-US" kern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執行</a:t>
              </a:r>
              <a:endParaRPr kumimoji="1" lang="ja-JP" altLang="en-US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FC7C178A-1DCD-456D-B571-AE952B3F85A2}"/>
                </a:ext>
              </a:extLst>
            </p:cNvPr>
            <p:cNvSpPr/>
            <p:nvPr/>
          </p:nvSpPr>
          <p:spPr>
            <a:xfrm>
              <a:off x="3023802" y="2192668"/>
              <a:ext cx="3698240" cy="3698240"/>
            </a:xfrm>
            <a:custGeom>
              <a:avLst/>
              <a:gdLst>
                <a:gd name="connsiteX0" fmla="*/ 1849120 w 3698240"/>
                <a:gd name="connsiteY0" fmla="*/ 3698240 h 3698240"/>
                <a:gd name="connsiteX1" fmla="*/ 0 w 3698240"/>
                <a:gd name="connsiteY1" fmla="*/ 1849120 h 3698240"/>
                <a:gd name="connsiteX2" fmla="*/ 1849120 w 3698240"/>
                <a:gd name="connsiteY2" fmla="*/ 1849120 h 3698240"/>
                <a:gd name="connsiteX3" fmla="*/ 1849120 w 3698240"/>
                <a:gd name="connsiteY3" fmla="*/ 3698240 h 369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8240" h="3698240">
                  <a:moveTo>
                    <a:pt x="1849120" y="3698240"/>
                  </a:moveTo>
                  <a:cubicBezTo>
                    <a:pt x="827879" y="3698240"/>
                    <a:pt x="0" y="2870361"/>
                    <a:pt x="0" y="1849120"/>
                  </a:cubicBezTo>
                  <a:lnTo>
                    <a:pt x="1849120" y="1849120"/>
                  </a:lnTo>
                  <a:lnTo>
                    <a:pt x="1849120" y="369824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5824" tIns="1954683" rIns="1998710" bIns="802064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2800" kern="1200" dirty="0"/>
                <a:t>CHECK</a:t>
              </a:r>
              <a:br>
                <a:rPr kumimoji="1" lang="en-US" altLang="ja-JP" sz="2800" kern="1200"/>
              </a:br>
              <a:r>
                <a:rPr kumimoji="1" lang="zh-TW" altLang="en-US" kern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評估</a:t>
              </a:r>
              <a:endParaRPr kumimoji="1" lang="ja-JP" altLang="en-US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フリーフォーム: 図形 13">
              <a:extLst>
                <a:ext uri="{FF2B5EF4-FFF2-40B4-BE49-F238E27FC236}">
                  <a16:creationId xmlns:a16="http://schemas.microsoft.com/office/drawing/2014/main" id="{1769F1CC-8ED4-4AA4-89F2-BA2726876DDE}"/>
                </a:ext>
              </a:extLst>
            </p:cNvPr>
            <p:cNvSpPr/>
            <p:nvPr/>
          </p:nvSpPr>
          <p:spPr>
            <a:xfrm>
              <a:off x="3023802" y="2068513"/>
              <a:ext cx="3698240" cy="3698240"/>
            </a:xfrm>
            <a:custGeom>
              <a:avLst/>
              <a:gdLst>
                <a:gd name="connsiteX0" fmla="*/ 0 w 3698240"/>
                <a:gd name="connsiteY0" fmla="*/ 1849120 h 3698240"/>
                <a:gd name="connsiteX1" fmla="*/ 1849120 w 3698240"/>
                <a:gd name="connsiteY1" fmla="*/ 0 h 3698240"/>
                <a:gd name="connsiteX2" fmla="*/ 1849120 w 3698240"/>
                <a:gd name="connsiteY2" fmla="*/ 1849120 h 3698240"/>
                <a:gd name="connsiteX3" fmla="*/ 0 w 3698240"/>
                <a:gd name="connsiteY3" fmla="*/ 1849120 h 3698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98240" h="3698240">
                  <a:moveTo>
                    <a:pt x="0" y="1849120"/>
                  </a:moveTo>
                  <a:cubicBezTo>
                    <a:pt x="0" y="827879"/>
                    <a:pt x="827879" y="0"/>
                    <a:pt x="1849120" y="0"/>
                  </a:cubicBezTo>
                  <a:lnTo>
                    <a:pt x="1849120" y="1849120"/>
                  </a:lnTo>
                  <a:lnTo>
                    <a:pt x="0" y="184912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05824" tIns="802065" rIns="1998710" bIns="1954682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kumimoji="1" lang="en-US" altLang="ja-JP" sz="2800" kern="1200" dirty="0"/>
                <a:t>ACTION</a:t>
              </a:r>
              <a:br>
                <a:rPr kumimoji="1" lang="en-US" altLang="ja-JP" sz="2800" kern="1200"/>
              </a:br>
              <a:r>
                <a:rPr kumimoji="1" lang="zh-TW" altLang="en-US" kern="120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改善</a:t>
              </a:r>
              <a:endParaRPr kumimoji="1" lang="ja-JP" altLang="en-US" kern="12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矢印: 環状 14">
              <a:extLst>
                <a:ext uri="{FF2B5EF4-FFF2-40B4-BE49-F238E27FC236}">
                  <a16:creationId xmlns:a16="http://schemas.microsoft.com/office/drawing/2014/main" id="{59A2275D-560E-441D-95D0-A91C9CCC6BD9}"/>
                </a:ext>
              </a:extLst>
            </p:cNvPr>
            <p:cNvSpPr/>
            <p:nvPr/>
          </p:nvSpPr>
          <p:spPr>
            <a:xfrm>
              <a:off x="2919018" y="1839575"/>
              <a:ext cx="4156117" cy="4156117"/>
            </a:xfrm>
            <a:prstGeom prst="circularArrow">
              <a:avLst>
                <a:gd name="adj1" fmla="val 5085"/>
                <a:gd name="adj2" fmla="val 327528"/>
                <a:gd name="adj3" fmla="val 21272472"/>
                <a:gd name="adj4" fmla="val 16200000"/>
                <a:gd name="adj5" fmla="val 5932"/>
              </a:avLst>
            </a:prstGeom>
            <a:solidFill>
              <a:srgbClr val="FF9900"/>
            </a:solidFill>
            <a:ln>
              <a:noFill/>
            </a:ln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矢印: 環状 15">
              <a:extLst>
                <a:ext uri="{FF2B5EF4-FFF2-40B4-BE49-F238E27FC236}">
                  <a16:creationId xmlns:a16="http://schemas.microsoft.com/office/drawing/2014/main" id="{9C1B1DDA-029F-40BA-A662-CAFFA3E16538}"/>
                </a:ext>
              </a:extLst>
            </p:cNvPr>
            <p:cNvSpPr/>
            <p:nvPr/>
          </p:nvSpPr>
          <p:spPr>
            <a:xfrm>
              <a:off x="2919018" y="1963730"/>
              <a:ext cx="4156117" cy="4156117"/>
            </a:xfrm>
            <a:prstGeom prst="circularArrow">
              <a:avLst>
                <a:gd name="adj1" fmla="val 5085"/>
                <a:gd name="adj2" fmla="val 327528"/>
                <a:gd name="adj3" fmla="val 5072472"/>
                <a:gd name="adj4" fmla="val 0"/>
                <a:gd name="adj5" fmla="val 5932"/>
              </a:avLst>
            </a:prstGeom>
            <a:solidFill>
              <a:srgbClr val="FF990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矢印: 環状 16">
              <a:extLst>
                <a:ext uri="{FF2B5EF4-FFF2-40B4-BE49-F238E27FC236}">
                  <a16:creationId xmlns:a16="http://schemas.microsoft.com/office/drawing/2014/main" id="{B20773DD-6DEF-4248-9CD1-FE75CA616E90}"/>
                </a:ext>
              </a:extLst>
            </p:cNvPr>
            <p:cNvSpPr/>
            <p:nvPr/>
          </p:nvSpPr>
          <p:spPr>
            <a:xfrm>
              <a:off x="2794863" y="1963730"/>
              <a:ext cx="4156117" cy="4156117"/>
            </a:xfrm>
            <a:prstGeom prst="circularArrow">
              <a:avLst>
                <a:gd name="adj1" fmla="val 5085"/>
                <a:gd name="adj2" fmla="val 327528"/>
                <a:gd name="adj3" fmla="val 10472472"/>
                <a:gd name="adj4" fmla="val 5400000"/>
                <a:gd name="adj5" fmla="val 5932"/>
              </a:avLst>
            </a:prstGeom>
            <a:solidFill>
              <a:srgbClr val="FF990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矢印: 環状 17">
              <a:extLst>
                <a:ext uri="{FF2B5EF4-FFF2-40B4-BE49-F238E27FC236}">
                  <a16:creationId xmlns:a16="http://schemas.microsoft.com/office/drawing/2014/main" id="{1056B29B-C4B1-4D1F-A270-C06916B35D61}"/>
                </a:ext>
              </a:extLst>
            </p:cNvPr>
            <p:cNvSpPr/>
            <p:nvPr/>
          </p:nvSpPr>
          <p:spPr>
            <a:xfrm>
              <a:off x="2794863" y="1839575"/>
              <a:ext cx="4156117" cy="4156117"/>
            </a:xfrm>
            <a:prstGeom prst="circularArrow">
              <a:avLst>
                <a:gd name="adj1" fmla="val 5085"/>
                <a:gd name="adj2" fmla="val 327528"/>
                <a:gd name="adj3" fmla="val 15872472"/>
                <a:gd name="adj4" fmla="val 10800000"/>
                <a:gd name="adj5" fmla="val 5932"/>
              </a:avLst>
            </a:prstGeom>
            <a:solidFill>
              <a:srgbClr val="FF9900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4" name="正方形/長方形 33">
              <a:extLst>
                <a:ext uri="{FF2B5EF4-FFF2-40B4-BE49-F238E27FC236}">
                  <a16:creationId xmlns:a16="http://schemas.microsoft.com/office/drawing/2014/main" id="{8BEE309B-706B-49ED-B55B-E4ABA4E8A632}"/>
                </a:ext>
              </a:extLst>
            </p:cNvPr>
            <p:cNvSpPr/>
            <p:nvPr/>
          </p:nvSpPr>
          <p:spPr>
            <a:xfrm>
              <a:off x="7078700" y="2543137"/>
              <a:ext cx="22217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迫在眉睫的問題是，進口原物料所造成的商品利潤下降。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A853BBEA-CD0D-4D34-8C89-355C88CDC83C}"/>
                </a:ext>
              </a:extLst>
            </p:cNvPr>
            <p:cNvSpPr/>
            <p:nvPr/>
          </p:nvSpPr>
          <p:spPr>
            <a:xfrm>
              <a:off x="7078700" y="4782051"/>
              <a:ext cx="2221754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採購商的再次評估、購買價格的議價、銷售價格的重新審查。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6" name="正方形/長方形 35">
              <a:extLst>
                <a:ext uri="{FF2B5EF4-FFF2-40B4-BE49-F238E27FC236}">
                  <a16:creationId xmlns:a16="http://schemas.microsoft.com/office/drawing/2014/main" id="{E1D400FE-FF36-414D-902A-7DA56C925FCB}"/>
                </a:ext>
              </a:extLst>
            </p:cNvPr>
            <p:cNvSpPr/>
            <p:nvPr/>
          </p:nvSpPr>
          <p:spPr>
            <a:xfrm>
              <a:off x="620710" y="2543136"/>
              <a:ext cx="222175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增加修正與改善，進行全新的</a:t>
              </a:r>
              <a:r>
                <a:rPr lang="en-US" altLang="zh-TW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PDCA</a:t>
              </a:r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循環。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88A5022B-576A-4DB3-B696-6FA99B2FFAA4}"/>
                </a:ext>
              </a:extLst>
            </p:cNvPr>
            <p:cNvSpPr/>
            <p:nvPr/>
          </p:nvSpPr>
          <p:spPr>
            <a:xfrm>
              <a:off x="620710" y="4782051"/>
              <a:ext cx="222175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zh-TW" altLang="en-US" sz="160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評估、測量成果，確認是否可確保適當利益。</a:t>
              </a:r>
              <a:endParaRPr lang="ja-JP" altLang="en-US" sz="16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2" name="テキスト ボックス 30">
              <a:extLst>
                <a:ext uri="{FF2B5EF4-FFF2-40B4-BE49-F238E27FC236}">
                  <a16:creationId xmlns:a16="http://schemas.microsoft.com/office/drawing/2014/main" id="{F1F6C253-97BF-4F60-B107-8886FAB65349}"/>
                </a:ext>
              </a:extLst>
            </p:cNvPr>
            <p:cNvSpPr txBox="1"/>
            <p:nvPr/>
          </p:nvSpPr>
          <p:spPr>
            <a:xfrm>
              <a:off x="2613102" y="506295"/>
              <a:ext cx="4679796" cy="49244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ja-JP" sz="32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PDCA</a:t>
              </a:r>
              <a:r>
                <a:rPr kumimoji="1" lang="zh-TW" altLang="en-US" sz="32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的事物改善</a:t>
              </a:r>
              <a:endParaRPr kumimoji="1" lang="ja-JP" altLang="en-US" sz="3200" spc="-1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47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FB4D2794-D756-481D-AACE-05B63E2EB9E1}"/>
              </a:ext>
            </a:extLst>
          </p:cNvPr>
          <p:cNvGrpSpPr/>
          <p:nvPr/>
        </p:nvGrpSpPr>
        <p:grpSpPr>
          <a:xfrm>
            <a:off x="0" y="34"/>
            <a:ext cx="9905999" cy="6351346"/>
            <a:chOff x="0" y="34"/>
            <a:chExt cx="9905999" cy="6351346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826C7118-74D6-4C06-B368-1E7D51EE6751}"/>
                </a:ext>
              </a:extLst>
            </p:cNvPr>
            <p:cNvSpPr/>
            <p:nvPr/>
          </p:nvSpPr>
          <p:spPr>
            <a:xfrm>
              <a:off x="0" y="34"/>
              <a:ext cx="9905999" cy="864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C291A2B2-4ACC-424F-91E8-4B3C0445F8D5}"/>
                </a:ext>
              </a:extLst>
            </p:cNvPr>
            <p:cNvSpPr/>
            <p:nvPr/>
          </p:nvSpPr>
          <p:spPr>
            <a:xfrm>
              <a:off x="0" y="868966"/>
              <a:ext cx="9905999" cy="144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テキスト ボックス 30">
              <a:extLst>
                <a:ext uri="{FF2B5EF4-FFF2-40B4-BE49-F238E27FC236}">
                  <a16:creationId xmlns:a16="http://schemas.microsoft.com/office/drawing/2014/main" id="{B5A1D330-B81E-4902-8BFA-D0FAE034FBD5}"/>
                </a:ext>
              </a:extLst>
            </p:cNvPr>
            <p:cNvSpPr txBox="1"/>
            <p:nvPr/>
          </p:nvSpPr>
          <p:spPr>
            <a:xfrm>
              <a:off x="3615622" y="288899"/>
              <a:ext cx="2674756" cy="492443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zh-TW" altLang="en-US" sz="32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銷售預測</a:t>
              </a:r>
              <a:endParaRPr kumimoji="1" lang="ja-JP" altLang="en-US" sz="3200" spc="-1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7" name="テキスト ボックス 30">
              <a:extLst>
                <a:ext uri="{FF2B5EF4-FFF2-40B4-BE49-F238E27FC236}">
                  <a16:creationId xmlns:a16="http://schemas.microsoft.com/office/drawing/2014/main" id="{B026B94C-2FE5-4247-ABAC-05674BAD8A10}"/>
                </a:ext>
              </a:extLst>
            </p:cNvPr>
            <p:cNvSpPr txBox="1"/>
            <p:nvPr/>
          </p:nvSpPr>
          <p:spPr>
            <a:xfrm>
              <a:off x="2644387" y="1490228"/>
              <a:ext cx="4617226" cy="738664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lIns="0" tIns="0" rIns="0" bIns="0" rtlCol="0" anchor="ctr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ja-JP" altLang="en-US" sz="2400" spc="-15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▸</a:t>
              </a:r>
              <a:r>
                <a:rPr kumimoji="1" lang="ja-JP" altLang="en-US" sz="2400" spc="-150">
                  <a:solidFill>
                    <a:schemeClr val="accent6">
                      <a:lumMod val="7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 </a:t>
              </a:r>
              <a:r>
                <a:rPr kumimoji="1" lang="zh-TW" altLang="en-US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設定</a:t>
              </a:r>
              <a:r>
                <a:rPr kumimoji="1" lang="en-US" altLang="ja-JP" sz="2400" spc="-1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zh-TW" altLang="en-US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銷售額</a:t>
              </a:r>
              <a:r>
                <a:rPr kumimoji="1" lang="en-US" altLang="ja-JP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5,000</a:t>
              </a:r>
              <a:r>
                <a:rPr kumimoji="1" lang="zh-TW" altLang="en-US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萬日圓</a:t>
              </a:r>
              <a:endParaRPr kumimoji="1" lang="en-US" altLang="ja-JP" sz="2400" spc="-1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  <a:p>
              <a:r>
                <a:rPr kumimoji="1" lang="ja-JP" altLang="en-US" sz="2400" spc="-150">
                  <a:solidFill>
                    <a:schemeClr val="accent6">
                      <a:lumMod val="50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▸ </a:t>
              </a:r>
              <a:r>
                <a:rPr kumimoji="1" lang="zh-TW" altLang="en-US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利益</a:t>
              </a:r>
              <a:r>
                <a:rPr kumimoji="1" lang="en-US" altLang="ja-JP" sz="2400" spc="-150" dirty="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</a:t>
              </a:r>
              <a:r>
                <a:rPr kumimoji="1" lang="en-US" altLang="ja-JP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	42,857</a:t>
              </a:r>
              <a:r>
                <a:rPr kumimoji="1" lang="zh-TW" altLang="en-US" sz="2400" spc="-150"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個以上</a:t>
              </a:r>
              <a:endParaRPr kumimoji="1" lang="ja-JP" altLang="en-US" sz="2400" spc="-15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8DCA495F-FA12-420D-A770-FC5CF74BB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0086" y="2641039"/>
              <a:ext cx="6165828" cy="371034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413</TotalTime>
  <Words>94</Words>
  <Application>Microsoft Office PowerPoint</Application>
  <PresentationFormat>A4 紙張 (210x297 公釐)</PresentationFormat>
  <Paragraphs>26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Office テーマ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50</cp:revision>
  <dcterms:created xsi:type="dcterms:W3CDTF">2017-11-09T07:26:57Z</dcterms:created>
  <dcterms:modified xsi:type="dcterms:W3CDTF">2018-10-02T09:26:22Z</dcterms:modified>
</cp:coreProperties>
</file>