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5AA87647-BCD3-4439-80BC-F89F4381EFE9}"/>
              </a:ext>
            </a:extLst>
          </p:cNvPr>
          <p:cNvGrpSpPr/>
          <p:nvPr/>
        </p:nvGrpSpPr>
        <p:grpSpPr>
          <a:xfrm>
            <a:off x="273000" y="189001"/>
            <a:ext cx="9360000" cy="6479998"/>
            <a:chOff x="273000" y="189001"/>
            <a:chExt cx="9360000" cy="6479998"/>
          </a:xfrm>
        </p:grpSpPr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66319762-9F2A-48B1-8CEA-F4DCDD0C54EB}"/>
                </a:ext>
              </a:extLst>
            </p:cNvPr>
            <p:cNvSpPr/>
            <p:nvPr/>
          </p:nvSpPr>
          <p:spPr>
            <a:xfrm>
              <a:off x="273000" y="1060664"/>
              <a:ext cx="9360000" cy="5608335"/>
            </a:xfrm>
            <a:prstGeom prst="rect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DC6BAC90-D45A-4408-A3AD-E6D6E716972A}"/>
                </a:ext>
              </a:extLst>
            </p:cNvPr>
            <p:cNvSpPr txBox="1"/>
            <p:nvPr/>
          </p:nvSpPr>
          <p:spPr>
            <a:xfrm>
              <a:off x="789179" y="1354556"/>
              <a:ext cx="4163821" cy="4339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20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不喜歡被問東問西</a:t>
              </a:r>
              <a:endParaRPr kumimoji="1" lang="en-US" altLang="ja-JP" sz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首飾通常都是在百貨公司或是專門店購買。不過，那已經是過去式了。現在，透過網路購買首飾的作法，儼然已成為理所當然。對年輕人來說，比起購買地點，「商品滿意度」、「隨心所欲的選購」才是最重要的事情。面對店員，被問東問西，才是最令人感到不悅的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首飾就在自動販賣機裡面</a:t>
              </a:r>
              <a:endParaRPr kumimoji="1" lang="en-US" altLang="ja-JP" sz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如果可以在自動販賣機買到首飾，那該有多好。可以隨心所欲的挑選，感覺就像在買外賣咖啡似的，輕鬆又簡單。完全符合現代人的需求。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隨時都可以輕鬆買到價格實惠的首飾，這樣的便利性的確很吸引人。在挑選合適的禮物送人，或是只花一點小錢來犒賞自己的時候，這種購物方案應該可以發揮其效力吧！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透過觸控面板，簡單又輕鬆</a:t>
              </a:r>
              <a:endParaRPr kumimoji="1" lang="en-US" altLang="ja-JP" sz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購買方法相當簡單。只要透過觸控面板挑選喜歡的商品，就會出現商品說明和價格。商品說明支援日語和英語。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用現金或信用卡完成付款後，便可拿到收據。之後，就可以拿到商品和商品隨附的證明書。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如果商品沒有拆封，也可以辦理退貨、退款。只要在購買日起的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10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日內，將商品送回本公司，本公司便會無條件的全額退回商品金額。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ADCE643B-36E3-4EC4-834B-49428486160D}"/>
                </a:ext>
              </a:extLst>
            </p:cNvPr>
            <p:cNvSpPr/>
            <p:nvPr/>
          </p:nvSpPr>
          <p:spPr>
            <a:xfrm>
              <a:off x="273000" y="189001"/>
              <a:ext cx="9360000" cy="87166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B6BB24C4-3CB9-4062-BC27-8DEEA095FB57}"/>
                </a:ext>
              </a:extLst>
            </p:cNvPr>
            <p:cNvSpPr txBox="1"/>
            <p:nvPr/>
          </p:nvSpPr>
          <p:spPr>
            <a:xfrm>
              <a:off x="1966660" y="425131"/>
              <a:ext cx="59726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在自動販售機購買首飾吧！</a:t>
              </a:r>
              <a:endParaRPr kumimoji="1" lang="ja-JP" altLang="en-US" sz="2800" i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4D2658D3-258E-454E-81F9-D6BC19A8AC74}"/>
                </a:ext>
              </a:extLst>
            </p:cNvPr>
            <p:cNvSpPr txBox="1"/>
            <p:nvPr/>
          </p:nvSpPr>
          <p:spPr>
            <a:xfrm>
              <a:off x="6073897" y="2000434"/>
              <a:ext cx="26460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帶動話題的新服務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A30E0034-0D0A-4DB6-B443-135339CACDA8}"/>
                </a:ext>
              </a:extLst>
            </p:cNvPr>
            <p:cNvSpPr txBox="1"/>
            <p:nvPr/>
          </p:nvSpPr>
          <p:spPr>
            <a:xfrm>
              <a:off x="6073897" y="2450469"/>
              <a:ext cx="2979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首飾有戒指等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種種類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第一年度的提供件數有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100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種類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價格範圍在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千日圓到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萬日圓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在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大都市先行販售</a:t>
              </a:r>
              <a:endParaRPr kumimoji="1" lang="en-US" altLang="ja-JP" sz="12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不進行宣傳或廣告</a:t>
              </a:r>
              <a:endParaRPr kumimoji="1" lang="en-US" altLang="ja-JP" sz="12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以</a:t>
              </a:r>
              <a:r>
                <a:rPr kumimoji="1" lang="en-US" altLang="ja-JP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SNS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提供資訊、促進推廣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79400A40-3779-487B-B53D-B424039496B2}"/>
                </a:ext>
              </a:extLst>
            </p:cNvPr>
            <p:cNvGrpSpPr/>
            <p:nvPr/>
          </p:nvGrpSpPr>
          <p:grpSpPr>
            <a:xfrm>
              <a:off x="5626579" y="1876698"/>
              <a:ext cx="368894" cy="491593"/>
              <a:chOff x="2827358" y="4496451"/>
              <a:chExt cx="1440000" cy="1918963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92" name="五角形 91">
                <a:extLst>
                  <a:ext uri="{FF2B5EF4-FFF2-40B4-BE49-F238E27FC236}">
                    <a16:creationId xmlns:a16="http://schemas.microsoft.com/office/drawing/2014/main" id="{39C3307E-6708-4D55-BF1C-B7C1C03EDC7A}"/>
                  </a:ext>
                </a:extLst>
              </p:cNvPr>
              <p:cNvSpPr/>
              <p:nvPr/>
            </p:nvSpPr>
            <p:spPr>
              <a:xfrm>
                <a:off x="3007358" y="4496451"/>
                <a:ext cx="1080000" cy="612000"/>
              </a:xfrm>
              <a:prstGeom prst="pent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3" name="楕円 92">
                <a:extLst>
                  <a:ext uri="{FF2B5EF4-FFF2-40B4-BE49-F238E27FC236}">
                    <a16:creationId xmlns:a16="http://schemas.microsoft.com/office/drawing/2014/main" id="{FC0B2995-0802-448A-A06E-F24F8A5355DB}"/>
                  </a:ext>
                </a:extLst>
              </p:cNvPr>
              <p:cNvSpPr/>
              <p:nvPr/>
            </p:nvSpPr>
            <p:spPr>
              <a:xfrm>
                <a:off x="2827358" y="4975414"/>
                <a:ext cx="1440000" cy="14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楕円 93">
                <a:extLst>
                  <a:ext uri="{FF2B5EF4-FFF2-40B4-BE49-F238E27FC236}">
                    <a16:creationId xmlns:a16="http://schemas.microsoft.com/office/drawing/2014/main" id="{39D8B013-628A-4DA7-8D11-25DADF43A7A5}"/>
                  </a:ext>
                </a:extLst>
              </p:cNvPr>
              <p:cNvSpPr/>
              <p:nvPr/>
            </p:nvSpPr>
            <p:spPr>
              <a:xfrm>
                <a:off x="3025358" y="5271965"/>
                <a:ext cx="1044000" cy="1044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3" name="グループ化 82">
              <a:extLst>
                <a:ext uri="{FF2B5EF4-FFF2-40B4-BE49-F238E27FC236}">
                  <a16:creationId xmlns:a16="http://schemas.microsoft.com/office/drawing/2014/main" id="{3D9709D7-C911-4F95-ABCE-DDE4D7AD4182}"/>
                </a:ext>
              </a:extLst>
            </p:cNvPr>
            <p:cNvGrpSpPr/>
            <p:nvPr/>
          </p:nvGrpSpPr>
          <p:grpSpPr>
            <a:xfrm>
              <a:off x="5597283" y="4148352"/>
              <a:ext cx="428556" cy="721975"/>
              <a:chOff x="5608434" y="1562997"/>
              <a:chExt cx="428556" cy="721975"/>
            </a:xfrm>
          </p:grpSpPr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1BB601C3-7547-49D8-B7B8-6BCC312792B9}"/>
                  </a:ext>
                </a:extLst>
              </p:cNvPr>
              <p:cNvSpPr/>
              <p:nvPr/>
            </p:nvSpPr>
            <p:spPr>
              <a:xfrm>
                <a:off x="5608434" y="1710738"/>
                <a:ext cx="428556" cy="42855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FC0D9A8D-E1CA-48E0-A5CA-8993AFA68C8A}"/>
                  </a:ext>
                </a:extLst>
              </p:cNvPr>
              <p:cNvSpPr/>
              <p:nvPr/>
            </p:nvSpPr>
            <p:spPr>
              <a:xfrm>
                <a:off x="5608434" y="1710738"/>
                <a:ext cx="222759" cy="4285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部分円 85">
                <a:extLst>
                  <a:ext uri="{FF2B5EF4-FFF2-40B4-BE49-F238E27FC236}">
                    <a16:creationId xmlns:a16="http://schemas.microsoft.com/office/drawing/2014/main" id="{31F99DA9-EE46-4171-90D3-B421DCD203F5}"/>
                  </a:ext>
                </a:extLst>
              </p:cNvPr>
              <p:cNvSpPr/>
              <p:nvPr/>
            </p:nvSpPr>
            <p:spPr>
              <a:xfrm rot="16200000">
                <a:off x="5608434" y="1562997"/>
                <a:ext cx="294980" cy="294980"/>
              </a:xfrm>
              <a:prstGeom prst="pie">
                <a:avLst>
                  <a:gd name="adj1" fmla="val 5404043"/>
                  <a:gd name="adj2" fmla="val 1620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部分円 86">
                <a:extLst>
                  <a:ext uri="{FF2B5EF4-FFF2-40B4-BE49-F238E27FC236}">
                    <a16:creationId xmlns:a16="http://schemas.microsoft.com/office/drawing/2014/main" id="{3E7A2478-60BB-4443-BB4A-CFC135854CC7}"/>
                  </a:ext>
                </a:extLst>
              </p:cNvPr>
              <p:cNvSpPr/>
              <p:nvPr/>
            </p:nvSpPr>
            <p:spPr>
              <a:xfrm rot="5400000" flipV="1">
                <a:off x="5608434" y="1989992"/>
                <a:ext cx="294980" cy="294980"/>
              </a:xfrm>
              <a:prstGeom prst="pie">
                <a:avLst>
                  <a:gd name="adj1" fmla="val 5404043"/>
                  <a:gd name="adj2" fmla="val 1620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二等辺三角形 87">
                <a:extLst>
                  <a:ext uri="{FF2B5EF4-FFF2-40B4-BE49-F238E27FC236}">
                    <a16:creationId xmlns:a16="http://schemas.microsoft.com/office/drawing/2014/main" id="{DFFA3794-637C-43A9-94A2-BB75592513DC}"/>
                  </a:ext>
                </a:extLst>
              </p:cNvPr>
              <p:cNvSpPr/>
              <p:nvPr/>
            </p:nvSpPr>
            <p:spPr>
              <a:xfrm rot="5400000">
                <a:off x="5740692" y="1829335"/>
                <a:ext cx="372366" cy="19136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id="{3286022C-912B-4B18-97E9-DCCD0F03C360}"/>
                </a:ext>
              </a:extLst>
            </p:cNvPr>
            <p:cNvSpPr txBox="1"/>
            <p:nvPr/>
          </p:nvSpPr>
          <p:spPr>
            <a:xfrm>
              <a:off x="6073897" y="4353656"/>
              <a:ext cx="24978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個月完成銷售機制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079990D5-F44F-4503-B861-0DCD5F59D262}"/>
                </a:ext>
              </a:extLst>
            </p:cNvPr>
            <p:cNvSpPr txBox="1"/>
            <p:nvPr/>
          </p:nvSpPr>
          <p:spPr>
            <a:xfrm>
              <a:off x="6073897" y="4805474"/>
              <a:ext cx="2979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自動販賣機採用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A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公司的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F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系列改良型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支援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7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大銀行信用卡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使用最新技術的安全機制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防止犯罪機制與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B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公司合作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初期投資</a:t>
              </a:r>
              <a:r>
                <a:rPr kumimoji="1" lang="en-US" altLang="ja-JP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1,500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萬日圓（參考附件）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2FD10922-FE0B-4F77-802C-B73C00977D8B}"/>
              </a:ext>
            </a:extLst>
          </p:cNvPr>
          <p:cNvGrpSpPr/>
          <p:nvPr/>
        </p:nvGrpSpPr>
        <p:grpSpPr>
          <a:xfrm>
            <a:off x="1147184" y="1074512"/>
            <a:ext cx="2772001" cy="4685294"/>
            <a:chOff x="1147184" y="1074512"/>
            <a:chExt cx="2772001" cy="4685294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910BCE0E-95E0-4931-8473-2F1628001B22}"/>
                </a:ext>
              </a:extLst>
            </p:cNvPr>
            <p:cNvSpPr/>
            <p:nvPr/>
          </p:nvSpPr>
          <p:spPr>
            <a:xfrm>
              <a:off x="1147185" y="2030138"/>
              <a:ext cx="2772000" cy="2772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F5E5305-3DE5-4628-B419-C7481D5C28F3}"/>
                </a:ext>
              </a:extLst>
            </p:cNvPr>
            <p:cNvSpPr/>
            <p:nvPr/>
          </p:nvSpPr>
          <p:spPr>
            <a:xfrm>
              <a:off x="1147185" y="2030138"/>
              <a:ext cx="1440857" cy="277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部分円 5">
              <a:extLst>
                <a:ext uri="{FF2B5EF4-FFF2-40B4-BE49-F238E27FC236}">
                  <a16:creationId xmlns:a16="http://schemas.microsoft.com/office/drawing/2014/main" id="{03A64179-D4B2-49E2-B12E-5EDFCD3ECC3B}"/>
                </a:ext>
              </a:extLst>
            </p:cNvPr>
            <p:cNvSpPr/>
            <p:nvPr/>
          </p:nvSpPr>
          <p:spPr>
            <a:xfrm rot="16200000">
              <a:off x="1147184" y="1074512"/>
              <a:ext cx="1908000" cy="1908000"/>
            </a:xfrm>
            <a:prstGeom prst="pie">
              <a:avLst>
                <a:gd name="adj1" fmla="val 5404043"/>
                <a:gd name="adj2" fmla="val 1620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部分円 9">
              <a:extLst>
                <a:ext uri="{FF2B5EF4-FFF2-40B4-BE49-F238E27FC236}">
                  <a16:creationId xmlns:a16="http://schemas.microsoft.com/office/drawing/2014/main" id="{44B6524D-E4B9-403F-A8B7-1AF127E0983B}"/>
                </a:ext>
              </a:extLst>
            </p:cNvPr>
            <p:cNvSpPr/>
            <p:nvPr/>
          </p:nvSpPr>
          <p:spPr>
            <a:xfrm rot="5400000" flipV="1">
              <a:off x="1147184" y="3851806"/>
              <a:ext cx="1908000" cy="1908000"/>
            </a:xfrm>
            <a:prstGeom prst="pie">
              <a:avLst>
                <a:gd name="adj1" fmla="val 5404043"/>
                <a:gd name="adj2" fmla="val 1620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A393325B-8C26-4987-A584-A36C1F280054}"/>
                </a:ext>
              </a:extLst>
            </p:cNvPr>
            <p:cNvSpPr/>
            <p:nvPr/>
          </p:nvSpPr>
          <p:spPr>
            <a:xfrm rot="5400000">
              <a:off x="2002666" y="2797246"/>
              <a:ext cx="2408540" cy="1237785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7FE8D724-5572-4CCB-B93B-4FE49C7768AC}"/>
              </a:ext>
            </a:extLst>
          </p:cNvPr>
          <p:cNvGrpSpPr/>
          <p:nvPr/>
        </p:nvGrpSpPr>
        <p:grpSpPr>
          <a:xfrm>
            <a:off x="5688704" y="1064987"/>
            <a:ext cx="2772001" cy="4697200"/>
            <a:chOff x="5688704" y="1064987"/>
            <a:chExt cx="2772001" cy="4697200"/>
          </a:xfrm>
        </p:grpSpPr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100A6F64-6785-4091-AC86-560F8D22DABF}"/>
                </a:ext>
              </a:extLst>
            </p:cNvPr>
            <p:cNvSpPr/>
            <p:nvPr/>
          </p:nvSpPr>
          <p:spPr>
            <a:xfrm>
              <a:off x="5688705" y="2030138"/>
              <a:ext cx="2772000" cy="277200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dirty="0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62025021-2A42-4A74-BA4C-A13C96B24EF6}"/>
                </a:ext>
              </a:extLst>
            </p:cNvPr>
            <p:cNvSpPr/>
            <p:nvPr/>
          </p:nvSpPr>
          <p:spPr>
            <a:xfrm>
              <a:off x="5688705" y="2030138"/>
              <a:ext cx="1440857" cy="2772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部分円 50">
              <a:extLst>
                <a:ext uri="{FF2B5EF4-FFF2-40B4-BE49-F238E27FC236}">
                  <a16:creationId xmlns:a16="http://schemas.microsoft.com/office/drawing/2014/main" id="{A0002C60-AB23-45AD-81A3-D2B7737DAAA9}"/>
                </a:ext>
              </a:extLst>
            </p:cNvPr>
            <p:cNvSpPr/>
            <p:nvPr/>
          </p:nvSpPr>
          <p:spPr>
            <a:xfrm rot="16200000">
              <a:off x="5688704" y="1064987"/>
              <a:ext cx="1908000" cy="1908000"/>
            </a:xfrm>
            <a:prstGeom prst="pie">
              <a:avLst>
                <a:gd name="adj1" fmla="val 5404043"/>
                <a:gd name="adj2" fmla="val 16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部分円 51">
              <a:extLst>
                <a:ext uri="{FF2B5EF4-FFF2-40B4-BE49-F238E27FC236}">
                  <a16:creationId xmlns:a16="http://schemas.microsoft.com/office/drawing/2014/main" id="{DB626787-5D32-45D4-88E3-DF2DD472560F}"/>
                </a:ext>
              </a:extLst>
            </p:cNvPr>
            <p:cNvSpPr/>
            <p:nvPr/>
          </p:nvSpPr>
          <p:spPr>
            <a:xfrm rot="5400000" flipV="1">
              <a:off x="5688704" y="3854187"/>
              <a:ext cx="1908000" cy="1908000"/>
            </a:xfrm>
            <a:prstGeom prst="pie">
              <a:avLst>
                <a:gd name="adj1" fmla="val 5404043"/>
                <a:gd name="adj2" fmla="val 16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二等辺三角形 52">
              <a:extLst>
                <a:ext uri="{FF2B5EF4-FFF2-40B4-BE49-F238E27FC236}">
                  <a16:creationId xmlns:a16="http://schemas.microsoft.com/office/drawing/2014/main" id="{6CBED0BF-D4F5-4DD1-A414-6ABF68396AF5}"/>
                </a:ext>
              </a:extLst>
            </p:cNvPr>
            <p:cNvSpPr/>
            <p:nvPr/>
          </p:nvSpPr>
          <p:spPr>
            <a:xfrm rot="5400000">
              <a:off x="6544186" y="2797246"/>
              <a:ext cx="2408540" cy="1237785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8478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紫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469</TotalTime>
  <Words>380</Words>
  <Application>Microsoft Office PowerPoint</Application>
  <PresentationFormat>A4 紙張 (210x297 公釐)</PresentationFormat>
  <Paragraphs>25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Wingdings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65</cp:revision>
  <dcterms:created xsi:type="dcterms:W3CDTF">2017-11-09T07:26:57Z</dcterms:created>
  <dcterms:modified xsi:type="dcterms:W3CDTF">2018-10-02T14:34:56Z</dcterms:modified>
</cp:coreProperties>
</file>