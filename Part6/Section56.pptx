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3" r:id="rId4"/>
    <p:sldId id="264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9900FF"/>
    <a:srgbClr val="292929"/>
    <a:srgbClr val="4D4D4D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2018/11/8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E1A7C77-8422-44D9-8949-29ED46544F2E}"/>
              </a:ext>
            </a:extLst>
          </p:cNvPr>
          <p:cNvGrpSpPr/>
          <p:nvPr/>
        </p:nvGrpSpPr>
        <p:grpSpPr>
          <a:xfrm>
            <a:off x="0" y="544516"/>
            <a:ext cx="9906000" cy="6313484"/>
            <a:chOff x="0" y="544516"/>
            <a:chExt cx="9906000" cy="6313484"/>
          </a:xfrm>
        </p:grpSpPr>
        <p:pic>
          <p:nvPicPr>
            <p:cNvPr id="12" name="図 11" descr="筆記具, 文房具, 鉛筆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26457361-97C3-4B79-B5A7-BCF833D98C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738" b="8813"/>
            <a:stretch/>
          </p:blipFill>
          <p:spPr>
            <a:xfrm>
              <a:off x="0" y="2472454"/>
              <a:ext cx="9906000" cy="4385546"/>
            </a:xfrm>
            <a:prstGeom prst="rect">
              <a:avLst/>
            </a:prstGeom>
          </p:spPr>
        </p:pic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1BCA60A3-BE77-4FC8-BBF2-17CD12CCE8A9}"/>
                </a:ext>
              </a:extLst>
            </p:cNvPr>
            <p:cNvGrpSpPr/>
            <p:nvPr/>
          </p:nvGrpSpPr>
          <p:grpSpPr>
            <a:xfrm>
              <a:off x="686172" y="5911618"/>
              <a:ext cx="2019785" cy="441368"/>
              <a:chOff x="686172" y="5911618"/>
              <a:chExt cx="2019785" cy="441368"/>
            </a:xfrm>
          </p:grpSpPr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87600C8-A151-47E7-BC0F-D25464F42FD2}"/>
                  </a:ext>
                </a:extLst>
              </p:cNvPr>
              <p:cNvSpPr txBox="1"/>
              <p:nvPr/>
            </p:nvSpPr>
            <p:spPr>
              <a:xfrm>
                <a:off x="892050" y="5974930"/>
                <a:ext cx="16209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6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集中銷售企劃書</a:t>
                </a:r>
                <a:endParaRPr kumimoji="1" lang="ja-JP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B13BFA43-E737-4639-B2D5-301AAE58E7B2}"/>
                  </a:ext>
                </a:extLst>
              </p:cNvPr>
              <p:cNvSpPr/>
              <p:nvPr/>
            </p:nvSpPr>
            <p:spPr>
              <a:xfrm>
                <a:off x="686172" y="5911618"/>
                <a:ext cx="2019785" cy="44136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69A1BE9F-7A35-4CA2-A5FF-8721DCAD36A6}"/>
                </a:ext>
              </a:extLst>
            </p:cNvPr>
            <p:cNvSpPr txBox="1"/>
            <p:nvPr/>
          </p:nvSpPr>
          <p:spPr>
            <a:xfrm>
              <a:off x="686172" y="544516"/>
              <a:ext cx="8533657" cy="1760661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kumimoji="1" lang="zh-TW" altLang="en-US">
                  <a:ln w="12700">
                    <a:solidFill>
                      <a:srgbClr val="7030A0"/>
                    </a:solidFill>
                  </a:ln>
                  <a:blipFill dpi="0" rotWithShape="1">
                    <a:blip r:embed="rId2"/>
                    <a:srcRect/>
                    <a:stretch>
                      <a:fillRect t="-103919" b="-103919"/>
                    </a:stretch>
                  </a:blipFill>
                  <a:effectLst>
                    <a:outerShdw blurRad="50800" dist="38100" dir="2700000" sx="101000" sy="101000" algn="tl" rotWithShape="0">
                      <a:prstClr val="black">
                        <a:alpha val="40000"/>
                      </a:prstClr>
                    </a:outerShdw>
                  </a:effectLst>
                  <a:latin typeface="HGP創英角ｺﾞｼｯｸUB" panose="020B0900000000000000" pitchFamily="50" charset="-128"/>
                  <a:ea typeface="HGP創英角ｺﾞｼｯｸUB" panose="020B0900000000000000" pitchFamily="50" charset="-128"/>
                </a:rPr>
                <a:t>春季新鮮出售</a:t>
              </a:r>
              <a:endParaRPr kumimoji="1" lang="ja-JP" altLang="en-US" dirty="0">
                <a:ln w="12700">
                  <a:solidFill>
                    <a:srgbClr val="7030A0"/>
                  </a:solidFill>
                </a:ln>
                <a:blipFill dpi="0" rotWithShape="1">
                  <a:blip r:embed="rId2"/>
                  <a:srcRect/>
                  <a:stretch>
                    <a:fillRect t="-103919" b="-103919"/>
                  </a:stretch>
                </a:blipFill>
                <a:effectLst>
                  <a:outerShdw blurRad="50800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D6B84124-962C-4C73-9ABD-C260D10F4EE8}"/>
                </a:ext>
              </a:extLst>
            </p:cNvPr>
            <p:cNvSpPr txBox="1"/>
            <p:nvPr/>
          </p:nvSpPr>
          <p:spPr>
            <a:xfrm>
              <a:off x="686172" y="4665227"/>
              <a:ext cx="25442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 dirty="0">
                  <a:solidFill>
                    <a:srgbClr val="99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Fresh sale in spring 2018 </a:t>
              </a:r>
              <a:endParaRPr kumimoji="1" lang="ja-JP" altLang="en-US" sz="1600" dirty="0">
                <a:solidFill>
                  <a:srgbClr val="9900FF"/>
                </a:solidFill>
                <a:latin typeface="Arial" panose="020B0604020202020204" pitchFamily="34" charset="0"/>
                <a:ea typeface="ＭＳ ゴシック" panose="020B0609070205080204" pitchFamily="49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3475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E69DFA8-01D2-402D-A09B-5EDBD25B338B}"/>
              </a:ext>
            </a:extLst>
          </p:cNvPr>
          <p:cNvGrpSpPr/>
          <p:nvPr/>
        </p:nvGrpSpPr>
        <p:grpSpPr>
          <a:xfrm>
            <a:off x="393291" y="10"/>
            <a:ext cx="9512709" cy="6857990"/>
            <a:chOff x="393291" y="10"/>
            <a:chExt cx="9512709" cy="6857990"/>
          </a:xfrm>
        </p:grpSpPr>
        <p:pic>
          <p:nvPicPr>
            <p:cNvPr id="17" name="図 16" descr="空, 屋外, 雲, 自然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F43DDE01-EE8B-496D-AED7-2D2B3B0238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1" r="34604" b="-1"/>
            <a:stretch/>
          </p:blipFill>
          <p:spPr>
            <a:xfrm>
              <a:off x="4804412" y="10"/>
              <a:ext cx="5101588" cy="6857990"/>
            </a:xfrm>
            <a:custGeom>
              <a:avLst/>
              <a:gdLst>
                <a:gd name="connsiteX0" fmla="*/ 45571 w 6278877"/>
                <a:gd name="connsiteY0" fmla="*/ 0 h 6858000"/>
                <a:gd name="connsiteX1" fmla="*/ 6278877 w 6278877"/>
                <a:gd name="connsiteY1" fmla="*/ 0 h 6858000"/>
                <a:gd name="connsiteX2" fmla="*/ 6278877 w 6278877"/>
                <a:gd name="connsiteY2" fmla="*/ 6858000 h 6858000"/>
                <a:gd name="connsiteX3" fmla="*/ 3292307 w 6278877"/>
                <a:gd name="connsiteY3" fmla="*/ 6858000 h 6858000"/>
                <a:gd name="connsiteX4" fmla="*/ 3181525 w 6278877"/>
                <a:gd name="connsiteY4" fmla="*/ 6786980 h 6858000"/>
                <a:gd name="connsiteX5" fmla="*/ 0 w 6278877"/>
                <a:gd name="connsiteY5" fmla="*/ 803252 h 6858000"/>
                <a:gd name="connsiteX6" fmla="*/ 37255 w 6278877"/>
                <a:gd name="connsiteY6" fmla="*/ 6544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78877" h="6858000">
                  <a:moveTo>
                    <a:pt x="45571" y="0"/>
                  </a:moveTo>
                  <a:lnTo>
                    <a:pt x="6278877" y="0"/>
                  </a:lnTo>
                  <a:lnTo>
                    <a:pt x="6278877" y="6858000"/>
                  </a:lnTo>
                  <a:lnTo>
                    <a:pt x="3292307" y="6858000"/>
                  </a:lnTo>
                  <a:lnTo>
                    <a:pt x="3181525" y="6786980"/>
                  </a:lnTo>
                  <a:cubicBezTo>
                    <a:pt x="1262020" y="5490189"/>
                    <a:pt x="0" y="3294101"/>
                    <a:pt x="0" y="803252"/>
                  </a:cubicBezTo>
                  <a:cubicBezTo>
                    <a:pt x="0" y="554167"/>
                    <a:pt x="12619" y="308030"/>
                    <a:pt x="37255" y="65445"/>
                  </a:cubicBezTo>
                  <a:close/>
                </a:path>
              </a:pathLst>
            </a:custGeom>
            <a:blipFill dpi="0" rotWithShape="1">
              <a:blip r:embed="rId2"/>
              <a:srcRect/>
              <a:stretch>
                <a:fillRect t="-103919" b="-103919"/>
              </a:stretch>
            </a:blipFill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7139F8D5-0DB1-450F-B22D-FDFCCF54F27A}"/>
                </a:ext>
              </a:extLst>
            </p:cNvPr>
            <p:cNvSpPr txBox="1"/>
            <p:nvPr/>
          </p:nvSpPr>
          <p:spPr>
            <a:xfrm>
              <a:off x="393291" y="4852219"/>
              <a:ext cx="9119418" cy="1740310"/>
            </a:xfrm>
            <a:prstGeom prst="rect">
              <a:avLst/>
            </a:prstGeom>
            <a:noFill/>
          </p:spPr>
          <p:txBody>
            <a:bodyPr vert="horz" wrap="none" rtlCol="0">
              <a:prstTxWarp prst="textPlain">
                <a:avLst/>
              </a:prstTxWarp>
              <a:spAutoFit/>
              <a:scene3d>
                <a:camera prst="orthographicFront"/>
                <a:lightRig rig="threePt" dir="t"/>
              </a:scene3d>
              <a:sp3d extrusionH="57150">
                <a:bevelT w="69850" h="69850" prst="divot"/>
              </a:sp3d>
            </a:bodyPr>
            <a:lstStyle/>
            <a:p>
              <a:pPr algn="ctr"/>
              <a:r>
                <a:rPr kumimoji="1" lang="zh-TW" altLang="en-US" sz="3600">
                  <a:ln w="12700">
                    <a:solidFill>
                      <a:srgbClr val="292929"/>
                    </a:solidFill>
                  </a:ln>
                  <a:blipFill dpi="0" rotWithShape="1">
                    <a:blip r:embed="rId2">
                      <a:extLst/>
                    </a:blip>
                    <a:srcRect/>
                    <a:stretch>
                      <a:fillRect t="-103919" b="-103919"/>
                    </a:stretch>
                  </a:blip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HGP創英角ｺﾞｼｯｸUB" panose="020B0900000000000000" pitchFamily="50" charset="-128"/>
                  <a:ea typeface="HGP創英角ｺﾞｼｯｸUB" panose="020B0900000000000000" pitchFamily="50" charset="-128"/>
                </a:rPr>
                <a:t>夏季庫存清空特賣</a:t>
              </a:r>
              <a:endParaRPr kumimoji="1" lang="ja-JP" altLang="en-US" sz="3600" dirty="0">
                <a:ln w="12700">
                  <a:solidFill>
                    <a:srgbClr val="292929"/>
                  </a:solidFill>
                </a:ln>
                <a:blipFill dpi="0" rotWithShape="1">
                  <a:blip r:embed="rId2">
                    <a:extLst/>
                  </a:blip>
                  <a:srcRect/>
                  <a:stretch>
                    <a:fillRect t="-103919" b="-103919"/>
                  </a:stretch>
                </a:blip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5871C178-339F-4746-8F99-5A39DD4DE1E9}"/>
                </a:ext>
              </a:extLst>
            </p:cNvPr>
            <p:cNvSpPr txBox="1"/>
            <p:nvPr/>
          </p:nvSpPr>
          <p:spPr>
            <a:xfrm>
              <a:off x="393291" y="4217416"/>
              <a:ext cx="35060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Clearance sale in summer 2018 </a:t>
              </a:r>
              <a:endPara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ＭＳ ゴシック" panose="020B0609070205080204" pitchFamily="49" charset="-128"/>
                <a:cs typeface="Arial" panose="020B0604020202020204" pitchFamily="34" charset="0"/>
              </a:endParaRPr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503EF16A-4B42-4198-B929-CB254D127E1A}"/>
                </a:ext>
              </a:extLst>
            </p:cNvPr>
            <p:cNvGrpSpPr/>
            <p:nvPr/>
          </p:nvGrpSpPr>
          <p:grpSpPr>
            <a:xfrm>
              <a:off x="393291" y="495703"/>
              <a:ext cx="2019785" cy="441368"/>
              <a:chOff x="686172" y="5911618"/>
              <a:chExt cx="2019785" cy="441368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0EBCDE7-9296-4DA9-A104-9BA3ACEF9A62}"/>
                  </a:ext>
                </a:extLst>
              </p:cNvPr>
              <p:cNvSpPr txBox="1"/>
              <p:nvPr/>
            </p:nvSpPr>
            <p:spPr>
              <a:xfrm>
                <a:off x="883661" y="5974930"/>
                <a:ext cx="16209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6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集中銷售企劃書</a:t>
                </a:r>
                <a:endParaRPr kumimoji="1" lang="ja-JP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3D4A03E3-2B13-4CA4-BEE4-C17137CFC02D}"/>
                  </a:ext>
                </a:extLst>
              </p:cNvPr>
              <p:cNvSpPr/>
              <p:nvPr/>
            </p:nvSpPr>
            <p:spPr>
              <a:xfrm>
                <a:off x="686172" y="5911618"/>
                <a:ext cx="2019785" cy="44136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531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739EAA3-E88C-401B-AA17-A12E4D0252D1}"/>
              </a:ext>
            </a:extLst>
          </p:cNvPr>
          <p:cNvGrpSpPr/>
          <p:nvPr/>
        </p:nvGrpSpPr>
        <p:grpSpPr>
          <a:xfrm>
            <a:off x="694956" y="575923"/>
            <a:ext cx="7861242" cy="6015602"/>
            <a:chOff x="694956" y="575923"/>
            <a:chExt cx="7861242" cy="6015602"/>
          </a:xfrm>
        </p:grpSpPr>
        <p:pic>
          <p:nvPicPr>
            <p:cNvPr id="3" name="図 2" descr="植物, 木, カエデ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9A999713-CCED-4D2D-805C-CF730F4C3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6819" y="3176431"/>
              <a:ext cx="5125844" cy="3415094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65000" dist="50800" dir="12900000" kx="195000" ky="145000" algn="tl" rotWithShape="0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360000"/>
              </a:camera>
              <a:lightRig rig="twoPt" dir="t">
                <a:rot lat="0" lon="0" rev="7200000"/>
              </a:lightRig>
            </a:scene3d>
            <a:sp3d contourW="12700">
              <a:bevelT w="25400" h="19050"/>
              <a:contourClr>
                <a:srgbClr val="969696"/>
              </a:contourClr>
            </a:sp3d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4F55C226-A17D-4E9E-8AB2-EE256B34B733}"/>
                </a:ext>
              </a:extLst>
            </p:cNvPr>
            <p:cNvSpPr txBox="1"/>
            <p:nvPr/>
          </p:nvSpPr>
          <p:spPr>
            <a:xfrm>
              <a:off x="3264878" y="2183529"/>
              <a:ext cx="3289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Thanks fair in autumn 2018</a:t>
              </a:r>
              <a:endParaRPr kumimoji="1"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ＭＳ ゴシック" panose="020B06090702050802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B2C50D29-B768-400D-AA58-E70CE013EEAD}"/>
                </a:ext>
              </a:extLst>
            </p:cNvPr>
            <p:cNvSpPr txBox="1"/>
            <p:nvPr/>
          </p:nvSpPr>
          <p:spPr>
            <a:xfrm>
              <a:off x="1349803" y="575923"/>
              <a:ext cx="7206395" cy="1505483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/>
            <a:p>
              <a:r>
                <a:rPr kumimoji="1" lang="zh-TW" altLang="en-US">
                  <a:ln w="12700">
                    <a:solidFill>
                      <a:schemeClr val="accent4">
                        <a:lumMod val="50000"/>
                      </a:schemeClr>
                    </a:solidFill>
                  </a:ln>
                  <a:blipFill>
                    <a:blip r:embed="rId2"/>
                    <a:stretch>
                      <a:fillRect t="-103919" b="-103919"/>
                    </a:stretch>
                  </a:blipFill>
                  <a:effectLst>
                    <a:glow rad="101600">
                      <a:schemeClr val="accent2">
                        <a:satMod val="175000"/>
                        <a:alpha val="40000"/>
                      </a:schemeClr>
                    </a:glow>
                    <a:innerShdw blurRad="63500" dist="50800" dir="5400000">
                      <a:prstClr val="black">
                        <a:alpha val="50000"/>
                      </a:prstClr>
                    </a:innerShdw>
                  </a:effectLst>
                  <a:latin typeface="HGP創英角ｺﾞｼｯｸUB" panose="020B0900000000000000" pitchFamily="50" charset="-128"/>
                  <a:ea typeface="HGP創英角ｺﾞｼｯｸUB" panose="020B0900000000000000" pitchFamily="50" charset="-128"/>
                </a:rPr>
                <a:t>秋之感謝季</a:t>
              </a:r>
              <a:endParaRPr kumimoji="1" lang="ja-JP" altLang="en-US" dirty="0">
                <a:ln w="12700">
                  <a:solidFill>
                    <a:schemeClr val="accent4">
                      <a:lumMod val="50000"/>
                    </a:schemeClr>
                  </a:solidFill>
                </a:ln>
                <a:blipFill>
                  <a:blip r:embed="rId2"/>
                  <a:stretch>
                    <a:fillRect t="-103919" b="-103919"/>
                  </a:stretch>
                </a:blip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endParaRPr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AC36CDAA-430F-4C14-9134-DB9A0207A1CE}"/>
                </a:ext>
              </a:extLst>
            </p:cNvPr>
            <p:cNvGrpSpPr/>
            <p:nvPr/>
          </p:nvGrpSpPr>
          <p:grpSpPr>
            <a:xfrm>
              <a:off x="694956" y="5840709"/>
              <a:ext cx="2019785" cy="441368"/>
              <a:chOff x="686172" y="5911618"/>
              <a:chExt cx="2019785" cy="441368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3B23CBA-9FBF-4BC9-BD06-CD647330049C}"/>
                  </a:ext>
                </a:extLst>
              </p:cNvPr>
              <p:cNvSpPr txBox="1"/>
              <p:nvPr/>
            </p:nvSpPr>
            <p:spPr>
              <a:xfrm>
                <a:off x="858494" y="5974930"/>
                <a:ext cx="16209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6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集中銷售企劃書</a:t>
                </a:r>
                <a:endParaRPr kumimoji="1" lang="ja-JP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8339A676-44FB-4DA8-A833-E88A8468FE14}"/>
                  </a:ext>
                </a:extLst>
              </p:cNvPr>
              <p:cNvSpPr/>
              <p:nvPr/>
            </p:nvSpPr>
            <p:spPr>
              <a:xfrm>
                <a:off x="686172" y="5911618"/>
                <a:ext cx="2019785" cy="44136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6583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5B87DCA-26CF-417C-B4AB-7764624F0C95}"/>
              </a:ext>
            </a:extLst>
          </p:cNvPr>
          <p:cNvGrpSpPr/>
          <p:nvPr/>
        </p:nvGrpSpPr>
        <p:grpSpPr>
          <a:xfrm>
            <a:off x="1" y="438582"/>
            <a:ext cx="9905999" cy="6419418"/>
            <a:chOff x="1" y="438582"/>
            <a:chExt cx="9905999" cy="6419418"/>
          </a:xfrm>
        </p:grpSpPr>
        <p:pic>
          <p:nvPicPr>
            <p:cNvPr id="3" name="図 2" descr="ぼかし が含まれている画像&#10;&#10;高い精度で生成された説明">
              <a:extLst>
                <a:ext uri="{FF2B5EF4-FFF2-40B4-BE49-F238E27FC236}">
                  <a16:creationId xmlns:a16="http://schemas.microsoft.com/office/drawing/2014/main" id="{70E672FA-67C2-4615-868C-7F975BF5D4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101" b="25261"/>
            <a:stretch/>
          </p:blipFill>
          <p:spPr>
            <a:xfrm>
              <a:off x="1" y="3978000"/>
              <a:ext cx="9905999" cy="2880000"/>
            </a:xfrm>
            <a:prstGeom prst="rect">
              <a:avLst/>
            </a:prstGeom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4F55C226-A17D-4E9E-8AB2-EE256B34B733}"/>
                </a:ext>
              </a:extLst>
            </p:cNvPr>
            <p:cNvSpPr txBox="1"/>
            <p:nvPr/>
          </p:nvSpPr>
          <p:spPr>
            <a:xfrm>
              <a:off x="5776332" y="438582"/>
              <a:ext cx="29399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Last bazaar in 2018</a:t>
              </a:r>
              <a:endParaRPr kumimoji="1" lang="ja-JP" altLang="en-US" sz="20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ＭＳ ゴシック" panose="020B06090702050802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B2C50D29-B768-400D-AA58-E70CE013EEAD}"/>
                </a:ext>
              </a:extLst>
            </p:cNvPr>
            <p:cNvSpPr txBox="1"/>
            <p:nvPr/>
          </p:nvSpPr>
          <p:spPr>
            <a:xfrm>
              <a:off x="1189703" y="978998"/>
              <a:ext cx="7526594" cy="1901002"/>
            </a:xfrm>
            <a:prstGeom prst="rect">
              <a:avLst/>
            </a:prstGeom>
            <a:noFill/>
            <a:effectLst/>
          </p:spPr>
          <p:txBody>
            <a:bodyPr wrap="square" numCol="1" rtlCol="0">
              <a:prstTxWarp prst="textPlain">
                <a:avLst/>
              </a:prstTxWarp>
              <a:spAutoFit/>
            </a:bodyPr>
            <a:lstStyle>
              <a:defPPr>
                <a:defRPr lang="en-US"/>
              </a:defPPr>
              <a:lvl1pPr>
                <a:defRPr kumimoji="1">
                  <a:ln w="19050">
                    <a:solidFill>
                      <a:schemeClr val="accent1">
                        <a:lumMod val="75000"/>
                      </a:schemeClr>
                    </a:solidFill>
                  </a:ln>
                  <a:blipFill dpi="0" rotWithShape="1">
                    <a:blip r:embed="rId3"/>
                    <a:srcRect/>
                    <a:stretch>
                      <a:fillRect t="-103919" b="-103919"/>
                    </a:stretch>
                  </a:blipFill>
                  <a:effectLst>
                    <a:glow rad="101600">
                      <a:schemeClr val="accent1">
                        <a:lumMod val="60000"/>
                        <a:lumOff val="40000"/>
                        <a:alpha val="42000"/>
                      </a:schemeClr>
                    </a:glow>
                    <a:outerShdw blurRad="60007" dir="2000400" sy="-30000" kx="-800400" algn="bl" rotWithShape="0">
                      <a:prstClr val="black">
                        <a:alpha val="20000"/>
                      </a:prstClr>
                    </a:outerShdw>
                  </a:effectLst>
                  <a:latin typeface="HGP明朝E" panose="02020900000000000000" pitchFamily="18" charset="-128"/>
                  <a:ea typeface="HGP明朝E" panose="02020900000000000000" pitchFamily="18" charset="-128"/>
                </a:defRPr>
              </a:lvl1pPr>
            </a:lstStyle>
            <a:p>
              <a:r>
                <a:rPr lang="zh-TW" altLang="en-US" b="1">
                  <a:ln w="19050">
                    <a:solidFill>
                      <a:srgbClr val="C00000"/>
                    </a:solidFill>
                  </a:ln>
                  <a:blipFill dpi="0" rotWithShape="1">
                    <a:blip r:embed="rId2"/>
                    <a:srcRect/>
                    <a:stretch>
                      <a:fillRect t="-103919" b="-103919"/>
                    </a:stretch>
                  </a:blipFill>
                  <a:effectLst>
                    <a:glow rad="101600">
                      <a:srgbClr val="FF5050">
                        <a:alpha val="40000"/>
                      </a:srgbClr>
                    </a:glow>
                    <a:outerShdw blurRad="60007" dir="2000400" sy="-30000" kx="-800400" algn="bl" rotWithShape="0">
                      <a:srgbClr val="C00000">
                        <a:alpha val="30000"/>
                      </a:srgbClr>
                    </a:outerShdw>
                  </a:effectLst>
                </a:rPr>
                <a:t>歲末義賣會</a:t>
              </a:r>
              <a:endParaRPr lang="ja-JP" altLang="en-US" b="1" dirty="0">
                <a:ln w="19050">
                  <a:solidFill>
                    <a:srgbClr val="C00000"/>
                  </a:solidFill>
                </a:ln>
                <a:blipFill dpi="0" rotWithShape="1">
                  <a:blip r:embed="rId2"/>
                  <a:srcRect/>
                  <a:stretch>
                    <a:fillRect t="-103919" b="-103919"/>
                  </a:stretch>
                </a:blipFill>
                <a:effectLst>
                  <a:glow rad="101600">
                    <a:srgbClr val="FF5050">
                      <a:alpha val="40000"/>
                    </a:srgbClr>
                  </a:glow>
                  <a:outerShdw blurRad="60007" dir="2000400" sy="-30000" kx="-800400" algn="bl" rotWithShape="0">
                    <a:srgbClr val="C00000">
                      <a:alpha val="30000"/>
                    </a:srgbClr>
                  </a:outerShdw>
                </a:effectLst>
              </a:endParaRPr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29CDA6A1-9A9B-4AAD-B707-616876274CD8}"/>
                </a:ext>
              </a:extLst>
            </p:cNvPr>
            <p:cNvGrpSpPr/>
            <p:nvPr/>
          </p:nvGrpSpPr>
          <p:grpSpPr>
            <a:xfrm>
              <a:off x="6883072" y="5872548"/>
              <a:ext cx="1833225" cy="411748"/>
              <a:chOff x="9217634" y="3323911"/>
              <a:chExt cx="1833225" cy="411748"/>
            </a:xfrm>
          </p:grpSpPr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FDF9BFE-850B-4B62-8AD0-718FA5343C32}"/>
                  </a:ext>
                </a:extLst>
              </p:cNvPr>
              <p:cNvSpPr/>
              <p:nvPr/>
            </p:nvSpPr>
            <p:spPr>
              <a:xfrm>
                <a:off x="9217634" y="3323911"/>
                <a:ext cx="1833225" cy="41174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092E3B2-5A02-4A79-9E4A-87975A7AFA2A}"/>
                  </a:ext>
                </a:extLst>
              </p:cNvPr>
              <p:cNvSpPr txBox="1"/>
              <p:nvPr/>
            </p:nvSpPr>
            <p:spPr>
              <a:xfrm>
                <a:off x="9413536" y="3385421"/>
                <a:ext cx="144142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集中銷售企劃書</a:t>
                </a:r>
                <a:endParaRPr kumimoji="1" lang="ja-JP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6514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468</TotalTime>
  <Words>50</Words>
  <Application>Microsoft Office PowerPoint</Application>
  <PresentationFormat>A4 紙張 (210x297 公釐)</PresentationFormat>
  <Paragraphs>12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4" baseType="lpstr">
      <vt:lpstr>HGP明朝E</vt:lpstr>
      <vt:lpstr>HGP創英角ｺﾞｼｯｸUB</vt:lpstr>
      <vt:lpstr>ＭＳ ゴシック</vt:lpstr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73</cp:revision>
  <dcterms:created xsi:type="dcterms:W3CDTF">2017-11-09T07:26:57Z</dcterms:created>
  <dcterms:modified xsi:type="dcterms:W3CDTF">2018-11-08T00:37:28Z</dcterms:modified>
</cp:coreProperties>
</file>