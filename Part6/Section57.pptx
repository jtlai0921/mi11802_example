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7" d="100"/>
          <a:sy n="97" d="100"/>
        </p:scale>
        <p:origin x="8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1">
            <a:extLst>
              <a:ext uri="{FF2B5EF4-FFF2-40B4-BE49-F238E27FC236}">
                <a16:creationId xmlns:a16="http://schemas.microsoft.com/office/drawing/2014/main" id="{1D536373-30F3-4106-997D-4CB68C6DB84F}"/>
              </a:ext>
            </a:extLst>
          </p:cNvPr>
          <p:cNvSpPr txBox="1"/>
          <p:nvPr/>
        </p:nvSpPr>
        <p:spPr>
          <a:xfrm>
            <a:off x="1921493" y="668566"/>
            <a:ext cx="6063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spcAft>
                <a:spcPts val="600"/>
              </a:spcAft>
              <a:defRPr kumimoji="1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spcAft>
                <a:spcPts val="0"/>
              </a:spcAft>
            </a:pP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提案型營業程序</a:t>
            </a:r>
            <a:endParaRPr lang="ja-JP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テキスト ボックス 6">
            <a:extLst>
              <a:ext uri="{FF2B5EF4-FFF2-40B4-BE49-F238E27FC236}">
                <a16:creationId xmlns:a16="http://schemas.microsoft.com/office/drawing/2014/main" id="{CA9FCEB5-2CC2-4724-B0B3-F9520E2D0303}"/>
              </a:ext>
            </a:extLst>
          </p:cNvPr>
          <p:cNvSpPr txBox="1"/>
          <p:nvPr/>
        </p:nvSpPr>
        <p:spPr>
          <a:xfrm>
            <a:off x="586902" y="4334238"/>
            <a:ext cx="188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spcAft>
                <a:spcPts val="600"/>
              </a:spcAft>
              <a:defRPr kumimoji="1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了解問題點和解決對策的必要性</a:t>
            </a:r>
            <a:endParaRPr lang="ja-JP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B7CA6A1-4FBB-4BC9-ACB5-9AF04218BFE7}"/>
              </a:ext>
            </a:extLst>
          </p:cNvPr>
          <p:cNvGrpSpPr/>
          <p:nvPr/>
        </p:nvGrpSpPr>
        <p:grpSpPr>
          <a:xfrm>
            <a:off x="586901" y="2493292"/>
            <a:ext cx="2376000" cy="1454746"/>
            <a:chOff x="586902" y="2493292"/>
            <a:chExt cx="2376000" cy="145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矢印: 山形 1">
              <a:extLst>
                <a:ext uri="{FF2B5EF4-FFF2-40B4-BE49-F238E27FC236}">
                  <a16:creationId xmlns:a16="http://schemas.microsoft.com/office/drawing/2014/main" id="{C6339EDB-C696-49AB-B36D-854C875B32CC}"/>
                </a:ext>
              </a:extLst>
            </p:cNvPr>
            <p:cNvSpPr/>
            <p:nvPr/>
          </p:nvSpPr>
          <p:spPr>
            <a:xfrm>
              <a:off x="586902" y="2493292"/>
              <a:ext cx="2376000" cy="1454746"/>
            </a:xfrm>
            <a:prstGeom prst="chevron">
              <a:avLst>
                <a:gd name="adj" fmla="val 24704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テキスト ボックス 2">
              <a:extLst>
                <a:ext uri="{FF2B5EF4-FFF2-40B4-BE49-F238E27FC236}">
                  <a16:creationId xmlns:a16="http://schemas.microsoft.com/office/drawing/2014/main" id="{B0BBC93C-109E-405B-8C92-C27048F094CE}"/>
                </a:ext>
              </a:extLst>
            </p:cNvPr>
            <p:cNvSpPr txBox="1"/>
            <p:nvPr/>
          </p:nvSpPr>
          <p:spPr>
            <a:xfrm>
              <a:off x="1019557" y="2989832"/>
              <a:ext cx="15106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課題定義</a:t>
              </a:r>
              <a:endParaRPr lang="ja-JP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5" name="グループ化 2">
            <a:extLst>
              <a:ext uri="{FF2B5EF4-FFF2-40B4-BE49-F238E27FC236}">
                <a16:creationId xmlns:a16="http://schemas.microsoft.com/office/drawing/2014/main" id="{CD6C7152-D6A9-4961-899F-46C8C452934F}"/>
              </a:ext>
            </a:extLst>
          </p:cNvPr>
          <p:cNvGrpSpPr/>
          <p:nvPr/>
        </p:nvGrpSpPr>
        <p:grpSpPr>
          <a:xfrm>
            <a:off x="2705634" y="2493292"/>
            <a:ext cx="2376000" cy="1454746"/>
            <a:chOff x="2705634" y="2493292"/>
            <a:chExt cx="2376000" cy="145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矢印: 山形 2">
              <a:extLst>
                <a:ext uri="{FF2B5EF4-FFF2-40B4-BE49-F238E27FC236}">
                  <a16:creationId xmlns:a16="http://schemas.microsoft.com/office/drawing/2014/main" id="{BEF70B11-278E-4A28-ACF0-44852D5C970D}"/>
                </a:ext>
              </a:extLst>
            </p:cNvPr>
            <p:cNvSpPr/>
            <p:nvPr/>
          </p:nvSpPr>
          <p:spPr>
            <a:xfrm>
              <a:off x="2705634" y="2493292"/>
              <a:ext cx="2376000" cy="1454746"/>
            </a:xfrm>
            <a:prstGeom prst="chevron">
              <a:avLst>
                <a:gd name="adj" fmla="val 24704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テキスト ボックス 3">
              <a:extLst>
                <a:ext uri="{FF2B5EF4-FFF2-40B4-BE49-F238E27FC236}">
                  <a16:creationId xmlns:a16="http://schemas.microsoft.com/office/drawing/2014/main" id="{6ACFE8ED-0E37-4E42-8ADE-7B46604306F4}"/>
                </a:ext>
              </a:extLst>
            </p:cNvPr>
            <p:cNvSpPr txBox="1"/>
            <p:nvPr/>
          </p:nvSpPr>
          <p:spPr>
            <a:xfrm>
              <a:off x="3138289" y="2989832"/>
              <a:ext cx="15106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解決對策</a:t>
              </a:r>
              <a:endParaRPr lang="ja-JP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7" name="テキスト ボックス 7">
            <a:extLst>
              <a:ext uri="{FF2B5EF4-FFF2-40B4-BE49-F238E27FC236}">
                <a16:creationId xmlns:a16="http://schemas.microsoft.com/office/drawing/2014/main" id="{BA7D1B39-4DE9-4E58-9831-8A947E1F69B7}"/>
              </a:ext>
            </a:extLst>
          </p:cNvPr>
          <p:cNvSpPr txBox="1"/>
          <p:nvPr/>
        </p:nvSpPr>
        <p:spPr>
          <a:xfrm>
            <a:off x="2705634" y="4334238"/>
            <a:ext cx="188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spcAft>
                <a:spcPts val="600"/>
              </a:spcAft>
              <a:defRPr kumimoji="1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以解決對策作為具體性的形象</a:t>
            </a:r>
            <a:endParaRPr lang="ja-JP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6" name="グループ化 3">
            <a:extLst>
              <a:ext uri="{FF2B5EF4-FFF2-40B4-BE49-F238E27FC236}">
                <a16:creationId xmlns:a16="http://schemas.microsoft.com/office/drawing/2014/main" id="{6728BFA0-88E6-445B-A0FE-C5A7DFB0ACC9}"/>
              </a:ext>
            </a:extLst>
          </p:cNvPr>
          <p:cNvGrpSpPr/>
          <p:nvPr/>
        </p:nvGrpSpPr>
        <p:grpSpPr>
          <a:xfrm>
            <a:off x="4824366" y="2493292"/>
            <a:ext cx="2376000" cy="1454746"/>
            <a:chOff x="4824366" y="2493292"/>
            <a:chExt cx="2376000" cy="145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矢印: 山形 3">
              <a:extLst>
                <a:ext uri="{FF2B5EF4-FFF2-40B4-BE49-F238E27FC236}">
                  <a16:creationId xmlns:a16="http://schemas.microsoft.com/office/drawing/2014/main" id="{8685BE16-8713-41A6-A9A9-4CF3F0BBC772}"/>
                </a:ext>
              </a:extLst>
            </p:cNvPr>
            <p:cNvSpPr/>
            <p:nvPr/>
          </p:nvSpPr>
          <p:spPr>
            <a:xfrm>
              <a:off x="4824366" y="2493292"/>
              <a:ext cx="2376000" cy="1454746"/>
            </a:xfrm>
            <a:prstGeom prst="chevron">
              <a:avLst>
                <a:gd name="adj" fmla="val 24704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テキスト ボックス 4">
              <a:extLst>
                <a:ext uri="{FF2B5EF4-FFF2-40B4-BE49-F238E27FC236}">
                  <a16:creationId xmlns:a16="http://schemas.microsoft.com/office/drawing/2014/main" id="{8078D677-4FBF-4E24-95C8-7A28C344232E}"/>
                </a:ext>
              </a:extLst>
            </p:cNvPr>
            <p:cNvSpPr txBox="1"/>
            <p:nvPr/>
          </p:nvSpPr>
          <p:spPr>
            <a:xfrm>
              <a:off x="5257021" y="2989832"/>
              <a:ext cx="15106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概算報價</a:t>
              </a:r>
              <a:endParaRPr lang="ja-JP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" name="テキスト ボックス 8">
            <a:extLst>
              <a:ext uri="{FF2B5EF4-FFF2-40B4-BE49-F238E27FC236}">
                <a16:creationId xmlns:a16="http://schemas.microsoft.com/office/drawing/2014/main" id="{01CF2797-7DEB-4275-ADEF-74324FD04E05}"/>
              </a:ext>
            </a:extLst>
          </p:cNvPr>
          <p:cNvSpPr txBox="1"/>
          <p:nvPr/>
        </p:nvSpPr>
        <p:spPr>
          <a:xfrm>
            <a:off x="4824366" y="4334238"/>
            <a:ext cx="188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spcAft>
                <a:spcPts val="600"/>
              </a:spcAft>
              <a:defRPr kumimoji="1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理解投資計劃和金額、優點</a:t>
            </a:r>
            <a:endParaRPr lang="ja-JP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7" name="グループ化 4">
            <a:extLst>
              <a:ext uri="{FF2B5EF4-FFF2-40B4-BE49-F238E27FC236}">
                <a16:creationId xmlns:a16="http://schemas.microsoft.com/office/drawing/2014/main" id="{40F2956F-E924-44E9-AAD7-57DCA9086568}"/>
              </a:ext>
            </a:extLst>
          </p:cNvPr>
          <p:cNvGrpSpPr/>
          <p:nvPr/>
        </p:nvGrpSpPr>
        <p:grpSpPr>
          <a:xfrm>
            <a:off x="6943098" y="2493292"/>
            <a:ext cx="2376000" cy="1454746"/>
            <a:chOff x="6943098" y="2493292"/>
            <a:chExt cx="2376000" cy="145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矢印: 山形 4">
              <a:extLst>
                <a:ext uri="{FF2B5EF4-FFF2-40B4-BE49-F238E27FC236}">
                  <a16:creationId xmlns:a16="http://schemas.microsoft.com/office/drawing/2014/main" id="{FCC253C5-AEEA-43AD-9331-B405B9AFF2D2}"/>
                </a:ext>
              </a:extLst>
            </p:cNvPr>
            <p:cNvSpPr/>
            <p:nvPr/>
          </p:nvSpPr>
          <p:spPr>
            <a:xfrm>
              <a:off x="6943098" y="2493292"/>
              <a:ext cx="2376000" cy="1454746"/>
            </a:xfrm>
            <a:prstGeom prst="chevron">
              <a:avLst>
                <a:gd name="adj" fmla="val 24704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テキスト ボックス 5">
              <a:extLst>
                <a:ext uri="{FF2B5EF4-FFF2-40B4-BE49-F238E27FC236}">
                  <a16:creationId xmlns:a16="http://schemas.microsoft.com/office/drawing/2014/main" id="{59767735-EF8C-45A2-9AC3-6D00B8FDA6A8}"/>
                </a:ext>
              </a:extLst>
            </p:cNvPr>
            <p:cNvSpPr txBox="1"/>
            <p:nvPr/>
          </p:nvSpPr>
          <p:spPr>
            <a:xfrm>
              <a:off x="7247369" y="2989832"/>
              <a:ext cx="20247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400" spc="-15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結論</a:t>
              </a:r>
              <a:endParaRPr lang="ja-JP" altLang="en-US" sz="2400" spc="-15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1" name="テキスト ボックス 9">
            <a:extLst>
              <a:ext uri="{FF2B5EF4-FFF2-40B4-BE49-F238E27FC236}">
                <a16:creationId xmlns:a16="http://schemas.microsoft.com/office/drawing/2014/main" id="{AE37AA05-79AF-41BE-8140-3C1E2965C069}"/>
              </a:ext>
            </a:extLst>
          </p:cNvPr>
          <p:cNvSpPr txBox="1"/>
          <p:nvPr/>
        </p:nvSpPr>
        <p:spPr>
          <a:xfrm>
            <a:off x="6943098" y="4334238"/>
            <a:ext cx="188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spcAft>
                <a:spcPts val="600"/>
              </a:spcAft>
              <a:defRPr kumimoji="1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理解解決對策的執行和效果</a:t>
            </a:r>
            <a:endParaRPr lang="ja-JP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536373-30F3-4106-997D-4CB68C6DB84F}"/>
              </a:ext>
            </a:extLst>
          </p:cNvPr>
          <p:cNvSpPr txBox="1"/>
          <p:nvPr/>
        </p:nvSpPr>
        <p:spPr>
          <a:xfrm>
            <a:off x="1921493" y="668566"/>
            <a:ext cx="6063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spcAft>
                <a:spcPts val="600"/>
              </a:spcAft>
              <a:defRPr kumimoji="1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spcAft>
                <a:spcPts val="0"/>
              </a:spcAft>
            </a:pP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提案型營業程序</a:t>
            </a:r>
            <a:endParaRPr lang="ja-JP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9FCEB5-2CC2-4724-B0B3-F9520E2D0303}"/>
              </a:ext>
            </a:extLst>
          </p:cNvPr>
          <p:cNvSpPr txBox="1"/>
          <p:nvPr/>
        </p:nvSpPr>
        <p:spPr>
          <a:xfrm>
            <a:off x="586902" y="4334238"/>
            <a:ext cx="188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spcAft>
                <a:spcPts val="600"/>
              </a:spcAft>
              <a:defRPr kumimoji="1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了解問題點和解決對策的必要性</a:t>
            </a:r>
            <a:endParaRPr lang="ja-JP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B7CA6A1-4FBB-4BC9-ACB5-9AF04218BFE7}"/>
              </a:ext>
            </a:extLst>
          </p:cNvPr>
          <p:cNvGrpSpPr/>
          <p:nvPr/>
        </p:nvGrpSpPr>
        <p:grpSpPr>
          <a:xfrm>
            <a:off x="586901" y="2493292"/>
            <a:ext cx="2376000" cy="1454746"/>
            <a:chOff x="586902" y="2493292"/>
            <a:chExt cx="2376000" cy="145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矢印: 山形 13">
              <a:extLst>
                <a:ext uri="{FF2B5EF4-FFF2-40B4-BE49-F238E27FC236}">
                  <a16:creationId xmlns:a16="http://schemas.microsoft.com/office/drawing/2014/main" id="{C6339EDB-C696-49AB-B36D-854C875B32CC}"/>
                </a:ext>
              </a:extLst>
            </p:cNvPr>
            <p:cNvSpPr/>
            <p:nvPr/>
          </p:nvSpPr>
          <p:spPr>
            <a:xfrm>
              <a:off x="586902" y="2493292"/>
              <a:ext cx="2376000" cy="1454746"/>
            </a:xfrm>
            <a:prstGeom prst="chevron">
              <a:avLst>
                <a:gd name="adj" fmla="val 24704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B0BBC93C-109E-405B-8C92-C27048F094CE}"/>
                </a:ext>
              </a:extLst>
            </p:cNvPr>
            <p:cNvSpPr txBox="1"/>
            <p:nvPr/>
          </p:nvSpPr>
          <p:spPr>
            <a:xfrm>
              <a:off x="1019557" y="2989832"/>
              <a:ext cx="15106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課題定義</a:t>
              </a:r>
              <a:endParaRPr lang="ja-JP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A7D1B39-4DE9-4E58-9831-8A947E1F69B7}"/>
              </a:ext>
            </a:extLst>
          </p:cNvPr>
          <p:cNvSpPr txBox="1"/>
          <p:nvPr/>
        </p:nvSpPr>
        <p:spPr>
          <a:xfrm>
            <a:off x="2705634" y="4334238"/>
            <a:ext cx="188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spcAft>
                <a:spcPts val="0"/>
              </a:spcAft>
              <a:defRPr kumimoji="1">
                <a:latin typeface="游ゴシック Medium" panose="020B0500000000000000" pitchFamily="50" charset="-128"/>
                <a:ea typeface="游ゴシック Medium" panose="020B0500000000000000" pitchFamily="50" charset="-128"/>
                <a:cs typeface="Arial" panose="020B0604020202020204" pitchFamily="34" charset="0"/>
              </a:defRPr>
            </a:lvl1pPr>
          </a:lstStyle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以解決對策作為具體性的形象</a:t>
            </a:r>
            <a:endParaRPr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1CF2797-7DEB-4275-ADEF-74324FD04E05}"/>
              </a:ext>
            </a:extLst>
          </p:cNvPr>
          <p:cNvSpPr txBox="1"/>
          <p:nvPr/>
        </p:nvSpPr>
        <p:spPr>
          <a:xfrm>
            <a:off x="4824366" y="4334238"/>
            <a:ext cx="188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spcAft>
                <a:spcPts val="600"/>
              </a:spcAft>
              <a:defRPr kumimoji="1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理解投資計劃和金額、優點</a:t>
            </a:r>
            <a:endParaRPr lang="ja-JP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E37AA05-79AF-41BE-8140-3C1E2965C069}"/>
              </a:ext>
            </a:extLst>
          </p:cNvPr>
          <p:cNvSpPr txBox="1"/>
          <p:nvPr/>
        </p:nvSpPr>
        <p:spPr>
          <a:xfrm>
            <a:off x="6943098" y="4334238"/>
            <a:ext cx="188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spcAft>
                <a:spcPts val="600"/>
              </a:spcAft>
              <a:defRPr kumimoji="1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理解解決對策的執行和效果</a:t>
            </a:r>
            <a:endParaRPr lang="ja-JP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D6C7152-D6A9-4961-899F-46C8C452934F}"/>
              </a:ext>
            </a:extLst>
          </p:cNvPr>
          <p:cNvGrpSpPr/>
          <p:nvPr/>
        </p:nvGrpSpPr>
        <p:grpSpPr>
          <a:xfrm>
            <a:off x="2705634" y="2493292"/>
            <a:ext cx="2376000" cy="1454746"/>
            <a:chOff x="2705634" y="2493292"/>
            <a:chExt cx="2376000" cy="145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矢印: 山形 12">
              <a:extLst>
                <a:ext uri="{FF2B5EF4-FFF2-40B4-BE49-F238E27FC236}">
                  <a16:creationId xmlns:a16="http://schemas.microsoft.com/office/drawing/2014/main" id="{BEF70B11-278E-4A28-ACF0-44852D5C970D}"/>
                </a:ext>
              </a:extLst>
            </p:cNvPr>
            <p:cNvSpPr/>
            <p:nvPr/>
          </p:nvSpPr>
          <p:spPr>
            <a:xfrm>
              <a:off x="2705634" y="2493292"/>
              <a:ext cx="2376000" cy="1454746"/>
            </a:xfrm>
            <a:prstGeom prst="chevron">
              <a:avLst>
                <a:gd name="adj" fmla="val 24704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6ACFE8ED-0E37-4E42-8ADE-7B46604306F4}"/>
                </a:ext>
              </a:extLst>
            </p:cNvPr>
            <p:cNvSpPr txBox="1"/>
            <p:nvPr/>
          </p:nvSpPr>
          <p:spPr>
            <a:xfrm>
              <a:off x="3138289" y="2989832"/>
              <a:ext cx="15106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解決對策</a:t>
              </a:r>
              <a:endParaRPr lang="ja-JP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6728BFA0-88E6-445B-A0FE-C5A7DFB0ACC9}"/>
              </a:ext>
            </a:extLst>
          </p:cNvPr>
          <p:cNvGrpSpPr/>
          <p:nvPr/>
        </p:nvGrpSpPr>
        <p:grpSpPr>
          <a:xfrm>
            <a:off x="4824366" y="2493292"/>
            <a:ext cx="2376000" cy="1454746"/>
            <a:chOff x="4824366" y="2493292"/>
            <a:chExt cx="2376000" cy="145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矢印: 山形 11">
              <a:extLst>
                <a:ext uri="{FF2B5EF4-FFF2-40B4-BE49-F238E27FC236}">
                  <a16:creationId xmlns:a16="http://schemas.microsoft.com/office/drawing/2014/main" id="{8685BE16-8713-41A6-A9A9-4CF3F0BBC772}"/>
                </a:ext>
              </a:extLst>
            </p:cNvPr>
            <p:cNvSpPr/>
            <p:nvPr/>
          </p:nvSpPr>
          <p:spPr>
            <a:xfrm>
              <a:off x="4824366" y="2493292"/>
              <a:ext cx="2376000" cy="1454746"/>
            </a:xfrm>
            <a:prstGeom prst="chevron">
              <a:avLst>
                <a:gd name="adj" fmla="val 24704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8078D677-4FBF-4E24-95C8-7A28C344232E}"/>
                </a:ext>
              </a:extLst>
            </p:cNvPr>
            <p:cNvSpPr txBox="1"/>
            <p:nvPr/>
          </p:nvSpPr>
          <p:spPr>
            <a:xfrm>
              <a:off x="5257021" y="2989832"/>
              <a:ext cx="15106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概算報價</a:t>
              </a:r>
              <a:endParaRPr lang="ja-JP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40F2956F-E924-44E9-AAD7-57DCA9086568}"/>
              </a:ext>
            </a:extLst>
          </p:cNvPr>
          <p:cNvGrpSpPr/>
          <p:nvPr/>
        </p:nvGrpSpPr>
        <p:grpSpPr>
          <a:xfrm>
            <a:off x="6943098" y="2493292"/>
            <a:ext cx="2376000" cy="1454746"/>
            <a:chOff x="6943098" y="2493292"/>
            <a:chExt cx="2376000" cy="145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矢印: 山形 10">
              <a:extLst>
                <a:ext uri="{FF2B5EF4-FFF2-40B4-BE49-F238E27FC236}">
                  <a16:creationId xmlns:a16="http://schemas.microsoft.com/office/drawing/2014/main" id="{FCC253C5-AEEA-43AD-9331-B405B9AFF2D2}"/>
                </a:ext>
              </a:extLst>
            </p:cNvPr>
            <p:cNvSpPr/>
            <p:nvPr/>
          </p:nvSpPr>
          <p:spPr>
            <a:xfrm>
              <a:off x="6943098" y="2493292"/>
              <a:ext cx="2376000" cy="1454746"/>
            </a:xfrm>
            <a:prstGeom prst="chevron">
              <a:avLst>
                <a:gd name="adj" fmla="val 24704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59767735-EF8C-45A2-9AC3-6D00B8FDA6A8}"/>
                </a:ext>
              </a:extLst>
            </p:cNvPr>
            <p:cNvSpPr txBox="1"/>
            <p:nvPr/>
          </p:nvSpPr>
          <p:spPr>
            <a:xfrm>
              <a:off x="7247369" y="2989832"/>
              <a:ext cx="20247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400" spc="-15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結論</a:t>
              </a:r>
              <a:endParaRPr lang="ja-JP" altLang="en-US" sz="2400" spc="-15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109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40F2956F-E924-44E9-AAD7-57DCA9086568}"/>
              </a:ext>
            </a:extLst>
          </p:cNvPr>
          <p:cNvGrpSpPr/>
          <p:nvPr/>
        </p:nvGrpSpPr>
        <p:grpSpPr>
          <a:xfrm>
            <a:off x="6943098" y="2493292"/>
            <a:ext cx="2376000" cy="1454746"/>
            <a:chOff x="6943098" y="2493292"/>
            <a:chExt cx="2376000" cy="145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矢印: 山形 10">
              <a:extLst>
                <a:ext uri="{FF2B5EF4-FFF2-40B4-BE49-F238E27FC236}">
                  <a16:creationId xmlns:a16="http://schemas.microsoft.com/office/drawing/2014/main" id="{FCC253C5-AEEA-43AD-9331-B405B9AFF2D2}"/>
                </a:ext>
              </a:extLst>
            </p:cNvPr>
            <p:cNvSpPr/>
            <p:nvPr/>
          </p:nvSpPr>
          <p:spPr>
            <a:xfrm>
              <a:off x="6943098" y="2493292"/>
              <a:ext cx="2376000" cy="1454746"/>
            </a:xfrm>
            <a:prstGeom prst="chevron">
              <a:avLst>
                <a:gd name="adj" fmla="val 24704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59767735-EF8C-45A2-9AC3-6D00B8FDA6A8}"/>
                </a:ext>
              </a:extLst>
            </p:cNvPr>
            <p:cNvSpPr txBox="1"/>
            <p:nvPr/>
          </p:nvSpPr>
          <p:spPr>
            <a:xfrm>
              <a:off x="7247369" y="2989832"/>
              <a:ext cx="20247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400" spc="-15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結論</a:t>
              </a:r>
              <a:endParaRPr lang="ja-JP" altLang="en-US" sz="2400" spc="-15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6728BFA0-88E6-445B-A0FE-C5A7DFB0ACC9}"/>
              </a:ext>
            </a:extLst>
          </p:cNvPr>
          <p:cNvGrpSpPr/>
          <p:nvPr/>
        </p:nvGrpSpPr>
        <p:grpSpPr>
          <a:xfrm>
            <a:off x="4824366" y="2493292"/>
            <a:ext cx="2376000" cy="1454746"/>
            <a:chOff x="4824366" y="2493292"/>
            <a:chExt cx="2376000" cy="145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矢印: 山形 11">
              <a:extLst>
                <a:ext uri="{FF2B5EF4-FFF2-40B4-BE49-F238E27FC236}">
                  <a16:creationId xmlns:a16="http://schemas.microsoft.com/office/drawing/2014/main" id="{8685BE16-8713-41A6-A9A9-4CF3F0BBC772}"/>
                </a:ext>
              </a:extLst>
            </p:cNvPr>
            <p:cNvSpPr/>
            <p:nvPr/>
          </p:nvSpPr>
          <p:spPr>
            <a:xfrm>
              <a:off x="4824366" y="2493292"/>
              <a:ext cx="2376000" cy="1454746"/>
            </a:xfrm>
            <a:prstGeom prst="chevron">
              <a:avLst>
                <a:gd name="adj" fmla="val 24704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8078D677-4FBF-4E24-95C8-7A28C344232E}"/>
                </a:ext>
              </a:extLst>
            </p:cNvPr>
            <p:cNvSpPr txBox="1"/>
            <p:nvPr/>
          </p:nvSpPr>
          <p:spPr>
            <a:xfrm>
              <a:off x="5257021" y="2989832"/>
              <a:ext cx="15106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概算報價</a:t>
              </a:r>
              <a:endParaRPr lang="ja-JP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D6C7152-D6A9-4961-899F-46C8C452934F}"/>
              </a:ext>
            </a:extLst>
          </p:cNvPr>
          <p:cNvGrpSpPr/>
          <p:nvPr/>
        </p:nvGrpSpPr>
        <p:grpSpPr>
          <a:xfrm>
            <a:off x="2705634" y="2493292"/>
            <a:ext cx="2376000" cy="1454746"/>
            <a:chOff x="2705634" y="2493292"/>
            <a:chExt cx="2376000" cy="145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矢印: 山形 12">
              <a:extLst>
                <a:ext uri="{FF2B5EF4-FFF2-40B4-BE49-F238E27FC236}">
                  <a16:creationId xmlns:a16="http://schemas.microsoft.com/office/drawing/2014/main" id="{BEF70B11-278E-4A28-ACF0-44852D5C970D}"/>
                </a:ext>
              </a:extLst>
            </p:cNvPr>
            <p:cNvSpPr/>
            <p:nvPr/>
          </p:nvSpPr>
          <p:spPr>
            <a:xfrm>
              <a:off x="2705634" y="2493292"/>
              <a:ext cx="2376000" cy="1454746"/>
            </a:xfrm>
            <a:prstGeom prst="chevron">
              <a:avLst>
                <a:gd name="adj" fmla="val 24704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6ACFE8ED-0E37-4E42-8ADE-7B46604306F4}"/>
                </a:ext>
              </a:extLst>
            </p:cNvPr>
            <p:cNvSpPr txBox="1"/>
            <p:nvPr/>
          </p:nvSpPr>
          <p:spPr>
            <a:xfrm>
              <a:off x="3138289" y="2989832"/>
              <a:ext cx="15106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解決對策</a:t>
              </a:r>
              <a:endParaRPr lang="ja-JP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B7CA6A1-4FBB-4BC9-ACB5-9AF04218BFE7}"/>
              </a:ext>
            </a:extLst>
          </p:cNvPr>
          <p:cNvGrpSpPr/>
          <p:nvPr/>
        </p:nvGrpSpPr>
        <p:grpSpPr>
          <a:xfrm>
            <a:off x="586901" y="2493292"/>
            <a:ext cx="2376000" cy="1454746"/>
            <a:chOff x="586902" y="2493292"/>
            <a:chExt cx="2376000" cy="14547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矢印: 山形 13">
              <a:extLst>
                <a:ext uri="{FF2B5EF4-FFF2-40B4-BE49-F238E27FC236}">
                  <a16:creationId xmlns:a16="http://schemas.microsoft.com/office/drawing/2014/main" id="{C6339EDB-C696-49AB-B36D-854C875B32CC}"/>
                </a:ext>
              </a:extLst>
            </p:cNvPr>
            <p:cNvSpPr/>
            <p:nvPr/>
          </p:nvSpPr>
          <p:spPr>
            <a:xfrm>
              <a:off x="586902" y="2493292"/>
              <a:ext cx="2376000" cy="1454746"/>
            </a:xfrm>
            <a:prstGeom prst="chevron">
              <a:avLst>
                <a:gd name="adj" fmla="val 24704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B0BBC93C-109E-405B-8C92-C27048F094CE}"/>
                </a:ext>
              </a:extLst>
            </p:cNvPr>
            <p:cNvSpPr txBox="1"/>
            <p:nvPr/>
          </p:nvSpPr>
          <p:spPr>
            <a:xfrm>
              <a:off x="1019557" y="2989832"/>
              <a:ext cx="15106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24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課題定義</a:t>
              </a:r>
              <a:endParaRPr lang="ja-JP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4" name="四角形: メモ 23">
            <a:extLst>
              <a:ext uri="{FF2B5EF4-FFF2-40B4-BE49-F238E27FC236}">
                <a16:creationId xmlns:a16="http://schemas.microsoft.com/office/drawing/2014/main" id="{F78B33B7-BE2B-4EF5-8182-1E365D21F033}"/>
              </a:ext>
            </a:extLst>
          </p:cNvPr>
          <p:cNvSpPr/>
          <p:nvPr/>
        </p:nvSpPr>
        <p:spPr>
          <a:xfrm>
            <a:off x="7341613" y="2968664"/>
            <a:ext cx="1813933" cy="504000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メモ 22">
            <a:extLst>
              <a:ext uri="{FF2B5EF4-FFF2-40B4-BE49-F238E27FC236}">
                <a16:creationId xmlns:a16="http://schemas.microsoft.com/office/drawing/2014/main" id="{E5FE0DDF-39BB-4007-97A9-A30BCFD1A890}"/>
              </a:ext>
            </a:extLst>
          </p:cNvPr>
          <p:cNvSpPr/>
          <p:nvPr/>
        </p:nvSpPr>
        <p:spPr>
          <a:xfrm>
            <a:off x="5236466" y="2968664"/>
            <a:ext cx="1548000" cy="504000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メモ 21">
            <a:extLst>
              <a:ext uri="{FF2B5EF4-FFF2-40B4-BE49-F238E27FC236}">
                <a16:creationId xmlns:a16="http://schemas.microsoft.com/office/drawing/2014/main" id="{BDD61DA9-A855-4ABE-99C2-CA8DA03FB6F6}"/>
              </a:ext>
            </a:extLst>
          </p:cNvPr>
          <p:cNvSpPr/>
          <p:nvPr/>
        </p:nvSpPr>
        <p:spPr>
          <a:xfrm>
            <a:off x="3117733" y="2968664"/>
            <a:ext cx="1548000" cy="504000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四角形: メモ 7">
            <a:extLst>
              <a:ext uri="{FF2B5EF4-FFF2-40B4-BE49-F238E27FC236}">
                <a16:creationId xmlns:a16="http://schemas.microsoft.com/office/drawing/2014/main" id="{28C75927-FD51-433F-A9CA-7BA9C5B8A47F}"/>
              </a:ext>
            </a:extLst>
          </p:cNvPr>
          <p:cNvSpPr/>
          <p:nvPr/>
        </p:nvSpPr>
        <p:spPr>
          <a:xfrm>
            <a:off x="999000" y="2968664"/>
            <a:ext cx="1548000" cy="504000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536373-30F3-4106-997D-4CB68C6DB84F}"/>
              </a:ext>
            </a:extLst>
          </p:cNvPr>
          <p:cNvSpPr txBox="1"/>
          <p:nvPr/>
        </p:nvSpPr>
        <p:spPr>
          <a:xfrm>
            <a:off x="1921493" y="668566"/>
            <a:ext cx="6063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spcAft>
                <a:spcPts val="600"/>
              </a:spcAft>
              <a:defRPr kumimoji="1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spcAft>
                <a:spcPts val="0"/>
              </a:spcAft>
            </a:pP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提案型營業程序</a:t>
            </a:r>
            <a:endParaRPr lang="ja-JP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9FCEB5-2CC2-4724-B0B3-F9520E2D0303}"/>
              </a:ext>
            </a:extLst>
          </p:cNvPr>
          <p:cNvSpPr txBox="1"/>
          <p:nvPr/>
        </p:nvSpPr>
        <p:spPr>
          <a:xfrm>
            <a:off x="586902" y="4334238"/>
            <a:ext cx="188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spcAft>
                <a:spcPts val="600"/>
              </a:spcAft>
              <a:defRPr kumimoji="1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了解問題點和解決對策的必要性</a:t>
            </a:r>
            <a:endParaRPr lang="ja-JP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A7D1B39-4DE9-4E58-9831-8A947E1F69B7}"/>
              </a:ext>
            </a:extLst>
          </p:cNvPr>
          <p:cNvSpPr txBox="1"/>
          <p:nvPr/>
        </p:nvSpPr>
        <p:spPr>
          <a:xfrm>
            <a:off x="2705634" y="4334238"/>
            <a:ext cx="188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spcAft>
                <a:spcPts val="0"/>
              </a:spcAft>
              <a:defRPr kumimoji="1">
                <a:latin typeface="游ゴシック Medium" panose="020B0500000000000000" pitchFamily="50" charset="-128"/>
                <a:ea typeface="游ゴシック Medium" panose="020B0500000000000000" pitchFamily="50" charset="-128"/>
                <a:cs typeface="Arial" panose="020B0604020202020204" pitchFamily="34" charset="0"/>
              </a:defRPr>
            </a:lvl1pPr>
          </a:lstStyle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以解決對策作為具體性的形象</a:t>
            </a:r>
            <a:endParaRPr lang="ja-JP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1CF2797-7DEB-4275-ADEF-74324FD04E05}"/>
              </a:ext>
            </a:extLst>
          </p:cNvPr>
          <p:cNvSpPr txBox="1"/>
          <p:nvPr/>
        </p:nvSpPr>
        <p:spPr>
          <a:xfrm>
            <a:off x="4824366" y="4334238"/>
            <a:ext cx="188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spcAft>
                <a:spcPts val="600"/>
              </a:spcAft>
              <a:defRPr kumimoji="1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理解投資計劃和金額、優點</a:t>
            </a:r>
            <a:endParaRPr lang="ja-JP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E37AA05-79AF-41BE-8140-3C1E2965C069}"/>
              </a:ext>
            </a:extLst>
          </p:cNvPr>
          <p:cNvSpPr txBox="1"/>
          <p:nvPr/>
        </p:nvSpPr>
        <p:spPr>
          <a:xfrm>
            <a:off x="6943098" y="4334238"/>
            <a:ext cx="188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spcAft>
                <a:spcPts val="600"/>
              </a:spcAft>
              <a:defRPr kumimoji="1"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理解解決對策的執行和效果</a:t>
            </a:r>
            <a:endParaRPr lang="ja-JP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95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3" grpId="0" animBg="1"/>
      <p:bldP spid="22" grpId="0" animBg="1"/>
      <p:bldP spid="8" grpId="0" animBg="1"/>
      <p:bldP spid="4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377</TotalTime>
  <Words>126</Words>
  <Application>Microsoft Office PowerPoint</Application>
  <PresentationFormat>A4 紙張 (210x297 公釐)</PresentationFormat>
  <Paragraphs>27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49</cp:revision>
  <dcterms:created xsi:type="dcterms:W3CDTF">2017-11-09T07:26:57Z</dcterms:created>
  <dcterms:modified xsi:type="dcterms:W3CDTF">2018-10-02T15:10:10Z</dcterms:modified>
</cp:coreProperties>
</file>