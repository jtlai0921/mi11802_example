
<file path=[Content_Types].xml><?xml version="1.0" encoding="utf-8"?>
<Types xmlns="http://schemas.openxmlformats.org/package/2006/content-types">
  <Default Extension="tmp" ContentType="image/png"/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60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8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hyperlink" Target="http://www.nisc.go.jp/security-site/inde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FB6C5A46-EDDA-4F37-81EF-F7E7D83F6575}"/>
              </a:ext>
            </a:extLst>
          </p:cNvPr>
          <p:cNvGrpSpPr/>
          <p:nvPr/>
        </p:nvGrpSpPr>
        <p:grpSpPr>
          <a:xfrm>
            <a:off x="379097" y="351512"/>
            <a:ext cx="9147806" cy="5919922"/>
            <a:chOff x="379097" y="351512"/>
            <a:chExt cx="9147806" cy="5919922"/>
          </a:xfrm>
        </p:grpSpPr>
        <p:pic>
          <p:nvPicPr>
            <p:cNvPr id="15" name="図 14" descr="画面の領域">
              <a:extLst>
                <a:ext uri="{FF2B5EF4-FFF2-40B4-BE49-F238E27FC236}">
                  <a16:creationId xmlns:a16="http://schemas.microsoft.com/office/drawing/2014/main" id="{20D012FA-90A5-4C23-AF09-753F412C9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57023" y="3146798"/>
              <a:ext cx="5591955" cy="3124636"/>
            </a:xfrm>
            <a:prstGeom prst="rect">
              <a:avLst/>
            </a:prstGeom>
          </p:spPr>
        </p:pic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027E064C-F492-4B33-B027-A8544B17DD41}"/>
                </a:ext>
              </a:extLst>
            </p:cNvPr>
            <p:cNvSpPr txBox="1"/>
            <p:nvPr/>
          </p:nvSpPr>
          <p:spPr>
            <a:xfrm>
              <a:off x="1157806" y="1373224"/>
              <a:ext cx="457992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預定地位於距離主幹道北方</a:t>
              </a:r>
              <a:r>
                <a:rPr kumimoji="1"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</a:t>
              </a:r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個街區的內側。雖然交通流量不大，但周邊在近年開始發展，有許多餐飲店、精品商店林立，聚集了許多對流行敏感的人潮，十分熱鬧。</a:t>
              </a:r>
              <a:endPara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A1E14357-E540-4220-B582-F1C957546C46}"/>
                </a:ext>
              </a:extLst>
            </p:cNvPr>
            <p:cNvSpPr/>
            <p:nvPr/>
          </p:nvSpPr>
          <p:spPr>
            <a:xfrm>
              <a:off x="1273956" y="351512"/>
              <a:ext cx="8252947" cy="7920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1D536373-30F3-4106-997D-4CB68C6DB84F}"/>
                </a:ext>
              </a:extLst>
            </p:cNvPr>
            <p:cNvSpPr txBox="1"/>
            <p:nvPr/>
          </p:nvSpPr>
          <p:spPr>
            <a:xfrm>
              <a:off x="1586232" y="508202"/>
              <a:ext cx="704581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>
                <a:spcAft>
                  <a:spcPts val="0"/>
                </a:spcAft>
              </a:pPr>
              <a:r>
                <a:rPr lang="zh-TW" altLang="en-US" sz="28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展店預定地的現況</a:t>
              </a:r>
              <a:endParaRPr lang="ja-JP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E1EE8B79-405D-4185-8353-3475836820C1}"/>
                </a:ext>
              </a:extLst>
            </p:cNvPr>
            <p:cNvSpPr/>
            <p:nvPr/>
          </p:nvSpPr>
          <p:spPr>
            <a:xfrm>
              <a:off x="379097" y="351512"/>
              <a:ext cx="875385" cy="792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二等辺三角形 8">
              <a:extLst>
                <a:ext uri="{FF2B5EF4-FFF2-40B4-BE49-F238E27FC236}">
                  <a16:creationId xmlns:a16="http://schemas.microsoft.com/office/drawing/2014/main" id="{7D203D59-4CE3-4B05-9477-E441113E06AE}"/>
                </a:ext>
              </a:extLst>
            </p:cNvPr>
            <p:cNvSpPr/>
            <p:nvPr/>
          </p:nvSpPr>
          <p:spPr>
            <a:xfrm rot="5400000">
              <a:off x="1091608" y="641894"/>
              <a:ext cx="545696" cy="211236"/>
            </a:xfrm>
            <a:prstGeom prst="triangle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二等辺三角形 7">
              <a:extLst>
                <a:ext uri="{FF2B5EF4-FFF2-40B4-BE49-F238E27FC236}">
                  <a16:creationId xmlns:a16="http://schemas.microsoft.com/office/drawing/2014/main" id="{5C76E9F9-0D8C-4385-831D-3CE8D49B446F}"/>
                </a:ext>
              </a:extLst>
            </p:cNvPr>
            <p:cNvSpPr/>
            <p:nvPr/>
          </p:nvSpPr>
          <p:spPr>
            <a:xfrm rot="5400000">
              <a:off x="1064364" y="641893"/>
              <a:ext cx="545696" cy="211237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4B7AF826-6BB0-4C5F-8056-8DC0B495BC79}"/>
                </a:ext>
              </a:extLst>
            </p:cNvPr>
            <p:cNvSpPr txBox="1"/>
            <p:nvPr/>
          </p:nvSpPr>
          <p:spPr>
            <a:xfrm>
              <a:off x="641721" y="547169"/>
              <a:ext cx="350135" cy="448012"/>
            </a:xfrm>
            <a:prstGeom prst="rect">
              <a:avLst/>
            </a:prstGeom>
            <a:noFill/>
          </p:spPr>
          <p:txBody>
            <a:bodyPr wrap="square" rtlCol="0">
              <a:prstTxWarp prst="textPlain">
                <a:avLst/>
              </a:prstTxWarp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r">
                <a:spcAft>
                  <a:spcPts val="0"/>
                </a:spcAft>
              </a:pPr>
              <a:r>
                <a:rPr lang="en-US" altLang="ja-JP" sz="3200" dirty="0">
                  <a:solidFill>
                    <a:schemeClr val="bg1"/>
                  </a:solidFill>
                </a:rPr>
                <a:t>5</a:t>
              </a:r>
              <a:endParaRPr lang="ja-JP" altLang="en-US" sz="3200" dirty="0">
                <a:solidFill>
                  <a:schemeClr val="bg1"/>
                </a:solidFill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B10E72F5-07F0-4DC9-AD17-98BC6303F303}"/>
                </a:ext>
              </a:extLst>
            </p:cNvPr>
            <p:cNvSpPr txBox="1"/>
            <p:nvPr/>
          </p:nvSpPr>
          <p:spPr>
            <a:xfrm>
              <a:off x="7440373" y="2833501"/>
              <a:ext cx="1937208" cy="60016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defRPr kumimoji="1" sz="11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車站西側有許多較低層的辦公大樓。白天人來人往十分熱鬧，但夜晚則比較寧靜。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9" name="コネクタ: カギ線 18">
              <a:extLst>
                <a:ext uri="{FF2B5EF4-FFF2-40B4-BE49-F238E27FC236}">
                  <a16:creationId xmlns:a16="http://schemas.microsoft.com/office/drawing/2014/main" id="{392518E9-E7D9-4B42-BD8A-EC39EEE23654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 flipV="1">
              <a:off x="4953000" y="3133583"/>
              <a:ext cx="2487373" cy="78897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accent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円: 塗りつぶしなし 24">
              <a:extLst>
                <a:ext uri="{FF2B5EF4-FFF2-40B4-BE49-F238E27FC236}">
                  <a16:creationId xmlns:a16="http://schemas.microsoft.com/office/drawing/2014/main" id="{EDE9A353-896D-4E4B-8E83-A04B7E109F2D}"/>
                </a:ext>
              </a:extLst>
            </p:cNvPr>
            <p:cNvSpPr/>
            <p:nvPr/>
          </p:nvSpPr>
          <p:spPr>
            <a:xfrm>
              <a:off x="4052529" y="4020865"/>
              <a:ext cx="180000" cy="180000"/>
            </a:xfrm>
            <a:prstGeom prst="donu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7" name="グラフィックス 26" descr="矢印: 反時計方向の曲線">
              <a:extLst>
                <a:ext uri="{FF2B5EF4-FFF2-40B4-BE49-F238E27FC236}">
                  <a16:creationId xmlns:a16="http://schemas.microsoft.com/office/drawing/2014/main" id="{E3E93711-7084-4C89-BCCC-6DE2061021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20700000">
              <a:off x="3090807" y="2199710"/>
              <a:ext cx="1472090" cy="1990878"/>
            </a:xfrm>
            <a:prstGeom prst="rect">
              <a:avLst/>
            </a:prstGeom>
          </p:spPr>
        </p:pic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F304AFC2-F028-470B-91BC-5EB18D05F74E}"/>
                </a:ext>
              </a:extLst>
            </p:cNvPr>
            <p:cNvSpPr txBox="1"/>
            <p:nvPr/>
          </p:nvSpPr>
          <p:spPr>
            <a:xfrm>
              <a:off x="831370" y="3080504"/>
              <a:ext cx="1756782" cy="60016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個人商店的收藏品聚集在此。店裡陳設許多豐富的二手商品。</a:t>
              </a:r>
              <a:endParaRPr kumimoji="1"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cxnSp>
          <p:nvCxnSpPr>
            <p:cNvPr id="33" name="コネクタ: カギ線 32">
              <a:extLst>
                <a:ext uri="{FF2B5EF4-FFF2-40B4-BE49-F238E27FC236}">
                  <a16:creationId xmlns:a16="http://schemas.microsoft.com/office/drawing/2014/main" id="{BED303C9-4CAC-4496-AAFC-A81F6436B9BE}"/>
                </a:ext>
              </a:extLst>
            </p:cNvPr>
            <p:cNvCxnSpPr>
              <a:cxnSpLocks/>
              <a:endCxn id="32" idx="2"/>
            </p:cNvCxnSpPr>
            <p:nvPr/>
          </p:nvCxnSpPr>
          <p:spPr>
            <a:xfrm rot="10800000">
              <a:off x="1709762" y="3680669"/>
              <a:ext cx="1891429" cy="583659"/>
            </a:xfrm>
            <a:prstGeom prst="bentConnector2">
              <a:avLst/>
            </a:prstGeom>
            <a:ln w="12700">
              <a:solidFill>
                <a:schemeClr val="accent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F4565F47-E44A-4B82-816C-FE71FA77C210}"/>
                </a:ext>
              </a:extLst>
            </p:cNvPr>
            <p:cNvSpPr txBox="1"/>
            <p:nvPr/>
          </p:nvSpPr>
          <p:spPr>
            <a:xfrm>
              <a:off x="831370" y="5501993"/>
              <a:ext cx="1756782" cy="60016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defRPr kumimoji="1" sz="11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有數家速食店、喫茶的</a:t>
              </a:r>
              <a:r>
                <a:rPr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FC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店，廣場定期舉辦各種活動。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48" name="コネクタ: カギ線 47">
              <a:extLst>
                <a:ext uri="{FF2B5EF4-FFF2-40B4-BE49-F238E27FC236}">
                  <a16:creationId xmlns:a16="http://schemas.microsoft.com/office/drawing/2014/main" id="{310F8624-92BF-4EEB-93E5-DF518AADF94F}"/>
                </a:ext>
              </a:extLst>
            </p:cNvPr>
            <p:cNvCxnSpPr>
              <a:cxnSpLocks/>
              <a:endCxn id="46" idx="0"/>
            </p:cNvCxnSpPr>
            <p:nvPr/>
          </p:nvCxnSpPr>
          <p:spPr>
            <a:xfrm rot="10800000" flipV="1">
              <a:off x="1709761" y="5166639"/>
              <a:ext cx="2204044" cy="335354"/>
            </a:xfrm>
            <a:prstGeom prst="bentConnector2">
              <a:avLst/>
            </a:prstGeom>
            <a:ln w="12700">
              <a:solidFill>
                <a:schemeClr val="accent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BEC4A170-A9F5-4424-8500-264C7EE5E0E8}"/>
                </a:ext>
              </a:extLst>
            </p:cNvPr>
            <p:cNvSpPr txBox="1"/>
            <p:nvPr/>
          </p:nvSpPr>
          <p:spPr>
            <a:xfrm>
              <a:off x="7440373" y="5232842"/>
              <a:ext cx="1937208" cy="7694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defRPr kumimoji="1" sz="11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有數棟</a:t>
              </a:r>
              <a:r>
                <a:rPr lang="en-US" altLang="ja-JP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IT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和創投企業進駐的大廈。也有</a:t>
              </a:r>
              <a:r>
                <a:rPr lang="en-US" altLang="ja-JP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SOHO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專用的大樓，屬於再次開發且相當完善的區域。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56" name="コネクタ: カギ線 55">
              <a:extLst>
                <a:ext uri="{FF2B5EF4-FFF2-40B4-BE49-F238E27FC236}">
                  <a16:creationId xmlns:a16="http://schemas.microsoft.com/office/drawing/2014/main" id="{920018A9-EFDE-48B1-8D52-AADDDA15EE72}"/>
                </a:ext>
              </a:extLst>
            </p:cNvPr>
            <p:cNvCxnSpPr>
              <a:cxnSpLocks/>
              <a:endCxn id="55" idx="1"/>
            </p:cNvCxnSpPr>
            <p:nvPr/>
          </p:nvCxnSpPr>
          <p:spPr>
            <a:xfrm>
              <a:off x="4792195" y="4927155"/>
              <a:ext cx="2648178" cy="69040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accent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00293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FA8BBFC0-471A-4B2B-80B9-AD530ECFA6F2}"/>
              </a:ext>
            </a:extLst>
          </p:cNvPr>
          <p:cNvGrpSpPr/>
          <p:nvPr/>
        </p:nvGrpSpPr>
        <p:grpSpPr>
          <a:xfrm>
            <a:off x="379097" y="317956"/>
            <a:ext cx="9147806" cy="5998286"/>
            <a:chOff x="379097" y="351512"/>
            <a:chExt cx="9147806" cy="5998286"/>
          </a:xfrm>
        </p:grpSpPr>
        <p:pic>
          <p:nvPicPr>
            <p:cNvPr id="5" name="図 4" descr="画面の領域">
              <a:extLst>
                <a:ext uri="{FF2B5EF4-FFF2-40B4-BE49-F238E27FC236}">
                  <a16:creationId xmlns:a16="http://schemas.microsoft.com/office/drawing/2014/main" id="{7E4D49A4-53A4-4B9F-992C-9B7F271F6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80838" y="3206109"/>
              <a:ext cx="5544324" cy="3143689"/>
            </a:xfrm>
            <a:prstGeom prst="rect">
              <a:avLst/>
            </a:prstGeom>
          </p:spPr>
        </p:pic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027E064C-F492-4B33-B027-A8544B17DD41}"/>
                </a:ext>
              </a:extLst>
            </p:cNvPr>
            <p:cNvSpPr txBox="1"/>
            <p:nvPr/>
          </p:nvSpPr>
          <p:spPr>
            <a:xfrm>
              <a:off x="1157806" y="1373224"/>
              <a:ext cx="457992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預定地位於距離主幹道北方</a:t>
              </a:r>
              <a:r>
                <a:rPr kumimoji="1"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</a:t>
              </a:r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個街區的內側。雖然交通流量不大，但周邊在近年開始發展，有許多餐飲店、精品商店林立，聚集了許多對流行敏感的人潮，十分熱鬧。</a:t>
              </a:r>
              <a:endPara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A1E14357-E540-4220-B582-F1C957546C46}"/>
                </a:ext>
              </a:extLst>
            </p:cNvPr>
            <p:cNvSpPr/>
            <p:nvPr/>
          </p:nvSpPr>
          <p:spPr>
            <a:xfrm>
              <a:off x="1273956" y="351512"/>
              <a:ext cx="8252947" cy="7920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1D536373-30F3-4106-997D-4CB68C6DB84F}"/>
                </a:ext>
              </a:extLst>
            </p:cNvPr>
            <p:cNvSpPr txBox="1"/>
            <p:nvPr/>
          </p:nvSpPr>
          <p:spPr>
            <a:xfrm>
              <a:off x="1586232" y="508202"/>
              <a:ext cx="704581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>
                <a:spcAft>
                  <a:spcPts val="0"/>
                </a:spcAft>
              </a:pPr>
              <a:r>
                <a:rPr lang="zh-TW" altLang="en-US" sz="28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展店預定地的現況</a:t>
              </a:r>
              <a:endParaRPr lang="ja-JP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E1EE8B79-405D-4185-8353-3475836820C1}"/>
                </a:ext>
              </a:extLst>
            </p:cNvPr>
            <p:cNvSpPr/>
            <p:nvPr/>
          </p:nvSpPr>
          <p:spPr>
            <a:xfrm>
              <a:off x="379097" y="351512"/>
              <a:ext cx="875385" cy="792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二等辺三角形 8">
              <a:extLst>
                <a:ext uri="{FF2B5EF4-FFF2-40B4-BE49-F238E27FC236}">
                  <a16:creationId xmlns:a16="http://schemas.microsoft.com/office/drawing/2014/main" id="{7D203D59-4CE3-4B05-9477-E441113E06AE}"/>
                </a:ext>
              </a:extLst>
            </p:cNvPr>
            <p:cNvSpPr/>
            <p:nvPr/>
          </p:nvSpPr>
          <p:spPr>
            <a:xfrm rot="5400000">
              <a:off x="1091608" y="641894"/>
              <a:ext cx="545696" cy="211236"/>
            </a:xfrm>
            <a:prstGeom prst="triangle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二等辺三角形 7">
              <a:extLst>
                <a:ext uri="{FF2B5EF4-FFF2-40B4-BE49-F238E27FC236}">
                  <a16:creationId xmlns:a16="http://schemas.microsoft.com/office/drawing/2014/main" id="{5C76E9F9-0D8C-4385-831D-3CE8D49B446F}"/>
                </a:ext>
              </a:extLst>
            </p:cNvPr>
            <p:cNvSpPr/>
            <p:nvPr/>
          </p:nvSpPr>
          <p:spPr>
            <a:xfrm rot="5400000">
              <a:off x="1064364" y="641893"/>
              <a:ext cx="545696" cy="211237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4B7AF826-6BB0-4C5F-8056-8DC0B495BC79}"/>
                </a:ext>
              </a:extLst>
            </p:cNvPr>
            <p:cNvSpPr txBox="1"/>
            <p:nvPr/>
          </p:nvSpPr>
          <p:spPr>
            <a:xfrm>
              <a:off x="641721" y="547169"/>
              <a:ext cx="350135" cy="448012"/>
            </a:xfrm>
            <a:prstGeom prst="rect">
              <a:avLst/>
            </a:prstGeom>
            <a:noFill/>
          </p:spPr>
          <p:txBody>
            <a:bodyPr wrap="square" rtlCol="0">
              <a:prstTxWarp prst="textPlain">
                <a:avLst/>
              </a:prstTxWarp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r">
                <a:spcAft>
                  <a:spcPts val="0"/>
                </a:spcAft>
              </a:pPr>
              <a:r>
                <a:rPr lang="en-US" altLang="ja-JP" sz="3200" dirty="0">
                  <a:solidFill>
                    <a:schemeClr val="bg1"/>
                  </a:solidFill>
                </a:rPr>
                <a:t>5</a:t>
              </a:r>
              <a:endParaRPr lang="ja-JP" altLang="en-US" sz="3200" dirty="0">
                <a:solidFill>
                  <a:schemeClr val="bg1"/>
                </a:solidFill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43FA0ADF-9D41-4993-AD17-DF4AC1F2EDFF}"/>
                </a:ext>
              </a:extLst>
            </p:cNvPr>
            <p:cNvSpPr txBox="1"/>
            <p:nvPr/>
          </p:nvSpPr>
          <p:spPr>
            <a:xfrm>
              <a:off x="7440373" y="2833501"/>
              <a:ext cx="1937208" cy="60016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defRPr kumimoji="1" sz="11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車站西側有許多較低層的辦公大樓。白天人來人往十分熱鬧，但夜晚則比較寧靜</a:t>
              </a:r>
              <a:r>
                <a:rPr lang="ja-JP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。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3" name="コネクタ: カギ線 22">
              <a:extLst>
                <a:ext uri="{FF2B5EF4-FFF2-40B4-BE49-F238E27FC236}">
                  <a16:creationId xmlns:a16="http://schemas.microsoft.com/office/drawing/2014/main" id="{0CCB2162-2235-484A-A40D-B0CB6C569AA3}"/>
                </a:ext>
              </a:extLst>
            </p:cNvPr>
            <p:cNvCxnSpPr>
              <a:cxnSpLocks/>
              <a:endCxn id="22" idx="2"/>
            </p:cNvCxnSpPr>
            <p:nvPr/>
          </p:nvCxnSpPr>
          <p:spPr>
            <a:xfrm flipV="1">
              <a:off x="4953000" y="3433665"/>
              <a:ext cx="3455977" cy="488884"/>
            </a:xfrm>
            <a:prstGeom prst="bentConnector2">
              <a:avLst/>
            </a:prstGeom>
            <a:ln w="12700">
              <a:solidFill>
                <a:schemeClr val="accent2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円: 塗りつぶしなし 23">
              <a:extLst>
                <a:ext uri="{FF2B5EF4-FFF2-40B4-BE49-F238E27FC236}">
                  <a16:creationId xmlns:a16="http://schemas.microsoft.com/office/drawing/2014/main" id="{BC1438C3-BA62-48D4-953D-76AFF2BE797C}"/>
                </a:ext>
              </a:extLst>
            </p:cNvPr>
            <p:cNvSpPr/>
            <p:nvPr/>
          </p:nvSpPr>
          <p:spPr>
            <a:xfrm>
              <a:off x="4052529" y="4020865"/>
              <a:ext cx="180000" cy="180000"/>
            </a:xfrm>
            <a:prstGeom prst="donu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6" name="グラフィックス 25" descr="矢印: 反時計方向の曲線">
              <a:extLst>
                <a:ext uri="{FF2B5EF4-FFF2-40B4-BE49-F238E27FC236}">
                  <a16:creationId xmlns:a16="http://schemas.microsoft.com/office/drawing/2014/main" id="{CDF55BF5-C63A-4B40-B352-2B8308AAF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20700000">
              <a:off x="3090807" y="2199710"/>
              <a:ext cx="1472090" cy="1990878"/>
            </a:xfrm>
            <a:prstGeom prst="rect">
              <a:avLst/>
            </a:prstGeom>
          </p:spPr>
        </p:pic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68E7BA5A-5E12-4743-B8C3-BDD91F61B1DF}"/>
                </a:ext>
              </a:extLst>
            </p:cNvPr>
            <p:cNvSpPr txBox="1"/>
            <p:nvPr/>
          </p:nvSpPr>
          <p:spPr>
            <a:xfrm>
              <a:off x="831370" y="3080504"/>
              <a:ext cx="1756782" cy="60016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個人商店的收藏品聚集在此。店裡陳設許多豐富的二手商品。</a:t>
              </a:r>
              <a:endParaRPr kumimoji="1"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cxnSp>
          <p:nvCxnSpPr>
            <p:cNvPr id="29" name="コネクタ: カギ線 28">
              <a:extLst>
                <a:ext uri="{FF2B5EF4-FFF2-40B4-BE49-F238E27FC236}">
                  <a16:creationId xmlns:a16="http://schemas.microsoft.com/office/drawing/2014/main" id="{9E821F12-9203-4503-B485-E5B8CBCC440A}"/>
                </a:ext>
              </a:extLst>
            </p:cNvPr>
            <p:cNvCxnSpPr>
              <a:cxnSpLocks/>
              <a:endCxn id="28" idx="2"/>
            </p:cNvCxnSpPr>
            <p:nvPr/>
          </p:nvCxnSpPr>
          <p:spPr>
            <a:xfrm rot="10800000">
              <a:off x="1709762" y="3680669"/>
              <a:ext cx="1891413" cy="583655"/>
            </a:xfrm>
            <a:prstGeom prst="bentConnector2">
              <a:avLst/>
            </a:prstGeom>
            <a:ln w="12700">
              <a:solidFill>
                <a:schemeClr val="accent2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58FB5016-8D08-48CE-AA61-4DBF995D1B61}"/>
                </a:ext>
              </a:extLst>
            </p:cNvPr>
            <p:cNvSpPr txBox="1"/>
            <p:nvPr/>
          </p:nvSpPr>
          <p:spPr>
            <a:xfrm>
              <a:off x="831370" y="5501993"/>
              <a:ext cx="1756782" cy="60016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defRPr kumimoji="1" sz="11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有數家速食店、喫茶的</a:t>
              </a:r>
              <a:r>
                <a:rPr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FC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店，廣場定期舉辦各種活動。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31" name="コネクタ: カギ線 30">
              <a:extLst>
                <a:ext uri="{FF2B5EF4-FFF2-40B4-BE49-F238E27FC236}">
                  <a16:creationId xmlns:a16="http://schemas.microsoft.com/office/drawing/2014/main" id="{EBF86BB3-EF04-418D-A661-75C7ECA6BD08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 rot="10800000" flipV="1">
              <a:off x="1709761" y="5166639"/>
              <a:ext cx="2204044" cy="335354"/>
            </a:xfrm>
            <a:prstGeom prst="bentConnector2">
              <a:avLst/>
            </a:prstGeom>
            <a:ln w="12700">
              <a:solidFill>
                <a:schemeClr val="accent2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78223B7C-E0BB-4D94-BC8B-BC0349C89BC1}"/>
                </a:ext>
              </a:extLst>
            </p:cNvPr>
            <p:cNvSpPr txBox="1"/>
            <p:nvPr/>
          </p:nvSpPr>
          <p:spPr>
            <a:xfrm>
              <a:off x="7440373" y="5232842"/>
              <a:ext cx="1937208" cy="7694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2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defRPr kumimoji="1" sz="11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有數棟</a:t>
              </a:r>
              <a:r>
                <a:rPr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IT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和創投企業進駐的大廈。也有</a:t>
              </a:r>
              <a:r>
                <a:rPr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SOHO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專用的大樓，屬於再次開發且相當完善的區域。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35" name="コネクタ: カギ線 34">
              <a:extLst>
                <a:ext uri="{FF2B5EF4-FFF2-40B4-BE49-F238E27FC236}">
                  <a16:creationId xmlns:a16="http://schemas.microsoft.com/office/drawing/2014/main" id="{A9027B98-B3E4-4364-92F5-BAD5CDBBBC0B}"/>
                </a:ext>
              </a:extLst>
            </p:cNvPr>
            <p:cNvCxnSpPr>
              <a:cxnSpLocks/>
              <a:endCxn id="34" idx="1"/>
            </p:cNvCxnSpPr>
            <p:nvPr/>
          </p:nvCxnSpPr>
          <p:spPr>
            <a:xfrm>
              <a:off x="4792195" y="4927155"/>
              <a:ext cx="2648178" cy="690408"/>
            </a:xfrm>
            <a:prstGeom prst="bentConnector3">
              <a:avLst>
                <a:gd name="adj1" fmla="val 124"/>
              </a:avLst>
            </a:prstGeom>
            <a:ln w="12700">
              <a:solidFill>
                <a:schemeClr val="accent2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D1FE61F6-FE47-42B7-A1C1-4E90D5208ABF}"/>
              </a:ext>
            </a:extLst>
          </p:cNvPr>
          <p:cNvGrpSpPr/>
          <p:nvPr/>
        </p:nvGrpSpPr>
        <p:grpSpPr>
          <a:xfrm>
            <a:off x="873012" y="350405"/>
            <a:ext cx="8159976" cy="6040479"/>
            <a:chOff x="873012" y="350405"/>
            <a:chExt cx="8159976" cy="6040479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7EF239A9-A686-42F6-B8CB-66C4FC6B5469}"/>
                </a:ext>
              </a:extLst>
            </p:cNvPr>
            <p:cNvSpPr/>
            <p:nvPr/>
          </p:nvSpPr>
          <p:spPr>
            <a:xfrm>
              <a:off x="5244769" y="1170905"/>
              <a:ext cx="3231137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內閣網絡安全中心</a:t>
              </a:r>
              <a:endParaRPr lang="en-US" altLang="ja-JP" sz="1400" spc="-1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r"/>
              <a:r>
                <a:rPr lang="ja-JP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http://www.nisc.go.jp/</a:t>
              </a: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4BB0DB39-2515-49AF-A282-B1FD20A0FA6B}"/>
                </a:ext>
              </a:extLst>
            </p:cNvPr>
            <p:cNvSpPr txBox="1"/>
            <p:nvPr/>
          </p:nvSpPr>
          <p:spPr>
            <a:xfrm>
              <a:off x="1430094" y="350405"/>
              <a:ext cx="70458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32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政府的安全對策</a:t>
              </a:r>
              <a:endParaRPr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DDEB61EA-7836-4088-A579-FE263FF23BEE}"/>
                </a:ext>
              </a:extLst>
            </p:cNvPr>
            <p:cNvSpPr/>
            <p:nvPr/>
          </p:nvSpPr>
          <p:spPr>
            <a:xfrm>
              <a:off x="873012" y="935180"/>
              <a:ext cx="8159976" cy="144966"/>
            </a:xfrm>
            <a:prstGeom prst="rect">
              <a:avLst/>
            </a:prstGeom>
            <a:solidFill>
              <a:schemeClr val="accent5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6" name="図 15" descr="TOP[みんなでしっかりサイバーセキュリティ] - Internet Explorer">
              <a:hlinkClick r:id="rId2"/>
              <a:extLst>
                <a:ext uri="{FF2B5EF4-FFF2-40B4-BE49-F238E27FC236}">
                  <a16:creationId xmlns:a16="http://schemas.microsoft.com/office/drawing/2014/main" id="{D2DBCC22-DA71-4E57-88B2-D4F9B76EEC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8499" y="1902126"/>
              <a:ext cx="6829002" cy="4488758"/>
            </a:xfrm>
            <a:prstGeom prst="rect">
              <a:avLst/>
            </a:prstGeom>
            <a:ln w="127000" cap="rnd">
              <a:solidFill>
                <a:srgbClr val="FFFFFF"/>
              </a:solidFill>
            </a:ln>
            <a:effectLst>
              <a:outerShdw blurRad="76200" dist="95250" dir="10500000" sx="97000" sy="23000" kx="900000" algn="br" rotWithShape="0">
                <a:srgbClr val="000000">
                  <a:alpha val="20000"/>
                </a:srgbClr>
              </a:outerShdw>
            </a:effectLst>
            <a:scene3d>
              <a:camera prst="orthographicFront"/>
              <a:lightRig rig="twoPt" dir="t">
                <a:rot lat="0" lon="0" rev="7800000"/>
              </a:lightRig>
            </a:scene3d>
            <a:sp3d contourW="6350">
              <a:bevelT w="50800" h="16510"/>
              <a:contourClr>
                <a:srgbClr val="C0C0C0"/>
              </a:contourClr>
            </a:sp3d>
          </p:spPr>
        </p:pic>
      </p:grpSp>
    </p:spTree>
    <p:extLst>
      <p:ext uri="{BB962C8B-B14F-4D97-AF65-F5344CB8AC3E}">
        <p14:creationId xmlns:p14="http://schemas.microsoft.com/office/powerpoint/2010/main" val="1894847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448</TotalTime>
  <Words>292</Words>
  <Application>Microsoft Office PowerPoint</Application>
  <PresentationFormat>A4 紙張 (210x297 公釐)</PresentationFormat>
  <Paragraphs>17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0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Office テーマ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51</cp:revision>
  <dcterms:created xsi:type="dcterms:W3CDTF">2017-11-09T07:26:57Z</dcterms:created>
  <dcterms:modified xsi:type="dcterms:W3CDTF">2018-10-02T14:53:51Z</dcterms:modified>
</cp:coreProperties>
</file>