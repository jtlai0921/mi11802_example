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99"/>
    <a:srgbClr val="44546A"/>
    <a:srgbClr val="6666FF"/>
    <a:srgbClr val="6699FF"/>
    <a:srgbClr val="9999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1600" b="0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zh-TW" altLang="en-US" sz="16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在意肌膚保濕的年齡別比例</a:t>
            </a:r>
            <a:endParaRPr lang="ja-JP" sz="16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600" b="0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zh-TW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非常在意、有點在意</c:v>
                </c:pt>
              </c:strCache>
            </c:strRef>
          </c:tx>
          <c:spPr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126-4416-BCD0-AE5716CF3F44}"/>
              </c:ext>
            </c:extLst>
          </c:dPt>
          <c:dPt>
            <c:idx val="1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126-4416-BCD0-AE5716CF3F44}"/>
              </c:ext>
            </c:extLst>
          </c:dPt>
          <c:dPt>
            <c:idx val="2"/>
            <c:bubble3D val="0"/>
            <c:spPr>
              <a:solidFill>
                <a:srgbClr val="990099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126-4416-BCD0-AE5716CF3F44}"/>
              </c:ext>
            </c:extLst>
          </c:dPt>
          <c:dPt>
            <c:idx val="3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126-4416-BCD0-AE5716CF3F44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lang="ja-JP" sz="1197" b="0" i="0" u="none" strike="noStrike" kern="1200" baseline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Arial" panose="020B0604020202020204" pitchFamily="34" charset="0"/>
                    </a:defRPr>
                  </a:pPr>
                  <a:endParaRPr lang="zh-TW"/>
                </a:p>
              </c:tx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126-4416-BCD0-AE5716CF3F44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lang="ja-JP" sz="1197" b="0" i="0" u="none" strike="noStrike" kern="1200" baseline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Arial" panose="020B0604020202020204" pitchFamily="34" charset="0"/>
                    </a:defRPr>
                  </a:pPr>
                  <a:endParaRPr lang="zh-TW"/>
                </a:p>
              </c:tx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126-4416-BCD0-AE5716CF3F44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lang="ja-JP" sz="2400" b="0" i="0" u="none" strike="noStrike" kern="1200" baseline="0">
                      <a:solidFill>
                        <a:schemeClr val="bg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Arial" panose="020B0604020202020204" pitchFamily="34" charset="0"/>
                    </a:defRPr>
                  </a:pPr>
                  <a:endParaRPr lang="zh-TW"/>
                </a:p>
              </c:tx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126-4416-BCD0-AE5716CF3F44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lang="ja-JP" sz="1197" b="0" i="0" u="none" strike="noStrike" kern="1200" baseline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Arial" panose="020B0604020202020204" pitchFamily="34" charset="0"/>
                    </a:defRPr>
                  </a:pPr>
                  <a:endParaRPr lang="zh-TW"/>
                </a:p>
              </c:tx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126-4416-BCD0-AE5716CF3F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20歲</c:v>
                </c:pt>
                <c:pt idx="1">
                  <c:v>30歲</c:v>
                </c:pt>
                <c:pt idx="2">
                  <c:v>40歲</c:v>
                </c:pt>
                <c:pt idx="3">
                  <c:v>50歲以上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0.49299999999999999</c:v>
                </c:pt>
                <c:pt idx="1">
                  <c:v>0.55700000000000005</c:v>
                </c:pt>
                <c:pt idx="2">
                  <c:v>0.63200000000000001</c:v>
                </c:pt>
                <c:pt idx="3">
                  <c:v>0.56499999999999995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6B-4F5A-A9FA-9CBD0A91E8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92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1862" b="0" i="0" u="none" strike="noStrike" kern="1200" spc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女性肌膚保濕的意識調查</a:t>
            </a:r>
            <a:endParaRPr lang="ja-JP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862" b="0" i="0" u="none" strike="noStrike" kern="1200" spc="0" baseline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defRPr>
          </a:pPr>
          <a:endParaRPr lang="zh-TW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非常在意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4.4000863387020162E-3"/>
                  <c:y val="2.5984757341343569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46C-4D2A-9ACD-5075C417F1E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1100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20歲</c:v>
                </c:pt>
                <c:pt idx="1">
                  <c:v>30歲</c:v>
                </c:pt>
                <c:pt idx="2">
                  <c:v>40歲</c:v>
                </c:pt>
                <c:pt idx="3">
                  <c:v>50歲以上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6.0999999999999999E-2</c:v>
                </c:pt>
                <c:pt idx="1">
                  <c:v>7.9000000000000001E-2</c:v>
                </c:pt>
                <c:pt idx="2">
                  <c:v>0.10100000000000001</c:v>
                </c:pt>
                <c:pt idx="3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6B-4F5A-A9FA-9CBD0A91E8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有點在意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11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20歲</c:v>
                </c:pt>
                <c:pt idx="1">
                  <c:v>30歲</c:v>
                </c:pt>
                <c:pt idx="2">
                  <c:v>40歲</c:v>
                </c:pt>
                <c:pt idx="3">
                  <c:v>50歲以上</c:v>
                </c:pt>
              </c:strCache>
            </c:strRef>
          </c:cat>
          <c:val>
            <c:numRef>
              <c:f>Sheet1!$C$2:$C$5</c:f>
              <c:numCache>
                <c:formatCode>0.0%</c:formatCode>
                <c:ptCount val="4"/>
                <c:pt idx="0">
                  <c:v>0.432</c:v>
                </c:pt>
                <c:pt idx="1">
                  <c:v>0.47799999999999998</c:v>
                </c:pt>
                <c:pt idx="2">
                  <c:v>0.53100000000000003</c:v>
                </c:pt>
                <c:pt idx="3">
                  <c:v>0.39500000000000002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6B-4F5A-A9FA-9CBD0A91E8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普通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11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20歲</c:v>
                </c:pt>
                <c:pt idx="1">
                  <c:v>30歲</c:v>
                </c:pt>
                <c:pt idx="2">
                  <c:v>40歲</c:v>
                </c:pt>
                <c:pt idx="3">
                  <c:v>50歲以上</c:v>
                </c:pt>
              </c:strCache>
            </c:strRef>
          </c:cat>
          <c:val>
            <c:numRef>
              <c:f>Sheet1!$D$2:$D$5</c:f>
              <c:numCache>
                <c:formatCode>0.0%</c:formatCode>
                <c:ptCount val="4"/>
                <c:pt idx="0">
                  <c:v>0.32900000000000001</c:v>
                </c:pt>
                <c:pt idx="1">
                  <c:v>0.28399999999999997</c:v>
                </c:pt>
                <c:pt idx="2">
                  <c:v>0.23599999999999999</c:v>
                </c:pt>
                <c:pt idx="3">
                  <c:v>0.30399999999999999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76B-4F5A-A9FA-9CBD0A91E83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不太在意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11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20歲</c:v>
                </c:pt>
                <c:pt idx="1">
                  <c:v>30歲</c:v>
                </c:pt>
                <c:pt idx="2">
                  <c:v>40歲</c:v>
                </c:pt>
                <c:pt idx="3">
                  <c:v>50歲以上</c:v>
                </c:pt>
              </c:strCache>
            </c:strRef>
          </c:cat>
          <c:val>
            <c:numRef>
              <c:f>Sheet1!$E$2:$E$5</c:f>
              <c:numCache>
                <c:formatCode>0.0%</c:formatCode>
                <c:ptCount val="4"/>
                <c:pt idx="0">
                  <c:v>0.156</c:v>
                </c:pt>
                <c:pt idx="1">
                  <c:v>0.153</c:v>
                </c:pt>
                <c:pt idx="2">
                  <c:v>0.129</c:v>
                </c:pt>
                <c:pt idx="3">
                  <c:v>0.126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76B-4F5A-A9FA-9CBD0A91E83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不在意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11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TW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20歲</c:v>
                </c:pt>
                <c:pt idx="1">
                  <c:v>30歲</c:v>
                </c:pt>
                <c:pt idx="2">
                  <c:v>40歲</c:v>
                </c:pt>
                <c:pt idx="3">
                  <c:v>50歲以上</c:v>
                </c:pt>
              </c:strCache>
            </c:strRef>
          </c:cat>
          <c:val>
            <c:numRef>
              <c:f>Sheet1!$F$2:$F$5</c:f>
              <c:numCache>
                <c:formatCode>0.0%</c:formatCode>
                <c:ptCount val="4"/>
                <c:pt idx="0">
                  <c:v>2.1999999999999999E-2</c:v>
                </c:pt>
                <c:pt idx="1">
                  <c:v>6.0000000000000001E-3</c:v>
                </c:pt>
                <c:pt idx="2">
                  <c:v>3.0000000000000001E-3</c:v>
                </c:pt>
                <c:pt idx="3">
                  <c:v>5.0000000000000001E-3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76B-4F5A-A9FA-9CBD0A91E83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1928881408"/>
        <c:axId val="1918432928"/>
      </c:barChart>
      <c:catAx>
        <c:axId val="192888140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TW"/>
          </a:p>
        </c:txPr>
        <c:crossAx val="1918432928"/>
        <c:crosses val="autoZero"/>
        <c:auto val="1"/>
        <c:lblAlgn val="ctr"/>
        <c:lblOffset val="100"/>
        <c:noMultiLvlLbl val="0"/>
      </c:catAx>
      <c:valAx>
        <c:axId val="1918432928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TW"/>
          </a:p>
        </c:txPr>
        <c:crossAx val="1928881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197" b="0" i="0" u="none" strike="noStrike" kern="1200" baseline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5AC4F46D-D6FB-40EE-B5AE-EE728A4F1CD4}"/>
              </a:ext>
            </a:extLst>
          </p:cNvPr>
          <p:cNvGrpSpPr/>
          <p:nvPr/>
        </p:nvGrpSpPr>
        <p:grpSpPr>
          <a:xfrm>
            <a:off x="0" y="381086"/>
            <a:ext cx="9906000" cy="6232293"/>
            <a:chOff x="0" y="381086"/>
            <a:chExt cx="9906000" cy="6232293"/>
          </a:xfrm>
        </p:grpSpPr>
        <p:graphicFrame>
          <p:nvGraphicFramePr>
            <p:cNvPr id="6" name="グラフ 5">
              <a:extLst>
                <a:ext uri="{FF2B5EF4-FFF2-40B4-BE49-F238E27FC236}">
                  <a16:creationId xmlns:a16="http://schemas.microsoft.com/office/drawing/2014/main" id="{15B98F11-B7A1-40F9-B401-5C703A8BEA8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340037627"/>
                </p:ext>
              </p:extLst>
            </p:nvPr>
          </p:nvGraphicFramePr>
          <p:xfrm>
            <a:off x="1718101" y="2794707"/>
            <a:ext cx="5728010" cy="381867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9AC2F3AF-BDE9-40FB-99AB-AFBD4B178EE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9086"/>
              <a:ext cx="9906000" cy="0"/>
            </a:xfrm>
            <a:prstGeom prst="line">
              <a:avLst/>
            </a:prstGeom>
            <a:ln w="76200" cmpd="dbl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574438FD-A774-44B5-87CD-B53582518064}"/>
                </a:ext>
              </a:extLst>
            </p:cNvPr>
            <p:cNvSpPr/>
            <p:nvPr/>
          </p:nvSpPr>
          <p:spPr>
            <a:xfrm>
              <a:off x="747750" y="381086"/>
              <a:ext cx="1092202" cy="396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E7392B21-C703-49E4-8C24-12452BF4545D}"/>
                </a:ext>
              </a:extLst>
            </p:cNvPr>
            <p:cNvSpPr txBox="1"/>
            <p:nvPr/>
          </p:nvSpPr>
          <p:spPr>
            <a:xfrm>
              <a:off x="869599" y="394420"/>
              <a:ext cx="8485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DATA</a:t>
              </a:r>
              <a:endParaRPr kumimoji="1" lang="ja-JP" altLang="en-US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359BAF03-1EFC-4137-A865-0B429ED542F7}"/>
                </a:ext>
              </a:extLst>
            </p:cNvPr>
            <p:cNvSpPr/>
            <p:nvPr/>
          </p:nvSpPr>
          <p:spPr>
            <a:xfrm>
              <a:off x="6764026" y="3600071"/>
              <a:ext cx="2390081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最在意平日肌膚保濕</a:t>
              </a:r>
              <a:br>
                <a:rPr kumimoji="1" lang="en-US" altLang="ja-JP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</a:b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的年齡層不是</a:t>
              </a:r>
              <a:r>
                <a:rPr kumimoji="1"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30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歲，</a:t>
              </a:r>
              <a:br>
                <a:rPr kumimoji="1" lang="en-US" altLang="ja-JP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</a:b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而是</a:t>
              </a:r>
              <a:r>
                <a:rPr kumimoji="1" lang="en-US" altLang="ja-JP" sz="1600" b="1">
                  <a:solidFill>
                    <a:srgbClr val="990099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40</a:t>
              </a:r>
              <a:r>
                <a:rPr kumimoji="1" lang="zh-TW" altLang="en-US" sz="1600" b="1">
                  <a:solidFill>
                    <a:srgbClr val="990099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歲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！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580A6E47-14B1-4AEF-AA6E-015E658C2189}"/>
                </a:ext>
              </a:extLst>
            </p:cNvPr>
            <p:cNvSpPr txBox="1"/>
            <p:nvPr/>
          </p:nvSpPr>
          <p:spPr>
            <a:xfrm>
              <a:off x="1839952" y="987015"/>
              <a:ext cx="6534614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50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歲以上的女性對每日的肌膚保濕「相當在意」，不過包含「有點在意」的內的「在意」統計比例，光是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40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歲就超過了</a:t>
              </a:r>
              <a:r>
                <a:rPr kumimoji="1" lang="en-US" altLang="ja-JP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60%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。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/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過去的商品訴求都是以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30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歲為目標，今後必須重新修正為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40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歲才對。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9B7ABD13-4F43-4022-B533-5B6ABEE5D52B}"/>
                </a:ext>
              </a:extLst>
            </p:cNvPr>
            <p:cNvSpPr/>
            <p:nvPr/>
          </p:nvSpPr>
          <p:spPr>
            <a:xfrm>
              <a:off x="6663667" y="3600071"/>
              <a:ext cx="100359" cy="830971"/>
            </a:xfrm>
            <a:prstGeom prst="rect">
              <a:avLst/>
            </a:prstGeom>
            <a:solidFill>
              <a:srgbClr val="9900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7C1A98B-2A87-47E9-8313-1ACA82CE49A4}"/>
              </a:ext>
            </a:extLst>
          </p:cNvPr>
          <p:cNvGrpSpPr/>
          <p:nvPr/>
        </p:nvGrpSpPr>
        <p:grpSpPr>
          <a:xfrm>
            <a:off x="0" y="381086"/>
            <a:ext cx="9906000" cy="6135603"/>
            <a:chOff x="0" y="381086"/>
            <a:chExt cx="9906000" cy="6135603"/>
          </a:xfrm>
        </p:grpSpPr>
        <p:graphicFrame>
          <p:nvGraphicFramePr>
            <p:cNvPr id="6" name="グラフ 5">
              <a:extLst>
                <a:ext uri="{FF2B5EF4-FFF2-40B4-BE49-F238E27FC236}">
                  <a16:creationId xmlns:a16="http://schemas.microsoft.com/office/drawing/2014/main" id="{15B98F11-B7A1-40F9-B401-5C703A8BEA8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943023834"/>
                </p:ext>
              </p:extLst>
            </p:nvPr>
          </p:nvGraphicFramePr>
          <p:xfrm>
            <a:off x="2066693" y="2668279"/>
            <a:ext cx="5772614" cy="384841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F3CB359E-96C9-4281-800F-FCB49DC5D29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9086"/>
              <a:ext cx="9906000" cy="0"/>
            </a:xfrm>
            <a:prstGeom prst="line">
              <a:avLst/>
            </a:prstGeom>
            <a:ln w="76200" cmpd="dbl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2522D83A-A96B-49E4-A4B5-CEF5A694FD56}"/>
                </a:ext>
              </a:extLst>
            </p:cNvPr>
            <p:cNvSpPr/>
            <p:nvPr/>
          </p:nvSpPr>
          <p:spPr>
            <a:xfrm>
              <a:off x="747750" y="381086"/>
              <a:ext cx="1092202" cy="396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52885EE8-069A-47EC-926A-F9A9C51BE58B}"/>
                </a:ext>
              </a:extLst>
            </p:cNvPr>
            <p:cNvSpPr txBox="1"/>
            <p:nvPr/>
          </p:nvSpPr>
          <p:spPr>
            <a:xfrm>
              <a:off x="869599" y="394420"/>
              <a:ext cx="8485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DATA</a:t>
              </a:r>
              <a:endParaRPr kumimoji="1" lang="ja-JP" altLang="en-US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9790605B-F00C-4A07-BBC1-AB14C813E442}"/>
                </a:ext>
              </a:extLst>
            </p:cNvPr>
            <p:cNvSpPr txBox="1"/>
            <p:nvPr/>
          </p:nvSpPr>
          <p:spPr>
            <a:xfrm>
              <a:off x="1839952" y="987015"/>
              <a:ext cx="6534614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50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歲以上的女性對每日的肌膚保濕「相當在意」，不過包含「有點在意」的內的「在意」統計比例，光是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40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歲就超過了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60%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。</a:t>
              </a:r>
            </a:p>
            <a:p>
              <a:pPr algn="just"/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過去的商品訴求都是以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30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歲為目標，今後必須重新修正為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40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歲才對。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9586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313</TotalTime>
  <Words>156</Words>
  <Application>Microsoft Office PowerPoint</Application>
  <PresentationFormat>A4 紙張 (210x297 公釐)</PresentationFormat>
  <Paragraphs>14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10" baseType="lpstr">
      <vt:lpstr>游ゴシック</vt:lpstr>
      <vt:lpstr>游ゴシック Light</vt:lpstr>
      <vt:lpstr>微軟正黑體</vt:lpstr>
      <vt:lpstr>Arial</vt:lpstr>
      <vt:lpstr>Arial Black</vt:lpstr>
      <vt:lpstr>Calibri</vt:lpstr>
      <vt:lpstr>Calibri Light</vt:lpstr>
      <vt:lpstr>Office テーマ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44</cp:revision>
  <dcterms:created xsi:type="dcterms:W3CDTF">2017-11-09T07:26:57Z</dcterms:created>
  <dcterms:modified xsi:type="dcterms:W3CDTF">2018-10-02T09:36:11Z</dcterms:modified>
</cp:coreProperties>
</file>