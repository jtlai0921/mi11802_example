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DF5327"/>
    <a:srgbClr val="FF6600"/>
    <a:srgbClr val="CC6600"/>
    <a:srgbClr val="FF9900"/>
    <a:srgbClr val="008000"/>
    <a:srgbClr val="FF0066"/>
    <a:srgbClr val="FF9933"/>
    <a:srgbClr val="33CCCC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20" d="100"/>
          <a:sy n="120" d="100"/>
        </p:scale>
        <p:origin x="1092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8C6CBAF6-38F5-4CE3-BF4D-77EFFD641600}"/>
              </a:ext>
            </a:extLst>
          </p:cNvPr>
          <p:cNvGrpSpPr/>
          <p:nvPr/>
        </p:nvGrpSpPr>
        <p:grpSpPr>
          <a:xfrm>
            <a:off x="200472" y="188401"/>
            <a:ext cx="9505056" cy="6481198"/>
            <a:chOff x="200472" y="188401"/>
            <a:chExt cx="9505056" cy="6481198"/>
          </a:xfrm>
        </p:grpSpPr>
        <p:sp>
          <p:nvSpPr>
            <p:cNvPr id="36" name="右矢印 53">
              <a:extLst>
                <a:ext uri="{FF2B5EF4-FFF2-40B4-BE49-F238E27FC236}">
                  <a16:creationId xmlns:a16="http://schemas.microsoft.com/office/drawing/2014/main" id="{5ED698CE-5196-4DB8-BB2D-D32EB3ADD8DF}"/>
                </a:ext>
              </a:extLst>
            </p:cNvPr>
            <p:cNvSpPr/>
            <p:nvPr/>
          </p:nvSpPr>
          <p:spPr>
            <a:xfrm rot="16200000">
              <a:off x="8156620" y="2371142"/>
              <a:ext cx="701631" cy="66381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右矢印 53">
              <a:extLst>
                <a:ext uri="{FF2B5EF4-FFF2-40B4-BE49-F238E27FC236}">
                  <a16:creationId xmlns:a16="http://schemas.microsoft.com/office/drawing/2014/main" id="{F848DF8D-C32F-42FC-B032-00C60A8C9CC2}"/>
                </a:ext>
              </a:extLst>
            </p:cNvPr>
            <p:cNvSpPr/>
            <p:nvPr/>
          </p:nvSpPr>
          <p:spPr>
            <a:xfrm>
              <a:off x="3259908" y="1866585"/>
              <a:ext cx="4103239" cy="66390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1 つの角を切り取った四角形 59">
              <a:extLst>
                <a:ext uri="{FF2B5EF4-FFF2-40B4-BE49-F238E27FC236}">
                  <a16:creationId xmlns:a16="http://schemas.microsoft.com/office/drawing/2014/main" id="{89520F00-1818-47E3-A263-1FE215B4A846}"/>
                </a:ext>
              </a:extLst>
            </p:cNvPr>
            <p:cNvSpPr/>
            <p:nvPr/>
          </p:nvSpPr>
          <p:spPr>
            <a:xfrm>
              <a:off x="200472" y="3053864"/>
              <a:ext cx="9505056" cy="3615735"/>
            </a:xfrm>
            <a:prstGeom prst="round2SameRect">
              <a:avLst>
                <a:gd name="adj1" fmla="val 2775"/>
                <a:gd name="adj2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79BCE5A-33F3-4694-B972-5354E613F17A}"/>
                </a:ext>
              </a:extLst>
            </p:cNvPr>
            <p:cNvSpPr/>
            <p:nvPr/>
          </p:nvSpPr>
          <p:spPr>
            <a:xfrm>
              <a:off x="200472" y="332908"/>
              <a:ext cx="9504000" cy="62250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B351933-2783-4C9F-9191-910878EF1884}"/>
                </a:ext>
              </a:extLst>
            </p:cNvPr>
            <p:cNvSpPr/>
            <p:nvPr/>
          </p:nvSpPr>
          <p:spPr>
            <a:xfrm>
              <a:off x="200472" y="1499231"/>
              <a:ext cx="3060000" cy="1388562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B366C43-6014-414D-AFAE-817A7CF89BF8}"/>
                </a:ext>
              </a:extLst>
            </p:cNvPr>
            <p:cNvSpPr txBox="1"/>
            <p:nvPr/>
          </p:nvSpPr>
          <p:spPr>
            <a:xfrm>
              <a:off x="1564723" y="430941"/>
              <a:ext cx="67633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「微笑程式」的開發和運用的企劃</a:t>
              </a:r>
              <a:endParaRPr kumimoji="1"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D1B95CA-284C-4990-AA50-9AF824560D25}"/>
                </a:ext>
              </a:extLst>
            </p:cNvPr>
            <p:cNvSpPr txBox="1"/>
            <p:nvPr/>
          </p:nvSpPr>
          <p:spPr>
            <a:xfrm>
              <a:off x="323384" y="1661139"/>
              <a:ext cx="178471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單身男女平日最常光顧的店，有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75</a:t>
              </a:r>
              <a:r>
                <a:rPr lang="en-US" altLang="ja-JP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%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是便利商店（本司調查）。儘管知道單身男女是來店頻率較高的購買群族，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FC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店為客數減少、客單價下降、人事費用上升而苦惱，卻是不爭的事實。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2" name="1 つの角を切り取った四角形 4">
              <a:extLst>
                <a:ext uri="{FF2B5EF4-FFF2-40B4-BE49-F238E27FC236}">
                  <a16:creationId xmlns:a16="http://schemas.microsoft.com/office/drawing/2014/main" id="{B37FF4E7-F50C-4A5D-A8FE-E296FD159AEE}"/>
                </a:ext>
              </a:extLst>
            </p:cNvPr>
            <p:cNvSpPr/>
            <p:nvPr/>
          </p:nvSpPr>
          <p:spPr>
            <a:xfrm>
              <a:off x="200472" y="188401"/>
              <a:ext cx="9505056" cy="12905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5">
                <a:lumMod val="75000"/>
              </a:schemeClr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1 つの角を切り取った四角形 36">
              <a:extLst>
                <a:ext uri="{FF2B5EF4-FFF2-40B4-BE49-F238E27FC236}">
                  <a16:creationId xmlns:a16="http://schemas.microsoft.com/office/drawing/2014/main" id="{6598F1C5-2D6C-4447-BD48-6DB6AC6583CD}"/>
                </a:ext>
              </a:extLst>
            </p:cNvPr>
            <p:cNvSpPr/>
            <p:nvPr/>
          </p:nvSpPr>
          <p:spPr>
            <a:xfrm>
              <a:off x="200472" y="1147745"/>
              <a:ext cx="3060000" cy="351487"/>
            </a:xfrm>
            <a:prstGeom prst="round2Same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4361830-ACC5-4D2A-BBD1-DA740358F3DC}"/>
                </a:ext>
              </a:extLst>
            </p:cNvPr>
            <p:cNvSpPr txBox="1"/>
            <p:nvPr/>
          </p:nvSpPr>
          <p:spPr>
            <a:xfrm>
              <a:off x="755565" y="1202208"/>
              <a:ext cx="19498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最常利用的是便利商店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C553B92-890F-4203-95C4-E32EFB2DE572}"/>
                </a:ext>
              </a:extLst>
            </p:cNvPr>
            <p:cNvSpPr/>
            <p:nvPr/>
          </p:nvSpPr>
          <p:spPr>
            <a:xfrm>
              <a:off x="423329" y="3315643"/>
              <a:ext cx="5722976" cy="3092176"/>
            </a:xfrm>
            <a:prstGeom prst="roundRect">
              <a:avLst>
                <a:gd name="adj" fmla="val 4709"/>
              </a:avLst>
            </a:prstGeom>
            <a:solidFill>
              <a:schemeClr val="bg1"/>
            </a:solidFill>
            <a:ln w="9525" cap="sq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E349695-2CB5-45E2-ADB1-C97F0ED82142}"/>
                </a:ext>
              </a:extLst>
            </p:cNvPr>
            <p:cNvSpPr/>
            <p:nvPr/>
          </p:nvSpPr>
          <p:spPr>
            <a:xfrm>
              <a:off x="6786635" y="3315643"/>
              <a:ext cx="2696036" cy="3092176"/>
            </a:xfrm>
            <a:prstGeom prst="roundRect">
              <a:avLst>
                <a:gd name="adj" fmla="val 4090"/>
              </a:avLst>
            </a:prstGeom>
            <a:solidFill>
              <a:schemeClr val="bg1"/>
            </a:solidFill>
            <a:ln w="9525" cap="sq">
              <a:solidFill>
                <a:schemeClr val="bg1">
                  <a:lumMod val="5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2BD7275-7C78-4318-84A9-8827CBB771F1}"/>
                </a:ext>
              </a:extLst>
            </p:cNvPr>
            <p:cNvSpPr/>
            <p:nvPr/>
          </p:nvSpPr>
          <p:spPr>
            <a:xfrm>
              <a:off x="7362825" y="1499230"/>
              <a:ext cx="2342703" cy="1388753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1 つの角を切り取った四角形 29">
              <a:extLst>
                <a:ext uri="{FF2B5EF4-FFF2-40B4-BE49-F238E27FC236}">
                  <a16:creationId xmlns:a16="http://schemas.microsoft.com/office/drawing/2014/main" id="{C391B3E5-D272-441F-AEEF-C726C6121E88}"/>
                </a:ext>
              </a:extLst>
            </p:cNvPr>
            <p:cNvSpPr/>
            <p:nvPr/>
          </p:nvSpPr>
          <p:spPr>
            <a:xfrm>
              <a:off x="7363147" y="1147745"/>
              <a:ext cx="2342381" cy="351487"/>
            </a:xfrm>
            <a:prstGeom prst="round2Same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234D602-DCD1-4C86-ADB5-F3F7DA19B7E5}"/>
                </a:ext>
              </a:extLst>
            </p:cNvPr>
            <p:cNvSpPr txBox="1"/>
            <p:nvPr/>
          </p:nvSpPr>
          <p:spPr>
            <a:xfrm>
              <a:off x="7449149" y="1202208"/>
              <a:ext cx="21546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「微笑程式」的提供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D761DE5-11C3-4212-8F89-C579FEBBD2B5}"/>
                </a:ext>
              </a:extLst>
            </p:cNvPr>
            <p:cNvSpPr/>
            <p:nvPr/>
          </p:nvSpPr>
          <p:spPr>
            <a:xfrm>
              <a:off x="3422999" y="1499231"/>
              <a:ext cx="3777621" cy="1388562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8571D4A3-61CC-4694-9B45-38DB3046135E}"/>
                </a:ext>
              </a:extLst>
            </p:cNvPr>
            <p:cNvSpPr txBox="1"/>
            <p:nvPr/>
          </p:nvSpPr>
          <p:spPr>
            <a:xfrm>
              <a:off x="3545912" y="1661138"/>
              <a:ext cx="22167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半數以上的人認為優惠券程式的轉推通知「相當便利」（本司調查），轉推通知促使客戶光顧和購買動機是無庸置疑的事情。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另一方面，因大量轉推而刪除程式的人達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成以上。過量是絕對嚴禁的。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5" name="1 つの角を切り取った四角形 40">
              <a:extLst>
                <a:ext uri="{FF2B5EF4-FFF2-40B4-BE49-F238E27FC236}">
                  <a16:creationId xmlns:a16="http://schemas.microsoft.com/office/drawing/2014/main" id="{32AEF06C-4152-4CE3-A78A-B31DEEC7B70C}"/>
                </a:ext>
              </a:extLst>
            </p:cNvPr>
            <p:cNvSpPr/>
            <p:nvPr/>
          </p:nvSpPr>
          <p:spPr>
            <a:xfrm>
              <a:off x="3422999" y="1147745"/>
              <a:ext cx="3777621" cy="351487"/>
            </a:xfrm>
            <a:prstGeom prst="round2Same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24FB2ECC-7511-4E81-945F-B6D6A2AB86F3}"/>
                </a:ext>
              </a:extLst>
            </p:cNvPr>
            <p:cNvSpPr txBox="1"/>
            <p:nvPr/>
          </p:nvSpPr>
          <p:spPr>
            <a:xfrm>
              <a:off x="4334602" y="1202208"/>
              <a:ext cx="19498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不經意的轉貼通知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C6F1590-5807-4E7C-9B6B-6CF1C40CDBE4}"/>
                </a:ext>
              </a:extLst>
            </p:cNvPr>
            <p:cNvGrpSpPr/>
            <p:nvPr/>
          </p:nvGrpSpPr>
          <p:grpSpPr>
            <a:xfrm>
              <a:off x="2221926" y="1735921"/>
              <a:ext cx="900000" cy="900000"/>
              <a:chOff x="4543283" y="4104819"/>
              <a:chExt cx="954267" cy="954267"/>
            </a:xfrm>
          </p:grpSpPr>
          <p:sp>
            <p:nvSpPr>
              <p:cNvPr id="37" name="アーチ 36">
                <a:extLst>
                  <a:ext uri="{FF2B5EF4-FFF2-40B4-BE49-F238E27FC236}">
                    <a16:creationId xmlns:a16="http://schemas.microsoft.com/office/drawing/2014/main" id="{1F6166DC-FDA8-4997-8EB8-3AA4CBB32E83}"/>
                  </a:ext>
                </a:extLst>
              </p:cNvPr>
              <p:cNvSpPr/>
              <p:nvPr/>
            </p:nvSpPr>
            <p:spPr>
              <a:xfrm rot="5400000">
                <a:off x="4543283" y="4104819"/>
                <a:ext cx="954267" cy="954267"/>
              </a:xfrm>
              <a:prstGeom prst="blockArc">
                <a:avLst>
                  <a:gd name="adj1" fmla="val 10800000"/>
                  <a:gd name="adj2" fmla="val 5468200"/>
                  <a:gd name="adj3" fmla="val 18959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9D23F4A6-C167-46A5-9559-8979B6F5C2C3}"/>
                  </a:ext>
                </a:extLst>
              </p:cNvPr>
              <p:cNvSpPr txBox="1"/>
              <p:nvPr/>
            </p:nvSpPr>
            <p:spPr>
              <a:xfrm>
                <a:off x="4670230" y="4381897"/>
                <a:ext cx="700373" cy="42423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kumimoji="1" lang="en-US" altLang="ja-JP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75</a:t>
                </a:r>
                <a:r>
                  <a:rPr kumimoji="1" lang="en-US" altLang="ja-JP" sz="105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%</a:t>
                </a:r>
                <a:endParaRPr kumimoji="1" lang="ja-JP" altLang="en-US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二等辺三角形 39">
              <a:extLst>
                <a:ext uri="{FF2B5EF4-FFF2-40B4-BE49-F238E27FC236}">
                  <a16:creationId xmlns:a16="http://schemas.microsoft.com/office/drawing/2014/main" id="{9486640D-9C37-4855-A102-2D7603F23397}"/>
                </a:ext>
              </a:extLst>
            </p:cNvPr>
            <p:cNvSpPr/>
            <p:nvPr/>
          </p:nvSpPr>
          <p:spPr>
            <a:xfrm rot="5400000">
              <a:off x="5877178" y="4663731"/>
              <a:ext cx="1178584" cy="396000"/>
            </a:xfrm>
            <a:prstGeom prst="triangle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2" name="グラフィックス 41" descr="スマート フォン">
              <a:extLst>
                <a:ext uri="{FF2B5EF4-FFF2-40B4-BE49-F238E27FC236}">
                  <a16:creationId xmlns:a16="http://schemas.microsoft.com/office/drawing/2014/main" id="{5707012C-3CF1-4756-9913-8ED47B565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4000" y="4634293"/>
              <a:ext cx="914400" cy="914400"/>
            </a:xfrm>
            <a:prstGeom prst="rect">
              <a:avLst/>
            </a:prstGeom>
          </p:spPr>
        </p:pic>
        <p:sp>
          <p:nvSpPr>
            <p:cNvPr id="43" name="吹き出し: 円形 42">
              <a:extLst>
                <a:ext uri="{FF2B5EF4-FFF2-40B4-BE49-F238E27FC236}">
                  <a16:creationId xmlns:a16="http://schemas.microsoft.com/office/drawing/2014/main" id="{2D968034-0FCE-44ED-B0FE-4ADCEE4D1C80}"/>
                </a:ext>
              </a:extLst>
            </p:cNvPr>
            <p:cNvSpPr/>
            <p:nvPr/>
          </p:nvSpPr>
          <p:spPr>
            <a:xfrm>
              <a:off x="8473982" y="3972160"/>
              <a:ext cx="914400" cy="529381"/>
            </a:xfrm>
            <a:prstGeom prst="wedgeEllipseCallout">
              <a:avLst>
                <a:gd name="adj1" fmla="val -65956"/>
                <a:gd name="adj2" fmla="val 67960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吹き出し: 円形 43">
              <a:extLst>
                <a:ext uri="{FF2B5EF4-FFF2-40B4-BE49-F238E27FC236}">
                  <a16:creationId xmlns:a16="http://schemas.microsoft.com/office/drawing/2014/main" id="{EE14C855-8D58-4086-9184-EFC65FD526DC}"/>
                </a:ext>
              </a:extLst>
            </p:cNvPr>
            <p:cNvSpPr/>
            <p:nvPr/>
          </p:nvSpPr>
          <p:spPr>
            <a:xfrm flipH="1">
              <a:off x="6947800" y="3964514"/>
              <a:ext cx="1222824" cy="597439"/>
            </a:xfrm>
            <a:prstGeom prst="wedgeEllipseCallout">
              <a:avLst>
                <a:gd name="adj1" fmla="val -34560"/>
                <a:gd name="adj2" fmla="val 61694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吹き出し: 円形 45">
              <a:extLst>
                <a:ext uri="{FF2B5EF4-FFF2-40B4-BE49-F238E27FC236}">
                  <a16:creationId xmlns:a16="http://schemas.microsoft.com/office/drawing/2014/main" id="{6A906A2F-9C14-4C2B-BD82-AE4C9CE83DD6}"/>
                </a:ext>
              </a:extLst>
            </p:cNvPr>
            <p:cNvSpPr/>
            <p:nvPr/>
          </p:nvSpPr>
          <p:spPr>
            <a:xfrm flipH="1">
              <a:off x="6958258" y="5621032"/>
              <a:ext cx="914400" cy="612648"/>
            </a:xfrm>
            <a:prstGeom prst="wedgeEllipseCallout">
              <a:avLst>
                <a:gd name="adj1" fmla="val -59858"/>
                <a:gd name="adj2" fmla="val -61272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3FDEEB3A-A6F0-42D5-BCBB-9A3F1D2D6548}"/>
                </a:ext>
              </a:extLst>
            </p:cNvPr>
            <p:cNvSpPr txBox="1"/>
            <p:nvPr/>
          </p:nvSpPr>
          <p:spPr>
            <a:xfrm>
              <a:off x="6947800" y="4147817"/>
              <a:ext cx="1222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集章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&amp;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積分卡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49" name="グラフィックス 48" descr="ウインクしている顔 (塗りつぶしなし)">
              <a:extLst>
                <a:ext uri="{FF2B5EF4-FFF2-40B4-BE49-F238E27FC236}">
                  <a16:creationId xmlns:a16="http://schemas.microsoft.com/office/drawing/2014/main" id="{704C0B7A-9ECB-43DB-A2A6-3FA4F6EB8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07818" y="4898111"/>
              <a:ext cx="386764" cy="386764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7E117798-7060-4151-A5A7-0C3547960964}"/>
                </a:ext>
              </a:extLst>
            </p:cNvPr>
            <p:cNvSpPr txBox="1"/>
            <p:nvPr/>
          </p:nvSpPr>
          <p:spPr>
            <a:xfrm>
              <a:off x="7127636" y="3483211"/>
              <a:ext cx="20140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0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「微笑程式」的特徵</a:t>
              </a:r>
              <a:endParaRPr lang="en-US" altLang="ja-JP" sz="10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1" name="吹き出し: 円形 50">
              <a:extLst>
                <a:ext uri="{FF2B5EF4-FFF2-40B4-BE49-F238E27FC236}">
                  <a16:creationId xmlns:a16="http://schemas.microsoft.com/office/drawing/2014/main" id="{8C965D6C-DDA7-48BC-930E-E15FB592EDF6}"/>
                </a:ext>
              </a:extLst>
            </p:cNvPr>
            <p:cNvSpPr/>
            <p:nvPr/>
          </p:nvSpPr>
          <p:spPr>
            <a:xfrm>
              <a:off x="8473982" y="5618543"/>
              <a:ext cx="914400" cy="612648"/>
            </a:xfrm>
            <a:prstGeom prst="wedgeEllipseCallout">
              <a:avLst>
                <a:gd name="adj1" fmla="val -64736"/>
                <a:gd name="adj2" fmla="val -63091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アーチ 40">
              <a:extLst>
                <a:ext uri="{FF2B5EF4-FFF2-40B4-BE49-F238E27FC236}">
                  <a16:creationId xmlns:a16="http://schemas.microsoft.com/office/drawing/2014/main" id="{589E9BD2-7A20-416B-A910-6C807BA74F89}"/>
                </a:ext>
              </a:extLst>
            </p:cNvPr>
            <p:cNvSpPr/>
            <p:nvPr/>
          </p:nvSpPr>
          <p:spPr>
            <a:xfrm rot="5400000">
              <a:off x="6088517" y="1852798"/>
              <a:ext cx="900000" cy="900000"/>
            </a:xfrm>
            <a:prstGeom prst="blockArc">
              <a:avLst>
                <a:gd name="adj1" fmla="val 10800000"/>
                <a:gd name="adj2" fmla="val 90772"/>
                <a:gd name="adj3" fmla="val 20869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961BA542-A6A8-437B-A064-5415A43503DE}"/>
                </a:ext>
              </a:extLst>
            </p:cNvPr>
            <p:cNvSpPr txBox="1"/>
            <p:nvPr/>
          </p:nvSpPr>
          <p:spPr>
            <a:xfrm>
              <a:off x="6543261" y="1620849"/>
              <a:ext cx="7802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「便利」</a:t>
              </a:r>
              <a:endParaRPr kumimoji="1" lang="ja-JP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2" name="アーチ 51">
              <a:extLst>
                <a:ext uri="{FF2B5EF4-FFF2-40B4-BE49-F238E27FC236}">
                  <a16:creationId xmlns:a16="http://schemas.microsoft.com/office/drawing/2014/main" id="{2000A38A-71D4-48C5-9EA9-0ED00308F4EC}"/>
                </a:ext>
              </a:extLst>
            </p:cNvPr>
            <p:cNvSpPr/>
            <p:nvPr/>
          </p:nvSpPr>
          <p:spPr>
            <a:xfrm rot="16200000" flipH="1">
              <a:off x="6033397" y="1852798"/>
              <a:ext cx="900000" cy="900000"/>
            </a:xfrm>
            <a:prstGeom prst="blockArc">
              <a:avLst>
                <a:gd name="adj1" fmla="val 10800000"/>
                <a:gd name="adj2" fmla="val 18831100"/>
                <a:gd name="adj3" fmla="val 21715"/>
              </a:avLst>
            </a:prstGeom>
            <a:solidFill>
              <a:srgbClr val="DF5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FF6F6A1-BBAD-42B0-915B-8B6F56DEA5E0}"/>
                </a:ext>
              </a:extLst>
            </p:cNvPr>
            <p:cNvSpPr txBox="1"/>
            <p:nvPr/>
          </p:nvSpPr>
          <p:spPr>
            <a:xfrm>
              <a:off x="5444631" y="1620849"/>
              <a:ext cx="10387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「刪除」</a:t>
              </a:r>
              <a:endParaRPr kumimoji="1" lang="ja-JP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043FDE00-301C-4CAD-B83F-A3AEA3FD5FE9}"/>
                </a:ext>
              </a:extLst>
            </p:cNvPr>
            <p:cNvSpPr txBox="1"/>
            <p:nvPr/>
          </p:nvSpPr>
          <p:spPr>
            <a:xfrm>
              <a:off x="6598696" y="2159760"/>
              <a:ext cx="540000" cy="21120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C3300"/>
              </a:solidFill>
            </a:ln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kumimoji="1"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超過</a:t>
              </a:r>
              <a:r>
                <a:rPr kumimoji="1" lang="en-US" altLang="ja-JP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50%</a:t>
              </a:r>
              <a:endParaRPr kumimoji="1" lang="ja-JP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E199152-AC90-4D97-9ED1-0EA23F41F487}"/>
                </a:ext>
              </a:extLst>
            </p:cNvPr>
            <p:cNvSpPr txBox="1"/>
            <p:nvPr/>
          </p:nvSpPr>
          <p:spPr>
            <a:xfrm>
              <a:off x="5879527" y="2159760"/>
              <a:ext cx="540000" cy="21120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C3300"/>
              </a:solidFill>
            </a:ln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kumimoji="1"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超過</a:t>
              </a:r>
              <a:r>
                <a:rPr kumimoji="1" lang="en-US" altLang="ja-JP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40%</a:t>
              </a:r>
              <a:endParaRPr kumimoji="1" lang="ja-JP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3163FF02-3389-41B2-BB1C-8A12BDF03CE3}"/>
                </a:ext>
              </a:extLst>
            </p:cNvPr>
            <p:cNvSpPr txBox="1"/>
            <p:nvPr/>
          </p:nvSpPr>
          <p:spPr>
            <a:xfrm>
              <a:off x="7461867" y="1653007"/>
              <a:ext cx="214195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以本店頻率最高的單身族群為中心，提供轉推通知的「微笑程式」，作為增加個人購買額的促銷對策。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該程式主要發佈新聞與優惠券，藉此提高客戶的來店意欲，並有效的集客與促銷。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B43E57A-DFC9-488E-89D1-5F06B33E9796}"/>
                </a:ext>
              </a:extLst>
            </p:cNvPr>
            <p:cNvSpPr txBox="1"/>
            <p:nvPr/>
          </p:nvSpPr>
          <p:spPr>
            <a:xfrm>
              <a:off x="3364868" y="3964515"/>
              <a:ext cx="2432219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「微笑程式」發佈的資訊有</a:t>
              </a:r>
              <a:b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「雨天優惠券」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「晚間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9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點優惠券」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「生日月優惠券」三大主軸。</a:t>
              </a:r>
              <a:endParaRPr lang="en-US" altLang="zh-TW" sz="9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透過更有趣的介紹，吸引客戶的來訪。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1F9CAC16-97BB-4520-A4D7-2245F64D4983}"/>
                </a:ext>
              </a:extLst>
            </p:cNvPr>
            <p:cNvSpPr txBox="1"/>
            <p:nvPr/>
          </p:nvSpPr>
          <p:spPr>
            <a:xfrm>
              <a:off x="722729" y="3964515"/>
              <a:ext cx="2432219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↓微笑程式」可以快速且直接傳達客戶想要的資訊。覺得「今天來店的客人有點少」的時候，便可透過程式介紹當日限定的菜單、發佈限時服務的通知，或是依時間與季節，更即時且彈性的實施企劃。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乏善可陳的轉推通知總是令人敬而遠之，因此，要設計出令人感到有趣、興奮的介紹內容。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另外，也可收集客戶的屬性或行動的資訊，依照年齡、性別、地區或嗜好等類別，實施最佳且更有效率的促銷方案。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B9DD3BBF-7414-4131-86FE-B8B1B775A56A}"/>
                </a:ext>
              </a:extLst>
            </p:cNvPr>
            <p:cNvSpPr txBox="1"/>
            <p:nvPr/>
          </p:nvSpPr>
          <p:spPr>
            <a:xfrm>
              <a:off x="722728" y="3580800"/>
              <a:ext cx="50398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藉著視覺也感到有趣的導覽吸引客戶</a:t>
              </a:r>
              <a:endParaRPr lang="en-US" altLang="ja-JP" sz="11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3C7E0994-3553-4709-9B6E-D6ADD3EAFADF}"/>
                </a:ext>
              </a:extLst>
            </p:cNvPr>
            <p:cNvSpPr txBox="1"/>
            <p:nvPr/>
          </p:nvSpPr>
          <p:spPr>
            <a:xfrm>
              <a:off x="8391064" y="4124914"/>
              <a:ext cx="10802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雨天優惠券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44C7AA5C-BDE6-44FD-B99B-1214AEDC1B7D}"/>
                </a:ext>
              </a:extLst>
            </p:cNvPr>
            <p:cNvSpPr txBox="1"/>
            <p:nvPr/>
          </p:nvSpPr>
          <p:spPr>
            <a:xfrm>
              <a:off x="6913875" y="5811940"/>
              <a:ext cx="10031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晚間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9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點優惠券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ED7382D6-6CE0-492D-BDCF-B73512482A58}"/>
                </a:ext>
              </a:extLst>
            </p:cNvPr>
            <p:cNvSpPr txBox="1"/>
            <p:nvPr/>
          </p:nvSpPr>
          <p:spPr>
            <a:xfrm>
              <a:off x="8319770" y="5809451"/>
              <a:ext cx="1222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生日月優惠券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9835CF3F-0F93-49D3-9CF9-187AA2ECC3AD}"/>
                </a:ext>
              </a:extLst>
            </p:cNvPr>
            <p:cNvSpPr txBox="1"/>
            <p:nvPr/>
          </p:nvSpPr>
          <p:spPr>
            <a:xfrm>
              <a:off x="6823120" y="4798618"/>
              <a:ext cx="10400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快樂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2F67B866-6835-4E03-86D2-6EDFE7A2DDDF}"/>
                </a:ext>
              </a:extLst>
            </p:cNvPr>
            <p:cNvSpPr txBox="1"/>
            <p:nvPr/>
          </p:nvSpPr>
          <p:spPr>
            <a:xfrm>
              <a:off x="6823120" y="5121566"/>
              <a:ext cx="10400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難忘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5B3360FC-CE06-4B63-8337-E6200F4DEFC6}"/>
                </a:ext>
              </a:extLst>
            </p:cNvPr>
            <p:cNvSpPr txBox="1"/>
            <p:nvPr/>
          </p:nvSpPr>
          <p:spPr>
            <a:xfrm>
              <a:off x="8391064" y="4795234"/>
              <a:ext cx="10400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即時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F4F7AD9D-3941-4E97-AB41-AEC83824FC81}"/>
                </a:ext>
              </a:extLst>
            </p:cNvPr>
            <p:cNvSpPr txBox="1"/>
            <p:nvPr/>
          </p:nvSpPr>
          <p:spPr>
            <a:xfrm>
              <a:off x="8391064" y="5118940"/>
              <a:ext cx="10400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驚喜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2" name="四角形: 角を丸くする 71">
              <a:extLst>
                <a:ext uri="{FF2B5EF4-FFF2-40B4-BE49-F238E27FC236}">
                  <a16:creationId xmlns:a16="http://schemas.microsoft.com/office/drawing/2014/main" id="{130B1307-B500-4923-9FAF-3AC38745C831}"/>
                </a:ext>
              </a:extLst>
            </p:cNvPr>
            <p:cNvSpPr/>
            <p:nvPr/>
          </p:nvSpPr>
          <p:spPr>
            <a:xfrm flipH="1">
              <a:off x="3427800" y="5049428"/>
              <a:ext cx="2369285" cy="109184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1368EEFB-9A42-4C61-A72F-713DC99141B4}"/>
                </a:ext>
              </a:extLst>
            </p:cNvPr>
            <p:cNvGrpSpPr/>
            <p:nvPr/>
          </p:nvGrpSpPr>
          <p:grpSpPr>
            <a:xfrm>
              <a:off x="3524093" y="5107197"/>
              <a:ext cx="2196434" cy="1022691"/>
              <a:chOff x="3532014" y="5107259"/>
              <a:chExt cx="2196434" cy="1022691"/>
            </a:xfrm>
          </p:grpSpPr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02CD477E-C0E1-470D-8118-6000F33DE5CF}"/>
                  </a:ext>
                </a:extLst>
              </p:cNvPr>
              <p:cNvSpPr txBox="1"/>
              <p:nvPr/>
            </p:nvSpPr>
            <p:spPr>
              <a:xfrm>
                <a:off x="4477101" y="5381720"/>
                <a:ext cx="125134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just">
                  <a:buFont typeface="Wingdings" panose="05000000000000000000" pitchFamily="2" charset="2"/>
                  <a:buChar char="l"/>
                </a:pPr>
                <a:r>
                  <a:rPr lang="zh-TW" altLang="en-US" sz="1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回購率</a:t>
                </a:r>
                <a:endParaRPr lang="en-US" altLang="ja-JP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marL="171450" indent="-171450" algn="just">
                  <a:buFont typeface="Wingdings" panose="05000000000000000000" pitchFamily="2" charset="2"/>
                  <a:buChar char="l"/>
                </a:pPr>
                <a:r>
                  <a:rPr lang="zh-TW" altLang="en-US" sz="1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購買單價</a:t>
                </a:r>
                <a:endParaRPr lang="en-US" altLang="ja-JP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  <a:p>
                <a:pPr marL="171450" indent="-171450" algn="just">
                  <a:buFont typeface="Wingdings" panose="05000000000000000000" pitchFamily="2" charset="2"/>
                  <a:buChar char="l"/>
                </a:pPr>
                <a:r>
                  <a:rPr lang="zh-TW" altLang="en-US" sz="1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來店頻率</a:t>
                </a:r>
                <a:endParaRPr lang="en-US" altLang="ja-JP" sz="1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pic>
            <p:nvPicPr>
              <p:cNvPr id="17" name="グラフィックス 16" descr="線矢印: 時計方向の曲線">
                <a:extLst>
                  <a:ext uri="{FF2B5EF4-FFF2-40B4-BE49-F238E27FC236}">
                    <a16:creationId xmlns:a16="http://schemas.microsoft.com/office/drawing/2014/main" id="{C92D05D2-A193-4F6D-A7B2-7D32E3C10C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flipH="1">
                <a:off x="3532014" y="5107259"/>
                <a:ext cx="1002208" cy="10226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700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マーキー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621</TotalTime>
  <Words>383</Words>
  <Application>Microsoft Office PowerPoint</Application>
  <PresentationFormat>A4 紙張 (210x297 公釐)</PresentationFormat>
  <Paragraphs>36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88</cp:revision>
  <dcterms:created xsi:type="dcterms:W3CDTF">2017-11-09T07:26:57Z</dcterms:created>
  <dcterms:modified xsi:type="dcterms:W3CDTF">2018-10-02T13:54:11Z</dcterms:modified>
</cp:coreProperties>
</file>