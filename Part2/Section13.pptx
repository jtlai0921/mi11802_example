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7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xmlns="" id="{37F94373-F11E-4AFF-A092-24BEAA579A44}"/>
              </a:ext>
            </a:extLst>
          </p:cNvPr>
          <p:cNvGrpSpPr/>
          <p:nvPr/>
        </p:nvGrpSpPr>
        <p:grpSpPr>
          <a:xfrm>
            <a:off x="0" y="0"/>
            <a:ext cx="9172317" cy="6858001"/>
            <a:chOff x="0" y="0"/>
            <a:chExt cx="9172317" cy="6858001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1484762" y="267756"/>
              <a:ext cx="69364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3600" b="1" spc="-15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取消訂位服務化</a:t>
              </a:r>
              <a:endParaRPr kumimoji="1" lang="ja-JP" altLang="en-US" sz="3600" b="1" spc="-15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xmlns="" id="{FEF90F6A-F3BB-4A5A-B687-EC8EF9307777}"/>
                </a:ext>
              </a:extLst>
            </p:cNvPr>
            <p:cNvSpPr txBox="1"/>
            <p:nvPr/>
          </p:nvSpPr>
          <p:spPr>
            <a:xfrm>
              <a:off x="1484762" y="1486728"/>
              <a:ext cx="32768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觀光客暴增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「先訂再說」的顧客增加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氣候或颱風的影響、交通問題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xmlns="" id="{70090A29-2FC6-4202-8369-6032F288EA6F}"/>
                </a:ext>
              </a:extLst>
            </p:cNvPr>
            <p:cNvSpPr/>
            <p:nvPr/>
          </p:nvSpPr>
          <p:spPr>
            <a:xfrm>
              <a:off x="0" y="0"/>
              <a:ext cx="1080000" cy="94785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xmlns="" id="{63CE0A20-5E66-47AA-9F10-A49E5F75FB82}"/>
                </a:ext>
              </a:extLst>
            </p:cNvPr>
            <p:cNvSpPr/>
            <p:nvPr/>
          </p:nvSpPr>
          <p:spPr>
            <a:xfrm>
              <a:off x="0" y="947854"/>
              <a:ext cx="1080000" cy="5910147"/>
            </a:xfrm>
            <a:prstGeom prst="rect">
              <a:avLst/>
            </a:prstGeom>
            <a:pattFill prst="pct90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xmlns="" id="{24638752-1DE1-45AB-A404-4B9AE5F5BAC9}"/>
                </a:ext>
              </a:extLst>
            </p:cNvPr>
            <p:cNvSpPr txBox="1"/>
            <p:nvPr/>
          </p:nvSpPr>
          <p:spPr>
            <a:xfrm>
              <a:off x="1819814" y="5413528"/>
              <a:ext cx="389953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和以</a:t>
              </a:r>
              <a:r>
                <a:rPr kumimoji="1" lang="en-US" altLang="ja-JP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SNS</a:t>
              </a:r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為主的網路服務公司合作，提供通知登錄會員可以訂位的全新服務</a:t>
              </a:r>
              <a:endParaRPr kumimoji="1"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xmlns="" id="{C1A93CC4-3B8D-486F-BB79-144D635257EF}"/>
                </a:ext>
              </a:extLst>
            </p:cNvPr>
            <p:cNvSpPr txBox="1"/>
            <p:nvPr/>
          </p:nvSpPr>
          <p:spPr>
            <a:xfrm>
              <a:off x="1730090" y="2681534"/>
              <a:ext cx="34791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可是，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因為考量到餐廳聲譽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和客戶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感受，所以還是</a:t>
              </a:r>
              <a:r>
                <a:rPr kumimoji="1"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『</a:t>
              </a:r>
              <a:r>
                <a:rPr kumimoji="1" lang="zh-TW" altLang="en-US" sz="16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不收取消手續費</a:t>
              </a:r>
              <a:r>
                <a:rPr kumimoji="1"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』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！</a:t>
              </a:r>
              <a:endParaRPr kumimoji="1" lang="ja-JP" altLang="en-US" sz="1600" b="1" dirty="0">
                <a:solidFill>
                  <a:schemeClr val="accent5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xmlns="" id="{33812AC8-1400-4BEA-BA14-A4715C1D9B16}"/>
                </a:ext>
              </a:extLst>
            </p:cNvPr>
            <p:cNvSpPr txBox="1"/>
            <p:nvPr/>
          </p:nvSpPr>
          <p:spPr>
            <a:xfrm>
              <a:off x="2288225" y="3338642"/>
              <a:ext cx="2363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無計可施！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xmlns="" id="{35F7FF1F-0D48-4636-9948-A6AF287C3859}"/>
                </a:ext>
              </a:extLst>
            </p:cNvPr>
            <p:cNvSpPr txBox="1"/>
            <p:nvPr/>
          </p:nvSpPr>
          <p:spPr>
            <a:xfrm>
              <a:off x="1484763" y="1080000"/>
              <a:ext cx="3276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導致取消訂位的緣由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xmlns="" id="{7EB2227B-ECB2-423C-9004-DC75A1AEE0F1}"/>
                </a:ext>
              </a:extLst>
            </p:cNvPr>
            <p:cNvCxnSpPr>
              <a:cxnSpLocks/>
            </p:cNvCxnSpPr>
            <p:nvPr/>
          </p:nvCxnSpPr>
          <p:spPr>
            <a:xfrm>
              <a:off x="1562823" y="1452641"/>
              <a:ext cx="3024000" cy="0"/>
            </a:xfrm>
            <a:prstGeom prst="line">
              <a:avLst/>
            </a:prstGeom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xmlns="" id="{2761F10E-0475-4646-B593-D025F95F6CDE}"/>
                </a:ext>
              </a:extLst>
            </p:cNvPr>
            <p:cNvSpPr/>
            <p:nvPr/>
          </p:nvSpPr>
          <p:spPr>
            <a:xfrm>
              <a:off x="6224434" y="1287541"/>
              <a:ext cx="2947883" cy="2924383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xmlns="" id="{65651BE1-AD37-4BF0-A705-CA5AEBBADBAD}"/>
                </a:ext>
              </a:extLst>
            </p:cNvPr>
            <p:cNvSpPr/>
            <p:nvPr/>
          </p:nvSpPr>
          <p:spPr>
            <a:xfrm rot="5400000">
              <a:off x="5419999" y="1721174"/>
              <a:ext cx="792000" cy="35890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3A642C7B-C459-402C-A909-F0F66C860D20}"/>
                </a:ext>
              </a:extLst>
            </p:cNvPr>
            <p:cNvSpPr txBox="1"/>
            <p:nvPr/>
          </p:nvSpPr>
          <p:spPr>
            <a:xfrm>
              <a:off x="6738336" y="1463636"/>
              <a:ext cx="22671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600">
                  <a:latin typeface="+mn-ea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突然取消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無故取消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xmlns="" id="{DB756E1F-CF26-45B2-B6B1-6BD766768C73}"/>
                </a:ext>
              </a:extLst>
            </p:cNvPr>
            <p:cNvSpPr/>
            <p:nvPr/>
          </p:nvSpPr>
          <p:spPr>
            <a:xfrm>
              <a:off x="6456375" y="2491435"/>
              <a:ext cx="2484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xmlns="" id="{87E2B57B-539E-47D7-919F-11ABCA2BA580}"/>
                </a:ext>
              </a:extLst>
            </p:cNvPr>
            <p:cNvSpPr txBox="1"/>
            <p:nvPr/>
          </p:nvSpPr>
          <p:spPr>
            <a:xfrm>
              <a:off x="6564783" y="2499825"/>
              <a:ext cx="22671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造成空席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xmlns="" id="{DB3CD213-871F-40CC-8423-4D18537E5BE3}"/>
                </a:ext>
              </a:extLst>
            </p:cNvPr>
            <p:cNvSpPr txBox="1"/>
            <p:nvPr/>
          </p:nvSpPr>
          <p:spPr>
            <a:xfrm>
              <a:off x="6738336" y="3474459"/>
              <a:ext cx="21116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營業額減少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食材的浪費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1" name="矢印: 下 30">
              <a:extLst>
                <a:ext uri="{FF2B5EF4-FFF2-40B4-BE49-F238E27FC236}">
                  <a16:creationId xmlns:a16="http://schemas.microsoft.com/office/drawing/2014/main" xmlns="" id="{81E695FA-DE17-450D-9E11-97DB81169C18}"/>
                </a:ext>
              </a:extLst>
            </p:cNvPr>
            <p:cNvSpPr/>
            <p:nvPr/>
          </p:nvSpPr>
          <p:spPr>
            <a:xfrm rot="10800000" flipH="1" flipV="1">
              <a:off x="7457261" y="2123761"/>
              <a:ext cx="500016" cy="279994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2" name="矢印: 下 31">
              <a:extLst>
                <a:ext uri="{FF2B5EF4-FFF2-40B4-BE49-F238E27FC236}">
                  <a16:creationId xmlns:a16="http://schemas.microsoft.com/office/drawing/2014/main" xmlns="" id="{D26B8577-4B7F-44A6-842C-1DB82DCA7789}"/>
                </a:ext>
              </a:extLst>
            </p:cNvPr>
            <p:cNvSpPr/>
            <p:nvPr/>
          </p:nvSpPr>
          <p:spPr>
            <a:xfrm rot="10800000" flipH="1" flipV="1">
              <a:off x="7457261" y="3119115"/>
              <a:ext cx="500016" cy="279994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xmlns="" id="{1C07261F-EEE6-479A-8715-3A6620FF4144}"/>
                </a:ext>
              </a:extLst>
            </p:cNvPr>
            <p:cNvSpPr/>
            <p:nvPr/>
          </p:nvSpPr>
          <p:spPr>
            <a:xfrm>
              <a:off x="1612074" y="2635229"/>
              <a:ext cx="3715213" cy="1058546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xmlns="" id="{CC1DA418-A522-4466-9399-94EE38A6B469}"/>
                </a:ext>
              </a:extLst>
            </p:cNvPr>
            <p:cNvSpPr/>
            <p:nvPr/>
          </p:nvSpPr>
          <p:spPr>
            <a:xfrm>
              <a:off x="1612074" y="3277447"/>
              <a:ext cx="3715213" cy="416327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xmlns="" id="{620DCAB6-5919-4039-9C42-EF8A9D973F81}"/>
                </a:ext>
              </a:extLst>
            </p:cNvPr>
            <p:cNvSpPr/>
            <p:nvPr/>
          </p:nvSpPr>
          <p:spPr>
            <a:xfrm>
              <a:off x="1612074" y="5160461"/>
              <a:ext cx="4315019" cy="1423454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xmlns="" id="{06754013-AAE9-4177-87E3-A2C819B22B59}"/>
                </a:ext>
              </a:extLst>
            </p:cNvPr>
            <p:cNvSpPr/>
            <p:nvPr/>
          </p:nvSpPr>
          <p:spPr>
            <a:xfrm>
              <a:off x="1612074" y="4459677"/>
              <a:ext cx="4315018" cy="720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xmlns="" id="{06CDEEF9-B062-420D-8F71-A19D48EACB30}"/>
                </a:ext>
              </a:extLst>
            </p:cNvPr>
            <p:cNvSpPr txBox="1"/>
            <p:nvPr/>
          </p:nvSpPr>
          <p:spPr>
            <a:xfrm>
              <a:off x="1776351" y="4610280"/>
              <a:ext cx="3986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4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購買、販售空席</a:t>
              </a:r>
              <a:endParaRPr kumimoji="1" lang="ja-JP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xmlns="" id="{D9D32A9C-7D99-4689-B134-2C4FDBA3E608}"/>
                </a:ext>
              </a:extLst>
            </p:cNvPr>
            <p:cNvSpPr/>
            <p:nvPr/>
          </p:nvSpPr>
          <p:spPr>
            <a:xfrm>
              <a:off x="5927093" y="4793253"/>
              <a:ext cx="3245224" cy="847430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xmlns="" id="{E1148D1F-D411-4F4E-A6D1-47916DD0F92C}"/>
                </a:ext>
              </a:extLst>
            </p:cNvPr>
            <p:cNvSpPr/>
            <p:nvPr/>
          </p:nvSpPr>
          <p:spPr>
            <a:xfrm>
              <a:off x="5927093" y="4459678"/>
              <a:ext cx="3245224" cy="33357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xmlns="" id="{4CA175F4-0E8C-4942-B4F3-D5794D0D5FF4}"/>
                </a:ext>
              </a:extLst>
            </p:cNvPr>
            <p:cNvSpPr/>
            <p:nvPr/>
          </p:nvSpPr>
          <p:spPr>
            <a:xfrm>
              <a:off x="5927093" y="5971915"/>
              <a:ext cx="3245224" cy="612000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xmlns="" id="{D3B82031-165D-4213-9A6F-B1892F7FBCD2}"/>
                </a:ext>
              </a:extLst>
            </p:cNvPr>
            <p:cNvSpPr/>
            <p:nvPr/>
          </p:nvSpPr>
          <p:spPr>
            <a:xfrm>
              <a:off x="5927093" y="5640301"/>
              <a:ext cx="3245224" cy="33357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xmlns="" id="{548DFC5F-8A86-4345-A6B9-8394071C5B91}"/>
                </a:ext>
              </a:extLst>
            </p:cNvPr>
            <p:cNvSpPr txBox="1"/>
            <p:nvPr/>
          </p:nvSpPr>
          <p:spPr>
            <a:xfrm>
              <a:off x="6096759" y="5985174"/>
              <a:ext cx="27290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很難訂位的排隊店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與京都府內百家名店簽約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xmlns="" id="{4C410D3E-8870-4D5D-B4F6-647E1AA5ABE0}"/>
                </a:ext>
              </a:extLst>
            </p:cNvPr>
            <p:cNvSpPr txBox="1"/>
            <p:nvPr/>
          </p:nvSpPr>
          <p:spPr>
            <a:xfrm>
              <a:off x="6104015" y="4804226"/>
              <a:ext cx="273682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填補空席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不會浪費食材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遏止營業額的減少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xmlns="" id="{AC9E4F1D-2FB0-4ECF-8A94-11F70DE0F1E9}"/>
                </a:ext>
              </a:extLst>
            </p:cNvPr>
            <p:cNvSpPr txBox="1"/>
            <p:nvPr/>
          </p:nvSpPr>
          <p:spPr>
            <a:xfrm>
              <a:off x="6104015" y="4473125"/>
              <a:ext cx="27368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問題的解決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xmlns="" id="{5DA15BB1-41A5-47C6-BA24-E05622AADA61}"/>
                </a:ext>
              </a:extLst>
            </p:cNvPr>
            <p:cNvSpPr txBox="1"/>
            <p:nvPr/>
          </p:nvSpPr>
          <p:spPr>
            <a:xfrm>
              <a:off x="6104219" y="5653777"/>
              <a:ext cx="27215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特色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二等辺三角形 51">
              <a:extLst>
                <a:ext uri="{FF2B5EF4-FFF2-40B4-BE49-F238E27FC236}">
                  <a16:creationId xmlns:a16="http://schemas.microsoft.com/office/drawing/2014/main" xmlns="" id="{74571F0D-23EF-4C0E-9EC0-4CA4633A0132}"/>
                </a:ext>
              </a:extLst>
            </p:cNvPr>
            <p:cNvSpPr/>
            <p:nvPr/>
          </p:nvSpPr>
          <p:spPr>
            <a:xfrm rot="16200000" flipH="1">
              <a:off x="5419999" y="3112078"/>
              <a:ext cx="792000" cy="35890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二等辺三角形 52">
              <a:extLst>
                <a:ext uri="{FF2B5EF4-FFF2-40B4-BE49-F238E27FC236}">
                  <a16:creationId xmlns:a16="http://schemas.microsoft.com/office/drawing/2014/main" xmlns="" id="{60D22B4B-8EC8-40A2-87ED-69DB742CB364}"/>
                </a:ext>
              </a:extLst>
            </p:cNvPr>
            <p:cNvSpPr/>
            <p:nvPr/>
          </p:nvSpPr>
          <p:spPr>
            <a:xfrm rot="10800000" flipH="1">
              <a:off x="3073680" y="3917170"/>
              <a:ext cx="792000" cy="35890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3666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20118874-0F1E-42F9-93A8-69816385E3F3}"/>
              </a:ext>
            </a:extLst>
          </p:cNvPr>
          <p:cNvGrpSpPr/>
          <p:nvPr/>
        </p:nvGrpSpPr>
        <p:grpSpPr>
          <a:xfrm>
            <a:off x="0" y="0"/>
            <a:ext cx="9124019" cy="6858001"/>
            <a:chOff x="0" y="0"/>
            <a:chExt cx="9124019" cy="6858001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xmlns="" id="{2761F10E-0475-4646-B593-D025F95F6CDE}"/>
                </a:ext>
              </a:extLst>
            </p:cNvPr>
            <p:cNvSpPr/>
            <p:nvPr/>
          </p:nvSpPr>
          <p:spPr>
            <a:xfrm>
              <a:off x="6565686" y="2615364"/>
              <a:ext cx="2558332" cy="6069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xmlns="" id="{FEF90F6A-F3BB-4A5A-B687-EC8EF9307777}"/>
                </a:ext>
              </a:extLst>
            </p:cNvPr>
            <p:cNvSpPr txBox="1"/>
            <p:nvPr/>
          </p:nvSpPr>
          <p:spPr>
            <a:xfrm>
              <a:off x="1484762" y="1295581"/>
              <a:ext cx="334371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pPr marL="0" indent="0">
                <a:buNone/>
              </a:pP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導致取消訂位的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緣由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觀光客暴增</a:t>
              </a:r>
              <a:endParaRPr lang="en-US" altLang="ja-JP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「先訂再說」的顧客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增加</a:t>
              </a:r>
              <a:endParaRPr lang="en-US" altLang="zh-TW" sz="160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氣候或颱風的影響、交通問題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xmlns="" id="{70090A29-2FC6-4202-8369-6032F288EA6F}"/>
                </a:ext>
              </a:extLst>
            </p:cNvPr>
            <p:cNvSpPr/>
            <p:nvPr/>
          </p:nvSpPr>
          <p:spPr>
            <a:xfrm>
              <a:off x="0" y="0"/>
              <a:ext cx="1080000" cy="94785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xmlns="" id="{63CE0A20-5E66-47AA-9F10-A49E5F75FB82}"/>
                </a:ext>
              </a:extLst>
            </p:cNvPr>
            <p:cNvSpPr/>
            <p:nvPr/>
          </p:nvSpPr>
          <p:spPr>
            <a:xfrm>
              <a:off x="0" y="947854"/>
              <a:ext cx="1080000" cy="5910147"/>
            </a:xfrm>
            <a:prstGeom prst="rect">
              <a:avLst/>
            </a:prstGeom>
            <a:pattFill prst="pct90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3A642C7B-C459-402C-A909-F0F66C860D20}"/>
                </a:ext>
              </a:extLst>
            </p:cNvPr>
            <p:cNvSpPr txBox="1"/>
            <p:nvPr/>
          </p:nvSpPr>
          <p:spPr>
            <a:xfrm>
              <a:off x="6699299" y="1536282"/>
              <a:ext cx="22885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600">
                  <a:latin typeface="+mn-ea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突然取消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無故取消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xmlns="" id="{24638752-1DE1-45AB-A404-4B9AE5F5BAC9}"/>
                </a:ext>
              </a:extLst>
            </p:cNvPr>
            <p:cNvSpPr txBox="1"/>
            <p:nvPr/>
          </p:nvSpPr>
          <p:spPr>
            <a:xfrm>
              <a:off x="1528225" y="3602529"/>
              <a:ext cx="38995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和以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SNS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為主的網路服務公司合作，提供通知登錄會員可以訂位的全新服務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xmlns="" id="{87E2B57B-539E-47D7-919F-11ABCA2BA580}"/>
                </a:ext>
              </a:extLst>
            </p:cNvPr>
            <p:cNvSpPr txBox="1"/>
            <p:nvPr/>
          </p:nvSpPr>
          <p:spPr>
            <a:xfrm>
              <a:off x="6699299" y="2657211"/>
              <a:ext cx="22885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造成空席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xmlns="" id="{DB3CD213-871F-40CC-8423-4D18537E5BE3}"/>
                </a:ext>
              </a:extLst>
            </p:cNvPr>
            <p:cNvSpPr txBox="1"/>
            <p:nvPr/>
          </p:nvSpPr>
          <p:spPr>
            <a:xfrm>
              <a:off x="6777088" y="3711066"/>
              <a:ext cx="21315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營業額減少</a:t>
              </a:r>
              <a:endParaRPr lang="en-US" altLang="ja-JP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食材的浪費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xmlns="" id="{C1A93CC4-3B8D-486F-BB79-144D635257EF}"/>
                </a:ext>
              </a:extLst>
            </p:cNvPr>
            <p:cNvSpPr txBox="1"/>
            <p:nvPr/>
          </p:nvSpPr>
          <p:spPr>
            <a:xfrm>
              <a:off x="6565686" y="4790151"/>
              <a:ext cx="2558333" cy="838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可是，因為考量到餐廳聲譽和客戶感受，所以還是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『</a:t>
              </a:r>
              <a:r>
                <a:rPr kumimoji="1" lang="zh-TW" altLang="en-US" sz="1600" b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不收取消手續費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』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！</a:t>
              </a:r>
              <a:endParaRPr kumimoji="1" lang="ja-JP" altLang="en-US" sz="1600" b="1" dirty="0">
                <a:solidFill>
                  <a:schemeClr val="accent5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xmlns="" id="{65651BE1-AD37-4BF0-A705-CA5AEBBADBAD}"/>
                </a:ext>
              </a:extLst>
            </p:cNvPr>
            <p:cNvSpPr/>
            <p:nvPr/>
          </p:nvSpPr>
          <p:spPr>
            <a:xfrm rot="5400000">
              <a:off x="5603672" y="1782809"/>
              <a:ext cx="792000" cy="35890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二等辺三角形 30">
              <a:extLst>
                <a:ext uri="{FF2B5EF4-FFF2-40B4-BE49-F238E27FC236}">
                  <a16:creationId xmlns:a16="http://schemas.microsoft.com/office/drawing/2014/main" xmlns="" id="{81E695FA-DE17-450D-9E11-97DB81169C18}"/>
                </a:ext>
              </a:extLst>
            </p:cNvPr>
            <p:cNvSpPr/>
            <p:nvPr/>
          </p:nvSpPr>
          <p:spPr>
            <a:xfrm rot="10800000" flipH="1">
              <a:off x="7582883" y="2229652"/>
              <a:ext cx="504736" cy="28263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xmlns="" id="{06754013-AAE9-4177-87E3-A2C819B22B59}"/>
                </a:ext>
              </a:extLst>
            </p:cNvPr>
            <p:cNvSpPr/>
            <p:nvPr/>
          </p:nvSpPr>
          <p:spPr>
            <a:xfrm>
              <a:off x="1402678" y="2912262"/>
              <a:ext cx="4150630" cy="59816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xmlns="" id="{548DFC5F-8A86-4345-A6B9-8394071C5B91}"/>
                </a:ext>
              </a:extLst>
            </p:cNvPr>
            <p:cNvSpPr txBox="1"/>
            <p:nvPr/>
          </p:nvSpPr>
          <p:spPr>
            <a:xfrm>
              <a:off x="1738797" y="5680573"/>
              <a:ext cx="27290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pPr marL="0" indent="0">
                <a:buNone/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特色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很難訂位的排隊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店</a:t>
              </a:r>
              <a:endParaRPr lang="en-US" altLang="zh-TW" sz="160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與京都府內百家名店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簽約</a:t>
              </a:r>
              <a:endParaRPr lang="ja-JP" altLang="en-US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xmlns="" id="{4C410D3E-8870-4D5D-B4F6-647E1AA5ABE0}"/>
                </a:ext>
              </a:extLst>
            </p:cNvPr>
            <p:cNvSpPr txBox="1"/>
            <p:nvPr/>
          </p:nvSpPr>
          <p:spPr>
            <a:xfrm>
              <a:off x="1746053" y="4513168"/>
              <a:ext cx="273682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pPr marL="0" indent="0">
                <a:buNone/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問題的解決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填補空席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不會浪費食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材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遏止營業額的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減少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7" name="二等辺三角形 56">
              <a:extLst>
                <a:ext uri="{FF2B5EF4-FFF2-40B4-BE49-F238E27FC236}">
                  <a16:creationId xmlns:a16="http://schemas.microsoft.com/office/drawing/2014/main" xmlns="" id="{D4814D8A-1466-4D58-B4AE-B23D2941DA28}"/>
                </a:ext>
              </a:extLst>
            </p:cNvPr>
            <p:cNvSpPr/>
            <p:nvPr/>
          </p:nvSpPr>
          <p:spPr>
            <a:xfrm rot="10800000" flipH="1">
              <a:off x="7582883" y="3325354"/>
              <a:ext cx="504736" cy="28263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8" name="二等辺三角形 57">
              <a:extLst>
                <a:ext uri="{FF2B5EF4-FFF2-40B4-BE49-F238E27FC236}">
                  <a16:creationId xmlns:a16="http://schemas.microsoft.com/office/drawing/2014/main" xmlns="" id="{0F8D3925-C2DE-4156-AFBF-84BEDA9C3DA0}"/>
                </a:ext>
              </a:extLst>
            </p:cNvPr>
            <p:cNvSpPr/>
            <p:nvPr/>
          </p:nvSpPr>
          <p:spPr>
            <a:xfrm rot="10800000" flipH="1">
              <a:off x="7582884" y="4404436"/>
              <a:ext cx="504736" cy="28263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xmlns="" id="{06CDEEF9-B062-420D-8F71-A19D48EACB30}"/>
                </a:ext>
              </a:extLst>
            </p:cNvPr>
            <p:cNvSpPr txBox="1"/>
            <p:nvPr/>
          </p:nvSpPr>
          <p:spPr>
            <a:xfrm>
              <a:off x="1484762" y="3013682"/>
              <a:ext cx="3986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購買、販售空席</a:t>
              </a:r>
              <a:endParaRPr kumimoji="1"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xmlns="" id="{A3A5BA4A-FC47-4117-AEFB-DB6CF206086D}"/>
                </a:ext>
              </a:extLst>
            </p:cNvPr>
            <p:cNvSpPr/>
            <p:nvPr/>
          </p:nvSpPr>
          <p:spPr>
            <a:xfrm>
              <a:off x="6565686" y="5652467"/>
              <a:ext cx="2558332" cy="34970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二等辺三角形 59">
              <a:extLst>
                <a:ext uri="{FF2B5EF4-FFF2-40B4-BE49-F238E27FC236}">
                  <a16:creationId xmlns:a16="http://schemas.microsoft.com/office/drawing/2014/main" xmlns="" id="{3EBC7729-4A66-4E45-B07C-98DAF8074382}"/>
                </a:ext>
              </a:extLst>
            </p:cNvPr>
            <p:cNvSpPr/>
            <p:nvPr/>
          </p:nvSpPr>
          <p:spPr>
            <a:xfrm rot="16200000" flipH="1">
              <a:off x="5603672" y="5030120"/>
              <a:ext cx="792000" cy="35890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xmlns="" id="{33812AC8-1400-4BEA-BA14-A4715C1D9B16}"/>
                </a:ext>
              </a:extLst>
            </p:cNvPr>
            <p:cNvSpPr txBox="1"/>
            <p:nvPr/>
          </p:nvSpPr>
          <p:spPr>
            <a:xfrm>
              <a:off x="6651193" y="5663618"/>
              <a:ext cx="2363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無計可施</a:t>
              </a:r>
              <a:r>
                <a:rPr kumimoji="1" lang="zh-TW" altLang="en-US" sz="1600" smtClean="0">
                  <a:latin typeface="+mn-ea"/>
                </a:rPr>
                <a:t>！</a:t>
              </a:r>
              <a:endParaRPr kumimoji="1" lang="ja-JP" altLang="en-US" sz="1600" dirty="0">
                <a:latin typeface="+mn-ea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xmlns="" id="{7C307481-06EF-48A1-B474-23CF95117412}"/>
                </a:ext>
              </a:extLst>
            </p:cNvPr>
            <p:cNvSpPr txBox="1"/>
            <p:nvPr/>
          </p:nvSpPr>
          <p:spPr>
            <a:xfrm>
              <a:off x="1484762" y="267756"/>
              <a:ext cx="69364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3600" b="1" spc="-15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取消訂位服務化</a:t>
              </a:r>
              <a:endParaRPr kumimoji="1" lang="ja-JP" altLang="en-US" sz="3600" b="1" spc="-15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2576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E9FBBBB8-683E-4F54-B967-ABC480D8A575}"/>
              </a:ext>
            </a:extLst>
          </p:cNvPr>
          <p:cNvGrpSpPr/>
          <p:nvPr/>
        </p:nvGrpSpPr>
        <p:grpSpPr>
          <a:xfrm>
            <a:off x="0" y="0"/>
            <a:ext cx="9124019" cy="6858001"/>
            <a:chOff x="0" y="0"/>
            <a:chExt cx="9124019" cy="6858001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xmlns="" id="{70090A29-2FC6-4202-8369-6032F288EA6F}"/>
                </a:ext>
              </a:extLst>
            </p:cNvPr>
            <p:cNvSpPr/>
            <p:nvPr/>
          </p:nvSpPr>
          <p:spPr>
            <a:xfrm>
              <a:off x="0" y="0"/>
              <a:ext cx="1080000" cy="94785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xmlns="" id="{63CE0A20-5E66-47AA-9F10-A49E5F75FB82}"/>
                </a:ext>
              </a:extLst>
            </p:cNvPr>
            <p:cNvSpPr/>
            <p:nvPr/>
          </p:nvSpPr>
          <p:spPr>
            <a:xfrm>
              <a:off x="0" y="947854"/>
              <a:ext cx="1080000" cy="5910147"/>
            </a:xfrm>
            <a:prstGeom prst="rect">
              <a:avLst/>
            </a:prstGeom>
            <a:pattFill prst="pct90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xmlns="" id="{548DFC5F-8A86-4345-A6B9-8394071C5B91}"/>
                </a:ext>
              </a:extLst>
            </p:cNvPr>
            <p:cNvSpPr txBox="1"/>
            <p:nvPr/>
          </p:nvSpPr>
          <p:spPr>
            <a:xfrm>
              <a:off x="2699182" y="5738350"/>
              <a:ext cx="27290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很難訂位的排隊店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與京都府內百家名店簽約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xmlns="" id="{4C410D3E-8870-4D5D-B4F6-647E1AA5ABE0}"/>
                </a:ext>
              </a:extLst>
            </p:cNvPr>
            <p:cNvSpPr txBox="1"/>
            <p:nvPr/>
          </p:nvSpPr>
          <p:spPr>
            <a:xfrm>
              <a:off x="2706438" y="4733104"/>
              <a:ext cx="273682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填補空席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不會浪費食材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遏止營業額的減少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xmlns="" id="{431084BB-5E2C-48E8-ABE9-329BF549A5A6}"/>
                </a:ext>
              </a:extLst>
            </p:cNvPr>
            <p:cNvSpPr txBox="1"/>
            <p:nvPr/>
          </p:nvSpPr>
          <p:spPr>
            <a:xfrm>
              <a:off x="1337581" y="4779946"/>
              <a:ext cx="13688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pPr marL="0" indent="0" algn="r">
                <a:buNone/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問題的解決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xmlns="" id="{55674D11-7ECD-42CF-90F5-BE11FE38879C}"/>
                </a:ext>
              </a:extLst>
            </p:cNvPr>
            <p:cNvSpPr txBox="1"/>
            <p:nvPr/>
          </p:nvSpPr>
          <p:spPr>
            <a:xfrm>
              <a:off x="1543723" y="5737992"/>
              <a:ext cx="11554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pPr marL="0" indent="0" algn="r">
                <a:buNone/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特色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xmlns="" id="{5CCA9E2D-C032-4321-A5D6-DD61B70CD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6438" y="4788602"/>
              <a:ext cx="0" cy="72000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xmlns="" id="{716C3904-0E16-4E00-BC5A-014E86408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6438" y="5763534"/>
              <a:ext cx="0" cy="54000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xmlns="" id="{FEB4941E-4F41-46BA-914B-8DA238C17144}"/>
                </a:ext>
              </a:extLst>
            </p:cNvPr>
            <p:cNvSpPr/>
            <p:nvPr/>
          </p:nvSpPr>
          <p:spPr>
            <a:xfrm>
              <a:off x="6565686" y="2615364"/>
              <a:ext cx="2558332" cy="6069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xmlns="" id="{4720562D-DE76-4702-BC88-BF48D4E203BE}"/>
                </a:ext>
              </a:extLst>
            </p:cNvPr>
            <p:cNvSpPr txBox="1"/>
            <p:nvPr/>
          </p:nvSpPr>
          <p:spPr>
            <a:xfrm>
              <a:off x="6699299" y="1536282"/>
              <a:ext cx="22885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600">
                  <a:latin typeface="+mn-ea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突然取消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無故取消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xmlns="" id="{629DB0EC-0DF5-4D07-A0A7-202050B45257}"/>
                </a:ext>
              </a:extLst>
            </p:cNvPr>
            <p:cNvSpPr txBox="1"/>
            <p:nvPr/>
          </p:nvSpPr>
          <p:spPr>
            <a:xfrm>
              <a:off x="1528225" y="3810007"/>
              <a:ext cx="38995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和以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SNS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為主的網路服務公司合作，提供通知登錄會員可以訂位的全新服務</a:t>
              </a:r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xmlns="" id="{6CCFC8BF-3F7F-4EF9-AFF9-0D919452D701}"/>
                </a:ext>
              </a:extLst>
            </p:cNvPr>
            <p:cNvSpPr txBox="1"/>
            <p:nvPr/>
          </p:nvSpPr>
          <p:spPr>
            <a:xfrm>
              <a:off x="6699299" y="2657211"/>
              <a:ext cx="22885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造成空席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xmlns="" id="{08A95CCF-13DB-4E94-93FA-A8B6304CD41A}"/>
                </a:ext>
              </a:extLst>
            </p:cNvPr>
            <p:cNvSpPr txBox="1"/>
            <p:nvPr/>
          </p:nvSpPr>
          <p:spPr>
            <a:xfrm>
              <a:off x="6777088" y="3711066"/>
              <a:ext cx="21315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營業額的減少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食材的浪費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xmlns="" id="{0C6B1BCF-3569-42C0-AC7A-B908AB536705}"/>
                </a:ext>
              </a:extLst>
            </p:cNvPr>
            <p:cNvSpPr txBox="1"/>
            <p:nvPr/>
          </p:nvSpPr>
          <p:spPr>
            <a:xfrm>
              <a:off x="6565686" y="4790151"/>
              <a:ext cx="2558333" cy="838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可是，因為考量到餐廳聲譽和客戶感受，所以還是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『</a:t>
              </a:r>
              <a:r>
                <a:rPr kumimoji="1" lang="zh-TW" altLang="en-US" sz="1600" b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不收取消手續費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』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！</a:t>
              </a:r>
              <a:endParaRPr kumimoji="1" lang="ja-JP" altLang="en-US" sz="1600" b="1" dirty="0">
                <a:solidFill>
                  <a:schemeClr val="accent5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5" name="二等辺三角形 54">
              <a:extLst>
                <a:ext uri="{FF2B5EF4-FFF2-40B4-BE49-F238E27FC236}">
                  <a16:creationId xmlns:a16="http://schemas.microsoft.com/office/drawing/2014/main" xmlns="" id="{0E3BB31F-D077-4D09-89EC-D84099CF666C}"/>
                </a:ext>
              </a:extLst>
            </p:cNvPr>
            <p:cNvSpPr/>
            <p:nvPr/>
          </p:nvSpPr>
          <p:spPr>
            <a:xfrm rot="10800000" flipH="1">
              <a:off x="7582883" y="2229652"/>
              <a:ext cx="504736" cy="28263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xmlns="" id="{F5204A38-8F43-4FD8-AFB9-F83F01B93A5B}"/>
                </a:ext>
              </a:extLst>
            </p:cNvPr>
            <p:cNvSpPr/>
            <p:nvPr/>
          </p:nvSpPr>
          <p:spPr>
            <a:xfrm>
              <a:off x="1402681" y="3119740"/>
              <a:ext cx="4150626" cy="59816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二等辺三角形 60">
              <a:extLst>
                <a:ext uri="{FF2B5EF4-FFF2-40B4-BE49-F238E27FC236}">
                  <a16:creationId xmlns:a16="http://schemas.microsoft.com/office/drawing/2014/main" xmlns="" id="{3A4C6387-31F1-46DB-9011-447C1528B8EE}"/>
                </a:ext>
              </a:extLst>
            </p:cNvPr>
            <p:cNvSpPr/>
            <p:nvPr/>
          </p:nvSpPr>
          <p:spPr>
            <a:xfrm rot="10800000" flipH="1">
              <a:off x="7582883" y="3325354"/>
              <a:ext cx="504736" cy="28263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2" name="二等辺三角形 61">
              <a:extLst>
                <a:ext uri="{FF2B5EF4-FFF2-40B4-BE49-F238E27FC236}">
                  <a16:creationId xmlns:a16="http://schemas.microsoft.com/office/drawing/2014/main" xmlns="" id="{1DDB8FC2-6484-4BB4-8F98-E951CF9739D4}"/>
                </a:ext>
              </a:extLst>
            </p:cNvPr>
            <p:cNvSpPr/>
            <p:nvPr/>
          </p:nvSpPr>
          <p:spPr>
            <a:xfrm rot="10800000" flipH="1">
              <a:off x="7582884" y="4404436"/>
              <a:ext cx="504736" cy="28263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xmlns="" id="{24928037-1043-41B2-9812-CEC806460C60}"/>
                </a:ext>
              </a:extLst>
            </p:cNvPr>
            <p:cNvSpPr txBox="1"/>
            <p:nvPr/>
          </p:nvSpPr>
          <p:spPr>
            <a:xfrm>
              <a:off x="1484762" y="3221160"/>
              <a:ext cx="3986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購買、販售空席</a:t>
              </a:r>
              <a:endParaRPr kumimoji="1"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xmlns="" id="{C4CA017D-FB6F-4167-9B8A-7941D11261ED}"/>
                </a:ext>
              </a:extLst>
            </p:cNvPr>
            <p:cNvSpPr/>
            <p:nvPr/>
          </p:nvSpPr>
          <p:spPr>
            <a:xfrm>
              <a:off x="6565686" y="5652467"/>
              <a:ext cx="2558332" cy="34970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xmlns="" id="{3865C078-AD57-4811-9AAF-A9DC70015B94}"/>
                </a:ext>
              </a:extLst>
            </p:cNvPr>
            <p:cNvSpPr/>
            <p:nvPr/>
          </p:nvSpPr>
          <p:spPr>
            <a:xfrm rot="16200000" flipH="1">
              <a:off x="5603672" y="5030120"/>
              <a:ext cx="792000" cy="35890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xmlns="" id="{BBBC5C94-F078-46F2-B1F4-9F3BF4603E3A}"/>
                </a:ext>
              </a:extLst>
            </p:cNvPr>
            <p:cNvSpPr txBox="1"/>
            <p:nvPr/>
          </p:nvSpPr>
          <p:spPr>
            <a:xfrm>
              <a:off x="6651193" y="5663618"/>
              <a:ext cx="2363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無計可施！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xmlns="" id="{899063AD-4591-46C6-9052-0D41CD7F437C}"/>
                </a:ext>
              </a:extLst>
            </p:cNvPr>
            <p:cNvSpPr txBox="1"/>
            <p:nvPr/>
          </p:nvSpPr>
          <p:spPr>
            <a:xfrm>
              <a:off x="1484762" y="1553634"/>
              <a:ext cx="32768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400">
                  <a:latin typeface="+mn-ea"/>
                </a:defRPr>
              </a:lvl1pPr>
            </a:lstStyle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觀光客暴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增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「先訂再說」的顧客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增加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氣候或颱風的影響、交通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問題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xmlns="" id="{A3A46F4C-899D-4C13-AF5B-42ABF8C29DB9}"/>
                </a:ext>
              </a:extLst>
            </p:cNvPr>
            <p:cNvSpPr txBox="1"/>
            <p:nvPr/>
          </p:nvSpPr>
          <p:spPr>
            <a:xfrm>
              <a:off x="1484763" y="1146906"/>
              <a:ext cx="3276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導致取消訂位的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緣由</a:t>
              </a:r>
              <a:endParaRPr lang="en-US" altLang="ja-JP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xmlns="" id="{41B6E34C-F2ED-42EF-9FDA-A3EBECF2B227}"/>
                </a:ext>
              </a:extLst>
            </p:cNvPr>
            <p:cNvCxnSpPr>
              <a:cxnSpLocks/>
            </p:cNvCxnSpPr>
            <p:nvPr/>
          </p:nvCxnSpPr>
          <p:spPr>
            <a:xfrm>
              <a:off x="1562823" y="1519547"/>
              <a:ext cx="3024000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二等辺三角形 69">
              <a:extLst>
                <a:ext uri="{FF2B5EF4-FFF2-40B4-BE49-F238E27FC236}">
                  <a16:creationId xmlns:a16="http://schemas.microsoft.com/office/drawing/2014/main" xmlns="" id="{2E128B81-AB05-4497-AE9A-9596CC7592D4}"/>
                </a:ext>
              </a:extLst>
            </p:cNvPr>
            <p:cNvSpPr/>
            <p:nvPr/>
          </p:nvSpPr>
          <p:spPr>
            <a:xfrm rot="5400000">
              <a:off x="5603672" y="1770183"/>
              <a:ext cx="792000" cy="35890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xmlns="" id="{F9BCEAA3-6FBA-44D9-8F3A-E8C08D563688}"/>
                </a:ext>
              </a:extLst>
            </p:cNvPr>
            <p:cNvCxnSpPr>
              <a:cxnSpLocks/>
            </p:cNvCxnSpPr>
            <p:nvPr/>
          </p:nvCxnSpPr>
          <p:spPr>
            <a:xfrm>
              <a:off x="6565686" y="5652467"/>
              <a:ext cx="2556000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xmlns="" id="{860DC261-EC33-4BF8-88D0-3A5FBEE1EB79}"/>
                </a:ext>
              </a:extLst>
            </p:cNvPr>
            <p:cNvSpPr/>
            <p:nvPr/>
          </p:nvSpPr>
          <p:spPr>
            <a:xfrm>
              <a:off x="1402680" y="3719423"/>
              <a:ext cx="4150628" cy="2870814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xmlns="" id="{AFC055BC-7C4F-4AC3-A0C7-4B002F6A2E7E}"/>
                </a:ext>
              </a:extLst>
            </p:cNvPr>
            <p:cNvSpPr txBox="1"/>
            <p:nvPr/>
          </p:nvSpPr>
          <p:spPr>
            <a:xfrm>
              <a:off x="1484762" y="267756"/>
              <a:ext cx="69364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3600" b="1" spc="-15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取消訂位服務</a:t>
              </a:r>
              <a:r>
                <a:rPr kumimoji="1" lang="zh-TW" altLang="en-US" sz="3600" b="1" spc="-15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化</a:t>
              </a:r>
              <a:endParaRPr kumimoji="1" lang="ja-JP" altLang="en-US" sz="3600" b="1" spc="-15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赤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399</TotalTime>
  <Words>364</Words>
  <Application>Microsoft Office PowerPoint</Application>
  <PresentationFormat>A4 紙張 (210x297 公釐)</PresentationFormat>
  <Paragraphs>63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3" baseType="lpstr">
      <vt:lpstr>游ゴシック</vt:lpstr>
      <vt:lpstr>游ゴシック Light</vt:lpstr>
      <vt:lpstr>微軟正黑體</vt:lpstr>
      <vt:lpstr>新細明體</vt:lpstr>
      <vt:lpstr>Arial</vt:lpstr>
      <vt:lpstr>Calibri</vt:lpstr>
      <vt:lpstr>Calibri Light</vt:lpstr>
      <vt:lpstr>Times New Roman</vt:lpstr>
      <vt:lpstr>Wingdings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52</cp:revision>
  <dcterms:created xsi:type="dcterms:W3CDTF">2017-11-09T07:26:57Z</dcterms:created>
  <dcterms:modified xsi:type="dcterms:W3CDTF">2018-09-22T09:39:04Z</dcterms:modified>
</cp:coreProperties>
</file>