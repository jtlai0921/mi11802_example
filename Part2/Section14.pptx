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xmlns="" id="{A5BF615D-E0BE-4B25-B34F-52346720F582}"/>
              </a:ext>
            </a:extLst>
          </p:cNvPr>
          <p:cNvGrpSpPr/>
          <p:nvPr/>
        </p:nvGrpSpPr>
        <p:grpSpPr>
          <a:xfrm>
            <a:off x="275063" y="246470"/>
            <a:ext cx="9355874" cy="6474645"/>
            <a:chOff x="275063" y="246470"/>
            <a:chExt cx="9355874" cy="6474645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2960289" y="1275966"/>
              <a:ext cx="60245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即時測量躺在床上的人的體重及身體位置、在浴室裡的呼吸狀態、廁所的使用次數等資訊，同時可透過遠距監視器加以確認。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自動檢查高齡者與主要照顧者的身體狀況，以及室內的異常，透過先進的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IoT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服務，守護家庭的安心與家人的健康。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四角形: 上の 2 つの角を丸める 3">
              <a:extLst>
                <a:ext uri="{FF2B5EF4-FFF2-40B4-BE49-F238E27FC236}">
                  <a16:creationId xmlns:a16="http://schemas.microsoft.com/office/drawing/2014/main" xmlns="" id="{544F26A1-399A-45DD-A997-3303DFA094DA}"/>
                </a:ext>
              </a:extLst>
            </p:cNvPr>
            <p:cNvSpPr/>
            <p:nvPr/>
          </p:nvSpPr>
          <p:spPr>
            <a:xfrm>
              <a:off x="275063" y="246470"/>
              <a:ext cx="1944030" cy="790233"/>
            </a:xfrm>
            <a:prstGeom prst="round2SameRect">
              <a:avLst>
                <a:gd name="adj1" fmla="val 40354"/>
                <a:gd name="adj2" fmla="val 0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372397" y="494107"/>
              <a:ext cx="38834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感測器守護的安心與健康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xmlns="" id="{D68606D1-1307-4B38-A4BD-53A9C85B2B6D}"/>
                </a:ext>
              </a:extLst>
            </p:cNvPr>
            <p:cNvSpPr/>
            <p:nvPr/>
          </p:nvSpPr>
          <p:spPr>
            <a:xfrm>
              <a:off x="2202409" y="926276"/>
              <a:ext cx="7411844" cy="10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23E802B2-A5AA-4C31-8E44-1F08D833E89B}"/>
                </a:ext>
              </a:extLst>
            </p:cNvPr>
            <p:cNvSpPr/>
            <p:nvPr/>
          </p:nvSpPr>
          <p:spPr>
            <a:xfrm>
              <a:off x="420029" y="355262"/>
              <a:ext cx="165409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r>
                <a:rPr lang="en-US" altLang="ja-JP" sz="2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. </a:t>
              </a:r>
              <a:r>
                <a:rPr lang="zh-TW" altLang="en-US" sz="2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概要</a:t>
              </a:r>
              <a:endParaRPr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xmlns="" id="{F30DA6BB-91F5-41E5-B565-1921468EC9EC}"/>
                </a:ext>
              </a:extLst>
            </p:cNvPr>
            <p:cNvSpPr txBox="1"/>
            <p:nvPr/>
          </p:nvSpPr>
          <p:spPr>
            <a:xfrm>
              <a:off x="4685844" y="6413338"/>
              <a:ext cx="5343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-2-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xmlns="" id="{E550509D-4ABD-45CE-9695-135E806B1F42}"/>
                </a:ext>
              </a:extLst>
            </p:cNvPr>
            <p:cNvSpPr txBox="1"/>
            <p:nvPr/>
          </p:nvSpPr>
          <p:spPr>
            <a:xfrm>
              <a:off x="8020499" y="597243"/>
              <a:ext cx="1610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照護事業投入企劃書</a:t>
              </a:r>
              <a:endParaRPr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xmlns="" id="{1C651274-A858-4E12-92B5-9E71C1F3BF09}"/>
                </a:ext>
              </a:extLst>
            </p:cNvPr>
            <p:cNvSpPr/>
            <p:nvPr/>
          </p:nvSpPr>
          <p:spPr>
            <a:xfrm>
              <a:off x="7826298" y="4277435"/>
              <a:ext cx="1751236" cy="172209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xmlns="" id="{340D0342-F79D-4252-A2C9-B254AF55D744}"/>
                </a:ext>
              </a:extLst>
            </p:cNvPr>
            <p:cNvSpPr/>
            <p:nvPr/>
          </p:nvSpPr>
          <p:spPr>
            <a:xfrm>
              <a:off x="6345802" y="4284276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身體管理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xmlns="" id="{8242BCF4-F7FA-4445-AFF9-891D3FC140B1}"/>
                </a:ext>
              </a:extLst>
            </p:cNvPr>
            <p:cNvSpPr/>
            <p:nvPr/>
          </p:nvSpPr>
          <p:spPr>
            <a:xfrm>
              <a:off x="328467" y="4074442"/>
              <a:ext cx="5948692" cy="2128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xmlns="" id="{F07761B1-CE72-4DC3-A53E-0ED262AA2B7E}"/>
                </a:ext>
              </a:extLst>
            </p:cNvPr>
            <p:cNvSpPr/>
            <p:nvPr/>
          </p:nvSpPr>
          <p:spPr>
            <a:xfrm>
              <a:off x="471091" y="4668499"/>
              <a:ext cx="1260000" cy="756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B4AF3372-C2C1-4991-847E-C72FCE76D99E}"/>
                </a:ext>
              </a:extLst>
            </p:cNvPr>
            <p:cNvSpPr/>
            <p:nvPr/>
          </p:nvSpPr>
          <p:spPr>
            <a:xfrm>
              <a:off x="893342" y="4837119"/>
              <a:ext cx="4154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床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xmlns="" id="{D0A79F30-C1AC-4783-845F-F18669F9857D}"/>
                </a:ext>
              </a:extLst>
            </p:cNvPr>
            <p:cNvSpPr/>
            <p:nvPr/>
          </p:nvSpPr>
          <p:spPr>
            <a:xfrm>
              <a:off x="1938906" y="4668499"/>
              <a:ext cx="1260000" cy="756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CF4939A1-E309-463D-BA11-4B6C45163D90}"/>
                </a:ext>
              </a:extLst>
            </p:cNvPr>
            <p:cNvSpPr/>
            <p:nvPr/>
          </p:nvSpPr>
          <p:spPr>
            <a:xfrm>
              <a:off x="2245740" y="4837119"/>
              <a:ext cx="6463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浴室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xmlns="" id="{26E20959-AD3E-42F2-8B27-C5EBB994AECA}"/>
                </a:ext>
              </a:extLst>
            </p:cNvPr>
            <p:cNvSpPr/>
            <p:nvPr/>
          </p:nvSpPr>
          <p:spPr>
            <a:xfrm>
              <a:off x="3406721" y="4668499"/>
              <a:ext cx="1260000" cy="756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87A5A497-CD0A-45F1-BB5D-D96E711BB839}"/>
                </a:ext>
              </a:extLst>
            </p:cNvPr>
            <p:cNvSpPr/>
            <p:nvPr/>
          </p:nvSpPr>
          <p:spPr>
            <a:xfrm>
              <a:off x="3713556" y="4837119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廁所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xmlns="" id="{8CAFD9B4-EC93-408D-BFC4-0CB49C0AB4C9}"/>
                </a:ext>
              </a:extLst>
            </p:cNvPr>
            <p:cNvSpPr/>
            <p:nvPr/>
          </p:nvSpPr>
          <p:spPr>
            <a:xfrm>
              <a:off x="4874535" y="4668499"/>
              <a:ext cx="1260000" cy="756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BA4B18CA-3E50-4E6F-B896-3202C32A991D}"/>
                </a:ext>
              </a:extLst>
            </p:cNvPr>
            <p:cNvSpPr/>
            <p:nvPr/>
          </p:nvSpPr>
          <p:spPr>
            <a:xfrm>
              <a:off x="5181370" y="4837119"/>
              <a:ext cx="64633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客廳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131A754F-E371-42E8-95FF-453037548E04}"/>
                </a:ext>
              </a:extLst>
            </p:cNvPr>
            <p:cNvSpPr/>
            <p:nvPr/>
          </p:nvSpPr>
          <p:spPr>
            <a:xfrm>
              <a:off x="2130324" y="4171630"/>
              <a:ext cx="2344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自宅的感測器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28" name="グラフィックス 27" descr="睡眠">
              <a:extLst>
                <a:ext uri="{FF2B5EF4-FFF2-40B4-BE49-F238E27FC236}">
                  <a16:creationId xmlns:a16="http://schemas.microsoft.com/office/drawing/2014/main" xmlns="" id="{A767450C-AFE0-4AB7-ABB6-01C088E91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625272" y="5325218"/>
              <a:ext cx="914400" cy="914400"/>
            </a:xfrm>
            <a:prstGeom prst="rect">
              <a:avLst/>
            </a:prstGeom>
          </p:spPr>
        </p:pic>
        <p:pic>
          <p:nvPicPr>
            <p:cNvPr id="30" name="グラフィックス 29" descr="流し台">
              <a:extLst>
                <a:ext uri="{FF2B5EF4-FFF2-40B4-BE49-F238E27FC236}">
                  <a16:creationId xmlns:a16="http://schemas.microsoft.com/office/drawing/2014/main" xmlns="" id="{65D857E4-D0DA-443D-B30F-791895341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573314" y="5325218"/>
              <a:ext cx="914400" cy="914400"/>
            </a:xfrm>
            <a:prstGeom prst="rect">
              <a:avLst/>
            </a:prstGeom>
          </p:spPr>
        </p:pic>
        <p:pic>
          <p:nvPicPr>
            <p:cNvPr id="32" name="グラフィックス 31" descr="ソファ">
              <a:extLst>
                <a:ext uri="{FF2B5EF4-FFF2-40B4-BE49-F238E27FC236}">
                  <a16:creationId xmlns:a16="http://schemas.microsoft.com/office/drawing/2014/main" xmlns="" id="{2FE265E9-12A4-4784-804E-70A8A8872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047335" y="5325218"/>
              <a:ext cx="914400" cy="914400"/>
            </a:xfrm>
            <a:prstGeom prst="rect">
              <a:avLst/>
            </a:prstGeom>
          </p:spPr>
        </p:pic>
        <p:pic>
          <p:nvPicPr>
            <p:cNvPr id="34" name="グラフィックス 33" descr="バスタブ">
              <a:extLst>
                <a:ext uri="{FF2B5EF4-FFF2-40B4-BE49-F238E27FC236}">
                  <a16:creationId xmlns:a16="http://schemas.microsoft.com/office/drawing/2014/main" xmlns="" id="{50F3CCD9-A331-48F2-97CF-1C96E2D55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2099293" y="5325218"/>
              <a:ext cx="914400" cy="914400"/>
            </a:xfrm>
            <a:prstGeom prst="rect">
              <a:avLst/>
            </a:prstGeom>
          </p:spPr>
        </p:pic>
        <p:pic>
          <p:nvPicPr>
            <p:cNvPr id="39" name="グラフィックス 38" descr="建物">
              <a:extLst>
                <a:ext uri="{FF2B5EF4-FFF2-40B4-BE49-F238E27FC236}">
                  <a16:creationId xmlns:a16="http://schemas.microsoft.com/office/drawing/2014/main" xmlns="" id="{0A21326E-7ECD-4E31-BABA-F5E17052F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365613" y="5153974"/>
              <a:ext cx="672603" cy="672603"/>
            </a:xfrm>
            <a:prstGeom prst="rect">
              <a:avLst/>
            </a:prstGeom>
          </p:spPr>
        </p:pic>
        <p:sp>
          <p:nvSpPr>
            <p:cNvPr id="40" name="矢印: 左右 39">
              <a:extLst>
                <a:ext uri="{FF2B5EF4-FFF2-40B4-BE49-F238E27FC236}">
                  <a16:creationId xmlns:a16="http://schemas.microsoft.com/office/drawing/2014/main" xmlns="" id="{E6765F8B-F2A9-485E-9DA6-7E5BE0985BAD}"/>
                </a:ext>
              </a:extLst>
            </p:cNvPr>
            <p:cNvSpPr/>
            <p:nvPr/>
          </p:nvSpPr>
          <p:spPr>
            <a:xfrm>
              <a:off x="6345802" y="4831123"/>
              <a:ext cx="1393903" cy="484632"/>
            </a:xfrm>
            <a:prstGeom prst="left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FD6E10A0-BD36-456E-BE98-D88295D046C1}"/>
                </a:ext>
              </a:extLst>
            </p:cNvPr>
            <p:cNvSpPr/>
            <p:nvPr/>
          </p:nvSpPr>
          <p:spPr>
            <a:xfrm>
              <a:off x="8004964" y="4516472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管理與運用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xmlns="" id="{8D25825F-29C6-4A87-870C-F3B85D3D0E25}"/>
                </a:ext>
              </a:extLst>
            </p:cNvPr>
            <p:cNvSpPr/>
            <p:nvPr/>
          </p:nvSpPr>
          <p:spPr>
            <a:xfrm>
              <a:off x="6345802" y="5443842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異常確認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ED18FF05-0820-4986-B407-EFCACFCE1534}"/>
                </a:ext>
              </a:extLst>
            </p:cNvPr>
            <p:cNvSpPr/>
            <p:nvPr/>
          </p:nvSpPr>
          <p:spPr>
            <a:xfrm>
              <a:off x="802887" y="1285839"/>
              <a:ext cx="215740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全新的照護服務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3EE900D8-45D9-4814-8959-07212F2FC20F}"/>
                </a:ext>
              </a:extLst>
            </p:cNvPr>
            <p:cNvSpPr/>
            <p:nvPr/>
          </p:nvSpPr>
          <p:spPr>
            <a:xfrm>
              <a:off x="802887" y="2796618"/>
              <a:ext cx="215740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體制與銷售規模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xmlns="" id="{7F2AD7B0-3897-49EB-B4EA-3EC03EF16A55}"/>
                </a:ext>
              </a:extLst>
            </p:cNvPr>
            <p:cNvSpPr txBox="1"/>
            <p:nvPr/>
          </p:nvSpPr>
          <p:spPr>
            <a:xfrm>
              <a:off x="2960289" y="2795217"/>
              <a:ext cx="60245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由電子零件製造商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公司的感測器技術，和本公司的資料分析技術組合而成的全新事業。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以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年度達到事業規模</a:t>
              </a:r>
              <a:r>
                <a:rPr kumimoji="1"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億日圓為目標，以本公司納入的照護設施為主，謀求服務的普及。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526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xmlns="" id="{DDAA6A9D-82BE-41F5-AAF5-CBD3310D9A44}"/>
              </a:ext>
            </a:extLst>
          </p:cNvPr>
          <p:cNvGrpSpPr/>
          <p:nvPr/>
        </p:nvGrpSpPr>
        <p:grpSpPr>
          <a:xfrm>
            <a:off x="275063" y="246470"/>
            <a:ext cx="9377268" cy="6499359"/>
            <a:chOff x="275063" y="246470"/>
            <a:chExt cx="9377268" cy="6499359"/>
          </a:xfrm>
        </p:grpSpPr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xmlns="" id="{33C19C65-ADE6-41F0-9ACA-64E31537CB93}"/>
                </a:ext>
              </a:extLst>
            </p:cNvPr>
            <p:cNvSpPr/>
            <p:nvPr/>
          </p:nvSpPr>
          <p:spPr>
            <a:xfrm>
              <a:off x="2372397" y="246470"/>
              <a:ext cx="6883934" cy="79351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xmlns="" id="{2BC58D14-4098-495C-A4BF-B869B9E425FE}"/>
                </a:ext>
              </a:extLst>
            </p:cNvPr>
            <p:cNvSpPr/>
            <p:nvPr/>
          </p:nvSpPr>
          <p:spPr>
            <a:xfrm>
              <a:off x="649669" y="246470"/>
              <a:ext cx="1722728" cy="79023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49669" y="1866996"/>
              <a:ext cx="42480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即時測量躺在床上的人的體重及身體位置、在浴室裡的呼吸狀態、廁所的使用次數等資訊，同時可透過遠距監視器加以確認。</a:t>
              </a:r>
              <a:endParaRPr kumimoji="1"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自動檢查高齡者與主要照顧者的身體狀況，以及室內的異常，透過先進的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IoT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服務，守護家庭的安心與家人的健康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kumimoji="1" lang="ja-JP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xmlns="" id="{544F26A1-399A-45DD-A997-3303DFA094DA}"/>
                </a:ext>
              </a:extLst>
            </p:cNvPr>
            <p:cNvSpPr/>
            <p:nvPr/>
          </p:nvSpPr>
          <p:spPr>
            <a:xfrm>
              <a:off x="275063" y="246470"/>
              <a:ext cx="792000" cy="790233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446307" y="443170"/>
              <a:ext cx="38834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感測器守護的</a:t>
              </a:r>
              <a:r>
                <a:rPr kumimoji="1"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安心與健康</a:t>
              </a:r>
              <a:endParaRPr kumimoji="1"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23E802B2-A5AA-4C31-8E44-1F08D833E89B}"/>
                </a:ext>
              </a:extLst>
            </p:cNvPr>
            <p:cNvSpPr/>
            <p:nvPr/>
          </p:nvSpPr>
          <p:spPr>
            <a:xfrm>
              <a:off x="1218583" y="379976"/>
              <a:ext cx="99591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概要</a:t>
              </a:r>
              <a:endParaRPr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xmlns="" id="{F30DA6BB-91F5-41E5-B565-1921468EC9EC}"/>
                </a:ext>
              </a:extLst>
            </p:cNvPr>
            <p:cNvSpPr txBox="1"/>
            <p:nvPr/>
          </p:nvSpPr>
          <p:spPr>
            <a:xfrm>
              <a:off x="4685844" y="6438052"/>
              <a:ext cx="5343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-2-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ED18FF05-0820-4986-B407-EFCACFCE1534}"/>
                </a:ext>
              </a:extLst>
            </p:cNvPr>
            <p:cNvSpPr/>
            <p:nvPr/>
          </p:nvSpPr>
          <p:spPr>
            <a:xfrm>
              <a:off x="649669" y="1380604"/>
              <a:ext cx="308599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ja-JP" altLang="en-US" sz="16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●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全新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的照護服務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3EE900D8-45D9-4814-8959-07212F2FC20F}"/>
                </a:ext>
              </a:extLst>
            </p:cNvPr>
            <p:cNvSpPr/>
            <p:nvPr/>
          </p:nvSpPr>
          <p:spPr>
            <a:xfrm>
              <a:off x="5109989" y="1380604"/>
              <a:ext cx="308599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ja-JP" altLang="en-US" sz="16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●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體制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與銷售規模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xmlns="" id="{7F2AD7B0-3897-49EB-B4EA-3EC03EF16A55}"/>
                </a:ext>
              </a:extLst>
            </p:cNvPr>
            <p:cNvSpPr txBox="1"/>
            <p:nvPr/>
          </p:nvSpPr>
          <p:spPr>
            <a:xfrm>
              <a:off x="5109989" y="1866996"/>
              <a:ext cx="4248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defRPr kumimoji="1" sz="1600">
                  <a:latin typeface="メイリオ" panose="020B0604030504040204" pitchFamily="50" charset="-128"/>
                  <a:ea typeface="メイリオ" panose="020B0604030504040204" pitchFamily="50" charset="-128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由電子零件製造商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公司的感測器技術，和本公司的資料分析技術組合而成的全新事業。</a:t>
              </a:r>
              <a:endParaRPr lang="en-US" altLang="ja-JP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以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年度達到事業規模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億日圓為目標，以本公司納入的照護設施為主，謀求服務的普及。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xmlns="" id="{F36A47AA-4A2D-468D-838B-F0C82EDA91D5}"/>
                </a:ext>
              </a:extLst>
            </p:cNvPr>
            <p:cNvSpPr/>
            <p:nvPr/>
          </p:nvSpPr>
          <p:spPr>
            <a:xfrm>
              <a:off x="293077" y="379976"/>
              <a:ext cx="7559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楕円 42">
              <a:extLst>
                <a:ext uri="{FF2B5EF4-FFF2-40B4-BE49-F238E27FC236}">
                  <a16:creationId xmlns:a16="http://schemas.microsoft.com/office/drawing/2014/main" xmlns="" id="{1C651274-A858-4E12-92B5-9E71C1F3BF09}"/>
                </a:ext>
              </a:extLst>
            </p:cNvPr>
            <p:cNvSpPr/>
            <p:nvPr/>
          </p:nvSpPr>
          <p:spPr>
            <a:xfrm>
              <a:off x="7666087" y="4172405"/>
              <a:ext cx="1964850" cy="1932154"/>
            </a:xfrm>
            <a:prstGeom prst="ellipse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xmlns="" id="{340D0342-F79D-4252-A2C9-B254AF55D744}"/>
                </a:ext>
              </a:extLst>
            </p:cNvPr>
            <p:cNvSpPr/>
            <p:nvPr/>
          </p:nvSpPr>
          <p:spPr>
            <a:xfrm>
              <a:off x="6292398" y="4308990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身體管理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xmlns="" id="{8242BCF4-F7FA-4445-AFF9-891D3FC140B1}"/>
                </a:ext>
              </a:extLst>
            </p:cNvPr>
            <p:cNvSpPr/>
            <p:nvPr/>
          </p:nvSpPr>
          <p:spPr>
            <a:xfrm>
              <a:off x="275063" y="4074442"/>
              <a:ext cx="5948692" cy="2128080"/>
            </a:xfrm>
            <a:prstGeom prst="roundRect">
              <a:avLst/>
            </a:prstGeom>
            <a:no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フローチャート: データ 6">
              <a:extLst>
                <a:ext uri="{FF2B5EF4-FFF2-40B4-BE49-F238E27FC236}">
                  <a16:creationId xmlns:a16="http://schemas.microsoft.com/office/drawing/2014/main" xmlns="" id="{F07761B1-CE72-4DC3-A53E-0ED262AA2B7E}"/>
                </a:ext>
              </a:extLst>
            </p:cNvPr>
            <p:cNvSpPr/>
            <p:nvPr/>
          </p:nvSpPr>
          <p:spPr>
            <a:xfrm>
              <a:off x="417687" y="4745526"/>
              <a:ext cx="1260000" cy="601946"/>
            </a:xfrm>
            <a:prstGeom prst="flowChartInputOutpu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B4AF3372-C2C1-4991-847E-C72FCE76D99E}"/>
                </a:ext>
              </a:extLst>
            </p:cNvPr>
            <p:cNvSpPr/>
            <p:nvPr/>
          </p:nvSpPr>
          <p:spPr>
            <a:xfrm>
              <a:off x="839938" y="4861833"/>
              <a:ext cx="41549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床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xmlns="" id="{D0A79F30-C1AC-4783-845F-F18669F9857D}"/>
                </a:ext>
              </a:extLst>
            </p:cNvPr>
            <p:cNvSpPr/>
            <p:nvPr/>
          </p:nvSpPr>
          <p:spPr>
            <a:xfrm>
              <a:off x="1885502" y="4745526"/>
              <a:ext cx="1260000" cy="601946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CF4939A1-E309-463D-BA11-4B6C45163D90}"/>
                </a:ext>
              </a:extLst>
            </p:cNvPr>
            <p:cNvSpPr/>
            <p:nvPr/>
          </p:nvSpPr>
          <p:spPr>
            <a:xfrm>
              <a:off x="2192336" y="4861833"/>
              <a:ext cx="64633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浴室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四角形: 1 つの角を切り取る 14">
              <a:extLst>
                <a:ext uri="{FF2B5EF4-FFF2-40B4-BE49-F238E27FC236}">
                  <a16:creationId xmlns:a16="http://schemas.microsoft.com/office/drawing/2014/main" xmlns="" id="{26E20959-AD3E-42F2-8B27-C5EBB994AECA}"/>
                </a:ext>
              </a:extLst>
            </p:cNvPr>
            <p:cNvSpPr/>
            <p:nvPr/>
          </p:nvSpPr>
          <p:spPr>
            <a:xfrm>
              <a:off x="3353317" y="4745526"/>
              <a:ext cx="1260000" cy="601946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87A5A497-CD0A-45F1-BB5D-D96E711BB839}"/>
                </a:ext>
              </a:extLst>
            </p:cNvPr>
            <p:cNvSpPr/>
            <p:nvPr/>
          </p:nvSpPr>
          <p:spPr>
            <a:xfrm>
              <a:off x="3660152" y="4861833"/>
              <a:ext cx="6463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廁所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xmlns="" id="{8CAFD9B4-EC93-408D-BFC4-0CB49C0AB4C9}"/>
                </a:ext>
              </a:extLst>
            </p:cNvPr>
            <p:cNvSpPr/>
            <p:nvPr/>
          </p:nvSpPr>
          <p:spPr>
            <a:xfrm>
              <a:off x="4821131" y="4745526"/>
              <a:ext cx="1260000" cy="6019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BA4B18CA-3E50-4E6F-B896-3202C32A991D}"/>
                </a:ext>
              </a:extLst>
            </p:cNvPr>
            <p:cNvSpPr/>
            <p:nvPr/>
          </p:nvSpPr>
          <p:spPr>
            <a:xfrm>
              <a:off x="5127966" y="4861833"/>
              <a:ext cx="6463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客廳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131A754F-E371-42E8-95FF-453037548E04}"/>
                </a:ext>
              </a:extLst>
            </p:cNvPr>
            <p:cNvSpPr/>
            <p:nvPr/>
          </p:nvSpPr>
          <p:spPr>
            <a:xfrm>
              <a:off x="2076920" y="4196344"/>
              <a:ext cx="2344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自宅的感測器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28" name="グラフィックス 27" descr="睡眠">
              <a:extLst>
                <a:ext uri="{FF2B5EF4-FFF2-40B4-BE49-F238E27FC236}">
                  <a16:creationId xmlns:a16="http://schemas.microsoft.com/office/drawing/2014/main" xmlns="" id="{A767450C-AFE0-4AB7-ABB6-01C088E91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71868" y="5325218"/>
              <a:ext cx="914400" cy="914400"/>
            </a:xfrm>
            <a:prstGeom prst="rect">
              <a:avLst/>
            </a:prstGeom>
          </p:spPr>
        </p:pic>
        <p:pic>
          <p:nvPicPr>
            <p:cNvPr id="30" name="グラフィックス 29" descr="流し台">
              <a:extLst>
                <a:ext uri="{FF2B5EF4-FFF2-40B4-BE49-F238E27FC236}">
                  <a16:creationId xmlns:a16="http://schemas.microsoft.com/office/drawing/2014/main" xmlns="" id="{65D857E4-D0DA-443D-B30F-791895341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519910" y="5325218"/>
              <a:ext cx="914400" cy="914400"/>
            </a:xfrm>
            <a:prstGeom prst="rect">
              <a:avLst/>
            </a:prstGeom>
          </p:spPr>
        </p:pic>
        <p:pic>
          <p:nvPicPr>
            <p:cNvPr id="32" name="グラフィックス 31" descr="ソファ">
              <a:extLst>
                <a:ext uri="{FF2B5EF4-FFF2-40B4-BE49-F238E27FC236}">
                  <a16:creationId xmlns:a16="http://schemas.microsoft.com/office/drawing/2014/main" xmlns="" id="{2FE265E9-12A4-4784-804E-70A8A8872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4993931" y="5325218"/>
              <a:ext cx="914400" cy="914400"/>
            </a:xfrm>
            <a:prstGeom prst="rect">
              <a:avLst/>
            </a:prstGeom>
          </p:spPr>
        </p:pic>
        <p:pic>
          <p:nvPicPr>
            <p:cNvPr id="34" name="グラフィックス 33" descr="バスタブ">
              <a:extLst>
                <a:ext uri="{FF2B5EF4-FFF2-40B4-BE49-F238E27FC236}">
                  <a16:creationId xmlns:a16="http://schemas.microsoft.com/office/drawing/2014/main" xmlns="" id="{50F3CCD9-A331-48F2-97CF-1C96E2D55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2045889" y="5325218"/>
              <a:ext cx="914400" cy="914400"/>
            </a:xfrm>
            <a:prstGeom prst="rect">
              <a:avLst/>
            </a:prstGeom>
          </p:spPr>
        </p:pic>
        <p:pic>
          <p:nvPicPr>
            <p:cNvPr id="39" name="グラフィックス 38" descr="建物">
              <a:extLst>
                <a:ext uri="{FF2B5EF4-FFF2-40B4-BE49-F238E27FC236}">
                  <a16:creationId xmlns:a16="http://schemas.microsoft.com/office/drawing/2014/main" xmlns="" id="{0A21326E-7ECD-4E31-BABA-F5E17052F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312209" y="5153974"/>
              <a:ext cx="672603" cy="672603"/>
            </a:xfrm>
            <a:prstGeom prst="rect">
              <a:avLst/>
            </a:prstGeom>
          </p:spPr>
        </p:pic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FD6E10A0-BD36-456E-BE98-D88295D046C1}"/>
                </a:ext>
              </a:extLst>
            </p:cNvPr>
            <p:cNvSpPr/>
            <p:nvPr/>
          </p:nvSpPr>
          <p:spPr>
            <a:xfrm>
              <a:off x="7951560" y="4541186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管理與運用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xmlns="" id="{8D25825F-29C6-4A87-870C-F3B85D3D0E25}"/>
                </a:ext>
              </a:extLst>
            </p:cNvPr>
            <p:cNvSpPr/>
            <p:nvPr/>
          </p:nvSpPr>
          <p:spPr>
            <a:xfrm>
              <a:off x="6292398" y="5468556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異常確認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17" name="直線矢印コネクタ 116">
              <a:extLst>
                <a:ext uri="{FF2B5EF4-FFF2-40B4-BE49-F238E27FC236}">
                  <a16:creationId xmlns:a16="http://schemas.microsoft.com/office/drawing/2014/main" xmlns="" id="{56EE3F51-EB09-40B5-B174-E963E4F932A4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>
              <a:off x="6223755" y="5138482"/>
              <a:ext cx="1442332" cy="0"/>
            </a:xfrm>
            <a:prstGeom prst="straightConnector1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  <a:prstDash val="solid"/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楕円 119">
              <a:extLst>
                <a:ext uri="{FF2B5EF4-FFF2-40B4-BE49-F238E27FC236}">
                  <a16:creationId xmlns:a16="http://schemas.microsoft.com/office/drawing/2014/main" xmlns="" id="{F1BCFA88-0CC8-4B19-BB2E-D335AEC2EDB2}"/>
                </a:ext>
              </a:extLst>
            </p:cNvPr>
            <p:cNvSpPr/>
            <p:nvPr/>
          </p:nvSpPr>
          <p:spPr>
            <a:xfrm>
              <a:off x="8860331" y="246470"/>
              <a:ext cx="792000" cy="79023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xmlns="" id="{E550509D-4ABD-45CE-9695-135E806B1F42}"/>
                </a:ext>
              </a:extLst>
            </p:cNvPr>
            <p:cNvSpPr txBox="1"/>
            <p:nvPr/>
          </p:nvSpPr>
          <p:spPr>
            <a:xfrm>
              <a:off x="8020499" y="520115"/>
              <a:ext cx="1610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照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護事業投入企劃書</a:t>
              </a:r>
              <a:endParaRPr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xmlns="" id="{5477762C-E450-4A89-B986-873272556E5C}"/>
              </a:ext>
            </a:extLst>
          </p:cNvPr>
          <p:cNvGrpSpPr/>
          <p:nvPr/>
        </p:nvGrpSpPr>
        <p:grpSpPr>
          <a:xfrm>
            <a:off x="275063" y="246470"/>
            <a:ext cx="9355874" cy="6499359"/>
            <a:chOff x="275063" y="246470"/>
            <a:chExt cx="9355874" cy="6499359"/>
          </a:xfrm>
        </p:grpSpPr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xmlns="" id="{2BC58D14-4098-495C-A4BF-B869B9E425FE}"/>
                </a:ext>
              </a:extLst>
            </p:cNvPr>
            <p:cNvSpPr/>
            <p:nvPr/>
          </p:nvSpPr>
          <p:spPr>
            <a:xfrm>
              <a:off x="1089730" y="246470"/>
              <a:ext cx="1260000" cy="79023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xmlns="" id="{D68606D1-1307-4B38-A4BD-53A9C85B2B6D}"/>
                </a:ext>
              </a:extLst>
            </p:cNvPr>
            <p:cNvSpPr/>
            <p:nvPr/>
          </p:nvSpPr>
          <p:spPr>
            <a:xfrm>
              <a:off x="2372397" y="246470"/>
              <a:ext cx="7258540" cy="79351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2960289" y="1290690"/>
              <a:ext cx="60245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即時測量躺在床上的人的體重及身體位置、在浴室裡的呼吸狀態、廁所的使用次數等資訊，同時可透過遠距監視器加以確認。</a:t>
              </a:r>
              <a:endParaRPr kumimoji="1"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自動檢查高齡者與主要照顧者的身體狀況，以及室內的異常，透過先進的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IoT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服務，守護家庭的安心與家人的健康。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xmlns="" id="{544F26A1-399A-45DD-A997-3303DFA094DA}"/>
                </a:ext>
              </a:extLst>
            </p:cNvPr>
            <p:cNvSpPr/>
            <p:nvPr/>
          </p:nvSpPr>
          <p:spPr>
            <a:xfrm>
              <a:off x="275063" y="246470"/>
              <a:ext cx="792000" cy="79023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446307" y="443170"/>
              <a:ext cx="38834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感測器守護的安心與健康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23E802B2-A5AA-4C31-8E44-1F08D833E89B}"/>
                </a:ext>
              </a:extLst>
            </p:cNvPr>
            <p:cNvSpPr/>
            <p:nvPr/>
          </p:nvSpPr>
          <p:spPr>
            <a:xfrm>
              <a:off x="1221775" y="379976"/>
              <a:ext cx="99591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概要</a:t>
              </a:r>
              <a:endParaRPr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xmlns="" id="{E550509D-4ABD-45CE-9695-135E806B1F42}"/>
                </a:ext>
              </a:extLst>
            </p:cNvPr>
            <p:cNvSpPr txBox="1"/>
            <p:nvPr/>
          </p:nvSpPr>
          <p:spPr>
            <a:xfrm>
              <a:off x="8020499" y="520115"/>
              <a:ext cx="1610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照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護事業投入企劃書</a:t>
              </a:r>
              <a:endParaRPr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xmlns="" id="{1C651274-A858-4E12-92B5-9E71C1F3BF09}"/>
                </a:ext>
              </a:extLst>
            </p:cNvPr>
            <p:cNvSpPr/>
            <p:nvPr/>
          </p:nvSpPr>
          <p:spPr>
            <a:xfrm>
              <a:off x="7826298" y="4277435"/>
              <a:ext cx="1751236" cy="1722094"/>
            </a:xfrm>
            <a:prstGeom prst="rect">
              <a:avLst/>
            </a:prstGeom>
            <a:noFill/>
            <a:ln w="9525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xmlns="" id="{340D0342-F79D-4252-A2C9-B254AF55D744}"/>
                </a:ext>
              </a:extLst>
            </p:cNvPr>
            <p:cNvSpPr/>
            <p:nvPr/>
          </p:nvSpPr>
          <p:spPr>
            <a:xfrm>
              <a:off x="6345802" y="4308990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身體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</a:t>
              </a:r>
              <a:endParaRPr kumimoji="1" lang="en-US" altLang="ja-JP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xmlns="" id="{F30DA6BB-91F5-41E5-B565-1921468EC9EC}"/>
                </a:ext>
              </a:extLst>
            </p:cNvPr>
            <p:cNvSpPr txBox="1"/>
            <p:nvPr/>
          </p:nvSpPr>
          <p:spPr>
            <a:xfrm>
              <a:off x="4739248" y="6438052"/>
              <a:ext cx="5343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-2-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xmlns="" id="{8242BCF4-F7FA-4445-AFF9-891D3FC140B1}"/>
                </a:ext>
              </a:extLst>
            </p:cNvPr>
            <p:cNvSpPr/>
            <p:nvPr/>
          </p:nvSpPr>
          <p:spPr>
            <a:xfrm>
              <a:off x="328467" y="4074442"/>
              <a:ext cx="5948692" cy="2128080"/>
            </a:xfrm>
            <a:prstGeom prst="rect">
              <a:avLst/>
            </a:prstGeom>
            <a:noFill/>
            <a:ln w="9525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F07761B1-CE72-4DC3-A53E-0ED262AA2B7E}"/>
                </a:ext>
              </a:extLst>
            </p:cNvPr>
            <p:cNvSpPr/>
            <p:nvPr/>
          </p:nvSpPr>
          <p:spPr>
            <a:xfrm>
              <a:off x="471091" y="4745526"/>
              <a:ext cx="1260000" cy="6019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B4AF3372-C2C1-4991-847E-C72FCE76D99E}"/>
                </a:ext>
              </a:extLst>
            </p:cNvPr>
            <p:cNvSpPr/>
            <p:nvPr/>
          </p:nvSpPr>
          <p:spPr>
            <a:xfrm>
              <a:off x="893342" y="4861833"/>
              <a:ext cx="415498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床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xmlns="" id="{D0A79F30-C1AC-4783-845F-F18669F9857D}"/>
                </a:ext>
              </a:extLst>
            </p:cNvPr>
            <p:cNvSpPr/>
            <p:nvPr/>
          </p:nvSpPr>
          <p:spPr>
            <a:xfrm>
              <a:off x="1938906" y="4745526"/>
              <a:ext cx="1260000" cy="6019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CF4939A1-E309-463D-BA11-4B6C45163D90}"/>
                </a:ext>
              </a:extLst>
            </p:cNvPr>
            <p:cNvSpPr/>
            <p:nvPr/>
          </p:nvSpPr>
          <p:spPr>
            <a:xfrm>
              <a:off x="2245740" y="4861833"/>
              <a:ext cx="64633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浴室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xmlns="" id="{26E20959-AD3E-42F2-8B27-C5EBB994AECA}"/>
                </a:ext>
              </a:extLst>
            </p:cNvPr>
            <p:cNvSpPr/>
            <p:nvPr/>
          </p:nvSpPr>
          <p:spPr>
            <a:xfrm>
              <a:off x="3406721" y="4745526"/>
              <a:ext cx="1260000" cy="6019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xmlns="" id="{87A5A497-CD0A-45F1-BB5D-D96E711BB839}"/>
                </a:ext>
              </a:extLst>
            </p:cNvPr>
            <p:cNvSpPr/>
            <p:nvPr/>
          </p:nvSpPr>
          <p:spPr>
            <a:xfrm>
              <a:off x="3713556" y="4861833"/>
              <a:ext cx="6463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廁所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xmlns="" id="{8CAFD9B4-EC93-408D-BFC4-0CB49C0AB4C9}"/>
                </a:ext>
              </a:extLst>
            </p:cNvPr>
            <p:cNvSpPr/>
            <p:nvPr/>
          </p:nvSpPr>
          <p:spPr>
            <a:xfrm>
              <a:off x="4874535" y="4745526"/>
              <a:ext cx="1260000" cy="6019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xmlns="" id="{BA4B18CA-3E50-4E6F-B896-3202C32A991D}"/>
                </a:ext>
              </a:extLst>
            </p:cNvPr>
            <p:cNvSpPr/>
            <p:nvPr/>
          </p:nvSpPr>
          <p:spPr>
            <a:xfrm>
              <a:off x="5181370" y="4861833"/>
              <a:ext cx="6463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kumimoji="1" lang="zh-TW" altLang="en-US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客廳</a:t>
              </a:r>
              <a:endParaRPr lang="ja-JP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xmlns="" id="{131A754F-E371-42E8-95FF-453037548E04}"/>
                </a:ext>
              </a:extLst>
            </p:cNvPr>
            <p:cNvSpPr/>
            <p:nvPr/>
          </p:nvSpPr>
          <p:spPr>
            <a:xfrm>
              <a:off x="2130324" y="4196344"/>
              <a:ext cx="2344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自宅的感測器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pic>
          <p:nvPicPr>
            <p:cNvPr id="28" name="グラフィックス 27" descr="睡眠">
              <a:extLst>
                <a:ext uri="{FF2B5EF4-FFF2-40B4-BE49-F238E27FC236}">
                  <a16:creationId xmlns:a16="http://schemas.microsoft.com/office/drawing/2014/main" xmlns="" id="{A767450C-AFE0-4AB7-ABB6-01C088E91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625272" y="5325218"/>
              <a:ext cx="914400" cy="914400"/>
            </a:xfrm>
            <a:prstGeom prst="rect">
              <a:avLst/>
            </a:prstGeom>
          </p:spPr>
        </p:pic>
        <p:pic>
          <p:nvPicPr>
            <p:cNvPr id="30" name="グラフィックス 29" descr="流し台">
              <a:extLst>
                <a:ext uri="{FF2B5EF4-FFF2-40B4-BE49-F238E27FC236}">
                  <a16:creationId xmlns:a16="http://schemas.microsoft.com/office/drawing/2014/main" xmlns="" id="{65D857E4-D0DA-443D-B30F-791895341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573314" y="5325218"/>
              <a:ext cx="914400" cy="914400"/>
            </a:xfrm>
            <a:prstGeom prst="rect">
              <a:avLst/>
            </a:prstGeom>
          </p:spPr>
        </p:pic>
        <p:pic>
          <p:nvPicPr>
            <p:cNvPr id="32" name="グラフィックス 31" descr="ソファ">
              <a:extLst>
                <a:ext uri="{FF2B5EF4-FFF2-40B4-BE49-F238E27FC236}">
                  <a16:creationId xmlns:a16="http://schemas.microsoft.com/office/drawing/2014/main" xmlns="" id="{2FE265E9-12A4-4784-804E-70A8A8872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047335" y="5325218"/>
              <a:ext cx="914400" cy="914400"/>
            </a:xfrm>
            <a:prstGeom prst="rect">
              <a:avLst/>
            </a:prstGeom>
          </p:spPr>
        </p:pic>
        <p:pic>
          <p:nvPicPr>
            <p:cNvPr id="34" name="グラフィックス 33" descr="バスタブ">
              <a:extLst>
                <a:ext uri="{FF2B5EF4-FFF2-40B4-BE49-F238E27FC236}">
                  <a16:creationId xmlns:a16="http://schemas.microsoft.com/office/drawing/2014/main" xmlns="" id="{50F3CCD9-A331-48F2-97CF-1C96E2D55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2099293" y="5325218"/>
              <a:ext cx="914400" cy="914400"/>
            </a:xfrm>
            <a:prstGeom prst="rect">
              <a:avLst/>
            </a:prstGeom>
          </p:spPr>
        </p:pic>
        <p:pic>
          <p:nvPicPr>
            <p:cNvPr id="39" name="グラフィックス 38" descr="建物">
              <a:extLst>
                <a:ext uri="{FF2B5EF4-FFF2-40B4-BE49-F238E27FC236}">
                  <a16:creationId xmlns:a16="http://schemas.microsoft.com/office/drawing/2014/main" xmlns="" id="{0A21326E-7ECD-4E31-BABA-F5E17052F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365613" y="5153974"/>
              <a:ext cx="672603" cy="672603"/>
            </a:xfrm>
            <a:prstGeom prst="rect">
              <a:avLst/>
            </a:prstGeom>
          </p:spPr>
        </p:pic>
        <p:sp>
          <p:nvSpPr>
            <p:cNvPr id="40" name="矢印: 左右 39">
              <a:extLst>
                <a:ext uri="{FF2B5EF4-FFF2-40B4-BE49-F238E27FC236}">
                  <a16:creationId xmlns:a16="http://schemas.microsoft.com/office/drawing/2014/main" xmlns="" id="{E6765F8B-F2A9-485E-9DA6-7E5BE0985BAD}"/>
                </a:ext>
              </a:extLst>
            </p:cNvPr>
            <p:cNvSpPr/>
            <p:nvPr/>
          </p:nvSpPr>
          <p:spPr>
            <a:xfrm>
              <a:off x="6345802" y="4831123"/>
              <a:ext cx="1393903" cy="484632"/>
            </a:xfrm>
            <a:prstGeom prst="leftRightArrow">
              <a:avLst/>
            </a:prstGeom>
            <a:solidFill>
              <a:schemeClr val="accent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FD6E10A0-BD36-456E-BE98-D88295D046C1}"/>
                </a:ext>
              </a:extLst>
            </p:cNvPr>
            <p:cNvSpPr/>
            <p:nvPr/>
          </p:nvSpPr>
          <p:spPr>
            <a:xfrm>
              <a:off x="8004964" y="4541186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管理與運用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xmlns="" id="{8D25825F-29C6-4A87-870C-F3B85D3D0E25}"/>
                </a:ext>
              </a:extLst>
            </p:cNvPr>
            <p:cNvSpPr/>
            <p:nvPr/>
          </p:nvSpPr>
          <p:spPr>
            <a:xfrm>
              <a:off x="6345802" y="5468556"/>
              <a:ext cx="13939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異常確認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ED18FF05-0820-4986-B407-EFCACFCE1534}"/>
                </a:ext>
              </a:extLst>
            </p:cNvPr>
            <p:cNvSpPr/>
            <p:nvPr/>
          </p:nvSpPr>
          <p:spPr>
            <a:xfrm>
              <a:off x="571867" y="1300563"/>
              <a:ext cx="23884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ja-JP" altLang="en-US" sz="1600" smtClean="0">
                  <a:solidFill>
                    <a:schemeClr val="accent5">
                      <a:lumMod val="50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全新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的照護服務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xmlns="" id="{3EE900D8-45D9-4814-8959-07212F2FC20F}"/>
                </a:ext>
              </a:extLst>
            </p:cNvPr>
            <p:cNvSpPr/>
            <p:nvPr/>
          </p:nvSpPr>
          <p:spPr>
            <a:xfrm>
              <a:off x="571867" y="2811342"/>
              <a:ext cx="23884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kumimoji="1" lang="ja-JP" altLang="en-US" sz="1600" smtClean="0">
                  <a:solidFill>
                    <a:schemeClr val="accent5">
                      <a:lumMod val="50000"/>
                    </a:schemeClr>
                  </a:solidFill>
                  <a:latin typeface="+mn-ea"/>
                  <a:cs typeface="Times New Roman" panose="02020603050405020304" pitchFamily="18" charset="0"/>
                </a:rPr>
                <a:t>■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體制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與銷售規模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xmlns="" id="{7F2AD7B0-3897-49EB-B4EA-3EC03EF16A55}"/>
                </a:ext>
              </a:extLst>
            </p:cNvPr>
            <p:cNvSpPr txBox="1"/>
            <p:nvPr/>
          </p:nvSpPr>
          <p:spPr>
            <a:xfrm>
              <a:off x="2960289" y="2809941"/>
              <a:ext cx="602452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由電子零件製造商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公司的感測器技術，和本公司的資料分析技術組合而成的全新事業。</a:t>
              </a:r>
              <a:endParaRPr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以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2020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年度達到事業規模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億日圓為目標，以本公司納入的照護設施為主，謀求服務的普及。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xmlns="" id="{F36A47AA-4A2D-468D-838B-F0C82EDA91D5}"/>
                </a:ext>
              </a:extLst>
            </p:cNvPr>
            <p:cNvSpPr/>
            <p:nvPr/>
          </p:nvSpPr>
          <p:spPr>
            <a:xfrm>
              <a:off x="293077" y="379976"/>
              <a:ext cx="75597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28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ja-JP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446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491</Words>
  <Application>Microsoft Office PowerPoint</Application>
  <PresentationFormat>A4 紙張 (210x297 公釐)</PresentationFormat>
  <Paragraphs>56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43</cp:revision>
  <dcterms:created xsi:type="dcterms:W3CDTF">2017-11-09T07:26:57Z</dcterms:created>
  <dcterms:modified xsi:type="dcterms:W3CDTF">2018-09-22T09:41:05Z</dcterms:modified>
</cp:coreProperties>
</file>