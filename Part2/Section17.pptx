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r>
              <a:rPr lang="zh-TW" altLang="en-US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靠網路成交壓縮成本</a:t>
            </a:r>
            <a:endParaRPr lang="ja-JP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ポイント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47B8-4997-A82E-9588853875C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7B8-4997-A82E-9588853875C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24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業務銷售</c:v>
                </c:pt>
                <c:pt idx="1">
                  <c:v>網路銷售</c:v>
                </c:pt>
              </c:strCache>
            </c:strRef>
          </c:cat>
          <c:val>
            <c:numRef>
              <c:f>Sheet1!$B$2:$B$3</c:f>
              <c:numCache>
                <c:formatCode>#,##0_ </c:formatCode>
                <c:ptCount val="2"/>
                <c:pt idx="0">
                  <c:v>500</c:v>
                </c:pt>
                <c:pt idx="1">
                  <c:v>325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7B8-4997-A82E-958885387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増減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 w="25400">
                <a:solidFill>
                  <a:srgbClr val="FF0000"/>
                </a:solidFill>
                <a:prstDash val="dash"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7B8-4997-A82E-9588853875CE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業務銷售</c:v>
                </c:pt>
                <c:pt idx="1">
                  <c:v>網路銷售</c:v>
                </c:pt>
              </c:strCache>
            </c:strRef>
          </c:cat>
          <c:val>
            <c:numRef>
              <c:f>Sheet1!$C$2:$C$3</c:f>
              <c:numCache>
                <c:formatCode>#,##0_ </c:formatCode>
                <c:ptCount val="2"/>
                <c:pt idx="0">
                  <c:v>0</c:v>
                </c:pt>
                <c:pt idx="1">
                  <c:v>175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7B8-4997-A82E-9588853875C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00"/>
        <c:axId val="2143483008"/>
        <c:axId val="2143487904"/>
      </c:barChart>
      <c:catAx>
        <c:axId val="21434830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endParaRPr lang="zh-TW"/>
          </a:p>
        </c:txPr>
        <c:crossAx val="2143487904"/>
        <c:crosses val="autoZero"/>
        <c:auto val="1"/>
        <c:lblAlgn val="ctr"/>
        <c:lblOffset val="100"/>
        <c:noMultiLvlLbl val="0"/>
      </c:catAx>
      <c:valAx>
        <c:axId val="214348790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out"/>
        <c:minorTickMark val="none"/>
        <c:tickLblPos val="nextTo"/>
        <c:crossAx val="2143483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r>
              <a:rPr lang="zh-TW" altLang="en-US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靠網路成交壓縮成本</a:t>
            </a:r>
            <a:endParaRPr lang="ja-JP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ポイント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47B8-4997-A82E-9588853875C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7B8-4997-A82E-9588853875C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24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業務銷售</c:v>
                </c:pt>
                <c:pt idx="1">
                  <c:v>網路銷售</c:v>
                </c:pt>
              </c:strCache>
            </c:strRef>
          </c:cat>
          <c:val>
            <c:numRef>
              <c:f>Sheet1!$B$2:$B$3</c:f>
              <c:numCache>
                <c:formatCode>#,##0_ </c:formatCode>
                <c:ptCount val="2"/>
                <c:pt idx="0">
                  <c:v>500</c:v>
                </c:pt>
                <c:pt idx="1">
                  <c:v>325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7B8-4997-A82E-958885387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増減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 w="25400">
                <a:solidFill>
                  <a:srgbClr val="FF0000"/>
                </a:solidFill>
                <a:prstDash val="dash"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7B8-4997-A82E-9588853875CE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業務銷售</c:v>
                </c:pt>
                <c:pt idx="1">
                  <c:v>網路銷售</c:v>
                </c:pt>
              </c:strCache>
            </c:strRef>
          </c:cat>
          <c:val>
            <c:numRef>
              <c:f>Sheet1!$C$2:$C$3</c:f>
              <c:numCache>
                <c:formatCode>#,##0_ </c:formatCode>
                <c:ptCount val="2"/>
                <c:pt idx="0">
                  <c:v>0</c:v>
                </c:pt>
                <c:pt idx="1">
                  <c:v>175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7B8-4997-A82E-9588853875C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00"/>
        <c:axId val="2143489536"/>
        <c:axId val="2143494432"/>
      </c:barChart>
      <c:catAx>
        <c:axId val="2143489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endParaRPr lang="zh-TW"/>
          </a:p>
        </c:txPr>
        <c:crossAx val="2143494432"/>
        <c:crosses val="autoZero"/>
        <c:auto val="1"/>
        <c:lblAlgn val="ctr"/>
        <c:lblOffset val="100"/>
        <c:noMultiLvlLbl val="0"/>
      </c:catAx>
      <c:valAx>
        <c:axId val="214349443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out"/>
        <c:minorTickMark val="none"/>
        <c:tickLblPos val="nextTo"/>
        <c:crossAx val="214348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r>
              <a:rPr lang="zh-TW" altLang="zh-TW" sz="1800" b="0" i="0" baseline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靠網路成交壓縮成本</a:t>
            </a:r>
            <a:endParaRPr lang="zh-TW" altLang="zh-TW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ポイント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116-4B8C-B042-BCE8E9F704C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116-4B8C-B042-BCE8E9F704C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24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業務銷售</c:v>
                </c:pt>
                <c:pt idx="1">
                  <c:v>網路銷售</c:v>
                </c:pt>
              </c:strCache>
            </c:strRef>
          </c:cat>
          <c:val>
            <c:numRef>
              <c:f>Sheet1!$B$2:$B$3</c:f>
              <c:numCache>
                <c:formatCode>#,##0_ </c:formatCode>
                <c:ptCount val="2"/>
                <c:pt idx="0">
                  <c:v>500</c:v>
                </c:pt>
                <c:pt idx="1">
                  <c:v>325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5116-4B8C-B042-BCE8E9F704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増減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 w="25400">
                <a:solidFill>
                  <a:srgbClr val="FF0000"/>
                </a:solidFill>
                <a:prstDash val="dash"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5116-4B8C-B042-BCE8E9F704C1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業務銷售</c:v>
                </c:pt>
                <c:pt idx="1">
                  <c:v>網路銷售</c:v>
                </c:pt>
              </c:strCache>
            </c:strRef>
          </c:cat>
          <c:val>
            <c:numRef>
              <c:f>Sheet1!$C$2:$C$3</c:f>
              <c:numCache>
                <c:formatCode>#,##0_ </c:formatCode>
                <c:ptCount val="2"/>
                <c:pt idx="0">
                  <c:v>0</c:v>
                </c:pt>
                <c:pt idx="1">
                  <c:v>175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5116-4B8C-B042-BCE8E9F704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00"/>
        <c:axId val="2143494976"/>
        <c:axId val="2143483552"/>
      </c:barChart>
      <c:catAx>
        <c:axId val="2143494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endParaRPr lang="zh-TW"/>
          </a:p>
        </c:txPr>
        <c:crossAx val="2143483552"/>
        <c:crosses val="autoZero"/>
        <c:auto val="1"/>
        <c:lblAlgn val="ctr"/>
        <c:lblOffset val="100"/>
        <c:noMultiLvlLbl val="0"/>
      </c:catAx>
      <c:valAx>
        <c:axId val="21434835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out"/>
        <c:minorTickMark val="none"/>
        <c:tickLblPos val="nextTo"/>
        <c:crossAx val="2143494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="" xmlns:a16="http://schemas.microsoft.com/office/drawing/2014/main" id="{B6CDD8E5-DAF5-431D-9CD4-C89E88E16C4A}"/>
              </a:ext>
            </a:extLst>
          </p:cNvPr>
          <p:cNvGrpSpPr/>
          <p:nvPr/>
        </p:nvGrpSpPr>
        <p:grpSpPr>
          <a:xfrm>
            <a:off x="-14868" y="-1"/>
            <a:ext cx="9920867" cy="6470768"/>
            <a:chOff x="-14868" y="-1"/>
            <a:chExt cx="9920867" cy="6470768"/>
          </a:xfrm>
        </p:grpSpPr>
        <p:sp>
          <p:nvSpPr>
            <p:cNvPr id="11" name="正方形/長方形 10">
              <a:extLst>
                <a:ext uri="{FF2B5EF4-FFF2-40B4-BE49-F238E27FC236}">
                  <a16:creationId xmlns="" xmlns:a16="http://schemas.microsoft.com/office/drawing/2014/main" id="{B1C32371-51DE-423F-98FC-EAABA4BE8A29}"/>
                </a:ext>
              </a:extLst>
            </p:cNvPr>
            <p:cNvSpPr/>
            <p:nvPr/>
          </p:nvSpPr>
          <p:spPr>
            <a:xfrm>
              <a:off x="809312" y="1800295"/>
              <a:ext cx="4392000" cy="612000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="" xmlns:a16="http://schemas.microsoft.com/office/drawing/2014/main" id="{2162591B-F2FD-45B7-9C3C-2C438437B09B}"/>
                </a:ext>
              </a:extLst>
            </p:cNvPr>
            <p:cNvSpPr/>
            <p:nvPr/>
          </p:nvSpPr>
          <p:spPr>
            <a:xfrm>
              <a:off x="1065132" y="-1"/>
              <a:ext cx="8840867" cy="10799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=""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853917" y="1844685"/>
              <a:ext cx="43027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defRPr kumimoji="1" sz="2000">
                  <a:latin typeface="+mn-ea"/>
                </a:defRPr>
              </a:lvl1pPr>
            </a:lstStyle>
            <a:p>
              <a:pPr algn="l"/>
              <a:r>
                <a:rPr lang="zh-TW" altLang="en-US" sz="28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售價比其他公司低三成</a:t>
              </a:r>
              <a:r>
                <a:rPr lang="ja-JP" altLang="en-US" sz="28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！</a:t>
              </a:r>
              <a:endParaRPr lang="ja-JP" altLang="en-US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=""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281132" y="332284"/>
              <a:ext cx="30559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價格競爭力</a:t>
              </a:r>
              <a:endParaRPr kumimoji="1"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="" xmlns:a16="http://schemas.microsoft.com/office/drawing/2014/main" id="{EDD4AA37-234F-4EA6-9B56-D0E884BDBC59}"/>
                </a:ext>
              </a:extLst>
            </p:cNvPr>
            <p:cNvSpPr txBox="1"/>
            <p:nvPr/>
          </p:nvSpPr>
          <p:spPr>
            <a:xfrm>
              <a:off x="922589" y="3114372"/>
              <a:ext cx="465191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buFont typeface="Wingdings" panose="05000000000000000000" pitchFamily="2" charset="2"/>
                <a:buChar char="l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靠網路完成住宅成交。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Wingdings" panose="05000000000000000000" pitchFamily="2" charset="2"/>
                <a:buChar char="l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不需要人力性的營業活動。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Wingdings" panose="05000000000000000000" pitchFamily="2" charset="2"/>
                <a:buChar char="l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不需浪費時間檢討。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Wingdings" panose="05000000000000000000" pitchFamily="2" charset="2"/>
                <a:buChar char="l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減少促銷工具等資材。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グラフ 6">
              <a:extLst>
                <a:ext uri="{FF2B5EF4-FFF2-40B4-BE49-F238E27FC236}">
                  <a16:creationId xmlns="" xmlns:a16="http://schemas.microsoft.com/office/drawing/2014/main" id="{87503EF9-B41F-499D-BF57-66A4337794F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01174381"/>
                </p:ext>
              </p:extLst>
            </p:nvPr>
          </p:nvGraphicFramePr>
          <p:xfrm>
            <a:off x="5418514" y="3056885"/>
            <a:ext cx="4393192" cy="265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9" name="正方形/長方形 8">
              <a:extLst>
                <a:ext uri="{FF2B5EF4-FFF2-40B4-BE49-F238E27FC236}">
                  <a16:creationId xmlns="" xmlns:a16="http://schemas.microsoft.com/office/drawing/2014/main" id="{8661882B-CF46-48A3-941C-9315E6BCE885}"/>
                </a:ext>
              </a:extLst>
            </p:cNvPr>
            <p:cNvSpPr/>
            <p:nvPr/>
          </p:nvSpPr>
          <p:spPr>
            <a:xfrm>
              <a:off x="6120414" y="6009102"/>
              <a:ext cx="313509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補充：成本計算項目為</a:t>
              </a:r>
              <a:r>
                <a:rPr lang="ja-JP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 ①</a:t>
              </a:r>
              <a:r>
                <a:rPr lang="zh-TW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建築諮詢</a:t>
              </a:r>
              <a:r>
                <a:rPr lang="ja-JP" altLang="en-US" sz="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 ②現場</a:t>
              </a:r>
              <a:r>
                <a:rPr lang="ja-JP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調查</a:t>
              </a:r>
              <a:r>
                <a:rPr lang="ja-JP" altLang="en-US" sz="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 ③規劃</a:t>
              </a:r>
              <a:r>
                <a:rPr lang="ja-JP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④</a:t>
              </a:r>
              <a:r>
                <a:rPr lang="zh-TW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概算資金計劃書</a:t>
              </a:r>
              <a:r>
                <a:rPr lang="ja-JP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  <a:r>
                <a:rPr lang="zh-TW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個項目。</a:t>
              </a:r>
              <a:endParaRPr lang="ja-JP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出處：資料係根據本公司算出的點數進行換算。</a:t>
              </a:r>
              <a:endParaRPr lang="ja-JP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21" name="グループ化 20">
              <a:extLst>
                <a:ext uri="{FF2B5EF4-FFF2-40B4-BE49-F238E27FC236}">
                  <a16:creationId xmlns="" xmlns:a16="http://schemas.microsoft.com/office/drawing/2014/main" id="{20BF3DDC-9200-41E4-8EA5-0E9CB4CB129C}"/>
                </a:ext>
              </a:extLst>
            </p:cNvPr>
            <p:cNvGrpSpPr/>
            <p:nvPr/>
          </p:nvGrpSpPr>
          <p:grpSpPr>
            <a:xfrm>
              <a:off x="8170627" y="4023839"/>
              <a:ext cx="885581" cy="338554"/>
              <a:chOff x="8081417" y="2131014"/>
              <a:chExt cx="885581" cy="338554"/>
            </a:xfrm>
          </p:grpSpPr>
          <p:sp>
            <p:nvSpPr>
              <p:cNvPr id="12" name="テキスト ボックス 11">
                <a:extLst>
                  <a:ext uri="{FF2B5EF4-FFF2-40B4-BE49-F238E27FC236}">
                    <a16:creationId xmlns="" xmlns:a16="http://schemas.microsoft.com/office/drawing/2014/main" id="{9023E93F-6404-4BFC-B219-7BD655AFC8AB}"/>
                  </a:ext>
                </a:extLst>
              </p:cNvPr>
              <p:cNvSpPr txBox="1"/>
              <p:nvPr/>
            </p:nvSpPr>
            <p:spPr>
              <a:xfrm>
                <a:off x="8081417" y="2131014"/>
                <a:ext cx="59503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kumimoji="1" lang="en-US" altLang="ja-JP" sz="1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35%</a:t>
                </a:r>
                <a:endParaRPr kumimoji="1" lang="ja-JP" alt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矢印: 下 12">
                <a:extLst>
                  <a:ext uri="{FF2B5EF4-FFF2-40B4-BE49-F238E27FC236}">
                    <a16:creationId xmlns="" xmlns:a16="http://schemas.microsoft.com/office/drawing/2014/main" id="{6A99941F-483A-424F-B610-E410965B7BC8}"/>
                  </a:ext>
                </a:extLst>
              </p:cNvPr>
              <p:cNvSpPr/>
              <p:nvPr/>
            </p:nvSpPr>
            <p:spPr>
              <a:xfrm>
                <a:off x="8642998" y="2138291"/>
                <a:ext cx="324000" cy="324000"/>
              </a:xfrm>
              <a:prstGeom prst="down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6" name="正方形/長方形 15">
              <a:extLst>
                <a:ext uri="{FF2B5EF4-FFF2-40B4-BE49-F238E27FC236}">
                  <a16:creationId xmlns="" xmlns:a16="http://schemas.microsoft.com/office/drawing/2014/main" id="{07CFACB8-B07B-4383-A81B-B45E1CC2B9C6}"/>
                </a:ext>
              </a:extLst>
            </p:cNvPr>
            <p:cNvSpPr/>
            <p:nvPr/>
          </p:nvSpPr>
          <p:spPr>
            <a:xfrm>
              <a:off x="-14868" y="0"/>
              <a:ext cx="1080000" cy="108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グラフィックス 5" descr="家">
              <a:extLst>
                <a:ext uri="{FF2B5EF4-FFF2-40B4-BE49-F238E27FC236}">
                  <a16:creationId xmlns="" xmlns:a16="http://schemas.microsoft.com/office/drawing/2014/main" id="{6FF5A7E4-C3A4-458F-A300-97CE5D672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1132" y="215998"/>
              <a:ext cx="648000" cy="648000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="" xmlns:a16="http://schemas.microsoft.com/office/drawing/2014/main" id="{901B9401-A3E7-495F-85F0-6DAE88009BED}"/>
                </a:ext>
              </a:extLst>
            </p:cNvPr>
            <p:cNvSpPr txBox="1"/>
            <p:nvPr/>
          </p:nvSpPr>
          <p:spPr>
            <a:xfrm>
              <a:off x="7915506" y="493866"/>
              <a:ext cx="189619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獨立式</a:t>
              </a:r>
              <a:r>
                <a:rPr kumimoji="1" lang="ja-JP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住宅</a:t>
              </a:r>
              <a:r>
                <a:rPr kumimoji="1"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網路銷售的企劃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="" xmlns:a16="http://schemas.microsoft.com/office/drawing/2014/main" id="{425DDC92-BEB1-47F0-AF23-7A73A276D481}"/>
                </a:ext>
              </a:extLst>
            </p:cNvPr>
            <p:cNvSpPr txBox="1"/>
            <p:nvPr/>
          </p:nvSpPr>
          <p:spPr>
            <a:xfrm>
              <a:off x="922589" y="1358092"/>
              <a:ext cx="46519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全新的成本計算</a:t>
              </a:r>
              <a:r>
                <a:rPr kumimoji="1"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…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="" xmlns:a16="http://schemas.microsoft.com/office/drawing/2014/main" id="{88D6E237-841F-43BD-93E6-B40186360300}"/>
                </a:ext>
              </a:extLst>
            </p:cNvPr>
            <p:cNvSpPr txBox="1"/>
            <p:nvPr/>
          </p:nvSpPr>
          <p:spPr>
            <a:xfrm>
              <a:off x="922589" y="2757077"/>
              <a:ext cx="46519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原因就是</a:t>
              </a:r>
              <a:r>
                <a:rPr kumimoji="1"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…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="" xmlns:a16="http://schemas.microsoft.com/office/drawing/2014/main" id="{3F793E92-341A-4D69-B897-98A09EBFFA1B}"/>
                </a:ext>
              </a:extLst>
            </p:cNvPr>
            <p:cNvSpPr txBox="1"/>
            <p:nvPr/>
          </p:nvSpPr>
          <p:spPr>
            <a:xfrm>
              <a:off x="922589" y="5174663"/>
              <a:ext cx="465191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本公司調查發現，可壓縮</a:t>
              </a:r>
              <a:r>
                <a:rPr kumimoji="1" lang="en-US" altLang="zh-TW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35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％的傳統成本。結果，銷售價格比大型住宅公司的同類型住宅便宜三成左右。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矢印: 下 9">
              <a:extLst>
                <a:ext uri="{FF2B5EF4-FFF2-40B4-BE49-F238E27FC236}">
                  <a16:creationId xmlns="" xmlns:a16="http://schemas.microsoft.com/office/drawing/2014/main" id="{B5A35008-D1B4-4B67-880C-05E71B642BD9}"/>
                </a:ext>
              </a:extLst>
            </p:cNvPr>
            <p:cNvSpPr/>
            <p:nvPr/>
          </p:nvSpPr>
          <p:spPr>
            <a:xfrm>
              <a:off x="2589352" y="4572237"/>
              <a:ext cx="484632" cy="468000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矢印: 下 21">
              <a:extLst>
                <a:ext uri="{FF2B5EF4-FFF2-40B4-BE49-F238E27FC236}">
                  <a16:creationId xmlns="" xmlns:a16="http://schemas.microsoft.com/office/drawing/2014/main" id="{F77903DC-1A90-4079-9A8D-C2B4C1A00E85}"/>
                </a:ext>
              </a:extLst>
            </p:cNvPr>
            <p:cNvSpPr/>
            <p:nvPr/>
          </p:nvSpPr>
          <p:spPr>
            <a:xfrm rot="16200000">
              <a:off x="7383945" y="4471264"/>
              <a:ext cx="484632" cy="468000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1779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="" xmlns:a16="http://schemas.microsoft.com/office/drawing/2014/main" id="{0314A79F-70B5-47BC-80DA-6656F5C98DF7}"/>
              </a:ext>
            </a:extLst>
          </p:cNvPr>
          <p:cNvGrpSpPr/>
          <p:nvPr/>
        </p:nvGrpSpPr>
        <p:grpSpPr>
          <a:xfrm>
            <a:off x="0" y="0"/>
            <a:ext cx="9905999" cy="6751046"/>
            <a:chOff x="0" y="0"/>
            <a:chExt cx="9905999" cy="6751046"/>
          </a:xfrm>
        </p:grpSpPr>
        <p:sp>
          <p:nvSpPr>
            <p:cNvPr id="15" name="正方形/長方形 14">
              <a:extLst>
                <a:ext uri="{FF2B5EF4-FFF2-40B4-BE49-F238E27FC236}">
                  <a16:creationId xmlns="" xmlns:a16="http://schemas.microsoft.com/office/drawing/2014/main" id="{2162591B-F2FD-45B7-9C3C-2C438437B09B}"/>
                </a:ext>
              </a:extLst>
            </p:cNvPr>
            <p:cNvSpPr/>
            <p:nvPr/>
          </p:nvSpPr>
          <p:spPr>
            <a:xfrm>
              <a:off x="0" y="0"/>
              <a:ext cx="9905999" cy="936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=""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957147" y="1172597"/>
              <a:ext cx="79917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800" smtClean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售價比其他公司低三成！</a:t>
              </a:r>
              <a:endParaRPr kumimoji="1" lang="ja-JP" altLang="en-US" sz="28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=""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6372620" y="513767"/>
              <a:ext cx="28430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獨立</a:t>
              </a:r>
              <a:r>
                <a:rPr kumimoji="1" lang="zh-TW" altLang="en-US" sz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式住宅網路銷售的企劃</a:t>
              </a:r>
            </a:p>
            <a:p>
              <a:pPr algn="r"/>
              <a:endParaRPr kumimoji="1" lang="ja-JP" alt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="" xmlns:a16="http://schemas.microsoft.com/office/drawing/2014/main" id="{EDD4AA37-234F-4EA6-9B56-D0E884BDBC59}"/>
                </a:ext>
              </a:extLst>
            </p:cNvPr>
            <p:cNvSpPr txBox="1"/>
            <p:nvPr/>
          </p:nvSpPr>
          <p:spPr>
            <a:xfrm>
              <a:off x="957147" y="1812134"/>
              <a:ext cx="799170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只要單靠網路完成住宅的成交，就可大幅減少人力性的業務活動與檢討作業。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本公司調查發現，可壓縮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35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％的傳統成本。結果，銷售價格比大型住宅公司的同類型住宅便宜三成左右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。</a:t>
              </a:r>
              <a:endParaRPr kumimoji="1" lang="ja-JP" altLang="en-US" sz="20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グラフ 6">
              <a:extLst>
                <a:ext uri="{FF2B5EF4-FFF2-40B4-BE49-F238E27FC236}">
                  <a16:creationId xmlns="" xmlns:a16="http://schemas.microsoft.com/office/drawing/2014/main" id="{87503EF9-B41F-499D-BF57-66A4337794F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76478083"/>
                </p:ext>
              </p:extLst>
            </p:nvPr>
          </p:nvGraphicFramePr>
          <p:xfrm>
            <a:off x="2256263" y="3041714"/>
            <a:ext cx="5393474" cy="31260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9" name="正方形/長方形 8">
              <a:extLst>
                <a:ext uri="{FF2B5EF4-FFF2-40B4-BE49-F238E27FC236}">
                  <a16:creationId xmlns="" xmlns:a16="http://schemas.microsoft.com/office/drawing/2014/main" id="{8661882B-CF46-48A3-941C-9315E6BCE885}"/>
                </a:ext>
              </a:extLst>
            </p:cNvPr>
            <p:cNvSpPr/>
            <p:nvPr/>
          </p:nvSpPr>
          <p:spPr>
            <a:xfrm>
              <a:off x="957147" y="6381714"/>
              <a:ext cx="56388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補充：成本計算項目為 ①建築諮詢 ②現場調查 ③規劃④概算資金計劃書 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個項目。</a:t>
              </a:r>
            </a:p>
            <a:p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出處：資料係根據本公司算出的點數進行換算</a:t>
              </a:r>
              <a:r>
                <a:rPr lang="zh-TW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。</a:t>
              </a:r>
              <a:endParaRPr lang="ja-JP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="" xmlns:a16="http://schemas.microsoft.com/office/drawing/2014/main" id="{9E98C2E6-71C2-4D93-BB92-BCCE0454286A}"/>
                </a:ext>
              </a:extLst>
            </p:cNvPr>
            <p:cNvGrpSpPr/>
            <p:nvPr/>
          </p:nvGrpSpPr>
          <p:grpSpPr>
            <a:xfrm>
              <a:off x="5726289" y="4127328"/>
              <a:ext cx="953290" cy="369332"/>
              <a:chOff x="5726289" y="4105026"/>
              <a:chExt cx="953290" cy="369332"/>
            </a:xfrm>
          </p:grpSpPr>
          <p:sp>
            <p:nvSpPr>
              <p:cNvPr id="12" name="テキスト ボックス 11">
                <a:extLst>
                  <a:ext uri="{FF2B5EF4-FFF2-40B4-BE49-F238E27FC236}">
                    <a16:creationId xmlns="" xmlns:a16="http://schemas.microsoft.com/office/drawing/2014/main" id="{9023E93F-6404-4BFC-B219-7BD655AFC8AB}"/>
                  </a:ext>
                </a:extLst>
              </p:cNvPr>
              <p:cNvSpPr txBox="1"/>
              <p:nvPr/>
            </p:nvSpPr>
            <p:spPr>
              <a:xfrm>
                <a:off x="5726289" y="4105026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kumimoji="1" lang="en-US" altLang="ja-JP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35%</a:t>
                </a:r>
                <a:endParaRPr kumimoji="1" lang="ja-JP" alt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矢印: 下 12">
                <a:extLst>
                  <a:ext uri="{FF2B5EF4-FFF2-40B4-BE49-F238E27FC236}">
                    <a16:creationId xmlns="" xmlns:a16="http://schemas.microsoft.com/office/drawing/2014/main" id="{6A99941F-483A-424F-B610-E410965B7BC8}"/>
                  </a:ext>
                </a:extLst>
              </p:cNvPr>
              <p:cNvSpPr/>
              <p:nvPr/>
            </p:nvSpPr>
            <p:spPr>
              <a:xfrm>
                <a:off x="6339166" y="4120415"/>
                <a:ext cx="340413" cy="338555"/>
              </a:xfrm>
              <a:prstGeom prst="down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6" name="テキスト ボックス 15">
              <a:extLst>
                <a:ext uri="{FF2B5EF4-FFF2-40B4-BE49-F238E27FC236}">
                  <a16:creationId xmlns="" xmlns:a16="http://schemas.microsoft.com/office/drawing/2014/main" id="{9E14525B-245F-4B46-8BB3-5A9709541E39}"/>
                </a:ext>
              </a:extLst>
            </p:cNvPr>
            <p:cNvSpPr txBox="1"/>
            <p:nvPr/>
          </p:nvSpPr>
          <p:spPr>
            <a:xfrm>
              <a:off x="957147" y="221380"/>
              <a:ext cx="50159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3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價格競爭力</a:t>
              </a:r>
              <a:endParaRPr kumimoji="1" lang="ja-JP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矢印: 下 16">
              <a:extLst>
                <a:ext uri="{FF2B5EF4-FFF2-40B4-BE49-F238E27FC236}">
                  <a16:creationId xmlns="" xmlns:a16="http://schemas.microsoft.com/office/drawing/2014/main" id="{4EF75127-6516-4CC8-9EA9-403F5E013C70}"/>
                </a:ext>
              </a:extLst>
            </p:cNvPr>
            <p:cNvSpPr/>
            <p:nvPr/>
          </p:nvSpPr>
          <p:spPr>
            <a:xfrm rot="16200000">
              <a:off x="4710683" y="4773418"/>
              <a:ext cx="484632" cy="468000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FE442091-3346-40F1-B80E-19853B9BCC32}"/>
              </a:ext>
            </a:extLst>
          </p:cNvPr>
          <p:cNvGrpSpPr/>
          <p:nvPr/>
        </p:nvGrpSpPr>
        <p:grpSpPr>
          <a:xfrm>
            <a:off x="256702" y="188640"/>
            <a:ext cx="9376818" cy="6480720"/>
            <a:chOff x="256702" y="188640"/>
            <a:chExt cx="9376818" cy="6480720"/>
          </a:xfrm>
        </p:grpSpPr>
        <p:sp>
          <p:nvSpPr>
            <p:cNvPr id="11" name="正方形/長方形 10">
              <a:extLst>
                <a:ext uri="{FF2B5EF4-FFF2-40B4-BE49-F238E27FC236}">
                  <a16:creationId xmlns="" xmlns:a16="http://schemas.microsoft.com/office/drawing/2014/main" id="{0975C46B-00C7-4093-84D4-7F30C6B92CB6}"/>
                </a:ext>
              </a:extLst>
            </p:cNvPr>
            <p:cNvSpPr/>
            <p:nvPr/>
          </p:nvSpPr>
          <p:spPr>
            <a:xfrm>
              <a:off x="272035" y="2889360"/>
              <a:ext cx="6211015" cy="3780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+mn-ea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="" xmlns:a16="http://schemas.microsoft.com/office/drawing/2014/main" id="{3838075B-F93C-4880-83D3-0564380C76C0}"/>
                </a:ext>
              </a:extLst>
            </p:cNvPr>
            <p:cNvSpPr/>
            <p:nvPr/>
          </p:nvSpPr>
          <p:spPr>
            <a:xfrm>
              <a:off x="273144" y="188640"/>
              <a:ext cx="9359855" cy="612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+mn-ea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="" xmlns:a16="http://schemas.microsoft.com/office/drawing/2014/main" id="{AB72466C-141E-4C3C-880F-F1BFD7ACA15E}"/>
                </a:ext>
              </a:extLst>
            </p:cNvPr>
            <p:cNvSpPr txBox="1"/>
            <p:nvPr/>
          </p:nvSpPr>
          <p:spPr>
            <a:xfrm>
              <a:off x="2312020" y="283628"/>
              <a:ext cx="5281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4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獨立</a:t>
              </a:r>
              <a:r>
                <a:rPr kumimoji="1" lang="zh-TW" altLang="en-US" sz="2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式住宅網路銷售的</a:t>
              </a:r>
              <a:r>
                <a:rPr kumimoji="1" lang="zh-TW" altLang="en-US" sz="24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企劃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="" xmlns:a16="http://schemas.microsoft.com/office/drawing/2014/main" id="{CEADC500-A21A-4DCF-A286-A0A4A10DBE3A}"/>
                </a:ext>
              </a:extLst>
            </p:cNvPr>
            <p:cNvSpPr/>
            <p:nvPr/>
          </p:nvSpPr>
          <p:spPr>
            <a:xfrm>
              <a:off x="273144" y="908720"/>
              <a:ext cx="359842" cy="187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+mn-ea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="" xmlns:a16="http://schemas.microsoft.com/office/drawing/2014/main" id="{B728FB32-9D92-4B38-99D1-F90D976F0F90}"/>
                </a:ext>
              </a:extLst>
            </p:cNvPr>
            <p:cNvSpPr/>
            <p:nvPr/>
          </p:nvSpPr>
          <p:spPr>
            <a:xfrm>
              <a:off x="634130" y="908720"/>
              <a:ext cx="4104983" cy="187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+mn-ea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="" xmlns:a16="http://schemas.microsoft.com/office/drawing/2014/main" id="{F212BE81-05C4-4E23-8EB2-C67CB4FD4B08}"/>
                </a:ext>
              </a:extLst>
            </p:cNvPr>
            <p:cNvSpPr txBox="1"/>
            <p:nvPr/>
          </p:nvSpPr>
          <p:spPr>
            <a:xfrm>
              <a:off x="256702" y="1413802"/>
              <a:ext cx="369332" cy="8617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市場的現況</a:t>
              </a:r>
              <a:endParaRPr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="" xmlns:a16="http://schemas.microsoft.com/office/drawing/2014/main" id="{8E925A4D-3062-4436-A76A-535A11C61EEA}"/>
                </a:ext>
              </a:extLst>
            </p:cNvPr>
            <p:cNvSpPr txBox="1"/>
            <p:nvPr/>
          </p:nvSpPr>
          <p:spPr>
            <a:xfrm>
              <a:off x="700919" y="1265085"/>
              <a:ext cx="392683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>
                  <a:latin typeface="+mn-ea"/>
                </a:defRPr>
              </a:lvl1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材料費高漲。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人事費也有增加傾向。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其他公司的銷售價格持續下降。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異業開始陸續投入。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="" xmlns:a16="http://schemas.microsoft.com/office/drawing/2014/main" id="{1DB11A18-DFD4-427E-A650-62DCD51CBDF5}"/>
                </a:ext>
              </a:extLst>
            </p:cNvPr>
            <p:cNvSpPr/>
            <p:nvPr/>
          </p:nvSpPr>
          <p:spPr>
            <a:xfrm>
              <a:off x="4807046" y="908702"/>
              <a:ext cx="359842" cy="187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+mn-ea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="" xmlns:a16="http://schemas.microsoft.com/office/drawing/2014/main" id="{04C83C67-B926-4212-9D36-A299DCA905DE}"/>
                </a:ext>
              </a:extLst>
            </p:cNvPr>
            <p:cNvSpPr/>
            <p:nvPr/>
          </p:nvSpPr>
          <p:spPr>
            <a:xfrm>
              <a:off x="5166888" y="908702"/>
              <a:ext cx="4465967" cy="187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+mn-ea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="" xmlns:a16="http://schemas.microsoft.com/office/drawing/2014/main" id="{BB0DD389-049F-4A89-B80B-C7A2A900C76D}"/>
                </a:ext>
              </a:extLst>
            </p:cNvPr>
            <p:cNvSpPr/>
            <p:nvPr/>
          </p:nvSpPr>
          <p:spPr>
            <a:xfrm>
              <a:off x="6572533" y="2885257"/>
              <a:ext cx="359842" cy="37841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+mn-ea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="" xmlns:a16="http://schemas.microsoft.com/office/drawing/2014/main" id="{92F14DB9-690B-4114-ABF7-6695D48F56EA}"/>
                </a:ext>
              </a:extLst>
            </p:cNvPr>
            <p:cNvSpPr/>
            <p:nvPr/>
          </p:nvSpPr>
          <p:spPr>
            <a:xfrm>
              <a:off x="6933520" y="2885257"/>
              <a:ext cx="2700000" cy="37841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+mn-ea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="" xmlns:a16="http://schemas.microsoft.com/office/drawing/2014/main" id="{682B59FF-1E2D-40F7-A951-1E5D28EEED47}"/>
                </a:ext>
              </a:extLst>
            </p:cNvPr>
            <p:cNvSpPr txBox="1"/>
            <p:nvPr/>
          </p:nvSpPr>
          <p:spPr>
            <a:xfrm>
              <a:off x="4807074" y="1182974"/>
              <a:ext cx="369332" cy="132343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網路銷售的優點</a:t>
              </a:r>
              <a:endParaRPr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="" xmlns:a16="http://schemas.microsoft.com/office/drawing/2014/main" id="{8FC43B38-7305-4B47-A901-CA733117E858}"/>
                </a:ext>
              </a:extLst>
            </p:cNvPr>
            <p:cNvSpPr txBox="1"/>
            <p:nvPr/>
          </p:nvSpPr>
          <p:spPr>
            <a:xfrm>
              <a:off x="6556273" y="4190953"/>
              <a:ext cx="369332" cy="116955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成本下降的依據</a:t>
              </a:r>
              <a:endParaRPr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="" xmlns:a16="http://schemas.microsoft.com/office/drawing/2014/main" id="{82C1F29D-E67F-46C0-91B3-2BFE7AC65DDB}"/>
                </a:ext>
              </a:extLst>
            </p:cNvPr>
            <p:cNvSpPr txBox="1"/>
            <p:nvPr/>
          </p:nvSpPr>
          <p:spPr>
            <a:xfrm>
              <a:off x="5234822" y="1126586"/>
              <a:ext cx="433935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單靠網路進行住宅成交。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不需要人力性的業務活動。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不需要花時間檢討。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減少促銷工具等資</a:t>
              </a:r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材。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售後服務的效率更好。</a:t>
              </a:r>
              <a:endParaRPr kumimoji="1"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="" xmlns:a16="http://schemas.microsoft.com/office/drawing/2014/main" id="{0336A207-CF9A-4189-A604-5A92062B7DDA}"/>
                </a:ext>
              </a:extLst>
            </p:cNvPr>
            <p:cNvSpPr/>
            <p:nvPr/>
          </p:nvSpPr>
          <p:spPr>
            <a:xfrm>
              <a:off x="272035" y="2885260"/>
              <a:ext cx="6211015" cy="720000"/>
            </a:xfrm>
            <a:prstGeom prst="rect">
              <a:avLst/>
            </a:prstGeom>
            <a:solidFill>
              <a:srgbClr val="CC3300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+mn-ea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="" xmlns:a16="http://schemas.microsoft.com/office/drawing/2014/main" id="{E85E24B3-7EF0-48FC-B0AB-107E5DD6DF57}"/>
                </a:ext>
              </a:extLst>
            </p:cNvPr>
            <p:cNvSpPr txBox="1"/>
            <p:nvPr/>
          </p:nvSpPr>
          <p:spPr>
            <a:xfrm>
              <a:off x="1047320" y="3051822"/>
              <a:ext cx="46946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售價比其他公司低三成！！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5" name="グラフ 44">
              <a:extLst>
                <a:ext uri="{FF2B5EF4-FFF2-40B4-BE49-F238E27FC236}">
                  <a16:creationId xmlns="" xmlns:a16="http://schemas.microsoft.com/office/drawing/2014/main" id="{1452ED84-FB5D-4223-85C2-A89CF657DC0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23529397"/>
                </p:ext>
              </p:extLst>
            </p:nvPr>
          </p:nvGraphicFramePr>
          <p:xfrm>
            <a:off x="1188735" y="3675949"/>
            <a:ext cx="4377614" cy="249521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pSp>
          <p:nvGrpSpPr>
            <p:cNvPr id="46" name="グループ化 45">
              <a:extLst>
                <a:ext uri="{FF2B5EF4-FFF2-40B4-BE49-F238E27FC236}">
                  <a16:creationId xmlns="" xmlns:a16="http://schemas.microsoft.com/office/drawing/2014/main" id="{9FD7A179-6221-4300-B106-83BC9CDA7AB0}"/>
                </a:ext>
              </a:extLst>
            </p:cNvPr>
            <p:cNvGrpSpPr/>
            <p:nvPr/>
          </p:nvGrpSpPr>
          <p:grpSpPr>
            <a:xfrm>
              <a:off x="3953823" y="4587521"/>
              <a:ext cx="901994" cy="338554"/>
              <a:chOff x="5777585" y="4105026"/>
              <a:chExt cx="901994" cy="338554"/>
            </a:xfrm>
          </p:grpSpPr>
          <p:sp>
            <p:nvSpPr>
              <p:cNvPr id="47" name="テキスト ボックス 46">
                <a:extLst>
                  <a:ext uri="{FF2B5EF4-FFF2-40B4-BE49-F238E27FC236}">
                    <a16:creationId xmlns="" xmlns:a16="http://schemas.microsoft.com/office/drawing/2014/main" id="{45221266-E6F0-4645-BB11-1D159654AAC2}"/>
                  </a:ext>
                </a:extLst>
              </p:cNvPr>
              <p:cNvSpPr txBox="1"/>
              <p:nvPr/>
            </p:nvSpPr>
            <p:spPr>
              <a:xfrm>
                <a:off x="5777585" y="4105026"/>
                <a:ext cx="59503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kumimoji="1" lang="en-US" altLang="ja-JP" sz="1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35%</a:t>
                </a:r>
                <a:endParaRPr kumimoji="1" lang="ja-JP" alt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矢印: 下 47">
                <a:extLst>
                  <a:ext uri="{FF2B5EF4-FFF2-40B4-BE49-F238E27FC236}">
                    <a16:creationId xmlns="" xmlns:a16="http://schemas.microsoft.com/office/drawing/2014/main" id="{FBF1E5FD-B1BB-49FB-9B0D-78A428F17976}"/>
                  </a:ext>
                </a:extLst>
              </p:cNvPr>
              <p:cNvSpPr/>
              <p:nvPr/>
            </p:nvSpPr>
            <p:spPr>
              <a:xfrm>
                <a:off x="6339166" y="4120415"/>
                <a:ext cx="340413" cy="288000"/>
              </a:xfrm>
              <a:prstGeom prst="down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49" name="正方形/長方形 48">
              <a:extLst>
                <a:ext uri="{FF2B5EF4-FFF2-40B4-BE49-F238E27FC236}">
                  <a16:creationId xmlns="" xmlns:a16="http://schemas.microsoft.com/office/drawing/2014/main" id="{4E7B1CF1-1BEA-462C-BB19-1B92E21430AD}"/>
                </a:ext>
              </a:extLst>
            </p:cNvPr>
            <p:cNvSpPr/>
            <p:nvPr/>
          </p:nvSpPr>
          <p:spPr>
            <a:xfrm>
              <a:off x="1244489" y="6280344"/>
              <a:ext cx="4377616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7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補充：成本計算項目為 ①建築諮詢 ②現場調查 ③規劃④概算資金計劃書 </a:t>
              </a:r>
              <a:r>
                <a:rPr lang="en-US" altLang="zh-TW" sz="7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  <a:r>
                <a:rPr lang="zh-TW" altLang="en-US" sz="7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個項目。</a:t>
              </a:r>
            </a:p>
            <a:p>
              <a:r>
                <a:rPr lang="zh-TW" altLang="en-US" sz="7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出處：資料係根據本公司算出的點數進行換算。</a:t>
              </a: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="" xmlns:a16="http://schemas.microsoft.com/office/drawing/2014/main" id="{7EA39A40-61D2-41AF-BDCB-CEEEBBFACDA2}"/>
                </a:ext>
              </a:extLst>
            </p:cNvPr>
            <p:cNvSpPr txBox="1"/>
            <p:nvPr/>
          </p:nvSpPr>
          <p:spPr>
            <a:xfrm>
              <a:off x="6992861" y="3015315"/>
              <a:ext cx="2581317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只要客戶可單憑網路完成住宅的成交，便可大幅削減人力與資金的投入。單憑資訊品質，便可提高競爭力。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>
                <a:spcAft>
                  <a:spcPts val="1200"/>
                </a:spcAft>
              </a:pP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本公司調查發現，可壓縮</a:t>
              </a:r>
              <a:r>
                <a:rPr kumimoji="1"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35</a:t>
              </a: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％的傳統成本。結果，銷售價格比大型住宅公司的同類型住宅便宜三成</a:t>
              </a:r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左右（參考附件資料）。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1" name="矢印: 下 50">
              <a:extLst>
                <a:ext uri="{FF2B5EF4-FFF2-40B4-BE49-F238E27FC236}">
                  <a16:creationId xmlns="" xmlns:a16="http://schemas.microsoft.com/office/drawing/2014/main" id="{F48845AA-FC55-4D5D-B704-75F801EFE1BD}"/>
                </a:ext>
              </a:extLst>
            </p:cNvPr>
            <p:cNvSpPr/>
            <p:nvPr/>
          </p:nvSpPr>
          <p:spPr>
            <a:xfrm rot="16200000">
              <a:off x="3125268" y="4994925"/>
              <a:ext cx="484632" cy="468000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3184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255</TotalTime>
  <Words>423</Words>
  <Application>Microsoft Office PowerPoint</Application>
  <PresentationFormat>A4 紙張 (210x297 公釐)</PresentationFormat>
  <Paragraphs>42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2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Wingdings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34</cp:revision>
  <dcterms:created xsi:type="dcterms:W3CDTF">2017-11-09T07:26:57Z</dcterms:created>
  <dcterms:modified xsi:type="dcterms:W3CDTF">2018-09-22T09:47:48Z</dcterms:modified>
</cp:coreProperties>
</file>