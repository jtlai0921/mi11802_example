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="" xmlns:a16="http://schemas.microsoft.com/office/drawing/2014/main" id="{204E2002-0D32-4401-9439-CAB13AFCD271}"/>
              </a:ext>
            </a:extLst>
          </p:cNvPr>
          <p:cNvGrpSpPr/>
          <p:nvPr/>
        </p:nvGrpSpPr>
        <p:grpSpPr>
          <a:xfrm>
            <a:off x="0" y="0"/>
            <a:ext cx="9906000" cy="6504078"/>
            <a:chOff x="0" y="0"/>
            <a:chExt cx="9906000" cy="6504078"/>
          </a:xfrm>
        </p:grpSpPr>
        <p:sp>
          <p:nvSpPr>
            <p:cNvPr id="4" name="正方形/長方形 3">
              <a:extLst>
                <a:ext uri="{FF2B5EF4-FFF2-40B4-BE49-F238E27FC236}">
                  <a16:creationId xmlns="" xmlns:a16="http://schemas.microsoft.com/office/drawing/2014/main" id="{F830A8B0-C740-40AD-A43D-F315C13DAC16}"/>
                </a:ext>
              </a:extLst>
            </p:cNvPr>
            <p:cNvSpPr/>
            <p:nvPr/>
          </p:nvSpPr>
          <p:spPr>
            <a:xfrm>
              <a:off x="0" y="0"/>
              <a:ext cx="9906000" cy="12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="" xmlns:a16="http://schemas.microsoft.com/office/drawing/2014/main" id="{12ACEEA3-7E0B-498D-B0ED-7DC460BBC210}"/>
                </a:ext>
              </a:extLst>
            </p:cNvPr>
            <p:cNvSpPr txBox="1"/>
            <p:nvPr/>
          </p:nvSpPr>
          <p:spPr>
            <a:xfrm>
              <a:off x="1531436" y="431959"/>
              <a:ext cx="68431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生產現場的業務改善解決方案</a:t>
              </a:r>
              <a:endParaRPr kumimoji="1"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6" name="グラフィックス 15" descr="円グラフ">
              <a:extLst>
                <a:ext uri="{FF2B5EF4-FFF2-40B4-BE49-F238E27FC236}">
                  <a16:creationId xmlns="" xmlns:a16="http://schemas.microsoft.com/office/drawing/2014/main" id="{EA6B6A57-F59B-45F0-A8CB-79389A433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50886" y="394310"/>
              <a:ext cx="612000" cy="612000"/>
            </a:xfrm>
            <a:prstGeom prst="rect">
              <a:avLst/>
            </a:prstGeom>
          </p:spPr>
        </p:pic>
        <p:sp>
          <p:nvSpPr>
            <p:cNvPr id="32" name="四角形: 角を丸くする 31">
              <a:extLst>
                <a:ext uri="{FF2B5EF4-FFF2-40B4-BE49-F238E27FC236}">
                  <a16:creationId xmlns="" xmlns:a16="http://schemas.microsoft.com/office/drawing/2014/main" id="{F06AB557-CEF4-475D-AA88-C1482A605E02}"/>
                </a:ext>
              </a:extLst>
            </p:cNvPr>
            <p:cNvSpPr/>
            <p:nvPr/>
          </p:nvSpPr>
          <p:spPr>
            <a:xfrm>
              <a:off x="5910145" y="4576385"/>
              <a:ext cx="3309130" cy="170321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="" xmlns:a16="http://schemas.microsoft.com/office/drawing/2014/main" id="{3125E6BD-6380-4C3F-974C-00A7F2F7FF8B}"/>
                </a:ext>
              </a:extLst>
            </p:cNvPr>
            <p:cNvSpPr txBox="1"/>
            <p:nvPr/>
          </p:nvSpPr>
          <p:spPr>
            <a:xfrm>
              <a:off x="5658056" y="1387138"/>
              <a:ext cx="13251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 smtClean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導入後</a:t>
              </a:r>
              <a:endParaRPr kumimoji="1" lang="ja-JP" altLang="en-US" sz="28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四角形: 角を丸くする 27">
              <a:extLst>
                <a:ext uri="{FF2B5EF4-FFF2-40B4-BE49-F238E27FC236}">
                  <a16:creationId xmlns="" xmlns:a16="http://schemas.microsoft.com/office/drawing/2014/main" id="{F0E92519-CB9C-463A-BAC6-B38E5B3E10AB}"/>
                </a:ext>
              </a:extLst>
            </p:cNvPr>
            <p:cNvSpPr/>
            <p:nvPr/>
          </p:nvSpPr>
          <p:spPr>
            <a:xfrm>
              <a:off x="5658056" y="2292078"/>
              <a:ext cx="3780000" cy="4212000"/>
            </a:xfrm>
            <a:prstGeom prst="roundRect">
              <a:avLst>
                <a:gd name="adj" fmla="val 8588"/>
              </a:avLst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="" xmlns:a16="http://schemas.microsoft.com/office/drawing/2014/main" id="{4ED05F6E-C8B8-4552-A954-845AB4D34BDF}"/>
                </a:ext>
              </a:extLst>
            </p:cNvPr>
            <p:cNvSpPr txBox="1"/>
            <p:nvPr/>
          </p:nvSpPr>
          <p:spPr>
            <a:xfrm>
              <a:off x="6676504" y="2079045"/>
              <a:ext cx="1776412" cy="44267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kumimoji="1" sz="2000">
                  <a:latin typeface="+mn-ea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可視化」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四角形: 角を丸くする 29">
              <a:extLst>
                <a:ext uri="{FF2B5EF4-FFF2-40B4-BE49-F238E27FC236}">
                  <a16:creationId xmlns="" xmlns:a16="http://schemas.microsoft.com/office/drawing/2014/main" id="{00BB13DE-423E-46BF-A6A0-CB32E472A3DA}"/>
                </a:ext>
              </a:extLst>
            </p:cNvPr>
            <p:cNvSpPr/>
            <p:nvPr/>
          </p:nvSpPr>
          <p:spPr>
            <a:xfrm>
              <a:off x="467945" y="2292078"/>
              <a:ext cx="4397742" cy="4212000"/>
            </a:xfrm>
            <a:prstGeom prst="roundRect">
              <a:avLst>
                <a:gd name="adj" fmla="val 8588"/>
              </a:avLst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="" xmlns:a16="http://schemas.microsoft.com/office/drawing/2014/main" id="{971F283F-CF44-41DF-8DA8-BEB6D9BF265F}"/>
                </a:ext>
              </a:extLst>
            </p:cNvPr>
            <p:cNvSpPr/>
            <p:nvPr/>
          </p:nvSpPr>
          <p:spPr>
            <a:xfrm>
              <a:off x="704816" y="4576385"/>
              <a:ext cx="3924000" cy="170321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="" xmlns:a16="http://schemas.microsoft.com/office/drawing/2014/main" id="{A9AFDB8E-BE56-49A7-91BD-D78ADB34BA62}"/>
                </a:ext>
              </a:extLst>
            </p:cNvPr>
            <p:cNvSpPr txBox="1"/>
            <p:nvPr/>
          </p:nvSpPr>
          <p:spPr>
            <a:xfrm>
              <a:off x="467945" y="1387138"/>
              <a:ext cx="13251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 smtClean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導入前</a:t>
              </a:r>
              <a:endParaRPr kumimoji="1" lang="en-US" altLang="ja-JP" sz="28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="" xmlns:a16="http://schemas.microsoft.com/office/drawing/2014/main" id="{8EDAD893-4E16-405F-A443-BDAA961BB66F}"/>
                </a:ext>
              </a:extLst>
            </p:cNvPr>
            <p:cNvSpPr txBox="1"/>
            <p:nvPr/>
          </p:nvSpPr>
          <p:spPr>
            <a:xfrm>
              <a:off x="2217050" y="2079045"/>
              <a:ext cx="899532" cy="44267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課題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0" name="グラフィックス 9" descr="棒グラフ">
              <a:extLst>
                <a:ext uri="{FF2B5EF4-FFF2-40B4-BE49-F238E27FC236}">
                  <a16:creationId xmlns="" xmlns:a16="http://schemas.microsoft.com/office/drawing/2014/main" id="{FF2BBFD2-0B3A-4F00-9643-ABE3B96F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41995" y="394310"/>
              <a:ext cx="612000" cy="612000"/>
            </a:xfrm>
            <a:prstGeom prst="rect">
              <a:avLst/>
            </a:prstGeom>
          </p:spPr>
        </p:pic>
        <p:sp>
          <p:nvSpPr>
            <p:cNvPr id="31" name="四角形: 角を丸くする 30">
              <a:extLst>
                <a:ext uri="{FF2B5EF4-FFF2-40B4-BE49-F238E27FC236}">
                  <a16:creationId xmlns="" xmlns:a16="http://schemas.microsoft.com/office/drawing/2014/main" id="{FD0B5C66-6519-4430-BE13-CAA577D22F25}"/>
                </a:ext>
              </a:extLst>
            </p:cNvPr>
            <p:cNvSpPr/>
            <p:nvPr/>
          </p:nvSpPr>
          <p:spPr>
            <a:xfrm>
              <a:off x="5895683" y="2649000"/>
              <a:ext cx="3278988" cy="170321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="" xmlns:a16="http://schemas.microsoft.com/office/drawing/2014/main" id="{7E002EA0-98A7-4B0E-9075-F32C7F0D9CA9}"/>
                </a:ext>
              </a:extLst>
            </p:cNvPr>
            <p:cNvSpPr/>
            <p:nvPr/>
          </p:nvSpPr>
          <p:spPr>
            <a:xfrm>
              <a:off x="704816" y="2649000"/>
              <a:ext cx="3924000" cy="170321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3">
              <a:extLst>
                <a:ext uri="{FF2B5EF4-FFF2-40B4-BE49-F238E27FC236}">
                  <a16:creationId xmlns="" xmlns:a16="http://schemas.microsoft.com/office/drawing/2014/main" id="{4C848299-186D-4814-8AD3-16336C7792D6}"/>
                </a:ext>
              </a:extLst>
            </p:cNvPr>
            <p:cNvSpPr/>
            <p:nvPr/>
          </p:nvSpPr>
          <p:spPr>
            <a:xfrm rot="5400000">
              <a:off x="4824566" y="3327185"/>
              <a:ext cx="952000" cy="346840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="" xmlns:a16="http://schemas.microsoft.com/office/drawing/2014/main" id="{DCF40AC1-F606-4516-8D56-EC936779D062}"/>
                </a:ext>
              </a:extLst>
            </p:cNvPr>
            <p:cNvSpPr/>
            <p:nvPr/>
          </p:nvSpPr>
          <p:spPr>
            <a:xfrm rot="5400000">
              <a:off x="4824566" y="5254570"/>
              <a:ext cx="952000" cy="346840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="" xmlns:a16="http://schemas.microsoft.com/office/drawing/2014/main" id="{C9AA58CF-2ECE-4E0A-859E-3895DAC40BBC}"/>
                </a:ext>
              </a:extLst>
            </p:cNvPr>
            <p:cNvSpPr txBox="1"/>
            <p:nvPr/>
          </p:nvSpPr>
          <p:spPr>
            <a:xfrm>
              <a:off x="6018290" y="2992773"/>
              <a:ext cx="31203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電子表單輸入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自動統計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即時報告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="" xmlns:a16="http://schemas.microsoft.com/office/drawing/2014/main" id="{1F6B0EBB-EA28-4A4D-8A44-90EE5C5584FB}"/>
                </a:ext>
              </a:extLst>
            </p:cNvPr>
            <p:cNvSpPr txBox="1"/>
            <p:nvPr/>
          </p:nvSpPr>
          <p:spPr>
            <a:xfrm>
              <a:off x="6018290" y="5074047"/>
              <a:ext cx="31203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即時分析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各種圖表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顯示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=""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811145" y="2717337"/>
              <a:ext cx="376624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ja-JP" altLang="en-US" sz="2000" smtClean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■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現場</a:t>
              </a:r>
              <a:endParaRPr kumimoji="1" lang="ja-JP" altLang="en-US" sz="20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紙本報表的填寫疏失</a:t>
              </a:r>
              <a:endParaRPr kumimoji="1" lang="en-US" altLang="ja-JP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重新彙整作業的繁雜性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報告製作的加班負擔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="" xmlns:a16="http://schemas.microsoft.com/office/drawing/2014/main" id="{B142C0BC-A0F5-41AB-A231-039DF842F943}"/>
                </a:ext>
              </a:extLst>
            </p:cNvPr>
            <p:cNvSpPr txBox="1"/>
            <p:nvPr/>
          </p:nvSpPr>
          <p:spPr>
            <a:xfrm>
              <a:off x="811145" y="4644722"/>
              <a:ext cx="376624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ja-JP" altLang="en-US" sz="2000" smtClean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■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管理者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現況不透明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實績掌握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的時間落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差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晚一步的問題對策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183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="" xmlns:a16="http://schemas.microsoft.com/office/drawing/2014/main" id="{93430105-4B5B-4A2F-BCAE-8B79690522CD}"/>
              </a:ext>
            </a:extLst>
          </p:cNvPr>
          <p:cNvGrpSpPr/>
          <p:nvPr/>
        </p:nvGrpSpPr>
        <p:grpSpPr>
          <a:xfrm>
            <a:off x="0" y="0"/>
            <a:ext cx="9906000" cy="5951088"/>
            <a:chOff x="0" y="0"/>
            <a:chExt cx="9906000" cy="5951088"/>
          </a:xfrm>
        </p:grpSpPr>
        <p:sp>
          <p:nvSpPr>
            <p:cNvPr id="4" name="正方形/長方形 3">
              <a:extLst>
                <a:ext uri="{FF2B5EF4-FFF2-40B4-BE49-F238E27FC236}">
                  <a16:creationId xmlns="" xmlns:a16="http://schemas.microsoft.com/office/drawing/2014/main" id="{F830A8B0-C740-40AD-A43D-F315C13DAC16}"/>
                </a:ext>
              </a:extLst>
            </p:cNvPr>
            <p:cNvSpPr/>
            <p:nvPr/>
          </p:nvSpPr>
          <p:spPr>
            <a:xfrm>
              <a:off x="0" y="0"/>
              <a:ext cx="9906000" cy="12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=""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040782" y="1611438"/>
              <a:ext cx="7824438" cy="4339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2800" smtClean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Times New Roman" panose="02020603050405020304" pitchFamily="18" charset="0"/>
                </a:rPr>
                <a:t>■</a:t>
              </a:r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導入前</a:t>
              </a:r>
              <a:endParaRPr kumimoji="1"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紙本報表的填寫</a:t>
              </a:r>
              <a:r>
                <a:rPr kumimoji="1" lang="en-US" altLang="ja-JP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	</a:t>
              </a:r>
              <a:r>
                <a:rPr kumimoji="1" lang="ja-JP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批號確認麻煩，並且會引起漏填。</a:t>
              </a:r>
              <a:endParaRPr kumimoji="1" lang="en-US" altLang="ja-JP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輸入至</a:t>
              </a:r>
              <a:r>
                <a:rPr kumimoji="1" lang="en-US" altLang="ja-JP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Excel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工作表</a:t>
              </a:r>
              <a:r>
                <a:rPr kumimoji="1" lang="ja-JP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從社內系統重新彙整。</a:t>
              </a:r>
              <a:endParaRPr kumimoji="1" lang="ja-JP" altLang="en-US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計算與統計作業</a:t>
              </a:r>
              <a:r>
                <a:rPr kumimoji="1" lang="ja-JP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與週期資料串連的作業很麻煩。</a:t>
              </a:r>
              <a:endParaRPr kumimoji="1" lang="ja-JP" altLang="en-US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報告製作</a:t>
              </a:r>
              <a:r>
                <a:rPr kumimoji="1" lang="ja-JP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需在上班以外的時間製作。</a:t>
              </a:r>
              <a:endParaRPr kumimoji="1" lang="ja-JP" altLang="en-US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en-US" altLang="zh-TW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日後提出給管理者</a:t>
              </a:r>
              <a:r>
                <a:rPr kumimoji="1" lang="ja-JP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實績掌握會出現落差。</a:t>
              </a:r>
              <a:endParaRPr kumimoji="1" lang="en-US" altLang="ja-JP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endParaRPr kumimoji="1" lang="en-US" altLang="ja-JP" sz="2000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2800" smtClean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Times New Roman" panose="02020603050405020304" pitchFamily="18" charset="0"/>
                </a:rPr>
                <a:t>■</a:t>
              </a:r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導入後</a:t>
              </a:r>
              <a:endParaRPr kumimoji="1"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輸入至電子表單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	</a:t>
              </a:r>
              <a:r>
                <a: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隨時可輸入，無須在意時間和場所。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即時統計</a:t>
              </a:r>
              <a:r>
                <a: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生產狀況的「可視化」。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+mj-lt"/>
                <a:buAutoNum type="arabicPeriod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即時報告</a:t>
              </a:r>
              <a:r>
                <a: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→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　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管理者可隨時擬定對策。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=""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531436" y="431959"/>
              <a:ext cx="68431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生產現場的業務改善解決</a:t>
              </a:r>
              <a:r>
                <a:rPr kumimoji="1" lang="zh-TW" altLang="en-US" sz="2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方案</a:t>
              </a:r>
              <a:endParaRPr kumimoji="1" lang="ja-JP" altLang="en-US" sz="28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5" name="グラフィックス 4" descr="円グラフ">
              <a:extLst>
                <a:ext uri="{FF2B5EF4-FFF2-40B4-BE49-F238E27FC236}">
                  <a16:creationId xmlns="" xmlns:a16="http://schemas.microsoft.com/office/drawing/2014/main" id="{6B6A3B63-B7FD-4078-8030-F34AAD135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50886" y="394310"/>
              <a:ext cx="612000" cy="612000"/>
            </a:xfrm>
            <a:prstGeom prst="rect">
              <a:avLst/>
            </a:prstGeom>
          </p:spPr>
        </p:pic>
        <p:pic>
          <p:nvPicPr>
            <p:cNvPr id="6" name="グラフィックス 5" descr="棒グラフ">
              <a:extLst>
                <a:ext uri="{FF2B5EF4-FFF2-40B4-BE49-F238E27FC236}">
                  <a16:creationId xmlns="" xmlns:a16="http://schemas.microsoft.com/office/drawing/2014/main" id="{0B8F81C4-1B9C-40EF-9F19-A0AE65672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41995" y="394310"/>
              <a:ext cx="612000" cy="61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786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="" xmlns:a16="http://schemas.microsoft.com/office/drawing/2014/main" id="{5BF7FA9C-F8C2-48E2-9027-4789A18791B2}"/>
              </a:ext>
            </a:extLst>
          </p:cNvPr>
          <p:cNvGrpSpPr/>
          <p:nvPr/>
        </p:nvGrpSpPr>
        <p:grpSpPr>
          <a:xfrm>
            <a:off x="0" y="0"/>
            <a:ext cx="9906000" cy="6614625"/>
            <a:chOff x="0" y="0"/>
            <a:chExt cx="9906000" cy="6614625"/>
          </a:xfrm>
        </p:grpSpPr>
        <p:sp>
          <p:nvSpPr>
            <p:cNvPr id="4" name="正方形/長方形 3">
              <a:extLst>
                <a:ext uri="{FF2B5EF4-FFF2-40B4-BE49-F238E27FC236}">
                  <a16:creationId xmlns="" xmlns:a16="http://schemas.microsoft.com/office/drawing/2014/main" id="{F830A8B0-C740-40AD-A43D-F315C13DAC16}"/>
                </a:ext>
              </a:extLst>
            </p:cNvPr>
            <p:cNvSpPr/>
            <p:nvPr/>
          </p:nvSpPr>
          <p:spPr>
            <a:xfrm>
              <a:off x="0" y="0"/>
              <a:ext cx="9906000" cy="12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="" xmlns:a16="http://schemas.microsoft.com/office/drawing/2014/main" id="{12ACEEA3-7E0B-498D-B0ED-7DC460BBC210}"/>
                </a:ext>
              </a:extLst>
            </p:cNvPr>
            <p:cNvSpPr txBox="1"/>
            <p:nvPr/>
          </p:nvSpPr>
          <p:spPr>
            <a:xfrm>
              <a:off x="1531436" y="430928"/>
              <a:ext cx="68431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生產現場的業務改善解決方案</a:t>
              </a:r>
              <a:endParaRPr kumimoji="1"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6" name="グラフィックス 15" descr="円グラフ">
              <a:extLst>
                <a:ext uri="{FF2B5EF4-FFF2-40B4-BE49-F238E27FC236}">
                  <a16:creationId xmlns="" xmlns:a16="http://schemas.microsoft.com/office/drawing/2014/main" id="{EA6B6A57-F59B-45F0-A8CB-79389A433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50886" y="394310"/>
              <a:ext cx="612000" cy="6120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="" xmlns:a16="http://schemas.microsoft.com/office/drawing/2014/main" id="{3125E6BD-6380-4C3F-974C-00A7F2F7FF8B}"/>
                </a:ext>
              </a:extLst>
            </p:cNvPr>
            <p:cNvSpPr txBox="1"/>
            <p:nvPr/>
          </p:nvSpPr>
          <p:spPr>
            <a:xfrm>
              <a:off x="5489911" y="1374610"/>
              <a:ext cx="13251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 smtClean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導入後</a:t>
              </a:r>
              <a:endParaRPr kumimoji="1" lang="ja-JP" altLang="en-US" sz="28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="" xmlns:a16="http://schemas.microsoft.com/office/drawing/2014/main" id="{A9AFDB8E-BE56-49A7-91BD-D78ADB34BA62}"/>
                </a:ext>
              </a:extLst>
            </p:cNvPr>
            <p:cNvSpPr txBox="1"/>
            <p:nvPr/>
          </p:nvSpPr>
          <p:spPr>
            <a:xfrm>
              <a:off x="457016" y="1386107"/>
              <a:ext cx="13251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 smtClean="0">
                  <a:solidFill>
                    <a:schemeClr val="accent1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導入前</a:t>
              </a:r>
              <a:endParaRPr kumimoji="1" lang="en-US" altLang="ja-JP" sz="28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="" xmlns:a16="http://schemas.microsoft.com/office/drawing/2014/main" id="{F0E92519-CB9C-463A-BAC6-B38E5B3E10AB}"/>
                </a:ext>
              </a:extLst>
            </p:cNvPr>
            <p:cNvSpPr/>
            <p:nvPr/>
          </p:nvSpPr>
          <p:spPr>
            <a:xfrm>
              <a:off x="5484914" y="2258625"/>
              <a:ext cx="3964070" cy="435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="" xmlns:a16="http://schemas.microsoft.com/office/drawing/2014/main" id="{4ED05F6E-C8B8-4552-A954-845AB4D34BDF}"/>
                </a:ext>
              </a:extLst>
            </p:cNvPr>
            <p:cNvSpPr txBox="1"/>
            <p:nvPr/>
          </p:nvSpPr>
          <p:spPr>
            <a:xfrm>
              <a:off x="6578743" y="2044561"/>
              <a:ext cx="1776412" cy="40862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「可視化」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="" xmlns:a16="http://schemas.microsoft.com/office/drawing/2014/main" id="{00BB13DE-423E-46BF-A6A0-CB32E472A3DA}"/>
                </a:ext>
              </a:extLst>
            </p:cNvPr>
            <p:cNvSpPr/>
            <p:nvPr/>
          </p:nvSpPr>
          <p:spPr>
            <a:xfrm>
              <a:off x="457016" y="2258625"/>
              <a:ext cx="4224078" cy="435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="" xmlns:a16="http://schemas.microsoft.com/office/drawing/2014/main" id="{8EDAD893-4E16-405F-A443-BDAA961BB66F}"/>
                </a:ext>
              </a:extLst>
            </p:cNvPr>
            <p:cNvSpPr txBox="1"/>
            <p:nvPr/>
          </p:nvSpPr>
          <p:spPr>
            <a:xfrm>
              <a:off x="2119289" y="2044561"/>
              <a:ext cx="899532" cy="40862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defRPr kumimoji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課題</a:t>
              </a:r>
              <a:endParaRPr lang="en-US" altLang="ja-JP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0" name="グラフィックス 9" descr="棒グラフ">
              <a:extLst>
                <a:ext uri="{FF2B5EF4-FFF2-40B4-BE49-F238E27FC236}">
                  <a16:creationId xmlns="" xmlns:a16="http://schemas.microsoft.com/office/drawing/2014/main" id="{FF2BBFD2-0B3A-4F00-9643-ABE3B96F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41995" y="394310"/>
              <a:ext cx="612000" cy="612000"/>
            </a:xfrm>
            <a:prstGeom prst="rect">
              <a:avLst/>
            </a:prstGeom>
          </p:spPr>
        </p:pic>
        <p:sp>
          <p:nvSpPr>
            <p:cNvPr id="29" name="四角形: 角を丸くする 28">
              <a:extLst>
                <a:ext uri="{FF2B5EF4-FFF2-40B4-BE49-F238E27FC236}">
                  <a16:creationId xmlns="" xmlns:a16="http://schemas.microsoft.com/office/drawing/2014/main" id="{971F283F-CF44-41DF-8DA8-BEB6D9BF265F}"/>
                </a:ext>
              </a:extLst>
            </p:cNvPr>
            <p:cNvSpPr/>
            <p:nvPr/>
          </p:nvSpPr>
          <p:spPr>
            <a:xfrm>
              <a:off x="704816" y="4643291"/>
              <a:ext cx="8514458" cy="1703211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="" xmlns:a16="http://schemas.microsoft.com/office/drawing/2014/main" id="{7E002EA0-98A7-4B0E-9075-F32C7F0D9CA9}"/>
                </a:ext>
              </a:extLst>
            </p:cNvPr>
            <p:cNvSpPr/>
            <p:nvPr/>
          </p:nvSpPr>
          <p:spPr>
            <a:xfrm>
              <a:off x="704815" y="2593524"/>
              <a:ext cx="8514459" cy="183646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3">
              <a:extLst>
                <a:ext uri="{FF2B5EF4-FFF2-40B4-BE49-F238E27FC236}">
                  <a16:creationId xmlns="" xmlns:a16="http://schemas.microsoft.com/office/drawing/2014/main" id="{4C848299-186D-4814-8AD3-16336C7792D6}"/>
                </a:ext>
              </a:extLst>
            </p:cNvPr>
            <p:cNvSpPr/>
            <p:nvPr/>
          </p:nvSpPr>
          <p:spPr>
            <a:xfrm rot="5400000">
              <a:off x="4712331" y="3338336"/>
              <a:ext cx="952000" cy="346840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="" xmlns:a16="http://schemas.microsoft.com/office/drawing/2014/main" id="{DCF40AC1-F606-4516-8D56-EC936779D062}"/>
                </a:ext>
              </a:extLst>
            </p:cNvPr>
            <p:cNvSpPr/>
            <p:nvPr/>
          </p:nvSpPr>
          <p:spPr>
            <a:xfrm rot="5400000">
              <a:off x="4712331" y="5321476"/>
              <a:ext cx="952000" cy="346840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=""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811145" y="2727457"/>
              <a:ext cx="376624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ja-JP" altLang="en-US" sz="2000" smtClean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Times New Roman" panose="02020603050405020304" pitchFamily="18" charset="0"/>
                </a:rPr>
                <a:t>■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現場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紙本報表的填寫疏失</a:t>
              </a:r>
              <a:endParaRPr kumimoji="1" lang="en-US" altLang="ja-JP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重新彙整作業的繁雜性</a:t>
              </a:r>
              <a:endParaRPr kumimoji="1" lang="ja-JP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報告製作的加班負擔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="" xmlns:a16="http://schemas.microsoft.com/office/drawing/2014/main" id="{B142C0BC-A0F5-41AB-A231-039DF842F943}"/>
                </a:ext>
              </a:extLst>
            </p:cNvPr>
            <p:cNvSpPr txBox="1"/>
            <p:nvPr/>
          </p:nvSpPr>
          <p:spPr>
            <a:xfrm>
              <a:off x="811145" y="4711628"/>
              <a:ext cx="376624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ja-JP" altLang="en-US" sz="2000" smtClean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Times New Roman" panose="02020603050405020304" pitchFamily="18" charset="0"/>
                </a:rPr>
                <a:t>■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管理者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現況不透明</a:t>
              </a:r>
              <a:endParaRPr kumimoji="1" lang="en-US" altLang="ja-JP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實績掌握的時間落差</a:t>
              </a:r>
              <a:endParaRPr kumimoji="1" lang="en-US" altLang="ja-JP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晚一步的問題對策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="" xmlns:a16="http://schemas.microsoft.com/office/drawing/2014/main" id="{88BF1448-EC4C-4B9A-8D8C-1836A52A2432}"/>
                </a:ext>
              </a:extLst>
            </p:cNvPr>
            <p:cNvSpPr/>
            <p:nvPr/>
          </p:nvSpPr>
          <p:spPr>
            <a:xfrm>
              <a:off x="5825120" y="2739523"/>
              <a:ext cx="3269736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工時統計自動化，</a:t>
              </a:r>
              <a:r>
                <a:rPr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提高業務效率！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="" xmlns:a16="http://schemas.microsoft.com/office/drawing/2014/main" id="{02D15992-F373-463A-9CAE-0AE85498B185}"/>
                </a:ext>
              </a:extLst>
            </p:cNvPr>
            <p:cNvSpPr/>
            <p:nvPr/>
          </p:nvSpPr>
          <p:spPr>
            <a:xfrm>
              <a:off x="5822278" y="4820462"/>
              <a:ext cx="3269736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即時反應製造實績，</a:t>
              </a:r>
              <a:r>
                <a:rPr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迅速實施對策！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="" xmlns:a16="http://schemas.microsoft.com/office/drawing/2014/main" id="{42E0A2CC-7809-4916-8AB0-42403F60FFBA}"/>
                </a:ext>
              </a:extLst>
            </p:cNvPr>
            <p:cNvSpPr/>
            <p:nvPr/>
          </p:nvSpPr>
          <p:spPr>
            <a:xfrm>
              <a:off x="6939461" y="3414705"/>
              <a:ext cx="1224000" cy="5075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kumimoji="1" lang="zh-TW" altLang="en-US" sz="11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電子表單輸入</a:t>
              </a:r>
            </a:p>
          </p:txBody>
        </p:sp>
        <p:sp>
          <p:nvSpPr>
            <p:cNvPr id="34" name="楕円 33">
              <a:extLst>
                <a:ext uri="{FF2B5EF4-FFF2-40B4-BE49-F238E27FC236}">
                  <a16:creationId xmlns="" xmlns:a16="http://schemas.microsoft.com/office/drawing/2014/main" id="{5C126854-2ECB-4F67-8D45-301DAEE259DF}"/>
                </a:ext>
              </a:extLst>
            </p:cNvPr>
            <p:cNvSpPr/>
            <p:nvPr/>
          </p:nvSpPr>
          <p:spPr>
            <a:xfrm>
              <a:off x="7765237" y="3835178"/>
              <a:ext cx="1224000" cy="5075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1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自動統計</a:t>
              </a:r>
            </a:p>
          </p:txBody>
        </p:sp>
        <p:sp>
          <p:nvSpPr>
            <p:cNvPr id="35" name="楕円 34">
              <a:extLst>
                <a:ext uri="{FF2B5EF4-FFF2-40B4-BE49-F238E27FC236}">
                  <a16:creationId xmlns="" xmlns:a16="http://schemas.microsoft.com/office/drawing/2014/main" id="{3F660ED9-E9C6-4522-B5A7-16B3D8C9A110}"/>
                </a:ext>
              </a:extLst>
            </p:cNvPr>
            <p:cNvSpPr/>
            <p:nvPr/>
          </p:nvSpPr>
          <p:spPr>
            <a:xfrm>
              <a:off x="6048958" y="3844115"/>
              <a:ext cx="1224000" cy="5075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1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即時報告</a:t>
              </a:r>
            </a:p>
          </p:txBody>
        </p:sp>
        <p:sp>
          <p:nvSpPr>
            <p:cNvPr id="36" name="楕円 35">
              <a:extLst>
                <a:ext uri="{FF2B5EF4-FFF2-40B4-BE49-F238E27FC236}">
                  <a16:creationId xmlns="" xmlns:a16="http://schemas.microsoft.com/office/drawing/2014/main" id="{EEC2B453-8BFC-4F8F-9579-997091461869}"/>
                </a:ext>
              </a:extLst>
            </p:cNvPr>
            <p:cNvSpPr/>
            <p:nvPr/>
          </p:nvSpPr>
          <p:spPr>
            <a:xfrm>
              <a:off x="6054097" y="5681372"/>
              <a:ext cx="1224000" cy="5075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kumimoji="1" lang="zh-TW" altLang="en-US" sz="110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即時分析</a:t>
              </a:r>
              <a:endParaRPr kumimoji="1" lang="ja-JP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7" name="楕円 36">
              <a:extLst>
                <a:ext uri="{FF2B5EF4-FFF2-40B4-BE49-F238E27FC236}">
                  <a16:creationId xmlns="" xmlns:a16="http://schemas.microsoft.com/office/drawing/2014/main" id="{0168D3D0-2F1E-4992-9D5F-B26C7869C824}"/>
                </a:ext>
              </a:extLst>
            </p:cNvPr>
            <p:cNvSpPr/>
            <p:nvPr/>
          </p:nvSpPr>
          <p:spPr>
            <a:xfrm>
              <a:off x="7765237" y="5682403"/>
              <a:ext cx="1224000" cy="50758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kumimoji="1" lang="zh-TW" altLang="en-US" sz="11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各種圖表</a:t>
              </a:r>
              <a:r>
                <a:rPr kumimoji="1" lang="zh-TW" altLang="en-US" sz="110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顯示</a:t>
              </a:r>
              <a:endParaRPr kumimoji="1" lang="zh-TW" altLang="en-US" sz="11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1022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600</TotalTime>
  <Words>156</Words>
  <Application>Microsoft Office PowerPoint</Application>
  <PresentationFormat>A4 紙張 (210x297 公釐)</PresentationFormat>
  <Paragraphs>52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54</cp:revision>
  <dcterms:created xsi:type="dcterms:W3CDTF">2017-11-09T07:26:57Z</dcterms:created>
  <dcterms:modified xsi:type="dcterms:W3CDTF">2018-09-22T09:36:29Z</dcterms:modified>
</cp:coreProperties>
</file>