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58" r:id="rId4"/>
    <p:sldId id="261" r:id="rId5"/>
    <p:sldId id="263" r:id="rId6"/>
    <p:sldId id="262" r:id="rId7"/>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CC0066"/>
    <a:srgbClr val="666633"/>
    <a:srgbClr val="8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11" d="100"/>
          <a:sy n="111" d="100"/>
        </p:scale>
        <p:origin x="130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solidFill>
                <a:latin typeface="微軟正黑體" panose="020B0604030504040204" pitchFamily="34" charset="-120"/>
                <a:ea typeface="微軟正黑體" panose="020B0604030504040204" pitchFamily="34" charset="-120"/>
                <a:cs typeface="+mn-cs"/>
              </a:defRPr>
            </a:pPr>
            <a:r>
              <a:rPr lang="zh-TW" altLang="en-US">
                <a:latin typeface="微軟正黑體" panose="020B0604030504040204" pitchFamily="34" charset="-120"/>
                <a:ea typeface="微軟正黑體" panose="020B0604030504040204" pitchFamily="34" charset="-120"/>
                <a:cs typeface="Times New Roman" panose="02020603050405020304" pitchFamily="18" charset="0"/>
              </a:rPr>
              <a:t>亞洲的訪日國外旅客數的演變</a:t>
            </a:r>
            <a:endParaRPr lang="ja-JP" dirty="0">
              <a:latin typeface="微軟正黑體" panose="020B0604030504040204" pitchFamily="34" charset="-120"/>
              <a:ea typeface="微軟正黑體" panose="020B0604030504040204" pitchFamily="34" charset="-12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lang="ja-JP" sz="1862" b="0" i="0" u="none" strike="noStrike" kern="1200" spc="0" baseline="0">
              <a:solidFill>
                <a:schemeClr val="tx1"/>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lineChart>
        <c:grouping val="standard"/>
        <c:varyColors val="0"/>
        <c:ser>
          <c:idx val="0"/>
          <c:order val="0"/>
          <c:tx>
            <c:strRef>
              <c:f>Sheet1!$A$2</c:f>
              <c:strCache>
                <c:ptCount val="1"/>
                <c:pt idx="0">
                  <c:v>アジア</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Sheet1!$B$1:$L$1</c:f>
              <c:strCache>
                <c:ptCount val="11"/>
                <c:pt idx="0">
                  <c:v>2006年</c:v>
                </c:pt>
                <c:pt idx="1">
                  <c:v>2007年</c:v>
                </c:pt>
                <c:pt idx="2">
                  <c:v>2008年</c:v>
                </c:pt>
                <c:pt idx="3">
                  <c:v>2009年</c:v>
                </c:pt>
                <c:pt idx="4">
                  <c:v>2010年</c:v>
                </c:pt>
                <c:pt idx="5">
                  <c:v>2011年</c:v>
                </c:pt>
                <c:pt idx="6">
                  <c:v>2012年</c:v>
                </c:pt>
                <c:pt idx="7">
                  <c:v>2013年</c:v>
                </c:pt>
                <c:pt idx="8">
                  <c:v>2014年</c:v>
                </c:pt>
                <c:pt idx="9">
                  <c:v>2015年</c:v>
                </c:pt>
                <c:pt idx="10">
                  <c:v>2016年</c:v>
                </c:pt>
              </c:strCache>
            </c:strRef>
          </c:cat>
          <c:val>
            <c:numRef>
              <c:f>Sheet1!$B$2:$L$2</c:f>
              <c:numCache>
                <c:formatCode>#,##0</c:formatCode>
                <c:ptCount val="11"/>
                <c:pt idx="0">
                  <c:v>5247125</c:v>
                </c:pt>
                <c:pt idx="1">
                  <c:v>6130283</c:v>
                </c:pt>
                <c:pt idx="2">
                  <c:v>6153827</c:v>
                </c:pt>
                <c:pt idx="3">
                  <c:v>4814001</c:v>
                </c:pt>
                <c:pt idx="4">
                  <c:v>6528432</c:v>
                </c:pt>
                <c:pt idx="5">
                  <c:v>4723661</c:v>
                </c:pt>
                <c:pt idx="6">
                  <c:v>6387977</c:v>
                </c:pt>
                <c:pt idx="7">
                  <c:v>8115789</c:v>
                </c:pt>
                <c:pt idx="8">
                  <c:v>10819211</c:v>
                </c:pt>
                <c:pt idx="9">
                  <c:v>16645843</c:v>
                </c:pt>
                <c:pt idx="10" formatCode="#,##0_);[Red]\(#,##0\)">
                  <c:v>20428866</c:v>
                </c:pt>
              </c:numCache>
            </c:numRef>
          </c:val>
          <c:smooth val="0"/>
          <c:extLst>
            <c:ext xmlns:c16="http://schemas.microsoft.com/office/drawing/2014/chart" uri="{C3380CC4-5D6E-409C-BE32-E72D297353CC}">
              <c16:uniqueId val="{00000000-0CE5-4C14-8E49-5758B0F7F3AE}"/>
            </c:ext>
          </c:extLst>
        </c:ser>
        <c:dLbls>
          <c:showLegendKey val="0"/>
          <c:showVal val="0"/>
          <c:showCatName val="0"/>
          <c:showSerName val="0"/>
          <c:showPercent val="0"/>
          <c:showBubbleSize val="0"/>
        </c:dLbls>
        <c:marker val="1"/>
        <c:smooth val="0"/>
        <c:axId val="-1163749472"/>
        <c:axId val="-1163760352"/>
      </c:lineChart>
      <c:catAx>
        <c:axId val="-1163749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defRPr>
            </a:pPr>
            <a:endParaRPr lang="zh-TW"/>
          </a:p>
        </c:txPr>
        <c:crossAx val="-1163760352"/>
        <c:crosses val="autoZero"/>
        <c:auto val="1"/>
        <c:lblAlgn val="ctr"/>
        <c:lblOffset val="100"/>
        <c:tickLblSkip val="1"/>
        <c:tickMarkSkip val="1"/>
        <c:noMultiLvlLbl val="0"/>
      </c:catAx>
      <c:valAx>
        <c:axId val="-116376035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defRPr>
            </a:pPr>
            <a:endParaRPr lang="zh-TW"/>
          </a:p>
        </c:txPr>
        <c:crossAx val="-11637494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2400" b="0" i="0" u="none" strike="noStrike" kern="1200" spc="0" baseline="0">
                <a:solidFill>
                  <a:schemeClr val="tx1"/>
                </a:solidFill>
                <a:latin typeface="微軟正黑體" panose="020B0604030504040204" pitchFamily="34" charset="-120"/>
                <a:ea typeface="微軟正黑體" panose="020B0604030504040204" pitchFamily="34" charset="-120"/>
                <a:cs typeface="+mn-cs"/>
              </a:defRPr>
            </a:pPr>
            <a:r>
              <a:rPr lang="zh-TW" altLang="zh-TW" sz="2400" b="0" i="0" u="none" strike="noStrike" baseline="0">
                <a:effectLst/>
                <a:latin typeface="微軟正黑體" panose="020B0604030504040204" pitchFamily="34" charset="-120"/>
                <a:ea typeface="微軟正黑體" panose="020B0604030504040204" pitchFamily="34" charset="-120"/>
                <a:cs typeface="Times New Roman" panose="02020603050405020304" pitchFamily="18" charset="0"/>
              </a:rPr>
              <a:t>亞洲的訪日國外旅客數</a:t>
            </a:r>
            <a:endParaRPr lang="en-US" altLang="ja-JP" sz="2400" dirty="0">
              <a:latin typeface="微軟正黑體" panose="020B0604030504040204" pitchFamily="34" charset="-120"/>
              <a:ea typeface="微軟正黑體" panose="020B0604030504040204" pitchFamily="34" charset="-120"/>
              <a:cs typeface="Times New Roman" panose="02020603050405020304" pitchFamily="18" charset="0"/>
            </a:endParaRPr>
          </a:p>
          <a:p>
            <a:pPr>
              <a:defRPr lang="ja-JP" sz="2400">
                <a:latin typeface="微軟正黑體" panose="020B0604030504040204" pitchFamily="34" charset="-120"/>
                <a:ea typeface="微軟正黑體" panose="020B0604030504040204" pitchFamily="34" charset="-120"/>
              </a:defRPr>
            </a:pPr>
            <a:r>
              <a:rPr lang="zh-TW" altLang="en-US" sz="2400">
                <a:latin typeface="微軟正黑體" panose="020B0604030504040204" pitchFamily="34" charset="-120"/>
                <a:ea typeface="微軟正黑體" panose="020B0604030504040204" pitchFamily="34" charset="-120"/>
                <a:cs typeface="Times New Roman" panose="02020603050405020304" pitchFamily="18" charset="0"/>
              </a:rPr>
              <a:t>增加成</a:t>
            </a:r>
            <a:r>
              <a:rPr lang="en-US" altLang="zh-TW" sz="2400">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400">
                <a:latin typeface="微軟正黑體" panose="020B0604030504040204" pitchFamily="34" charset="-120"/>
                <a:ea typeface="微軟正黑體" panose="020B0604030504040204" pitchFamily="34" charset="-120"/>
                <a:cs typeface="Times New Roman" panose="02020603050405020304" pitchFamily="18" charset="0"/>
              </a:rPr>
              <a:t>年前的</a:t>
            </a:r>
            <a:r>
              <a:rPr lang="en-US" altLang="zh-TW" sz="2400">
                <a:latin typeface="微軟正黑體" panose="020B0604030504040204" pitchFamily="34" charset="-120"/>
                <a:ea typeface="微軟正黑體" panose="020B0604030504040204" pitchFamily="34" charset="-120"/>
                <a:cs typeface="Times New Roman" panose="02020603050405020304" pitchFamily="18" charset="0"/>
              </a:rPr>
              <a:t>4</a:t>
            </a:r>
            <a:r>
              <a:rPr lang="zh-TW" altLang="en-US" sz="2400">
                <a:latin typeface="微軟正黑體" panose="020B0604030504040204" pitchFamily="34" charset="-120"/>
                <a:ea typeface="微軟正黑體" panose="020B0604030504040204" pitchFamily="34" charset="-120"/>
                <a:cs typeface="Times New Roman" panose="02020603050405020304" pitchFamily="18" charset="0"/>
              </a:rPr>
              <a:t>倍！</a:t>
            </a:r>
            <a:endParaRPr lang="ja-JP" sz="2400" dirty="0">
              <a:latin typeface="微軟正黑體" panose="020B0604030504040204" pitchFamily="34" charset="-120"/>
              <a:ea typeface="微軟正黑體" panose="020B0604030504040204" pitchFamily="34" charset="-12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lang="ja-JP" sz="2400" b="0" i="0" u="none" strike="noStrike" kern="1200" spc="0" baseline="0">
              <a:solidFill>
                <a:schemeClr val="tx1"/>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lineChart>
        <c:grouping val="standard"/>
        <c:varyColors val="0"/>
        <c:ser>
          <c:idx val="0"/>
          <c:order val="0"/>
          <c:tx>
            <c:strRef>
              <c:f>Sheet1!$A$2</c:f>
              <c:strCache>
                <c:ptCount val="1"/>
                <c:pt idx="0">
                  <c:v>アジア</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CE5-4C14-8E49-5758B0F7F3AE}"/>
                </c:ext>
              </c:extLst>
            </c:dLbl>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CE5-4C14-8E49-5758B0F7F3AE}"/>
                </c:ext>
              </c:extLst>
            </c:dLbl>
            <c:spPr>
              <a:noFill/>
              <a:ln>
                <a:noFill/>
              </a:ln>
              <a:effectLst/>
            </c:spPr>
            <c:txPr>
              <a:bodyPr rot="0" spcFirstLastPara="1" vertOverflow="ellipsis" vert="horz" wrap="square" lIns="38100" tIns="19050" rIns="38100" bIns="19050" anchor="ctr" anchorCtr="1">
                <a:spAutoFit/>
              </a:bodyPr>
              <a:lstStyle/>
              <a:p>
                <a:pPr>
                  <a:defRPr lang="ja-JP" sz="1600" b="0" i="0" u="none" strike="noStrike" kern="1200" baseline="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Sheet1!$B$1:$L$1</c:f>
              <c:strCache>
                <c:ptCount val="11"/>
                <c:pt idx="0">
                  <c:v>2006年</c:v>
                </c:pt>
                <c:pt idx="1">
                  <c:v>2007年</c:v>
                </c:pt>
                <c:pt idx="2">
                  <c:v>2008年</c:v>
                </c:pt>
                <c:pt idx="3">
                  <c:v>2009年</c:v>
                </c:pt>
                <c:pt idx="4">
                  <c:v>2010年</c:v>
                </c:pt>
                <c:pt idx="5">
                  <c:v>2011年</c:v>
                </c:pt>
                <c:pt idx="6">
                  <c:v>2012年</c:v>
                </c:pt>
                <c:pt idx="7">
                  <c:v>2013年</c:v>
                </c:pt>
                <c:pt idx="8">
                  <c:v>2014年</c:v>
                </c:pt>
                <c:pt idx="9">
                  <c:v>2015年</c:v>
                </c:pt>
                <c:pt idx="10">
                  <c:v>2016年</c:v>
                </c:pt>
              </c:strCache>
            </c:strRef>
          </c:cat>
          <c:val>
            <c:numRef>
              <c:f>Sheet1!$B$2:$L$2</c:f>
              <c:numCache>
                <c:formatCode>#,##0</c:formatCode>
                <c:ptCount val="11"/>
                <c:pt idx="0">
                  <c:v>5247125</c:v>
                </c:pt>
                <c:pt idx="1">
                  <c:v>6130283</c:v>
                </c:pt>
                <c:pt idx="2">
                  <c:v>6153827</c:v>
                </c:pt>
                <c:pt idx="3">
                  <c:v>4814001</c:v>
                </c:pt>
                <c:pt idx="4">
                  <c:v>6528432</c:v>
                </c:pt>
                <c:pt idx="5">
                  <c:v>4723661</c:v>
                </c:pt>
                <c:pt idx="6">
                  <c:v>6387977</c:v>
                </c:pt>
                <c:pt idx="7">
                  <c:v>8115789</c:v>
                </c:pt>
                <c:pt idx="8">
                  <c:v>10819211</c:v>
                </c:pt>
                <c:pt idx="9">
                  <c:v>16645843</c:v>
                </c:pt>
                <c:pt idx="10" formatCode="#,##0_);[Red]\(#,##0\)">
                  <c:v>20428866</c:v>
                </c:pt>
              </c:numCache>
            </c:numRef>
          </c:val>
          <c:smooth val="0"/>
          <c:extLst>
            <c:ext xmlns:c16="http://schemas.microsoft.com/office/drawing/2014/chart" uri="{C3380CC4-5D6E-409C-BE32-E72D297353CC}">
              <c16:uniqueId val="{00000000-0CE5-4C14-8E49-5758B0F7F3AE}"/>
            </c:ext>
          </c:extLst>
        </c:ser>
        <c:dLbls>
          <c:showLegendKey val="0"/>
          <c:showVal val="0"/>
          <c:showCatName val="0"/>
          <c:showSerName val="0"/>
          <c:showPercent val="0"/>
          <c:showBubbleSize val="0"/>
        </c:dLbls>
        <c:marker val="1"/>
        <c:smooth val="0"/>
        <c:axId val="-1163754368"/>
        <c:axId val="-1163748384"/>
      </c:lineChart>
      <c:catAx>
        <c:axId val="-11637543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defRPr>
            </a:pPr>
            <a:endParaRPr lang="zh-TW"/>
          </a:p>
        </c:txPr>
        <c:crossAx val="-1163748384"/>
        <c:crosses val="autoZero"/>
        <c:auto val="1"/>
        <c:lblAlgn val="ctr"/>
        <c:lblOffset val="100"/>
        <c:tickLblSkip val="10"/>
        <c:tickMarkSkip val="1"/>
        <c:noMultiLvlLbl val="0"/>
      </c:catAx>
      <c:valAx>
        <c:axId val="-1163748384"/>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crossAx val="-1163754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422942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88826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40166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371447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783183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370719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96343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591081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652104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408790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35486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278228-730F-428F-BDD8-7FD4DE5CF34A}" type="datetimeFigureOut">
              <a:rPr kumimoji="1" lang="ja-JP" altLang="en-US" smtClean="0"/>
              <a:t>2018/11/7</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726077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グループ化 37">
            <a:extLst>
              <a:ext uri="{FF2B5EF4-FFF2-40B4-BE49-F238E27FC236}">
                <a16:creationId xmlns:a16="http://schemas.microsoft.com/office/drawing/2014/main" id="{D0164730-2E3A-4C08-B7AB-8CE5DAC681D3}"/>
              </a:ext>
            </a:extLst>
          </p:cNvPr>
          <p:cNvGrpSpPr/>
          <p:nvPr/>
        </p:nvGrpSpPr>
        <p:grpSpPr>
          <a:xfrm>
            <a:off x="0" y="0"/>
            <a:ext cx="9906000" cy="6523583"/>
            <a:chOff x="0" y="0"/>
            <a:chExt cx="9906000" cy="6523583"/>
          </a:xfrm>
        </p:grpSpPr>
        <p:sp>
          <p:nvSpPr>
            <p:cNvPr id="13" name="正方形/長方形 12">
              <a:extLst>
                <a:ext uri="{FF2B5EF4-FFF2-40B4-BE49-F238E27FC236}">
                  <a16:creationId xmlns:a16="http://schemas.microsoft.com/office/drawing/2014/main" id="{8C56F6EB-136C-433B-AFF0-6E3B9268CDFF}"/>
                </a:ext>
              </a:extLst>
            </p:cNvPr>
            <p:cNvSpPr/>
            <p:nvPr/>
          </p:nvSpPr>
          <p:spPr>
            <a:xfrm>
              <a:off x="0" y="0"/>
              <a:ext cx="9906000" cy="1836000"/>
            </a:xfrm>
            <a:prstGeom prst="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027E064C-F492-4B33-B027-A8544B17DD41}"/>
                </a:ext>
              </a:extLst>
            </p:cNvPr>
            <p:cNvSpPr txBox="1"/>
            <p:nvPr/>
          </p:nvSpPr>
          <p:spPr>
            <a:xfrm>
              <a:off x="301584" y="2212929"/>
              <a:ext cx="4572000" cy="1007968"/>
            </a:xfrm>
            <a:prstGeom prst="rect">
              <a:avLst/>
            </a:prstGeom>
            <a:noFill/>
          </p:spPr>
          <p:txBody>
            <a:bodyPr wrap="square" rtlCol="0">
              <a:spAutoFit/>
            </a:bodyPr>
            <a:lstStyle/>
            <a:p>
              <a:pPr algn="just"/>
              <a:r>
                <a:rPr kumimoji="1" lang="zh-TW" altLang="en-US" sz="1400" b="1">
                  <a:latin typeface="微軟正黑體" panose="020B0604030504040204" pitchFamily="34" charset="-120"/>
                  <a:ea typeface="微軟正黑體" panose="020B0604030504040204" pitchFamily="34" charset="-120"/>
                  <a:cs typeface="Times New Roman" panose="02020603050405020304" pitchFamily="18" charset="0"/>
                </a:rPr>
                <a:t>發掘、培育新銳創作者，</a:t>
              </a:r>
              <a:endParaRPr kumimoji="1" lang="en-US" altLang="ja-JP" sz="1400" b="1"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400" b="1">
                  <a:latin typeface="微軟正黑體" panose="020B0604030504040204" pitchFamily="34" charset="-120"/>
                  <a:ea typeface="微軟正黑體" panose="020B0604030504040204" pitchFamily="34" charset="-120"/>
                  <a:cs typeface="Times New Roman" panose="02020603050405020304" pitchFamily="18" charset="0"/>
                </a:rPr>
                <a:t>建構與企業之間的橋樑</a:t>
              </a:r>
              <a:endParaRPr kumimoji="1" lang="en-US" altLang="ja-JP" sz="1400" b="1"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繪製漫畫或插圖的年輕創作者沒有發表作品的場所。與其在網路上從事個人活動，不如把資訊集中在同一個地方，更能有效推銷自己。建構管理人材和作品，進一步和企業聯繫的創作者支援網站</a:t>
              </a:r>
              <a:r>
                <a:rPr kumimoji="1" lang="en-US" altLang="ja-JP" sz="1050">
                  <a:latin typeface="微軟正黑體" panose="020B0604030504040204" pitchFamily="34" charset="-120"/>
                  <a:ea typeface="微軟正黑體" panose="020B0604030504040204" pitchFamily="34" charset="-120"/>
                  <a:cs typeface="Times New Roman" panose="02020603050405020304" pitchFamily="18" charset="0"/>
                </a:rPr>
                <a:t>『Hisense Guild』</a:t>
              </a:r>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a:t>
              </a:r>
              <a:endParaRPr kumimoji="1" lang="ja-JP" altLang="en-US" sz="105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1" name="加算記号 10">
              <a:extLst>
                <a:ext uri="{FF2B5EF4-FFF2-40B4-BE49-F238E27FC236}">
                  <a16:creationId xmlns:a16="http://schemas.microsoft.com/office/drawing/2014/main" id="{E656A56D-CC73-4135-8A84-D0F96981F5C5}"/>
                </a:ext>
              </a:extLst>
            </p:cNvPr>
            <p:cNvSpPr/>
            <p:nvPr/>
          </p:nvSpPr>
          <p:spPr>
            <a:xfrm>
              <a:off x="7800302" y="3715324"/>
              <a:ext cx="680225" cy="602166"/>
            </a:xfrm>
            <a:prstGeom prst="mathPlus">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次の値と等しい 11">
              <a:extLst>
                <a:ext uri="{FF2B5EF4-FFF2-40B4-BE49-F238E27FC236}">
                  <a16:creationId xmlns:a16="http://schemas.microsoft.com/office/drawing/2014/main" id="{A01073BD-5D30-4A3F-9B4D-234FD889E1AD}"/>
                </a:ext>
              </a:extLst>
            </p:cNvPr>
            <p:cNvSpPr/>
            <p:nvPr/>
          </p:nvSpPr>
          <p:spPr>
            <a:xfrm rot="5400000">
              <a:off x="7839331" y="5158774"/>
              <a:ext cx="602166" cy="602166"/>
            </a:xfrm>
            <a:prstGeom prst="mathEqual">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BF2E0FB-1E36-49A7-8BD2-5334B8DB03AE}"/>
                </a:ext>
              </a:extLst>
            </p:cNvPr>
            <p:cNvSpPr txBox="1"/>
            <p:nvPr/>
          </p:nvSpPr>
          <p:spPr>
            <a:xfrm>
              <a:off x="0" y="0"/>
              <a:ext cx="9905999" cy="986947"/>
            </a:xfrm>
            <a:prstGeom prst="rect">
              <a:avLst/>
            </a:prstGeom>
            <a:noFill/>
            <a:effectLst/>
          </p:spPr>
          <p:txBody>
            <a:bodyPr wrap="square" rtlCol="0">
              <a:prstTxWarp prst="textPlain">
                <a:avLst/>
              </a:prstTxWarp>
              <a:spAutoFit/>
            </a:bodyPr>
            <a:lstStyle/>
            <a:p>
              <a:pPr algn="r"/>
              <a:r>
                <a:rPr kumimoji="1" lang="en-US" altLang="ja-JP" sz="3200" b="1" spc="-300" dirty="0">
                  <a:solidFill>
                    <a:schemeClr val="bg1"/>
                  </a:solidFill>
                  <a:effectLst>
                    <a:reflection blurRad="6350" stA="55000" endA="300" endPos="45500" dir="5400000" sy="-100000" algn="bl" rotWithShape="0"/>
                  </a:effectLst>
                  <a:latin typeface="Arial Black" panose="020B0A04020102020204" pitchFamily="34" charset="0"/>
                </a:rPr>
                <a:t>Comics</a:t>
              </a:r>
              <a:r>
                <a:rPr kumimoji="1" lang="ja-JP" altLang="en-US" sz="3200" b="1" spc="-300" dirty="0">
                  <a:solidFill>
                    <a:schemeClr val="bg1"/>
                  </a:solidFill>
                  <a:effectLst>
                    <a:reflection blurRad="6350" stA="55000" endA="300" endPos="45500" dir="5400000" sy="-100000" algn="bl" rotWithShape="0"/>
                  </a:effectLst>
                  <a:latin typeface="Arial Black" panose="020B0A04020102020204" pitchFamily="34" charset="0"/>
                </a:rPr>
                <a:t> </a:t>
              </a:r>
              <a:r>
                <a:rPr kumimoji="1" lang="en-US" altLang="ja-JP" sz="3200" b="1" spc="-300" dirty="0">
                  <a:solidFill>
                    <a:schemeClr val="bg1"/>
                  </a:solidFill>
                  <a:effectLst>
                    <a:reflection blurRad="6350" stA="55000" endA="300" endPos="45500" dir="5400000" sy="-100000" algn="bl" rotWithShape="0"/>
                  </a:effectLst>
                  <a:latin typeface="Arial Black" panose="020B0A04020102020204" pitchFamily="34" charset="0"/>
                </a:rPr>
                <a:t>&amp;</a:t>
              </a:r>
              <a:r>
                <a:rPr kumimoji="1" lang="ja-JP" altLang="en-US" sz="3200" b="1" spc="-300" dirty="0">
                  <a:solidFill>
                    <a:schemeClr val="bg1"/>
                  </a:solidFill>
                  <a:effectLst>
                    <a:reflection blurRad="6350" stA="55000" endA="300" endPos="45500" dir="5400000" sy="-100000" algn="bl" rotWithShape="0"/>
                  </a:effectLst>
                  <a:latin typeface="Arial Black" panose="020B0A04020102020204" pitchFamily="34" charset="0"/>
                </a:rPr>
                <a:t> </a:t>
              </a:r>
              <a:r>
                <a:rPr kumimoji="1" lang="en-US" altLang="ja-JP" sz="3200" b="1" spc="-300" dirty="0">
                  <a:solidFill>
                    <a:schemeClr val="bg1"/>
                  </a:solidFill>
                  <a:effectLst>
                    <a:reflection blurRad="6350" stA="55000" endA="300" endPos="45500" dir="5400000" sy="-100000" algn="bl" rotWithShape="0"/>
                  </a:effectLst>
                  <a:latin typeface="Arial Black" panose="020B0A04020102020204" pitchFamily="34" charset="0"/>
                </a:rPr>
                <a:t>Illustration</a:t>
              </a:r>
              <a:endParaRPr kumimoji="1" lang="ja-JP" altLang="en-US" sz="3200" b="1" spc="-300" dirty="0">
                <a:solidFill>
                  <a:schemeClr val="bg1"/>
                </a:solidFill>
                <a:effectLst>
                  <a:reflection blurRad="6350" stA="55000" endA="300" endPos="45500" dir="5400000" sy="-100000" algn="bl" rotWithShape="0"/>
                </a:effectLst>
                <a:latin typeface="Arial Black" panose="020B0A04020102020204" pitchFamily="34" charset="0"/>
              </a:endParaRPr>
            </a:p>
          </p:txBody>
        </p:sp>
        <p:sp>
          <p:nvSpPr>
            <p:cNvPr id="4" name="テキスト ボックス 3">
              <a:extLst>
                <a:ext uri="{FF2B5EF4-FFF2-40B4-BE49-F238E27FC236}">
                  <a16:creationId xmlns:a16="http://schemas.microsoft.com/office/drawing/2014/main" id="{8C8653A3-6EB4-4393-9872-034507F6E106}"/>
                </a:ext>
              </a:extLst>
            </p:cNvPr>
            <p:cNvSpPr txBox="1"/>
            <p:nvPr/>
          </p:nvSpPr>
          <p:spPr>
            <a:xfrm>
              <a:off x="301586" y="3787714"/>
              <a:ext cx="2592000" cy="1438855"/>
            </a:xfrm>
            <a:prstGeom prst="rect">
              <a:avLst/>
            </a:prstGeom>
            <a:noFill/>
          </p:spPr>
          <p:txBody>
            <a:bodyPr wrap="square" rtlCol="0">
              <a:spAutoFit/>
            </a:bodyPr>
            <a:lstStyle/>
            <a:p>
              <a:pPr algn="just"/>
              <a:r>
                <a:rPr kumimoji="1" lang="zh-TW" altLang="en-US" sz="1400" b="1">
                  <a:latin typeface="微軟正黑體" panose="020B0604030504040204" pitchFamily="34" charset="-120"/>
                  <a:ea typeface="微軟正黑體" panose="020B0604030504040204" pitchFamily="34" charset="-120"/>
                  <a:cs typeface="Times New Roman" panose="02020603050405020304" pitchFamily="18" charset="0"/>
                </a:rPr>
                <a:t>作者發佈最新作品</a:t>
              </a:r>
              <a:endParaRPr kumimoji="1" lang="en-US" altLang="ja-JP" sz="1400" b="1"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隨時提供營業用的內容給本網站所屬的創作者。</a:t>
              </a:r>
              <a:endParaRPr kumimoji="1" lang="en-US" altLang="ja-JP" sz="1050"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漫畫準備</a:t>
              </a:r>
              <a:r>
                <a:rPr kumimoji="1" lang="en-US" altLang="zh-TW" sz="1050">
                  <a:latin typeface="微軟正黑體" panose="020B0604030504040204" pitchFamily="34" charset="-120"/>
                  <a:ea typeface="微軟正黑體" panose="020B0604030504040204" pitchFamily="34" charset="-120"/>
                  <a:cs typeface="Times New Roman" panose="02020603050405020304" pitchFamily="18" charset="0"/>
                </a:rPr>
                <a:t>1</a:t>
              </a:r>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部以上</a:t>
              </a:r>
              <a:r>
                <a:rPr kumimoji="1" lang="en-US" altLang="zh-TW" sz="1050">
                  <a:latin typeface="微軟正黑體" panose="020B0604030504040204" pitchFamily="34" charset="-120"/>
                  <a:ea typeface="微軟正黑體" panose="020B0604030504040204" pitchFamily="34" charset="-120"/>
                  <a:cs typeface="Times New Roman" panose="02020603050405020304" pitchFamily="18" charset="0"/>
                </a:rPr>
                <a:t>10</a:t>
              </a:r>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頁以內的作品；插畫準備</a:t>
              </a:r>
              <a:r>
                <a:rPr kumimoji="1" lang="en-US" altLang="zh-TW" sz="1050">
                  <a:latin typeface="微軟正黑體" panose="020B0604030504040204" pitchFamily="34" charset="-120"/>
                  <a:ea typeface="微軟正黑體" panose="020B0604030504040204" pitchFamily="34" charset="-120"/>
                  <a:cs typeface="Times New Roman" panose="02020603050405020304" pitchFamily="18" charset="0"/>
                </a:rPr>
                <a:t>10</a:t>
              </a:r>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件畫風不同的作品，連同姓名、主題、註解等</a:t>
              </a:r>
              <a:r>
                <a:rPr kumimoji="1" lang="en-US" altLang="zh-TW" sz="1050">
                  <a:latin typeface="微軟正黑體" panose="020B0604030504040204" pitchFamily="34" charset="-120"/>
                  <a:ea typeface="微軟正黑體" panose="020B0604030504040204" pitchFamily="34" charset="-120"/>
                  <a:cs typeface="Times New Roman" panose="02020603050405020304" pitchFamily="18" charset="0"/>
                </a:rPr>
                <a:t>7</a:t>
              </a:r>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種資訊一起上傳到網站。</a:t>
              </a:r>
              <a:endParaRPr kumimoji="1" lang="en-US" altLang="ja-JP" sz="1050"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作品每隔</a:t>
              </a:r>
              <a:r>
                <a:rPr kumimoji="1" lang="en-US" altLang="zh-TW" sz="1050">
                  <a:latin typeface="微軟正黑體" panose="020B0604030504040204" pitchFamily="34" charset="-120"/>
                  <a:ea typeface="微軟正黑體" panose="020B0604030504040204" pitchFamily="34" charset="-120"/>
                  <a:cs typeface="Times New Roman" panose="02020603050405020304" pitchFamily="18" charset="0"/>
                </a:rPr>
                <a:t>3</a:t>
              </a:r>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個月更新一次，隨時發佈最新的畫風、風格與技術，提高品質。</a:t>
              </a:r>
              <a:endParaRPr kumimoji="1" lang="ja-JP" altLang="en-US" sz="105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5" name="テキスト ボックス 4">
              <a:extLst>
                <a:ext uri="{FF2B5EF4-FFF2-40B4-BE49-F238E27FC236}">
                  <a16:creationId xmlns:a16="http://schemas.microsoft.com/office/drawing/2014/main" id="{FA782CBD-B6E2-476E-BA98-09EDDE14EF7B}"/>
                </a:ext>
              </a:extLst>
            </p:cNvPr>
            <p:cNvSpPr txBox="1"/>
            <p:nvPr/>
          </p:nvSpPr>
          <p:spPr>
            <a:xfrm>
              <a:off x="3489000" y="3787714"/>
              <a:ext cx="2592000" cy="1600438"/>
            </a:xfrm>
            <a:prstGeom prst="rect">
              <a:avLst/>
            </a:prstGeom>
            <a:noFill/>
          </p:spPr>
          <p:txBody>
            <a:bodyPr wrap="square" rtlCol="0">
              <a:spAutoFit/>
            </a:bodyPr>
            <a:lstStyle/>
            <a:p>
              <a:pPr algn="just"/>
              <a:r>
                <a:rPr kumimoji="1" lang="zh-TW" altLang="en-US" sz="1400" b="1">
                  <a:latin typeface="微軟正黑體" panose="020B0604030504040204" pitchFamily="34" charset="-120"/>
                  <a:ea typeface="微軟正黑體" panose="020B0604030504040204" pitchFamily="34" charset="-120"/>
                  <a:cs typeface="Times New Roman" panose="02020603050405020304" pitchFamily="18" charset="0"/>
                </a:rPr>
                <a:t>觀眾可了解作品特色</a:t>
              </a:r>
              <a:endParaRPr kumimoji="1" lang="en-US" altLang="ja-JP" sz="1400" b="1"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網站依照各作品進行詳細的分類，可讓觀眾馬上掌握到作品的風格、畫風，以及作者的特色及實績。</a:t>
              </a:r>
              <a:endParaRPr kumimoji="1" lang="en-US" altLang="ja-JP" sz="1050"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對企業的製作負責人來說，可以更容易找到符合發案風格的作者。</a:t>
              </a:r>
              <a:endParaRPr kumimoji="1" lang="en-US" altLang="ja-JP" sz="1050"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050">
                  <a:latin typeface="微軟正黑體" panose="020B0604030504040204" pitchFamily="34" charset="-120"/>
                  <a:ea typeface="微軟正黑體" panose="020B0604030504040204" pitchFamily="34" charset="-120"/>
                  <a:cs typeface="Times New Roman" panose="02020603050405020304" pitchFamily="18" charset="0"/>
                </a:rPr>
                <a:t>公開作者與該作品的適用用途、發案金額之標準、著作權等利用導覽，可減少繁雜的發案程序。</a:t>
              </a:r>
              <a:endParaRPr kumimoji="1" lang="ja-JP" altLang="en-US" sz="105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nvGrpSpPr>
            <p:cNvPr id="15" name="グループ化 14">
              <a:extLst>
                <a:ext uri="{FF2B5EF4-FFF2-40B4-BE49-F238E27FC236}">
                  <a16:creationId xmlns:a16="http://schemas.microsoft.com/office/drawing/2014/main" id="{640CFB9B-6CDF-42F7-A8FB-64367976DC2A}"/>
                </a:ext>
              </a:extLst>
            </p:cNvPr>
            <p:cNvGrpSpPr/>
            <p:nvPr/>
          </p:nvGrpSpPr>
          <p:grpSpPr>
            <a:xfrm>
              <a:off x="6162707" y="4527927"/>
              <a:ext cx="432000" cy="432000"/>
              <a:chOff x="6162707" y="4527927"/>
              <a:chExt cx="432000" cy="432000"/>
            </a:xfrm>
          </p:grpSpPr>
          <p:sp>
            <p:nvSpPr>
              <p:cNvPr id="22" name="楕円 21">
                <a:extLst>
                  <a:ext uri="{FF2B5EF4-FFF2-40B4-BE49-F238E27FC236}">
                    <a16:creationId xmlns:a16="http://schemas.microsoft.com/office/drawing/2014/main" id="{ED5AF0B7-86BA-488E-8066-65A986783A29}"/>
                  </a:ext>
                </a:extLst>
              </p:cNvPr>
              <p:cNvSpPr/>
              <p:nvPr/>
            </p:nvSpPr>
            <p:spPr>
              <a:xfrm>
                <a:off x="6162707" y="4527927"/>
                <a:ext cx="432000" cy="432000"/>
              </a:xfrm>
              <a:prstGeom prst="ellipse">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矢印: 右 23">
                <a:extLst>
                  <a:ext uri="{FF2B5EF4-FFF2-40B4-BE49-F238E27FC236}">
                    <a16:creationId xmlns:a16="http://schemas.microsoft.com/office/drawing/2014/main" id="{CD076FD1-34DB-4DDA-BFE3-404324E5C7AA}"/>
                  </a:ext>
                </a:extLst>
              </p:cNvPr>
              <p:cNvSpPr/>
              <p:nvPr/>
            </p:nvSpPr>
            <p:spPr>
              <a:xfrm>
                <a:off x="6234707" y="4599927"/>
                <a:ext cx="288000" cy="28800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正方形/長方形 8">
              <a:extLst>
                <a:ext uri="{FF2B5EF4-FFF2-40B4-BE49-F238E27FC236}">
                  <a16:creationId xmlns:a16="http://schemas.microsoft.com/office/drawing/2014/main" id="{0932F486-1C73-41F0-8429-EA137B7C3E33}"/>
                </a:ext>
              </a:extLst>
            </p:cNvPr>
            <p:cNvSpPr/>
            <p:nvPr/>
          </p:nvSpPr>
          <p:spPr>
            <a:xfrm>
              <a:off x="3327049" y="1429241"/>
              <a:ext cx="3251903" cy="307777"/>
            </a:xfrm>
            <a:prstGeom prst="rect">
              <a:avLst/>
            </a:prstGeom>
          </p:spPr>
          <p:txBody>
            <a:bodyPr wrap="square">
              <a:spAutoFit/>
            </a:bodyPr>
            <a:lstStyle/>
            <a:p>
              <a:pPr algn="ctr"/>
              <a:r>
                <a:rPr kumimoji="1" lang="en-US" altLang="ja-JP" sz="1400">
                  <a:solidFill>
                    <a:schemeClr val="bg1"/>
                  </a:solidFill>
                  <a:latin typeface="微軟正黑體" panose="020B0604030504040204" pitchFamily="34" charset="-120"/>
                  <a:ea typeface="微軟正黑體" panose="020B0604030504040204" pitchFamily="34" charset="-120"/>
                </a:rPr>
                <a:t>《</a:t>
              </a:r>
              <a:r>
                <a:rPr kumimoji="1" lang="zh-TW" altLang="en-US" sz="1400">
                  <a:solidFill>
                    <a:schemeClr val="bg1"/>
                  </a:solidFill>
                  <a:latin typeface="微軟正黑體" panose="020B0604030504040204" pitchFamily="34" charset="-120"/>
                  <a:ea typeface="微軟正黑體" panose="020B0604030504040204" pitchFamily="34" charset="-120"/>
                </a:rPr>
                <a:t>建構創作者支援網站</a:t>
              </a:r>
              <a:r>
                <a:rPr kumimoji="1" lang="en-US" altLang="ja-JP" sz="1400">
                  <a:solidFill>
                    <a:schemeClr val="bg1"/>
                  </a:solidFill>
                  <a:latin typeface="微軟正黑體" panose="020B0604030504040204" pitchFamily="34" charset="-120"/>
                  <a:ea typeface="微軟正黑體" panose="020B0604030504040204" pitchFamily="34" charset="-120"/>
                </a:rPr>
                <a:t>》</a:t>
              </a:r>
              <a:endParaRPr lang="ja-JP" altLang="en-US" sz="1400" dirty="0">
                <a:solidFill>
                  <a:schemeClr val="bg1"/>
                </a:solidFill>
                <a:latin typeface="微軟正黑體" panose="020B0604030504040204" pitchFamily="34" charset="-120"/>
                <a:ea typeface="微軟正黑體" panose="020B0604030504040204" pitchFamily="34" charset="-120"/>
              </a:endParaRPr>
            </a:p>
          </p:txBody>
        </p:sp>
        <p:grpSp>
          <p:nvGrpSpPr>
            <p:cNvPr id="26" name="グループ化 25">
              <a:extLst>
                <a:ext uri="{FF2B5EF4-FFF2-40B4-BE49-F238E27FC236}">
                  <a16:creationId xmlns:a16="http://schemas.microsoft.com/office/drawing/2014/main" id="{96E5AD46-B6D1-4AA4-98F4-26D1876E5F17}"/>
                </a:ext>
              </a:extLst>
            </p:cNvPr>
            <p:cNvGrpSpPr/>
            <p:nvPr/>
          </p:nvGrpSpPr>
          <p:grpSpPr>
            <a:xfrm>
              <a:off x="2975292" y="4527927"/>
              <a:ext cx="432000" cy="432000"/>
              <a:chOff x="6162707" y="4527927"/>
              <a:chExt cx="432000" cy="432000"/>
            </a:xfrm>
          </p:grpSpPr>
          <p:sp>
            <p:nvSpPr>
              <p:cNvPr id="27" name="楕円 26">
                <a:extLst>
                  <a:ext uri="{FF2B5EF4-FFF2-40B4-BE49-F238E27FC236}">
                    <a16:creationId xmlns:a16="http://schemas.microsoft.com/office/drawing/2014/main" id="{E3043EB1-5EB7-4532-A692-C8204D78937F}"/>
                  </a:ext>
                </a:extLst>
              </p:cNvPr>
              <p:cNvSpPr/>
              <p:nvPr/>
            </p:nvSpPr>
            <p:spPr>
              <a:xfrm>
                <a:off x="6162707" y="4527927"/>
                <a:ext cx="432000" cy="432000"/>
              </a:xfrm>
              <a:prstGeom prst="ellipse">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191CECFA-0A83-4B20-8E4A-A5F89A2976F0}"/>
                  </a:ext>
                </a:extLst>
              </p:cNvPr>
              <p:cNvSpPr/>
              <p:nvPr/>
            </p:nvSpPr>
            <p:spPr>
              <a:xfrm>
                <a:off x="6234707" y="4599927"/>
                <a:ext cx="288000" cy="28800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AABECA45-F3A8-4D48-8AB7-462813D4BA87}"/>
                </a:ext>
              </a:extLst>
            </p:cNvPr>
            <p:cNvGrpSpPr/>
            <p:nvPr/>
          </p:nvGrpSpPr>
          <p:grpSpPr>
            <a:xfrm>
              <a:off x="6844414" y="2952681"/>
              <a:ext cx="2592000" cy="684000"/>
              <a:chOff x="6844414" y="2952681"/>
              <a:chExt cx="2592000" cy="684000"/>
            </a:xfrm>
          </p:grpSpPr>
          <p:sp>
            <p:nvSpPr>
              <p:cNvPr id="7" name="テキスト ボックス 6">
                <a:extLst>
                  <a:ext uri="{FF2B5EF4-FFF2-40B4-BE49-F238E27FC236}">
                    <a16:creationId xmlns:a16="http://schemas.microsoft.com/office/drawing/2014/main" id="{DAA98563-78F5-42D5-8406-65A919A6E6A8}"/>
                  </a:ext>
                </a:extLst>
              </p:cNvPr>
              <p:cNvSpPr txBox="1"/>
              <p:nvPr/>
            </p:nvSpPr>
            <p:spPr>
              <a:xfrm>
                <a:off x="6991862" y="3033071"/>
                <a:ext cx="2297104" cy="523220"/>
              </a:xfrm>
              <a:prstGeom prst="rect">
                <a:avLst/>
              </a:prstGeom>
              <a:noFill/>
            </p:spPr>
            <p:txBody>
              <a:bodyPr wrap="square" rtlCol="0">
                <a:spAutoFit/>
              </a:bodyPr>
              <a:lstStyle/>
              <a:p>
                <a:pPr algn="ctr"/>
                <a:r>
                  <a:rPr kumimoji="1" lang="zh-TW" altLang="en-US" sz="1400">
                    <a:latin typeface="微軟正黑體" panose="020B0604030504040204" pitchFamily="34" charset="-120"/>
                    <a:ea typeface="微軟正黑體" panose="020B0604030504040204" pitchFamily="34" charset="-120"/>
                  </a:rPr>
                  <a:t>代理執行</a:t>
                </a:r>
                <a:endParaRPr kumimoji="1" lang="en-US" altLang="zh-TW" sz="1400">
                  <a:latin typeface="微軟正黑體" panose="020B0604030504040204" pitchFamily="34" charset="-120"/>
                  <a:ea typeface="微軟正黑體" panose="020B0604030504040204" pitchFamily="34" charset="-120"/>
                </a:endParaRPr>
              </a:p>
              <a:p>
                <a:pPr algn="ctr"/>
                <a:r>
                  <a:rPr kumimoji="1" lang="zh-TW" altLang="en-US" sz="1400">
                    <a:latin typeface="微軟正黑體" panose="020B0604030504040204" pitchFamily="34" charset="-120"/>
                    <a:ea typeface="微軟正黑體" panose="020B0604030504040204" pitchFamily="34" charset="-120"/>
                  </a:rPr>
                  <a:t>創作者的業務與宣傳</a:t>
                </a:r>
                <a:endParaRPr kumimoji="1" lang="ja-JP" altLang="en-US" sz="1400" dirty="0">
                  <a:latin typeface="微軟正黑體" panose="020B0604030504040204" pitchFamily="34" charset="-120"/>
                  <a:ea typeface="微軟正黑體" panose="020B0604030504040204" pitchFamily="34" charset="-120"/>
                </a:endParaRPr>
              </a:p>
            </p:txBody>
          </p:sp>
          <p:sp>
            <p:nvSpPr>
              <p:cNvPr id="16" name="正方形/長方形 15">
                <a:extLst>
                  <a:ext uri="{FF2B5EF4-FFF2-40B4-BE49-F238E27FC236}">
                    <a16:creationId xmlns:a16="http://schemas.microsoft.com/office/drawing/2014/main" id="{E6FB19E2-5974-40D7-B05B-BCDFD166C074}"/>
                  </a:ext>
                </a:extLst>
              </p:cNvPr>
              <p:cNvSpPr/>
              <p:nvPr/>
            </p:nvSpPr>
            <p:spPr>
              <a:xfrm>
                <a:off x="6844414" y="2952681"/>
                <a:ext cx="2592000" cy="684000"/>
              </a:xfrm>
              <a:prstGeom prst="rect">
                <a:avLst/>
              </a:prstGeom>
              <a:no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152DB146-08B8-4012-AE93-C1E0F2B065B6}"/>
                </a:ext>
              </a:extLst>
            </p:cNvPr>
            <p:cNvGrpSpPr/>
            <p:nvPr/>
          </p:nvGrpSpPr>
          <p:grpSpPr>
            <a:xfrm>
              <a:off x="6735384" y="5839583"/>
              <a:ext cx="2810060" cy="684000"/>
              <a:chOff x="6735384" y="5839583"/>
              <a:chExt cx="2810060" cy="684000"/>
            </a:xfrm>
          </p:grpSpPr>
          <p:sp>
            <p:nvSpPr>
              <p:cNvPr id="29" name="正方形/長方形 28">
                <a:extLst>
                  <a:ext uri="{FF2B5EF4-FFF2-40B4-BE49-F238E27FC236}">
                    <a16:creationId xmlns:a16="http://schemas.microsoft.com/office/drawing/2014/main" id="{BC48E1BB-3502-429B-91FC-25CCBFC3E4B8}"/>
                  </a:ext>
                </a:extLst>
              </p:cNvPr>
              <p:cNvSpPr/>
              <p:nvPr/>
            </p:nvSpPr>
            <p:spPr>
              <a:xfrm>
                <a:off x="6844414" y="5839583"/>
                <a:ext cx="2592000" cy="684000"/>
              </a:xfrm>
              <a:prstGeom prst="rect">
                <a:avLst/>
              </a:prstGeom>
              <a:solidFill>
                <a:srgbClr val="FF99FF">
                  <a:alpha val="60000"/>
                </a:srgbClr>
              </a:solid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F97E2EE-08D7-4110-A7E5-9A9495A9A3B4}"/>
                  </a:ext>
                </a:extLst>
              </p:cNvPr>
              <p:cNvSpPr txBox="1"/>
              <p:nvPr/>
            </p:nvSpPr>
            <p:spPr>
              <a:xfrm>
                <a:off x="6735384" y="5931008"/>
                <a:ext cx="2810060" cy="523220"/>
              </a:xfrm>
              <a:prstGeom prst="rect">
                <a:avLst/>
              </a:prstGeom>
              <a:noFill/>
            </p:spPr>
            <p:txBody>
              <a:bodyPr wrap="square" rtlCol="0">
                <a:spAutoFit/>
              </a:bodyPr>
              <a:lstStyle/>
              <a:p>
                <a:pPr algn="ctr"/>
                <a:r>
                  <a:rPr kumimoji="1" lang="zh-TW" altLang="en-US" sz="1100">
                    <a:latin typeface="微軟正黑體" panose="020B0604030504040204" pitchFamily="34" charset="-120"/>
                    <a:ea typeface="微軟正黑體" panose="020B0604030504040204" pitchFamily="34" charset="-120"/>
                    <a:cs typeface="Times New Roman" panose="02020603050405020304" pitchFamily="18" charset="0"/>
                  </a:rPr>
                  <a:t>創作者支援網站</a:t>
                </a:r>
                <a:endParaRPr kumimoji="1" lang="en-US" altLang="ja-JP" sz="1100">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kumimoji="1" lang="en-US" altLang="ja-JP" sz="1600" b="1">
                    <a:solidFill>
                      <a:srgbClr val="CC0066"/>
                    </a:solidFill>
                    <a:latin typeface="微軟正黑體" panose="020B0604030504040204" pitchFamily="34" charset="-120"/>
                    <a:ea typeface="微軟正黑體" panose="020B0604030504040204" pitchFamily="34" charset="-120"/>
                    <a:cs typeface="Times New Roman" panose="02020603050405020304" pitchFamily="18" charset="0"/>
                  </a:rPr>
                  <a:t>『Hisense Guild』</a:t>
                </a:r>
                <a:endParaRPr kumimoji="1" lang="ja-JP" altLang="en-US" sz="1600" b="1" dirty="0">
                  <a:solidFill>
                    <a:srgbClr val="CC0066"/>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pSp>
        <p:grpSp>
          <p:nvGrpSpPr>
            <p:cNvPr id="34" name="グループ化 33">
              <a:extLst>
                <a:ext uri="{FF2B5EF4-FFF2-40B4-BE49-F238E27FC236}">
                  <a16:creationId xmlns:a16="http://schemas.microsoft.com/office/drawing/2014/main" id="{57263A15-914E-4370-AED0-584F14743DB6}"/>
                </a:ext>
              </a:extLst>
            </p:cNvPr>
            <p:cNvGrpSpPr/>
            <p:nvPr/>
          </p:nvGrpSpPr>
          <p:grpSpPr>
            <a:xfrm>
              <a:off x="6844414" y="4396132"/>
              <a:ext cx="2592000" cy="684000"/>
              <a:chOff x="6844414" y="4396132"/>
              <a:chExt cx="2592000" cy="684000"/>
            </a:xfrm>
          </p:grpSpPr>
          <p:sp>
            <p:nvSpPr>
              <p:cNvPr id="31" name="テキスト ボックス 30">
                <a:extLst>
                  <a:ext uri="{FF2B5EF4-FFF2-40B4-BE49-F238E27FC236}">
                    <a16:creationId xmlns:a16="http://schemas.microsoft.com/office/drawing/2014/main" id="{2F611D09-F5D0-42F7-9D16-F07A91237347}"/>
                  </a:ext>
                </a:extLst>
              </p:cNvPr>
              <p:cNvSpPr txBox="1"/>
              <p:nvPr/>
            </p:nvSpPr>
            <p:spPr>
              <a:xfrm>
                <a:off x="6991862" y="4476522"/>
                <a:ext cx="2297104" cy="523220"/>
              </a:xfrm>
              <a:prstGeom prst="rect">
                <a:avLst/>
              </a:prstGeom>
              <a:noFill/>
            </p:spPr>
            <p:txBody>
              <a:bodyPr wrap="square" rtlCol="0">
                <a:spAutoFit/>
              </a:bodyPr>
              <a:lstStyle/>
              <a:p>
                <a:pPr algn="ctr"/>
                <a:r>
                  <a:rPr kumimoji="1" lang="zh-TW" altLang="en-US" sz="1400">
                    <a:latin typeface="微軟正黑體" panose="020B0604030504040204" pitchFamily="34" charset="-120"/>
                    <a:ea typeface="微軟正黑體" panose="020B0604030504040204" pitchFamily="34" charset="-120"/>
                  </a:rPr>
                  <a:t>為企業製作負責人</a:t>
                </a:r>
                <a:endParaRPr kumimoji="1" lang="en-US" altLang="ja-JP" sz="1400" dirty="0">
                  <a:latin typeface="微軟正黑體" panose="020B0604030504040204" pitchFamily="34" charset="-120"/>
                  <a:ea typeface="微軟正黑體" panose="020B0604030504040204" pitchFamily="34" charset="-120"/>
                </a:endParaRPr>
              </a:p>
              <a:p>
                <a:pPr algn="ctr"/>
                <a:r>
                  <a:rPr kumimoji="1" lang="zh-TW" altLang="en-US" sz="1400">
                    <a:latin typeface="微軟正黑體" panose="020B0604030504040204" pitchFamily="34" charset="-120"/>
                    <a:ea typeface="微軟正黑體" panose="020B0604030504040204" pitchFamily="34" charset="-120"/>
                  </a:rPr>
                  <a:t>提供發案對象</a:t>
                </a:r>
                <a:endParaRPr kumimoji="1" lang="ja-JP" altLang="en-US" sz="1400" dirty="0">
                  <a:latin typeface="微軟正黑體" panose="020B0604030504040204" pitchFamily="34" charset="-120"/>
                  <a:ea typeface="微軟正黑體" panose="020B0604030504040204" pitchFamily="34" charset="-120"/>
                </a:endParaRPr>
              </a:p>
            </p:txBody>
          </p:sp>
          <p:sp>
            <p:nvSpPr>
              <p:cNvPr id="32" name="正方形/長方形 31">
                <a:extLst>
                  <a:ext uri="{FF2B5EF4-FFF2-40B4-BE49-F238E27FC236}">
                    <a16:creationId xmlns:a16="http://schemas.microsoft.com/office/drawing/2014/main" id="{A9CA65E8-A67F-4010-A2A7-A8E0F03900EC}"/>
                  </a:ext>
                </a:extLst>
              </p:cNvPr>
              <p:cNvSpPr/>
              <p:nvPr/>
            </p:nvSpPr>
            <p:spPr>
              <a:xfrm>
                <a:off x="6844414" y="4396132"/>
                <a:ext cx="2592000" cy="684000"/>
              </a:xfrm>
              <a:prstGeom prst="rect">
                <a:avLst/>
              </a:prstGeom>
              <a:no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1780074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9BD54A39-12E8-4B96-BC21-5DFE1B1D33A7}"/>
              </a:ext>
            </a:extLst>
          </p:cNvPr>
          <p:cNvGrpSpPr/>
          <p:nvPr/>
        </p:nvGrpSpPr>
        <p:grpSpPr>
          <a:xfrm>
            <a:off x="0" y="0"/>
            <a:ext cx="9906000" cy="6523583"/>
            <a:chOff x="0" y="0"/>
            <a:chExt cx="9906000" cy="6523583"/>
          </a:xfrm>
        </p:grpSpPr>
        <p:sp>
          <p:nvSpPr>
            <p:cNvPr id="13" name="正方形/長方形 12">
              <a:extLst>
                <a:ext uri="{FF2B5EF4-FFF2-40B4-BE49-F238E27FC236}">
                  <a16:creationId xmlns:a16="http://schemas.microsoft.com/office/drawing/2014/main" id="{8C56F6EB-136C-433B-AFF0-6E3B9268CDFF}"/>
                </a:ext>
              </a:extLst>
            </p:cNvPr>
            <p:cNvSpPr/>
            <p:nvPr/>
          </p:nvSpPr>
          <p:spPr>
            <a:xfrm>
              <a:off x="0" y="0"/>
              <a:ext cx="9906000" cy="1836000"/>
            </a:xfrm>
            <a:prstGeom prst="rect">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027E064C-F492-4B33-B027-A8544B17DD41}"/>
                </a:ext>
              </a:extLst>
            </p:cNvPr>
            <p:cNvSpPr txBox="1"/>
            <p:nvPr/>
          </p:nvSpPr>
          <p:spPr>
            <a:xfrm>
              <a:off x="301586" y="2212929"/>
              <a:ext cx="4571497" cy="830997"/>
            </a:xfrm>
            <a:prstGeom prst="rect">
              <a:avLst/>
            </a:prstGeom>
            <a:noFill/>
          </p:spPr>
          <p:txBody>
            <a:bodyPr wrap="square" rtlCol="0">
              <a:spAutoFit/>
            </a:bodyPr>
            <a:lstStyle/>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繪製漫畫或插圖的年輕創作者沒有發表作品的場所。與其在網路上從事個人活動，不如把資訊集中在同一個地方，更能有效推銷自己。建構管理人材和作品，進一步和企業聯繫的創作者支援網站</a:t>
              </a:r>
              <a:r>
                <a:rPr kumimoji="1" lang="en-US" altLang="zh-TW" sz="1200">
                  <a:latin typeface="微軟正黑體" panose="020B0604030504040204" pitchFamily="34" charset="-120"/>
                  <a:ea typeface="微軟正黑體" panose="020B0604030504040204" pitchFamily="34" charset="-120"/>
                  <a:cs typeface="Times New Roman" panose="02020603050405020304" pitchFamily="18" charset="0"/>
                </a:rPr>
                <a:t>『Hisense Guild』</a:t>
              </a:r>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a:t>
              </a:r>
            </a:p>
          </p:txBody>
        </p:sp>
        <p:sp>
          <p:nvSpPr>
            <p:cNvPr id="11" name="加算記号 10">
              <a:extLst>
                <a:ext uri="{FF2B5EF4-FFF2-40B4-BE49-F238E27FC236}">
                  <a16:creationId xmlns:a16="http://schemas.microsoft.com/office/drawing/2014/main" id="{E656A56D-CC73-4135-8A84-D0F96981F5C5}"/>
                </a:ext>
              </a:extLst>
            </p:cNvPr>
            <p:cNvSpPr/>
            <p:nvPr/>
          </p:nvSpPr>
          <p:spPr>
            <a:xfrm>
              <a:off x="7800302" y="3715324"/>
              <a:ext cx="680225" cy="602166"/>
            </a:xfrm>
            <a:prstGeom prst="mathPlus">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次の値と等しい 11">
              <a:extLst>
                <a:ext uri="{FF2B5EF4-FFF2-40B4-BE49-F238E27FC236}">
                  <a16:creationId xmlns:a16="http://schemas.microsoft.com/office/drawing/2014/main" id="{A01073BD-5D30-4A3F-9B4D-234FD889E1AD}"/>
                </a:ext>
              </a:extLst>
            </p:cNvPr>
            <p:cNvSpPr/>
            <p:nvPr/>
          </p:nvSpPr>
          <p:spPr>
            <a:xfrm rot="5400000">
              <a:off x="7839331" y="5158774"/>
              <a:ext cx="602166" cy="602166"/>
            </a:xfrm>
            <a:prstGeom prst="mathEqual">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BF2E0FB-1E36-49A7-8BD2-5334B8DB03AE}"/>
                </a:ext>
              </a:extLst>
            </p:cNvPr>
            <p:cNvSpPr txBox="1"/>
            <p:nvPr/>
          </p:nvSpPr>
          <p:spPr>
            <a:xfrm>
              <a:off x="0" y="0"/>
              <a:ext cx="9905999" cy="986947"/>
            </a:xfrm>
            <a:prstGeom prst="rect">
              <a:avLst/>
            </a:prstGeom>
            <a:noFill/>
            <a:effectLst/>
          </p:spPr>
          <p:txBody>
            <a:bodyPr wrap="square" rtlCol="0">
              <a:prstTxWarp prst="textPlain">
                <a:avLst/>
              </a:prstTxWarp>
              <a:spAutoFit/>
            </a:bodyPr>
            <a:lstStyle/>
            <a:p>
              <a:pPr algn="r"/>
              <a:r>
                <a:rPr kumimoji="1" lang="en-US" altLang="ja-JP" sz="3200" b="1" spc="-300" dirty="0">
                  <a:solidFill>
                    <a:schemeClr val="bg1"/>
                  </a:solidFill>
                  <a:effectLst>
                    <a:reflection blurRad="6350" stA="55000" endA="300" endPos="45500" dir="5400000" sy="-100000" algn="bl" rotWithShape="0"/>
                  </a:effectLst>
                  <a:latin typeface="Arial Black" panose="020B0A04020102020204" pitchFamily="34" charset="0"/>
                </a:rPr>
                <a:t>Comics</a:t>
              </a:r>
              <a:r>
                <a:rPr kumimoji="1" lang="ja-JP" altLang="en-US" sz="3200" b="1" spc="-300" dirty="0">
                  <a:solidFill>
                    <a:schemeClr val="bg1"/>
                  </a:solidFill>
                  <a:effectLst>
                    <a:reflection blurRad="6350" stA="55000" endA="300" endPos="45500" dir="5400000" sy="-100000" algn="bl" rotWithShape="0"/>
                  </a:effectLst>
                  <a:latin typeface="Arial Black" panose="020B0A04020102020204" pitchFamily="34" charset="0"/>
                </a:rPr>
                <a:t> </a:t>
              </a:r>
              <a:r>
                <a:rPr kumimoji="1" lang="en-US" altLang="ja-JP" sz="3200" b="1" spc="-300" dirty="0">
                  <a:solidFill>
                    <a:schemeClr val="bg1"/>
                  </a:solidFill>
                  <a:effectLst>
                    <a:reflection blurRad="6350" stA="55000" endA="300" endPos="45500" dir="5400000" sy="-100000" algn="bl" rotWithShape="0"/>
                  </a:effectLst>
                  <a:latin typeface="Arial Black" panose="020B0A04020102020204" pitchFamily="34" charset="0"/>
                </a:rPr>
                <a:t>&amp;</a:t>
              </a:r>
              <a:r>
                <a:rPr kumimoji="1" lang="ja-JP" altLang="en-US" sz="3200" b="1" spc="-300" dirty="0">
                  <a:solidFill>
                    <a:schemeClr val="bg1"/>
                  </a:solidFill>
                  <a:effectLst>
                    <a:reflection blurRad="6350" stA="55000" endA="300" endPos="45500" dir="5400000" sy="-100000" algn="bl" rotWithShape="0"/>
                  </a:effectLst>
                  <a:latin typeface="Arial Black" panose="020B0A04020102020204" pitchFamily="34" charset="0"/>
                </a:rPr>
                <a:t> </a:t>
              </a:r>
              <a:r>
                <a:rPr kumimoji="1" lang="en-US" altLang="ja-JP" sz="3200" b="1" spc="-300" dirty="0">
                  <a:solidFill>
                    <a:schemeClr val="bg1"/>
                  </a:solidFill>
                  <a:effectLst>
                    <a:reflection blurRad="6350" stA="55000" endA="300" endPos="45500" dir="5400000" sy="-100000" algn="bl" rotWithShape="0"/>
                  </a:effectLst>
                  <a:latin typeface="Arial Black" panose="020B0A04020102020204" pitchFamily="34" charset="0"/>
                </a:rPr>
                <a:t>Illustration</a:t>
              </a:r>
              <a:endParaRPr kumimoji="1" lang="ja-JP" altLang="en-US" sz="3200" b="1" spc="-300" dirty="0">
                <a:solidFill>
                  <a:schemeClr val="bg1"/>
                </a:solidFill>
                <a:effectLst>
                  <a:reflection blurRad="6350" stA="55000" endA="300" endPos="45500" dir="5400000" sy="-100000" algn="bl" rotWithShape="0"/>
                </a:effectLst>
                <a:latin typeface="Arial Black" panose="020B0A04020102020204" pitchFamily="34" charset="0"/>
              </a:endParaRPr>
            </a:p>
          </p:txBody>
        </p:sp>
        <p:sp>
          <p:nvSpPr>
            <p:cNvPr id="4" name="テキスト ボックス 3">
              <a:extLst>
                <a:ext uri="{FF2B5EF4-FFF2-40B4-BE49-F238E27FC236}">
                  <a16:creationId xmlns:a16="http://schemas.microsoft.com/office/drawing/2014/main" id="{8C8653A3-6EB4-4393-9872-034507F6E106}"/>
                </a:ext>
              </a:extLst>
            </p:cNvPr>
            <p:cNvSpPr txBox="1"/>
            <p:nvPr/>
          </p:nvSpPr>
          <p:spPr>
            <a:xfrm>
              <a:off x="301586" y="3676303"/>
              <a:ext cx="2592000" cy="1754326"/>
            </a:xfrm>
            <a:prstGeom prst="rect">
              <a:avLst/>
            </a:prstGeom>
            <a:noFill/>
          </p:spPr>
          <p:txBody>
            <a:bodyPr wrap="square" rtlCol="0">
              <a:spAutoFit/>
            </a:bodyPr>
            <a:lstStyle/>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隨時提供營業用的內容給本網站所屬的創作者。</a:t>
              </a:r>
              <a:endParaRPr kumimoji="1" lang="en-US" altLang="ja-JP" sz="120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漫畫準備</a:t>
              </a:r>
              <a:r>
                <a:rPr kumimoji="1" lang="en-US" altLang="zh-TW" sz="1200">
                  <a:latin typeface="微軟正黑體" panose="020B0604030504040204" pitchFamily="34" charset="-120"/>
                  <a:ea typeface="微軟正黑體" panose="020B0604030504040204" pitchFamily="34" charset="-120"/>
                  <a:cs typeface="Times New Roman" panose="02020603050405020304" pitchFamily="18" charset="0"/>
                </a:rPr>
                <a:t>1</a:t>
              </a:r>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部以上</a:t>
              </a:r>
              <a:r>
                <a:rPr kumimoji="1" lang="en-US" altLang="zh-TW" sz="1200">
                  <a:latin typeface="微軟正黑體" panose="020B0604030504040204" pitchFamily="34" charset="-120"/>
                  <a:ea typeface="微軟正黑體" panose="020B0604030504040204" pitchFamily="34" charset="-120"/>
                  <a:cs typeface="Times New Roman" panose="02020603050405020304" pitchFamily="18" charset="0"/>
                </a:rPr>
                <a:t>10</a:t>
              </a:r>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頁以內的作品；插畫準備</a:t>
              </a:r>
              <a:r>
                <a:rPr kumimoji="1" lang="en-US" altLang="zh-TW" sz="1200">
                  <a:latin typeface="微軟正黑體" panose="020B0604030504040204" pitchFamily="34" charset="-120"/>
                  <a:ea typeface="微軟正黑體" panose="020B0604030504040204" pitchFamily="34" charset="-120"/>
                  <a:cs typeface="Times New Roman" panose="02020603050405020304" pitchFamily="18" charset="0"/>
                </a:rPr>
                <a:t>10</a:t>
              </a:r>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件畫風不同的作品，連同姓名、主題、註解等</a:t>
              </a:r>
              <a:r>
                <a:rPr kumimoji="1" lang="en-US" altLang="zh-TW" sz="1200">
                  <a:latin typeface="微軟正黑體" panose="020B0604030504040204" pitchFamily="34" charset="-120"/>
                  <a:ea typeface="微軟正黑體" panose="020B0604030504040204" pitchFamily="34" charset="-120"/>
                  <a:cs typeface="Times New Roman" panose="02020603050405020304" pitchFamily="18" charset="0"/>
                </a:rPr>
                <a:t>7</a:t>
              </a:r>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種資訊一起上傳到網站。</a:t>
              </a:r>
              <a:endParaRPr kumimoji="1" lang="en-US" altLang="ja-JP" sz="120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作品每隔</a:t>
              </a:r>
              <a:r>
                <a:rPr kumimoji="1" lang="en-US" altLang="zh-TW" sz="1200">
                  <a:latin typeface="微軟正黑體" panose="020B0604030504040204" pitchFamily="34" charset="-120"/>
                  <a:ea typeface="微軟正黑體" panose="020B0604030504040204" pitchFamily="34" charset="-120"/>
                  <a:cs typeface="Times New Roman" panose="02020603050405020304" pitchFamily="18" charset="0"/>
                </a:rPr>
                <a:t>3</a:t>
              </a:r>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個月更新一次，隨時發佈最新的畫風、風格與技術，提高品質。</a:t>
              </a:r>
              <a:endParaRPr kumimoji="1" lang="ja-JP" altLang="en-US" sz="12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5" name="テキスト ボックス 4">
              <a:extLst>
                <a:ext uri="{FF2B5EF4-FFF2-40B4-BE49-F238E27FC236}">
                  <a16:creationId xmlns:a16="http://schemas.microsoft.com/office/drawing/2014/main" id="{FA782CBD-B6E2-476E-BA98-09EDDE14EF7B}"/>
                </a:ext>
              </a:extLst>
            </p:cNvPr>
            <p:cNvSpPr txBox="1"/>
            <p:nvPr/>
          </p:nvSpPr>
          <p:spPr>
            <a:xfrm>
              <a:off x="3489000" y="3676303"/>
              <a:ext cx="2592000" cy="1569660"/>
            </a:xfrm>
            <a:prstGeom prst="rect">
              <a:avLst/>
            </a:prstGeom>
            <a:noFill/>
          </p:spPr>
          <p:txBody>
            <a:bodyPr wrap="square" rtlCol="0">
              <a:spAutoFit/>
            </a:bodyPr>
            <a:lstStyle/>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網站依照各作品進行詳細的分類，可讓觀眾馬上掌握到作品的風格、畫風，以及作者的特色及實績。</a:t>
              </a:r>
            </a:p>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對企業的製作負責人來說，可以更容易找到符合發案風格的作者。</a:t>
              </a:r>
            </a:p>
            <a:p>
              <a:pPr algn="just"/>
              <a:r>
                <a:rPr kumimoji="1" lang="zh-TW" altLang="en-US" sz="1200">
                  <a:latin typeface="微軟正黑體" panose="020B0604030504040204" pitchFamily="34" charset="-120"/>
                  <a:ea typeface="微軟正黑體" panose="020B0604030504040204" pitchFamily="34" charset="-120"/>
                  <a:cs typeface="Times New Roman" panose="02020603050405020304" pitchFamily="18" charset="0"/>
                </a:rPr>
                <a:t>公開作者與該作品的適用用途、發案金額之標準、著作權等利用導覽，可減少繁雜的發案程序。</a:t>
              </a:r>
              <a:endParaRPr kumimoji="1" lang="ja-JP" altLang="en-US" sz="12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nvGrpSpPr>
            <p:cNvPr id="15" name="グループ化 14">
              <a:extLst>
                <a:ext uri="{FF2B5EF4-FFF2-40B4-BE49-F238E27FC236}">
                  <a16:creationId xmlns:a16="http://schemas.microsoft.com/office/drawing/2014/main" id="{640CFB9B-6CDF-42F7-A8FB-64367976DC2A}"/>
                </a:ext>
              </a:extLst>
            </p:cNvPr>
            <p:cNvGrpSpPr/>
            <p:nvPr/>
          </p:nvGrpSpPr>
          <p:grpSpPr>
            <a:xfrm>
              <a:off x="6162707" y="4527927"/>
              <a:ext cx="432000" cy="432000"/>
              <a:chOff x="6162707" y="4527927"/>
              <a:chExt cx="432000" cy="432000"/>
            </a:xfrm>
          </p:grpSpPr>
          <p:sp>
            <p:nvSpPr>
              <p:cNvPr id="22" name="楕円 21">
                <a:extLst>
                  <a:ext uri="{FF2B5EF4-FFF2-40B4-BE49-F238E27FC236}">
                    <a16:creationId xmlns:a16="http://schemas.microsoft.com/office/drawing/2014/main" id="{ED5AF0B7-86BA-488E-8066-65A986783A29}"/>
                  </a:ext>
                </a:extLst>
              </p:cNvPr>
              <p:cNvSpPr/>
              <p:nvPr/>
            </p:nvSpPr>
            <p:spPr>
              <a:xfrm>
                <a:off x="6162707" y="4527927"/>
                <a:ext cx="432000" cy="432000"/>
              </a:xfrm>
              <a:prstGeom prst="ellipse">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矢印: 右 23">
                <a:extLst>
                  <a:ext uri="{FF2B5EF4-FFF2-40B4-BE49-F238E27FC236}">
                    <a16:creationId xmlns:a16="http://schemas.microsoft.com/office/drawing/2014/main" id="{CD076FD1-34DB-4DDA-BFE3-404324E5C7AA}"/>
                  </a:ext>
                </a:extLst>
              </p:cNvPr>
              <p:cNvSpPr/>
              <p:nvPr/>
            </p:nvSpPr>
            <p:spPr>
              <a:xfrm>
                <a:off x="6234707" y="4599927"/>
                <a:ext cx="288000" cy="28800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正方形/長方形 8">
              <a:extLst>
                <a:ext uri="{FF2B5EF4-FFF2-40B4-BE49-F238E27FC236}">
                  <a16:creationId xmlns:a16="http://schemas.microsoft.com/office/drawing/2014/main" id="{0932F486-1C73-41F0-8429-EA137B7C3E33}"/>
                </a:ext>
              </a:extLst>
            </p:cNvPr>
            <p:cNvSpPr/>
            <p:nvPr/>
          </p:nvSpPr>
          <p:spPr>
            <a:xfrm>
              <a:off x="3327049" y="1429241"/>
              <a:ext cx="3251903" cy="307777"/>
            </a:xfrm>
            <a:prstGeom prst="rect">
              <a:avLst/>
            </a:prstGeom>
          </p:spPr>
          <p:txBody>
            <a:bodyPr wrap="square">
              <a:spAutoFit/>
            </a:bodyPr>
            <a:lstStyle/>
            <a:p>
              <a:pPr algn="ctr"/>
              <a:r>
                <a:rPr kumimoji="1" lang="en-US" altLang="ja-JP" sz="1400">
                  <a:solidFill>
                    <a:schemeClr val="bg1"/>
                  </a:solidFill>
                  <a:latin typeface="微軟正黑體" panose="020B0604030504040204" pitchFamily="34" charset="-120"/>
                  <a:ea typeface="微軟正黑體" panose="020B0604030504040204" pitchFamily="34" charset="-120"/>
                </a:rPr>
                <a:t>《</a:t>
              </a:r>
              <a:r>
                <a:rPr kumimoji="1" lang="zh-TW" altLang="en-US" sz="1400">
                  <a:solidFill>
                    <a:schemeClr val="bg1"/>
                  </a:solidFill>
                  <a:latin typeface="微軟正黑體" panose="020B0604030504040204" pitchFamily="34" charset="-120"/>
                  <a:ea typeface="微軟正黑體" panose="020B0604030504040204" pitchFamily="34" charset="-120"/>
                </a:rPr>
                <a:t>建構創作者支援網站</a:t>
              </a:r>
              <a:r>
                <a:rPr kumimoji="1" lang="en-US" altLang="ja-JP" sz="1400">
                  <a:solidFill>
                    <a:schemeClr val="bg1"/>
                  </a:solidFill>
                  <a:latin typeface="微軟正黑體" panose="020B0604030504040204" pitchFamily="34" charset="-120"/>
                  <a:ea typeface="微軟正黑體" panose="020B0604030504040204" pitchFamily="34" charset="-120"/>
                </a:rPr>
                <a:t>》</a:t>
              </a:r>
              <a:endParaRPr lang="ja-JP" altLang="en-US" sz="1400" dirty="0">
                <a:solidFill>
                  <a:schemeClr val="bg1"/>
                </a:solidFill>
                <a:latin typeface="微軟正黑體" panose="020B0604030504040204" pitchFamily="34" charset="-120"/>
                <a:ea typeface="微軟正黑體" panose="020B0604030504040204" pitchFamily="34" charset="-120"/>
              </a:endParaRPr>
            </a:p>
          </p:txBody>
        </p:sp>
        <p:grpSp>
          <p:nvGrpSpPr>
            <p:cNvPr id="26" name="グループ化 25">
              <a:extLst>
                <a:ext uri="{FF2B5EF4-FFF2-40B4-BE49-F238E27FC236}">
                  <a16:creationId xmlns:a16="http://schemas.microsoft.com/office/drawing/2014/main" id="{96E5AD46-B6D1-4AA4-98F4-26D1876E5F17}"/>
                </a:ext>
              </a:extLst>
            </p:cNvPr>
            <p:cNvGrpSpPr/>
            <p:nvPr/>
          </p:nvGrpSpPr>
          <p:grpSpPr>
            <a:xfrm>
              <a:off x="2975292" y="4527927"/>
              <a:ext cx="432000" cy="432000"/>
              <a:chOff x="6162707" y="4527927"/>
              <a:chExt cx="432000" cy="432000"/>
            </a:xfrm>
          </p:grpSpPr>
          <p:sp>
            <p:nvSpPr>
              <p:cNvPr id="27" name="楕円 26">
                <a:extLst>
                  <a:ext uri="{FF2B5EF4-FFF2-40B4-BE49-F238E27FC236}">
                    <a16:creationId xmlns:a16="http://schemas.microsoft.com/office/drawing/2014/main" id="{E3043EB1-5EB7-4532-A692-C8204D78937F}"/>
                  </a:ext>
                </a:extLst>
              </p:cNvPr>
              <p:cNvSpPr/>
              <p:nvPr/>
            </p:nvSpPr>
            <p:spPr>
              <a:xfrm>
                <a:off x="6162707" y="4527927"/>
                <a:ext cx="432000" cy="432000"/>
              </a:xfrm>
              <a:prstGeom prst="ellipse">
                <a:avLst/>
              </a:prstGeom>
              <a:solidFill>
                <a:srgbClr val="CC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191CECFA-0A83-4B20-8E4A-A5F89A2976F0}"/>
                  </a:ext>
                </a:extLst>
              </p:cNvPr>
              <p:cNvSpPr/>
              <p:nvPr/>
            </p:nvSpPr>
            <p:spPr>
              <a:xfrm>
                <a:off x="6234707" y="4599927"/>
                <a:ext cx="288000" cy="28800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AABECA45-F3A8-4D48-8AB7-462813D4BA87}"/>
                </a:ext>
              </a:extLst>
            </p:cNvPr>
            <p:cNvGrpSpPr/>
            <p:nvPr/>
          </p:nvGrpSpPr>
          <p:grpSpPr>
            <a:xfrm>
              <a:off x="6844414" y="2952681"/>
              <a:ext cx="2592000" cy="684000"/>
              <a:chOff x="6844414" y="2952681"/>
              <a:chExt cx="2592000" cy="684000"/>
            </a:xfrm>
          </p:grpSpPr>
          <p:sp>
            <p:nvSpPr>
              <p:cNvPr id="7" name="テキスト ボックス 6">
                <a:extLst>
                  <a:ext uri="{FF2B5EF4-FFF2-40B4-BE49-F238E27FC236}">
                    <a16:creationId xmlns:a16="http://schemas.microsoft.com/office/drawing/2014/main" id="{DAA98563-78F5-42D5-8406-65A919A6E6A8}"/>
                  </a:ext>
                </a:extLst>
              </p:cNvPr>
              <p:cNvSpPr txBox="1"/>
              <p:nvPr/>
            </p:nvSpPr>
            <p:spPr>
              <a:xfrm>
                <a:off x="6991862" y="2966721"/>
                <a:ext cx="2297104" cy="646331"/>
              </a:xfrm>
              <a:prstGeom prst="rect">
                <a:avLst/>
              </a:prstGeom>
              <a:noFill/>
            </p:spPr>
            <p:txBody>
              <a:bodyPr wrap="square" rtlCol="0">
                <a:spAutoFit/>
              </a:bodyPr>
              <a:lstStyle/>
              <a:p>
                <a:pPr algn="just"/>
                <a:r>
                  <a:rPr kumimoji="1" lang="zh-TW" altLang="en-US" sz="1200">
                    <a:latin typeface="微軟正黑體" panose="020B0604030504040204" pitchFamily="34" charset="-120"/>
                    <a:ea typeface="微軟正黑體" panose="020B0604030504040204" pitchFamily="34" charset="-120"/>
                  </a:rPr>
                  <a:t>代替缺乏人脈且無暇參與營業活動的創作者執行營業與宣傳活動</a:t>
                </a:r>
                <a:endParaRPr kumimoji="1" lang="ja-JP" altLang="en-US" sz="1200" dirty="0">
                  <a:latin typeface="微軟正黑體" panose="020B0604030504040204" pitchFamily="34" charset="-120"/>
                  <a:ea typeface="微軟正黑體" panose="020B0604030504040204" pitchFamily="34" charset="-120"/>
                </a:endParaRPr>
              </a:p>
            </p:txBody>
          </p:sp>
          <p:sp>
            <p:nvSpPr>
              <p:cNvPr id="16" name="正方形/長方形 15">
                <a:extLst>
                  <a:ext uri="{FF2B5EF4-FFF2-40B4-BE49-F238E27FC236}">
                    <a16:creationId xmlns:a16="http://schemas.microsoft.com/office/drawing/2014/main" id="{E6FB19E2-5974-40D7-B05B-BCDFD166C074}"/>
                  </a:ext>
                </a:extLst>
              </p:cNvPr>
              <p:cNvSpPr/>
              <p:nvPr/>
            </p:nvSpPr>
            <p:spPr>
              <a:xfrm>
                <a:off x="6844414" y="2952681"/>
                <a:ext cx="2592000" cy="684000"/>
              </a:xfrm>
              <a:prstGeom prst="rect">
                <a:avLst/>
              </a:prstGeom>
              <a:no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152DB146-08B8-4012-AE93-C1E0F2B065B6}"/>
                </a:ext>
              </a:extLst>
            </p:cNvPr>
            <p:cNvGrpSpPr/>
            <p:nvPr/>
          </p:nvGrpSpPr>
          <p:grpSpPr>
            <a:xfrm>
              <a:off x="6735384" y="5839583"/>
              <a:ext cx="2810060" cy="684000"/>
              <a:chOff x="6735384" y="5839583"/>
              <a:chExt cx="2810060" cy="684000"/>
            </a:xfrm>
          </p:grpSpPr>
          <p:sp>
            <p:nvSpPr>
              <p:cNvPr id="29" name="正方形/長方形 28">
                <a:extLst>
                  <a:ext uri="{FF2B5EF4-FFF2-40B4-BE49-F238E27FC236}">
                    <a16:creationId xmlns:a16="http://schemas.microsoft.com/office/drawing/2014/main" id="{BC48E1BB-3502-429B-91FC-25CCBFC3E4B8}"/>
                  </a:ext>
                </a:extLst>
              </p:cNvPr>
              <p:cNvSpPr/>
              <p:nvPr/>
            </p:nvSpPr>
            <p:spPr>
              <a:xfrm>
                <a:off x="6844414" y="5839583"/>
                <a:ext cx="2592000" cy="684000"/>
              </a:xfrm>
              <a:prstGeom prst="rect">
                <a:avLst/>
              </a:prstGeom>
              <a:solidFill>
                <a:srgbClr val="FF99FF">
                  <a:alpha val="60000"/>
                </a:srgbClr>
              </a:solid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F97E2EE-08D7-4110-A7E5-9A9495A9A3B4}"/>
                  </a:ext>
                </a:extLst>
              </p:cNvPr>
              <p:cNvSpPr txBox="1"/>
              <p:nvPr/>
            </p:nvSpPr>
            <p:spPr>
              <a:xfrm>
                <a:off x="6735384" y="5931008"/>
                <a:ext cx="2810060" cy="507831"/>
              </a:xfrm>
              <a:prstGeom prst="rect">
                <a:avLst/>
              </a:prstGeom>
              <a:noFill/>
            </p:spPr>
            <p:txBody>
              <a:bodyPr wrap="square" rtlCol="0">
                <a:spAutoFit/>
              </a:bodyPr>
              <a:lstStyle/>
              <a:p>
                <a:pPr algn="ctr"/>
                <a:r>
                  <a:rPr kumimoji="1" lang="zh-TW" altLang="en-US" sz="1100">
                    <a:latin typeface="微軟正黑體" panose="020B0604030504040204" pitchFamily="34" charset="-120"/>
                    <a:ea typeface="微軟正黑體" panose="020B0604030504040204" pitchFamily="34" charset="-120"/>
                    <a:cs typeface="Times New Roman" panose="02020603050405020304" pitchFamily="18" charset="0"/>
                  </a:rPr>
                  <a:t>創作者支援網站</a:t>
                </a:r>
                <a:endParaRPr kumimoji="1" lang="en-US" altLang="ja-JP" sz="1100" dirty="0">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kumimoji="1" lang="en-US" altLang="ja-JP" sz="1600" b="1">
                    <a:solidFill>
                      <a:srgbClr val="CC0066"/>
                    </a:solidFill>
                    <a:latin typeface="微軟正黑體" panose="020B0604030504040204" pitchFamily="34" charset="-120"/>
                    <a:ea typeface="微軟正黑體" panose="020B0604030504040204" pitchFamily="34" charset="-120"/>
                    <a:cs typeface="Times New Roman" panose="02020603050405020304" pitchFamily="18" charset="0"/>
                  </a:rPr>
                  <a:t>『Hisense Guild』</a:t>
                </a:r>
                <a:endParaRPr kumimoji="1" lang="ja-JP" altLang="en-US" sz="1600" b="1" dirty="0">
                  <a:solidFill>
                    <a:srgbClr val="CC0066"/>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pSp>
        <p:grpSp>
          <p:nvGrpSpPr>
            <p:cNvPr id="34" name="グループ化 33">
              <a:extLst>
                <a:ext uri="{FF2B5EF4-FFF2-40B4-BE49-F238E27FC236}">
                  <a16:creationId xmlns:a16="http://schemas.microsoft.com/office/drawing/2014/main" id="{57263A15-914E-4370-AED0-584F14743DB6}"/>
                </a:ext>
              </a:extLst>
            </p:cNvPr>
            <p:cNvGrpSpPr/>
            <p:nvPr/>
          </p:nvGrpSpPr>
          <p:grpSpPr>
            <a:xfrm>
              <a:off x="6844414" y="4396132"/>
              <a:ext cx="2592000" cy="684000"/>
              <a:chOff x="6844414" y="4396132"/>
              <a:chExt cx="2592000" cy="684000"/>
            </a:xfrm>
          </p:grpSpPr>
          <p:sp>
            <p:nvSpPr>
              <p:cNvPr id="31" name="テキスト ボックス 30">
                <a:extLst>
                  <a:ext uri="{FF2B5EF4-FFF2-40B4-BE49-F238E27FC236}">
                    <a16:creationId xmlns:a16="http://schemas.microsoft.com/office/drawing/2014/main" id="{2F611D09-F5D0-42F7-9D16-F07A91237347}"/>
                  </a:ext>
                </a:extLst>
              </p:cNvPr>
              <p:cNvSpPr txBox="1"/>
              <p:nvPr/>
            </p:nvSpPr>
            <p:spPr>
              <a:xfrm>
                <a:off x="6991862" y="4426410"/>
                <a:ext cx="2297104" cy="646331"/>
              </a:xfrm>
              <a:prstGeom prst="rect">
                <a:avLst/>
              </a:prstGeom>
              <a:noFill/>
            </p:spPr>
            <p:txBody>
              <a:bodyPr wrap="square" rtlCol="0">
                <a:spAutoFit/>
              </a:bodyPr>
              <a:lstStyle/>
              <a:p>
                <a:pPr algn="just"/>
                <a:r>
                  <a:rPr kumimoji="1" lang="zh-TW" altLang="en-US" sz="1200">
                    <a:latin typeface="微軟正黑體" panose="020B0604030504040204" pitchFamily="34" charset="-120"/>
                    <a:ea typeface="微軟正黑體" panose="020B0604030504040204" pitchFamily="34" charset="-120"/>
                  </a:rPr>
                  <a:t>為尋找作品風格符合之創作者而煞費苦心的企業製作負責人分擔解憂</a:t>
                </a:r>
                <a:endParaRPr kumimoji="1" lang="ja-JP" altLang="en-US" sz="1200" dirty="0">
                  <a:latin typeface="微軟正黑體" panose="020B0604030504040204" pitchFamily="34" charset="-120"/>
                  <a:ea typeface="微軟正黑體" panose="020B0604030504040204" pitchFamily="34" charset="-120"/>
                </a:endParaRPr>
              </a:p>
            </p:txBody>
          </p:sp>
          <p:sp>
            <p:nvSpPr>
              <p:cNvPr id="32" name="正方形/長方形 31">
                <a:extLst>
                  <a:ext uri="{FF2B5EF4-FFF2-40B4-BE49-F238E27FC236}">
                    <a16:creationId xmlns:a16="http://schemas.microsoft.com/office/drawing/2014/main" id="{A9CA65E8-A67F-4010-A2A7-A8E0F03900EC}"/>
                  </a:ext>
                </a:extLst>
              </p:cNvPr>
              <p:cNvSpPr/>
              <p:nvPr/>
            </p:nvSpPr>
            <p:spPr>
              <a:xfrm>
                <a:off x="6844414" y="4396132"/>
                <a:ext cx="2592000" cy="684000"/>
              </a:xfrm>
              <a:prstGeom prst="rect">
                <a:avLst/>
              </a:prstGeom>
              <a:no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890648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67008185-E60F-4480-BE02-7165D7796CDF}"/>
              </a:ext>
            </a:extLst>
          </p:cNvPr>
          <p:cNvGrpSpPr/>
          <p:nvPr/>
        </p:nvGrpSpPr>
        <p:grpSpPr>
          <a:xfrm>
            <a:off x="2914379" y="1381984"/>
            <a:ext cx="4280482" cy="4018691"/>
            <a:chOff x="2914379" y="1381984"/>
            <a:chExt cx="4280482" cy="4018691"/>
          </a:xfrm>
        </p:grpSpPr>
        <p:grpSp>
          <p:nvGrpSpPr>
            <p:cNvPr id="64" name="グループ化 63">
              <a:extLst>
                <a:ext uri="{FF2B5EF4-FFF2-40B4-BE49-F238E27FC236}">
                  <a16:creationId xmlns:a16="http://schemas.microsoft.com/office/drawing/2014/main" id="{7A05654C-63B5-49B9-B25C-3ECC752044B0}"/>
                </a:ext>
              </a:extLst>
            </p:cNvPr>
            <p:cNvGrpSpPr/>
            <p:nvPr/>
          </p:nvGrpSpPr>
          <p:grpSpPr>
            <a:xfrm>
              <a:off x="3738872" y="2287716"/>
              <a:ext cx="2458889" cy="2722434"/>
              <a:chOff x="824493" y="830391"/>
              <a:chExt cx="2458889" cy="2722434"/>
            </a:xfrm>
          </p:grpSpPr>
          <p:sp>
            <p:nvSpPr>
              <p:cNvPr id="72" name="六角形 71">
                <a:extLst>
                  <a:ext uri="{FF2B5EF4-FFF2-40B4-BE49-F238E27FC236}">
                    <a16:creationId xmlns:a16="http://schemas.microsoft.com/office/drawing/2014/main" id="{F4460341-BA9B-4691-8456-6EC7398E218E}"/>
                  </a:ext>
                </a:extLst>
              </p:cNvPr>
              <p:cNvSpPr/>
              <p:nvPr/>
            </p:nvSpPr>
            <p:spPr>
              <a:xfrm rot="5400000">
                <a:off x="1143718" y="1334357"/>
                <a:ext cx="1790702" cy="1714502"/>
              </a:xfrm>
              <a:prstGeom prst="hexagon">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rtlCol="0" anchor="t"/>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algn="l"/>
                <a:endParaRPr kumimoji="1" lang="ja-JP" altLang="en-US" sz="1100"/>
              </a:p>
            </p:txBody>
          </p:sp>
          <p:cxnSp>
            <p:nvCxnSpPr>
              <p:cNvPr id="73" name="直線コネクタ 72">
                <a:extLst>
                  <a:ext uri="{FF2B5EF4-FFF2-40B4-BE49-F238E27FC236}">
                    <a16:creationId xmlns:a16="http://schemas.microsoft.com/office/drawing/2014/main" id="{28C3F685-D447-4DC9-AD13-619428BDA930}"/>
                  </a:ext>
                </a:extLst>
              </p:cNvPr>
              <p:cNvCxnSpPr>
                <a:endCxn id="72" idx="0"/>
              </p:cNvCxnSpPr>
              <p:nvPr/>
            </p:nvCxnSpPr>
            <p:spPr>
              <a:xfrm>
                <a:off x="1143720" y="1762984"/>
                <a:ext cx="895349" cy="1323975"/>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4" name="直線コネクタ 73">
                <a:extLst>
                  <a:ext uri="{FF2B5EF4-FFF2-40B4-BE49-F238E27FC236}">
                    <a16:creationId xmlns:a16="http://schemas.microsoft.com/office/drawing/2014/main" id="{2D7F655E-74B0-4A14-8F84-7F732C0B11E0}"/>
                  </a:ext>
                </a:extLst>
              </p:cNvPr>
              <p:cNvCxnSpPr>
                <a:stCxn id="72" idx="3"/>
                <a:endCxn id="72" idx="5"/>
              </p:cNvCxnSpPr>
              <p:nvPr/>
            </p:nvCxnSpPr>
            <p:spPr>
              <a:xfrm>
                <a:off x="2039069" y="1296257"/>
                <a:ext cx="857251" cy="1362077"/>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5" name="直線コネクタ 74">
                <a:extLst>
                  <a:ext uri="{FF2B5EF4-FFF2-40B4-BE49-F238E27FC236}">
                    <a16:creationId xmlns:a16="http://schemas.microsoft.com/office/drawing/2014/main" id="{4485D118-A51C-479B-8703-1FC013FC0D13}"/>
                  </a:ext>
                </a:extLst>
              </p:cNvPr>
              <p:cNvCxnSpPr>
                <a:endCxn id="72" idx="0"/>
              </p:cNvCxnSpPr>
              <p:nvPr/>
            </p:nvCxnSpPr>
            <p:spPr>
              <a:xfrm flipH="1">
                <a:off x="2039069" y="1724884"/>
                <a:ext cx="876301" cy="1362075"/>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6" name="直線コネクタ 75">
                <a:extLst>
                  <a:ext uri="{FF2B5EF4-FFF2-40B4-BE49-F238E27FC236}">
                    <a16:creationId xmlns:a16="http://schemas.microsoft.com/office/drawing/2014/main" id="{06F2F0F3-8B19-4788-B735-D130845C96CE}"/>
                  </a:ext>
                </a:extLst>
              </p:cNvPr>
              <p:cNvCxnSpPr>
                <a:endCxn id="72" idx="1"/>
              </p:cNvCxnSpPr>
              <p:nvPr/>
            </p:nvCxnSpPr>
            <p:spPr>
              <a:xfrm flipH="1">
                <a:off x="1181818" y="1334359"/>
                <a:ext cx="857253" cy="1323975"/>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7" name="フリーフォーム: 図形 76">
                <a:extLst>
                  <a:ext uri="{FF2B5EF4-FFF2-40B4-BE49-F238E27FC236}">
                    <a16:creationId xmlns:a16="http://schemas.microsoft.com/office/drawing/2014/main" id="{1158FA61-3629-4284-AA6D-EFA5DE6D1282}"/>
                  </a:ext>
                </a:extLst>
              </p:cNvPr>
              <p:cNvSpPr/>
              <p:nvPr/>
            </p:nvSpPr>
            <p:spPr>
              <a:xfrm>
                <a:off x="1676283" y="1813954"/>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7597" tIns="117597" rIns="117597" bIns="11759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889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價值觀</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Shared Value</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8" name="フリーフォーム: 図形 77">
                <a:extLst>
                  <a:ext uri="{FF2B5EF4-FFF2-40B4-BE49-F238E27FC236}">
                    <a16:creationId xmlns:a16="http://schemas.microsoft.com/office/drawing/2014/main" id="{DD9A2A97-ABAE-4766-BEF7-559AC73F748A}"/>
                  </a:ext>
                </a:extLst>
              </p:cNvPr>
              <p:cNvSpPr/>
              <p:nvPr/>
            </p:nvSpPr>
            <p:spPr>
              <a:xfrm rot="16200000">
                <a:off x="1924942" y="1684959"/>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1" tIns="9162"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79" name="フリーフォーム: 図形 78">
                <a:extLst>
                  <a:ext uri="{FF2B5EF4-FFF2-40B4-BE49-F238E27FC236}">
                    <a16:creationId xmlns:a16="http://schemas.microsoft.com/office/drawing/2014/main" id="{AD2B36C9-C511-4E7D-B9B0-D22152AA66C6}"/>
                  </a:ext>
                </a:extLst>
              </p:cNvPr>
              <p:cNvSpPr/>
              <p:nvPr/>
            </p:nvSpPr>
            <p:spPr>
              <a:xfrm>
                <a:off x="1676283" y="830391"/>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戰略</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Strategy</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0" name="フリーフォーム: 図形 79">
                <a:extLst>
                  <a:ext uri="{FF2B5EF4-FFF2-40B4-BE49-F238E27FC236}">
                    <a16:creationId xmlns:a16="http://schemas.microsoft.com/office/drawing/2014/main" id="{12B3024D-1F17-4396-A443-684D49A01CD4}"/>
                  </a:ext>
                </a:extLst>
              </p:cNvPr>
              <p:cNvSpPr/>
              <p:nvPr/>
            </p:nvSpPr>
            <p:spPr>
              <a:xfrm rot="19800000">
                <a:off x="2350838" y="1930849"/>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0" tIns="9161"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1" name="フリーフォーム: 図形 80">
                <a:extLst>
                  <a:ext uri="{FF2B5EF4-FFF2-40B4-BE49-F238E27FC236}">
                    <a16:creationId xmlns:a16="http://schemas.microsoft.com/office/drawing/2014/main" id="{D386A459-A7D6-45AA-AA76-95405BF128B7}"/>
                  </a:ext>
                </a:extLst>
              </p:cNvPr>
              <p:cNvSpPr/>
              <p:nvPr/>
            </p:nvSpPr>
            <p:spPr>
              <a:xfrm>
                <a:off x="2528074" y="1322173"/>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社內</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系統</a:t>
                </a: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System</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2" name="フリーフォーム: 図形 81">
                <a:extLst>
                  <a:ext uri="{FF2B5EF4-FFF2-40B4-BE49-F238E27FC236}">
                    <a16:creationId xmlns:a16="http://schemas.microsoft.com/office/drawing/2014/main" id="{90472732-1CD1-4341-A07D-9FDD9214F0E6}"/>
                  </a:ext>
                </a:extLst>
              </p:cNvPr>
              <p:cNvSpPr/>
              <p:nvPr/>
            </p:nvSpPr>
            <p:spPr>
              <a:xfrm rot="1800000">
                <a:off x="2350838" y="2422631"/>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0" tIns="9162" rIns="121121" bIns="9161"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3" name="フリーフォーム: 図形 82">
                <a:extLst>
                  <a:ext uri="{FF2B5EF4-FFF2-40B4-BE49-F238E27FC236}">
                    <a16:creationId xmlns:a16="http://schemas.microsoft.com/office/drawing/2014/main" id="{7AA27F53-9D6D-4094-98E7-57E7500E1AE0}"/>
                  </a:ext>
                </a:extLst>
              </p:cNvPr>
              <p:cNvSpPr/>
              <p:nvPr/>
            </p:nvSpPr>
            <p:spPr>
              <a:xfrm>
                <a:off x="2513206" y="2305736"/>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技能</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Skill</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4" name="フリーフォーム: 図形 83">
                <a:extLst>
                  <a:ext uri="{FF2B5EF4-FFF2-40B4-BE49-F238E27FC236}">
                    <a16:creationId xmlns:a16="http://schemas.microsoft.com/office/drawing/2014/main" id="{5AC85EA9-AE7B-48BC-B9FD-FE27B8157995}"/>
                  </a:ext>
                </a:extLst>
              </p:cNvPr>
              <p:cNvSpPr/>
              <p:nvPr/>
            </p:nvSpPr>
            <p:spPr>
              <a:xfrm rot="5400000">
                <a:off x="1924942" y="2668522"/>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1" tIns="9162"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5" name="フリーフォーム: 図形 84">
                <a:extLst>
                  <a:ext uri="{FF2B5EF4-FFF2-40B4-BE49-F238E27FC236}">
                    <a16:creationId xmlns:a16="http://schemas.microsoft.com/office/drawing/2014/main" id="{C3152330-63C9-43F7-8839-F4B5327FE46C}"/>
                  </a:ext>
                </a:extLst>
              </p:cNvPr>
              <p:cNvSpPr/>
              <p:nvPr/>
            </p:nvSpPr>
            <p:spPr>
              <a:xfrm>
                <a:off x="1676283" y="2797517"/>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經營型態</a:t>
                </a: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Style</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6" name="フリーフォーム: 図形 85">
                <a:extLst>
                  <a:ext uri="{FF2B5EF4-FFF2-40B4-BE49-F238E27FC236}">
                    <a16:creationId xmlns:a16="http://schemas.microsoft.com/office/drawing/2014/main" id="{EC881C9A-63E7-4C42-A2ED-2258EA34C461}"/>
                  </a:ext>
                </a:extLst>
              </p:cNvPr>
              <p:cNvSpPr/>
              <p:nvPr/>
            </p:nvSpPr>
            <p:spPr>
              <a:xfrm rot="19800000">
                <a:off x="1499047" y="2422630"/>
                <a:ext cx="228255" cy="29737"/>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228254" y="14868"/>
                    </a:moveTo>
                    <a:lnTo>
                      <a:pt x="0"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0" tIns="9162" rIns="121122"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7" name="フリーフォーム: 図形 86">
                <a:extLst>
                  <a:ext uri="{FF2B5EF4-FFF2-40B4-BE49-F238E27FC236}">
                    <a16:creationId xmlns:a16="http://schemas.microsoft.com/office/drawing/2014/main" id="{A4D7FB90-FE86-4100-AAB0-7A6A01778894}"/>
                  </a:ext>
                </a:extLst>
              </p:cNvPr>
              <p:cNvSpPr/>
              <p:nvPr/>
            </p:nvSpPr>
            <p:spPr>
              <a:xfrm>
                <a:off x="824493" y="2305736"/>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人才</a:t>
                </a:r>
                <a:br>
                  <a:rPr kumimoji="1" lang="en-US" altLang="ja-JP" sz="1000" kern="1200" dirty="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dirty="0">
                    <a:latin typeface="微軟正黑體" panose="020B0604030504040204" pitchFamily="34" charset="-120"/>
                    <a:ea typeface="微軟正黑體" panose="020B0604030504040204" pitchFamily="34" charset="-120"/>
                    <a:cs typeface="Times New Roman" panose="02020603050405020304" pitchFamily="18" charset="0"/>
                  </a:rPr>
                  <a:t>Staff</a:t>
                </a:r>
                <a:endParaRPr kumimoji="1" lang="ja-JP" altLang="en-US" sz="1000" kern="12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8" name="フリーフォーム: 図形 87">
                <a:extLst>
                  <a:ext uri="{FF2B5EF4-FFF2-40B4-BE49-F238E27FC236}">
                    <a16:creationId xmlns:a16="http://schemas.microsoft.com/office/drawing/2014/main" id="{E7C30171-12D2-4277-BE2D-34BD47FDE7CF}"/>
                  </a:ext>
                </a:extLst>
              </p:cNvPr>
              <p:cNvSpPr/>
              <p:nvPr/>
            </p:nvSpPr>
            <p:spPr>
              <a:xfrm rot="1800000">
                <a:off x="1499047" y="1930848"/>
                <a:ext cx="228255" cy="29737"/>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228254" y="14868"/>
                    </a:moveTo>
                    <a:lnTo>
                      <a:pt x="0"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1" tIns="9162"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9" name="フリーフォーム: 図形 88">
                <a:extLst>
                  <a:ext uri="{FF2B5EF4-FFF2-40B4-BE49-F238E27FC236}">
                    <a16:creationId xmlns:a16="http://schemas.microsoft.com/office/drawing/2014/main" id="{1613E2CD-91BF-47CD-9F7C-513FB8C214B8}"/>
                  </a:ext>
                </a:extLst>
              </p:cNvPr>
              <p:cNvSpPr/>
              <p:nvPr/>
            </p:nvSpPr>
            <p:spPr>
              <a:xfrm>
                <a:off x="824493" y="1322173"/>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組織</a:t>
                </a: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Structure</a:t>
                </a:r>
                <a:endParaRPr kumimoji="1" lang="ja-JP" altLang="en-US" sz="1000" kern="1200" dirty="0">
                  <a:latin typeface="微軟正黑體" panose="020B0604030504040204" pitchFamily="34" charset="-120"/>
                  <a:ea typeface="微軟正黑體" panose="020B0604030504040204" pitchFamily="34" charset="-120"/>
                  <a:cs typeface="Times New Roman" panose="02020603050405020304" pitchFamily="18" charset="0"/>
                </a:endParaRPr>
              </a:p>
            </p:txBody>
          </p:sp>
          <p:cxnSp>
            <p:nvCxnSpPr>
              <p:cNvPr id="90" name="直線コネクタ 89">
                <a:extLst>
                  <a:ext uri="{FF2B5EF4-FFF2-40B4-BE49-F238E27FC236}">
                    <a16:creationId xmlns:a16="http://schemas.microsoft.com/office/drawing/2014/main" id="{1B0A0916-037F-44F6-A87D-1195303B13AA}"/>
                  </a:ext>
                </a:extLst>
              </p:cNvPr>
              <p:cNvCxnSpPr>
                <a:stCxn id="89" idx="2"/>
                <a:endCxn id="81" idx="0"/>
              </p:cNvCxnSpPr>
              <p:nvPr/>
            </p:nvCxnSpPr>
            <p:spPr>
              <a:xfrm>
                <a:off x="1579801" y="1699827"/>
                <a:ext cx="948273" cy="0"/>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91" name="直線コネクタ 90">
                <a:extLst>
                  <a:ext uri="{FF2B5EF4-FFF2-40B4-BE49-F238E27FC236}">
                    <a16:creationId xmlns:a16="http://schemas.microsoft.com/office/drawing/2014/main" id="{285C3CF0-3839-4E2B-9411-05C3E5F3AADF}"/>
                  </a:ext>
                </a:extLst>
              </p:cNvPr>
              <p:cNvCxnSpPr>
                <a:stCxn id="87" idx="2"/>
                <a:endCxn id="83" idx="0"/>
              </p:cNvCxnSpPr>
              <p:nvPr/>
            </p:nvCxnSpPr>
            <p:spPr>
              <a:xfrm>
                <a:off x="1579801" y="2683390"/>
                <a:ext cx="933405" cy="0"/>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grpSp>
        <p:sp>
          <p:nvSpPr>
            <p:cNvPr id="65" name="テキスト ボックス 22">
              <a:extLst>
                <a:ext uri="{FF2B5EF4-FFF2-40B4-BE49-F238E27FC236}">
                  <a16:creationId xmlns:a16="http://schemas.microsoft.com/office/drawing/2014/main" id="{0D33CF65-D505-4458-BF7B-D33C53627390}"/>
                </a:ext>
              </a:extLst>
            </p:cNvPr>
            <p:cNvSpPr txBox="1"/>
            <p:nvPr/>
          </p:nvSpPr>
          <p:spPr>
            <a:xfrm>
              <a:off x="4377047" y="18859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ja-JP" altLang="en-US" sz="1200">
                  <a:latin typeface="微軟正黑體" panose="020B0604030504040204" pitchFamily="34" charset="-120"/>
                  <a:ea typeface="微軟正黑體" panose="020B0604030504040204" pitchFamily="34" charset="-120"/>
                  <a:cs typeface="Times New Roman" panose="02020603050405020304" pitchFamily="18" charset="0"/>
                </a:rPr>
                <a:t>獨特的戰略</a:t>
              </a:r>
              <a:endParaRPr kumimoji="1" lang="ja-JP" altLang="en-US" sz="1200" b="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6" name="テキスト ボックス 23">
              <a:extLst>
                <a:ext uri="{FF2B5EF4-FFF2-40B4-BE49-F238E27FC236}">
                  <a16:creationId xmlns:a16="http://schemas.microsoft.com/office/drawing/2014/main" id="{17957595-1A99-4F9A-84B1-0556771DDBB8}"/>
                </a:ext>
              </a:extLst>
            </p:cNvPr>
            <p:cNvSpPr txBox="1"/>
            <p:nvPr/>
          </p:nvSpPr>
          <p:spPr>
            <a:xfrm>
              <a:off x="4362179" y="50482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0" lang="zh-TW" altLang="en-US" sz="12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獨創性</a:t>
              </a:r>
              <a:endParaRPr kumimoji="1" lang="ja-JP" altLang="en-US" sz="120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7" name="テキスト ボックス 24">
              <a:extLst>
                <a:ext uri="{FF2B5EF4-FFF2-40B4-BE49-F238E27FC236}">
                  <a16:creationId xmlns:a16="http://schemas.microsoft.com/office/drawing/2014/main" id="{36CB9745-9FCE-45CE-9D8F-C6ACC9FFC4D7}"/>
                </a:ext>
              </a:extLst>
            </p:cNvPr>
            <p:cNvSpPr txBox="1"/>
            <p:nvPr/>
          </p:nvSpPr>
          <p:spPr>
            <a:xfrm>
              <a:off x="2914379" y="2486025"/>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0" lang="zh-TW" altLang="en-US" sz="1200" b="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自主性</a:t>
              </a:r>
              <a:endParaRPr kumimoji="1" lang="ja-JP" altLang="en-US" sz="1200" b="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8" name="テキスト ボックス 25">
              <a:extLst>
                <a:ext uri="{FF2B5EF4-FFF2-40B4-BE49-F238E27FC236}">
                  <a16:creationId xmlns:a16="http://schemas.microsoft.com/office/drawing/2014/main" id="{70625870-A48D-4B5B-99C2-D04395AB5007}"/>
                </a:ext>
              </a:extLst>
            </p:cNvPr>
            <p:cNvSpPr txBox="1"/>
            <p:nvPr/>
          </p:nvSpPr>
          <p:spPr>
            <a:xfrm>
              <a:off x="5756315" y="2486025"/>
              <a:ext cx="143854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1200">
                  <a:latin typeface="微軟正黑體" panose="020B0604030504040204" pitchFamily="34" charset="-120"/>
                  <a:ea typeface="微軟正黑體" panose="020B0604030504040204" pitchFamily="34" charset="-120"/>
                  <a:cs typeface="Times New Roman" panose="02020603050405020304" pitchFamily="18" charset="0"/>
                </a:rPr>
                <a:t>群眾外包</a:t>
              </a:r>
              <a:endParaRPr kumimoji="1" lang="ja-JP" altLang="en-US" sz="12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9" name="テキスト ボックス 26">
              <a:extLst>
                <a:ext uri="{FF2B5EF4-FFF2-40B4-BE49-F238E27FC236}">
                  <a16:creationId xmlns:a16="http://schemas.microsoft.com/office/drawing/2014/main" id="{7D408712-60EB-4DE7-845F-BEB7BFC970EC}"/>
                </a:ext>
              </a:extLst>
            </p:cNvPr>
            <p:cNvSpPr txBox="1"/>
            <p:nvPr/>
          </p:nvSpPr>
          <p:spPr>
            <a:xfrm>
              <a:off x="2914379" y="44767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0" lang="zh-TW" altLang="en-US" sz="12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年代的融合</a:t>
              </a:r>
              <a:endParaRPr kumimoji="1" lang="ja-JP" altLang="en-US" sz="120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0" name="テキスト ボックス 27">
              <a:extLst>
                <a:ext uri="{FF2B5EF4-FFF2-40B4-BE49-F238E27FC236}">
                  <a16:creationId xmlns:a16="http://schemas.microsoft.com/office/drawing/2014/main" id="{87FBC236-F527-40AC-A78C-49AA2D0F4E40}"/>
                </a:ext>
              </a:extLst>
            </p:cNvPr>
            <p:cNvSpPr txBox="1"/>
            <p:nvPr/>
          </p:nvSpPr>
          <p:spPr>
            <a:xfrm>
              <a:off x="5713940" y="44767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zh-TW" altLang="en-US" sz="120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堅持</a:t>
              </a:r>
              <a:endParaRPr kumimoji="1" lang="ja-JP" altLang="en-US" sz="12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1" name="テキスト ボックス 30">
              <a:extLst>
                <a:ext uri="{FF2B5EF4-FFF2-40B4-BE49-F238E27FC236}">
                  <a16:creationId xmlns:a16="http://schemas.microsoft.com/office/drawing/2014/main" id="{F1F6C253-97BF-4F60-B107-8886FAB65349}"/>
                </a:ext>
              </a:extLst>
            </p:cNvPr>
            <p:cNvSpPr txBox="1"/>
            <p:nvPr/>
          </p:nvSpPr>
          <p:spPr>
            <a:xfrm>
              <a:off x="3195947" y="1381984"/>
              <a:ext cx="35343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ja-JP"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7S</a:t>
              </a:r>
              <a:r>
                <a:rPr lang="zh-TW" altLang="en-US"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戰略</a:t>
              </a:r>
              <a:endParaRPr kumimoji="1" lang="ja-JP" altLang="en-US" sz="2000" b="1" dirty="0">
                <a:solidFill>
                  <a:sysClr val="windowText" lastClr="000000"/>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pSp>
    </p:spTree>
    <p:extLst>
      <p:ext uri="{BB962C8B-B14F-4D97-AF65-F5344CB8AC3E}">
        <p14:creationId xmlns:p14="http://schemas.microsoft.com/office/powerpoint/2010/main" val="101276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84AC4294-BA6C-43CA-922C-49BBDCB48127}"/>
              </a:ext>
            </a:extLst>
          </p:cNvPr>
          <p:cNvGrpSpPr/>
          <p:nvPr/>
        </p:nvGrpSpPr>
        <p:grpSpPr>
          <a:xfrm>
            <a:off x="2914379" y="1131454"/>
            <a:ext cx="4343671" cy="4269221"/>
            <a:chOff x="2914379" y="1131454"/>
            <a:chExt cx="4343671" cy="4269221"/>
          </a:xfrm>
        </p:grpSpPr>
        <p:grpSp>
          <p:nvGrpSpPr>
            <p:cNvPr id="64" name="グループ化 63">
              <a:extLst>
                <a:ext uri="{FF2B5EF4-FFF2-40B4-BE49-F238E27FC236}">
                  <a16:creationId xmlns:a16="http://schemas.microsoft.com/office/drawing/2014/main" id="{7A05654C-63B5-49B9-B25C-3ECC752044B0}"/>
                </a:ext>
              </a:extLst>
            </p:cNvPr>
            <p:cNvGrpSpPr/>
            <p:nvPr/>
          </p:nvGrpSpPr>
          <p:grpSpPr>
            <a:xfrm>
              <a:off x="3724004" y="2287716"/>
              <a:ext cx="2458889" cy="2722434"/>
              <a:chOff x="809625" y="830391"/>
              <a:chExt cx="2458889" cy="2722434"/>
            </a:xfrm>
          </p:grpSpPr>
          <p:sp>
            <p:nvSpPr>
              <p:cNvPr id="72" name="六角形 71">
                <a:extLst>
                  <a:ext uri="{FF2B5EF4-FFF2-40B4-BE49-F238E27FC236}">
                    <a16:creationId xmlns:a16="http://schemas.microsoft.com/office/drawing/2014/main" id="{F4460341-BA9B-4691-8456-6EC7398E218E}"/>
                  </a:ext>
                </a:extLst>
              </p:cNvPr>
              <p:cNvSpPr/>
              <p:nvPr/>
            </p:nvSpPr>
            <p:spPr>
              <a:xfrm rot="5400000">
                <a:off x="1143718" y="1334357"/>
                <a:ext cx="1790702" cy="1714502"/>
              </a:xfrm>
              <a:prstGeom prst="hexagon">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rtlCol="0" anchor="t"/>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algn="l"/>
                <a:endParaRPr kumimoji="1" lang="ja-JP" altLang="en-US" sz="1100"/>
              </a:p>
            </p:txBody>
          </p:sp>
          <p:cxnSp>
            <p:nvCxnSpPr>
              <p:cNvPr id="73" name="直線コネクタ 72">
                <a:extLst>
                  <a:ext uri="{FF2B5EF4-FFF2-40B4-BE49-F238E27FC236}">
                    <a16:creationId xmlns:a16="http://schemas.microsoft.com/office/drawing/2014/main" id="{28C3F685-D447-4DC9-AD13-619428BDA930}"/>
                  </a:ext>
                </a:extLst>
              </p:cNvPr>
              <p:cNvCxnSpPr>
                <a:endCxn id="72" idx="0"/>
              </p:cNvCxnSpPr>
              <p:nvPr/>
            </p:nvCxnSpPr>
            <p:spPr>
              <a:xfrm>
                <a:off x="1143720" y="1762984"/>
                <a:ext cx="895349" cy="1323975"/>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4" name="直線コネクタ 73">
                <a:extLst>
                  <a:ext uri="{FF2B5EF4-FFF2-40B4-BE49-F238E27FC236}">
                    <a16:creationId xmlns:a16="http://schemas.microsoft.com/office/drawing/2014/main" id="{2D7F655E-74B0-4A14-8F84-7F732C0B11E0}"/>
                  </a:ext>
                </a:extLst>
              </p:cNvPr>
              <p:cNvCxnSpPr>
                <a:stCxn id="72" idx="3"/>
                <a:endCxn id="72" idx="5"/>
              </p:cNvCxnSpPr>
              <p:nvPr/>
            </p:nvCxnSpPr>
            <p:spPr>
              <a:xfrm>
                <a:off x="2039069" y="1296257"/>
                <a:ext cx="857251" cy="1362077"/>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5" name="直線コネクタ 74">
                <a:extLst>
                  <a:ext uri="{FF2B5EF4-FFF2-40B4-BE49-F238E27FC236}">
                    <a16:creationId xmlns:a16="http://schemas.microsoft.com/office/drawing/2014/main" id="{4485D118-A51C-479B-8703-1FC013FC0D13}"/>
                  </a:ext>
                </a:extLst>
              </p:cNvPr>
              <p:cNvCxnSpPr>
                <a:endCxn id="72" idx="0"/>
              </p:cNvCxnSpPr>
              <p:nvPr/>
            </p:nvCxnSpPr>
            <p:spPr>
              <a:xfrm flipH="1">
                <a:off x="2039069" y="1724884"/>
                <a:ext cx="876301" cy="1362075"/>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76" name="直線コネクタ 75">
                <a:extLst>
                  <a:ext uri="{FF2B5EF4-FFF2-40B4-BE49-F238E27FC236}">
                    <a16:creationId xmlns:a16="http://schemas.microsoft.com/office/drawing/2014/main" id="{06F2F0F3-8B19-4788-B735-D130845C96CE}"/>
                  </a:ext>
                </a:extLst>
              </p:cNvPr>
              <p:cNvCxnSpPr>
                <a:endCxn id="72" idx="1"/>
              </p:cNvCxnSpPr>
              <p:nvPr/>
            </p:nvCxnSpPr>
            <p:spPr>
              <a:xfrm flipH="1">
                <a:off x="1181818" y="1334359"/>
                <a:ext cx="857253" cy="1323975"/>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7" name="フリーフォーム: 図形 76">
                <a:extLst>
                  <a:ext uri="{FF2B5EF4-FFF2-40B4-BE49-F238E27FC236}">
                    <a16:creationId xmlns:a16="http://schemas.microsoft.com/office/drawing/2014/main" id="{1158FA61-3629-4284-AA6D-EFA5DE6D1282}"/>
                  </a:ext>
                </a:extLst>
              </p:cNvPr>
              <p:cNvSpPr/>
              <p:nvPr/>
            </p:nvSpPr>
            <p:spPr>
              <a:xfrm>
                <a:off x="1661415" y="1813954"/>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7597" tIns="117597" rIns="117597" bIns="11759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889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價值觀</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Shared Value</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8" name="フリーフォーム: 図形 77">
                <a:extLst>
                  <a:ext uri="{FF2B5EF4-FFF2-40B4-BE49-F238E27FC236}">
                    <a16:creationId xmlns:a16="http://schemas.microsoft.com/office/drawing/2014/main" id="{DD9A2A97-ABAE-4766-BEF7-559AC73F748A}"/>
                  </a:ext>
                </a:extLst>
              </p:cNvPr>
              <p:cNvSpPr/>
              <p:nvPr/>
            </p:nvSpPr>
            <p:spPr>
              <a:xfrm rot="16200000">
                <a:off x="1924942" y="1684959"/>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1" tIns="9162"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79" name="フリーフォーム: 図形 78">
                <a:extLst>
                  <a:ext uri="{FF2B5EF4-FFF2-40B4-BE49-F238E27FC236}">
                    <a16:creationId xmlns:a16="http://schemas.microsoft.com/office/drawing/2014/main" id="{AD2B36C9-C511-4E7D-B9B0-D22152AA66C6}"/>
                  </a:ext>
                </a:extLst>
              </p:cNvPr>
              <p:cNvSpPr/>
              <p:nvPr/>
            </p:nvSpPr>
            <p:spPr>
              <a:xfrm>
                <a:off x="1661415" y="830391"/>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戰略</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Strategy</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0" name="フリーフォーム: 図形 79">
                <a:extLst>
                  <a:ext uri="{FF2B5EF4-FFF2-40B4-BE49-F238E27FC236}">
                    <a16:creationId xmlns:a16="http://schemas.microsoft.com/office/drawing/2014/main" id="{12B3024D-1F17-4396-A443-684D49A01CD4}"/>
                  </a:ext>
                </a:extLst>
              </p:cNvPr>
              <p:cNvSpPr/>
              <p:nvPr/>
            </p:nvSpPr>
            <p:spPr>
              <a:xfrm rot="19800000">
                <a:off x="2350838" y="1930849"/>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0" tIns="9161"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1" name="フリーフォーム: 図形 80">
                <a:extLst>
                  <a:ext uri="{FF2B5EF4-FFF2-40B4-BE49-F238E27FC236}">
                    <a16:creationId xmlns:a16="http://schemas.microsoft.com/office/drawing/2014/main" id="{D386A459-A7D6-45AA-AA76-95405BF128B7}"/>
                  </a:ext>
                </a:extLst>
              </p:cNvPr>
              <p:cNvSpPr/>
              <p:nvPr/>
            </p:nvSpPr>
            <p:spPr>
              <a:xfrm>
                <a:off x="2513206" y="1322173"/>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社內系統</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System</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2" name="フリーフォーム: 図形 81">
                <a:extLst>
                  <a:ext uri="{FF2B5EF4-FFF2-40B4-BE49-F238E27FC236}">
                    <a16:creationId xmlns:a16="http://schemas.microsoft.com/office/drawing/2014/main" id="{90472732-1CD1-4341-A07D-9FDD9214F0E6}"/>
                  </a:ext>
                </a:extLst>
              </p:cNvPr>
              <p:cNvSpPr/>
              <p:nvPr/>
            </p:nvSpPr>
            <p:spPr>
              <a:xfrm rot="1800000">
                <a:off x="2350838" y="2422631"/>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0" tIns="9162" rIns="121121" bIns="9161"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3" name="フリーフォーム: 図形 82">
                <a:extLst>
                  <a:ext uri="{FF2B5EF4-FFF2-40B4-BE49-F238E27FC236}">
                    <a16:creationId xmlns:a16="http://schemas.microsoft.com/office/drawing/2014/main" id="{7AA27F53-9D6D-4094-98E7-57E7500E1AE0}"/>
                  </a:ext>
                </a:extLst>
              </p:cNvPr>
              <p:cNvSpPr/>
              <p:nvPr/>
            </p:nvSpPr>
            <p:spPr>
              <a:xfrm>
                <a:off x="2513206" y="2305736"/>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技能</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Skill</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4" name="フリーフォーム: 図形 83">
                <a:extLst>
                  <a:ext uri="{FF2B5EF4-FFF2-40B4-BE49-F238E27FC236}">
                    <a16:creationId xmlns:a16="http://schemas.microsoft.com/office/drawing/2014/main" id="{5AC85EA9-AE7B-48BC-B9FD-FE27B8157995}"/>
                  </a:ext>
                </a:extLst>
              </p:cNvPr>
              <p:cNvSpPr/>
              <p:nvPr/>
            </p:nvSpPr>
            <p:spPr>
              <a:xfrm rot="5400000">
                <a:off x="1924942" y="2668522"/>
                <a:ext cx="228254" cy="29736"/>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0" y="14868"/>
                    </a:moveTo>
                    <a:lnTo>
                      <a:pt x="228254"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1" tIns="9162"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5" name="フリーフォーム: 図形 84">
                <a:extLst>
                  <a:ext uri="{FF2B5EF4-FFF2-40B4-BE49-F238E27FC236}">
                    <a16:creationId xmlns:a16="http://schemas.microsoft.com/office/drawing/2014/main" id="{C3152330-63C9-43F7-8839-F4B5327FE46C}"/>
                  </a:ext>
                </a:extLst>
              </p:cNvPr>
              <p:cNvSpPr/>
              <p:nvPr/>
            </p:nvSpPr>
            <p:spPr>
              <a:xfrm>
                <a:off x="1661415" y="2797517"/>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經營型態</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Style</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6" name="フリーフォーム: 図形 85">
                <a:extLst>
                  <a:ext uri="{FF2B5EF4-FFF2-40B4-BE49-F238E27FC236}">
                    <a16:creationId xmlns:a16="http://schemas.microsoft.com/office/drawing/2014/main" id="{EC881C9A-63E7-4C42-A2ED-2258EA34C461}"/>
                  </a:ext>
                </a:extLst>
              </p:cNvPr>
              <p:cNvSpPr/>
              <p:nvPr/>
            </p:nvSpPr>
            <p:spPr>
              <a:xfrm rot="19800000">
                <a:off x="1499047" y="2422630"/>
                <a:ext cx="228255" cy="29737"/>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228254" y="14868"/>
                    </a:moveTo>
                    <a:lnTo>
                      <a:pt x="0"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0" tIns="9162" rIns="121122"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7" name="フリーフォーム: 図形 86">
                <a:extLst>
                  <a:ext uri="{FF2B5EF4-FFF2-40B4-BE49-F238E27FC236}">
                    <a16:creationId xmlns:a16="http://schemas.microsoft.com/office/drawing/2014/main" id="{A4D7FB90-FE86-4100-AAB0-7A6A01778894}"/>
                  </a:ext>
                </a:extLst>
              </p:cNvPr>
              <p:cNvSpPr/>
              <p:nvPr/>
            </p:nvSpPr>
            <p:spPr>
              <a:xfrm>
                <a:off x="809625" y="2305736"/>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人才</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Staff</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88" name="フリーフォーム: 図形 87">
                <a:extLst>
                  <a:ext uri="{FF2B5EF4-FFF2-40B4-BE49-F238E27FC236}">
                    <a16:creationId xmlns:a16="http://schemas.microsoft.com/office/drawing/2014/main" id="{E7C30171-12D2-4277-BE2D-34BD47FDE7CF}"/>
                  </a:ext>
                </a:extLst>
              </p:cNvPr>
              <p:cNvSpPr/>
              <p:nvPr/>
            </p:nvSpPr>
            <p:spPr>
              <a:xfrm rot="1800000">
                <a:off x="1499047" y="1930848"/>
                <a:ext cx="228255" cy="29737"/>
              </a:xfrm>
              <a:custGeom>
                <a:avLst/>
                <a:gdLst>
                  <a:gd name="connsiteX0" fmla="*/ 0 w 228254"/>
                  <a:gd name="connsiteY0" fmla="*/ 14868 h 29736"/>
                  <a:gd name="connsiteX1" fmla="*/ 228254 w 228254"/>
                  <a:gd name="connsiteY1" fmla="*/ 14868 h 29736"/>
                </a:gdLst>
                <a:ahLst/>
                <a:cxnLst>
                  <a:cxn ang="0">
                    <a:pos x="connsiteX0" y="connsiteY0"/>
                  </a:cxn>
                  <a:cxn ang="0">
                    <a:pos x="connsiteX1" y="connsiteY1"/>
                  </a:cxn>
                </a:cxnLst>
                <a:rect l="l" t="t" r="r" b="b"/>
                <a:pathLst>
                  <a:path w="228254" h="29736">
                    <a:moveTo>
                      <a:pt x="228254" y="14868"/>
                    </a:moveTo>
                    <a:lnTo>
                      <a:pt x="0" y="14868"/>
                    </a:lnTo>
                  </a:path>
                </a:pathLst>
              </a:cu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21121" tIns="9162" rIns="121121" bIns="9162" numCol="1" spcCol="1270" anchor="ctr" anchorCtr="0">
                <a:noAutofit/>
              </a:bodyPr>
              <a:lstStyle>
                <a:lvl1pPr marL="0" indent="0">
                  <a:defRPr sz="1100">
                    <a:solidFill>
                      <a:schemeClr val="tx1">
                        <a:hueOff val="0"/>
                        <a:satOff val="0"/>
                        <a:lumOff val="0"/>
                        <a:alphaOff val="0"/>
                      </a:schemeClr>
                    </a:solidFill>
                    <a:latin typeface="+mn-lt"/>
                    <a:ea typeface="+mn-ea"/>
                    <a:cs typeface="+mn-cs"/>
                  </a:defRPr>
                </a:lvl1pPr>
                <a:lvl2pPr marL="457200" indent="0">
                  <a:defRPr sz="1100">
                    <a:solidFill>
                      <a:schemeClr val="tx1">
                        <a:hueOff val="0"/>
                        <a:satOff val="0"/>
                        <a:lumOff val="0"/>
                        <a:alphaOff val="0"/>
                      </a:schemeClr>
                    </a:solidFill>
                    <a:latin typeface="+mn-lt"/>
                    <a:ea typeface="+mn-ea"/>
                    <a:cs typeface="+mn-cs"/>
                  </a:defRPr>
                </a:lvl2pPr>
                <a:lvl3pPr marL="914400" indent="0">
                  <a:defRPr sz="1100">
                    <a:solidFill>
                      <a:schemeClr val="tx1">
                        <a:hueOff val="0"/>
                        <a:satOff val="0"/>
                        <a:lumOff val="0"/>
                        <a:alphaOff val="0"/>
                      </a:schemeClr>
                    </a:solidFill>
                    <a:latin typeface="+mn-lt"/>
                    <a:ea typeface="+mn-ea"/>
                    <a:cs typeface="+mn-cs"/>
                  </a:defRPr>
                </a:lvl3pPr>
                <a:lvl4pPr marL="1371600" indent="0">
                  <a:defRPr sz="1100">
                    <a:solidFill>
                      <a:schemeClr val="tx1">
                        <a:hueOff val="0"/>
                        <a:satOff val="0"/>
                        <a:lumOff val="0"/>
                        <a:alphaOff val="0"/>
                      </a:schemeClr>
                    </a:solidFill>
                    <a:latin typeface="+mn-lt"/>
                    <a:ea typeface="+mn-ea"/>
                    <a:cs typeface="+mn-cs"/>
                  </a:defRPr>
                </a:lvl4pPr>
                <a:lvl5pPr marL="1828800" indent="0">
                  <a:defRPr sz="1100">
                    <a:solidFill>
                      <a:schemeClr val="tx1">
                        <a:hueOff val="0"/>
                        <a:satOff val="0"/>
                        <a:lumOff val="0"/>
                        <a:alphaOff val="0"/>
                      </a:schemeClr>
                    </a:solidFill>
                    <a:latin typeface="+mn-lt"/>
                    <a:ea typeface="+mn-ea"/>
                    <a:cs typeface="+mn-cs"/>
                  </a:defRPr>
                </a:lvl5pPr>
                <a:lvl6pPr marL="2286000" indent="0">
                  <a:defRPr sz="1100">
                    <a:solidFill>
                      <a:schemeClr val="tx1">
                        <a:hueOff val="0"/>
                        <a:satOff val="0"/>
                        <a:lumOff val="0"/>
                        <a:alphaOff val="0"/>
                      </a:schemeClr>
                    </a:solidFill>
                    <a:latin typeface="+mn-lt"/>
                    <a:ea typeface="+mn-ea"/>
                    <a:cs typeface="+mn-cs"/>
                  </a:defRPr>
                </a:lvl6pPr>
                <a:lvl7pPr marL="2743200" indent="0">
                  <a:defRPr sz="1100">
                    <a:solidFill>
                      <a:schemeClr val="tx1">
                        <a:hueOff val="0"/>
                        <a:satOff val="0"/>
                        <a:lumOff val="0"/>
                        <a:alphaOff val="0"/>
                      </a:schemeClr>
                    </a:solidFill>
                    <a:latin typeface="+mn-lt"/>
                    <a:ea typeface="+mn-ea"/>
                    <a:cs typeface="+mn-cs"/>
                  </a:defRPr>
                </a:lvl7pPr>
                <a:lvl8pPr marL="3200400" indent="0">
                  <a:defRPr sz="1100">
                    <a:solidFill>
                      <a:schemeClr val="tx1">
                        <a:hueOff val="0"/>
                        <a:satOff val="0"/>
                        <a:lumOff val="0"/>
                        <a:alphaOff val="0"/>
                      </a:schemeClr>
                    </a:solidFill>
                    <a:latin typeface="+mn-lt"/>
                    <a:ea typeface="+mn-ea"/>
                    <a:cs typeface="+mn-cs"/>
                  </a:defRPr>
                </a:lvl8pPr>
                <a:lvl9pPr marL="3657600" indent="0">
                  <a:defRPr sz="11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kumimoji="1" lang="ja-JP" altLang="en-US" sz="1000" kern="1200">
                  <a:latin typeface="+mn-ea"/>
                  <a:ea typeface="+mn-ea"/>
                </a:endParaRPr>
              </a:p>
            </p:txBody>
          </p:sp>
          <p:sp>
            <p:nvSpPr>
              <p:cNvPr id="89" name="フリーフォーム: 図形 88">
                <a:extLst>
                  <a:ext uri="{FF2B5EF4-FFF2-40B4-BE49-F238E27FC236}">
                    <a16:creationId xmlns:a16="http://schemas.microsoft.com/office/drawing/2014/main" id="{1613E2CD-91BF-47CD-9F7C-513FB8C214B8}"/>
                  </a:ext>
                </a:extLst>
              </p:cNvPr>
              <p:cNvSpPr/>
              <p:nvPr/>
            </p:nvSpPr>
            <p:spPr>
              <a:xfrm>
                <a:off x="809625" y="1322173"/>
                <a:ext cx="755308" cy="755308"/>
              </a:xfrm>
              <a:custGeom>
                <a:avLst/>
                <a:gdLst>
                  <a:gd name="connsiteX0" fmla="*/ 0 w 755308"/>
                  <a:gd name="connsiteY0" fmla="*/ 377654 h 755308"/>
                  <a:gd name="connsiteX1" fmla="*/ 377654 w 755308"/>
                  <a:gd name="connsiteY1" fmla="*/ 0 h 755308"/>
                  <a:gd name="connsiteX2" fmla="*/ 755308 w 755308"/>
                  <a:gd name="connsiteY2" fmla="*/ 377654 h 755308"/>
                  <a:gd name="connsiteX3" fmla="*/ 377654 w 755308"/>
                  <a:gd name="connsiteY3" fmla="*/ 755308 h 755308"/>
                  <a:gd name="connsiteX4" fmla="*/ 0 w 755308"/>
                  <a:gd name="connsiteY4" fmla="*/ 377654 h 755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308" h="755308">
                    <a:moveTo>
                      <a:pt x="0" y="377654"/>
                    </a:moveTo>
                    <a:cubicBezTo>
                      <a:pt x="0" y="169081"/>
                      <a:pt x="169081" y="0"/>
                      <a:pt x="377654" y="0"/>
                    </a:cubicBezTo>
                    <a:cubicBezTo>
                      <a:pt x="586227" y="0"/>
                      <a:pt x="755308" y="169081"/>
                      <a:pt x="755308" y="377654"/>
                    </a:cubicBezTo>
                    <a:cubicBezTo>
                      <a:pt x="755308" y="586227"/>
                      <a:pt x="586227" y="755308"/>
                      <a:pt x="377654" y="755308"/>
                    </a:cubicBezTo>
                    <a:cubicBezTo>
                      <a:pt x="169081" y="755308"/>
                      <a:pt x="0" y="586227"/>
                      <a:pt x="0" y="377654"/>
                    </a:cubicBezTo>
                    <a:close/>
                  </a:path>
                </a:pathLst>
              </a:custGeom>
              <a:solidFill>
                <a:schemeClr val="accent1">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6327" tIns="116327" rIns="116327" bIns="116327" numCol="1" spcCol="1270" anchor="ctr" anchorCtr="0">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lvl="0" indent="0" algn="ctr" defTabSz="400050">
                  <a:lnSpc>
                    <a:spcPct val="90000"/>
                  </a:lnSpc>
                  <a:spcBef>
                    <a:spcPct val="0"/>
                  </a:spcBef>
                  <a:spcAft>
                    <a:spcPct val="35000"/>
                  </a:spcAft>
                  <a:buNone/>
                </a:pPr>
                <a:r>
                  <a:rPr kumimoji="1" lang="zh-TW" altLang="en-US" sz="1000" kern="1200">
                    <a:latin typeface="微軟正黑體" panose="020B0604030504040204" pitchFamily="34" charset="-120"/>
                    <a:ea typeface="微軟正黑體" panose="020B0604030504040204" pitchFamily="34" charset="-120"/>
                    <a:cs typeface="Times New Roman" panose="02020603050405020304" pitchFamily="18" charset="0"/>
                  </a:rPr>
                  <a:t>組織</a:t>
                </a:r>
                <a:br>
                  <a:rPr kumimoji="1" lang="en-US" altLang="ja-JP" sz="1000" kern="1200">
                    <a:latin typeface="微軟正黑體" panose="020B0604030504040204" pitchFamily="34" charset="-120"/>
                    <a:ea typeface="微軟正黑體" panose="020B0604030504040204" pitchFamily="34" charset="-120"/>
                    <a:cs typeface="Times New Roman" panose="02020603050405020304" pitchFamily="18" charset="0"/>
                  </a:rPr>
                </a:br>
                <a:r>
                  <a:rPr kumimoji="1" lang="en-US" altLang="en-US" sz="1000" kern="1200">
                    <a:latin typeface="微軟正黑體" panose="020B0604030504040204" pitchFamily="34" charset="-120"/>
                    <a:ea typeface="微軟正黑體" panose="020B0604030504040204" pitchFamily="34" charset="-120"/>
                    <a:cs typeface="Times New Roman" panose="02020603050405020304" pitchFamily="18" charset="0"/>
                  </a:rPr>
                  <a:t>Structure</a:t>
                </a:r>
                <a:endParaRPr kumimoji="1" lang="ja-JP" altLang="en-US" sz="1000" kern="1200">
                  <a:latin typeface="微軟正黑體" panose="020B0604030504040204" pitchFamily="34" charset="-120"/>
                  <a:ea typeface="微軟正黑體" panose="020B0604030504040204" pitchFamily="34" charset="-120"/>
                  <a:cs typeface="Times New Roman" panose="02020603050405020304" pitchFamily="18" charset="0"/>
                </a:endParaRPr>
              </a:p>
            </p:txBody>
          </p:sp>
          <p:cxnSp>
            <p:nvCxnSpPr>
              <p:cNvPr id="90" name="直線コネクタ 89">
                <a:extLst>
                  <a:ext uri="{FF2B5EF4-FFF2-40B4-BE49-F238E27FC236}">
                    <a16:creationId xmlns:a16="http://schemas.microsoft.com/office/drawing/2014/main" id="{1B0A0916-037F-44F6-A87D-1195303B13AA}"/>
                  </a:ext>
                </a:extLst>
              </p:cNvPr>
              <p:cNvCxnSpPr>
                <a:stCxn id="89" idx="2"/>
                <a:endCxn id="81" idx="0"/>
              </p:cNvCxnSpPr>
              <p:nvPr/>
            </p:nvCxnSpPr>
            <p:spPr>
              <a:xfrm>
                <a:off x="1564933" y="1699827"/>
                <a:ext cx="948273" cy="0"/>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cxnSp>
            <p:nvCxnSpPr>
              <p:cNvPr id="91" name="直線コネクタ 90">
                <a:extLst>
                  <a:ext uri="{FF2B5EF4-FFF2-40B4-BE49-F238E27FC236}">
                    <a16:creationId xmlns:a16="http://schemas.microsoft.com/office/drawing/2014/main" id="{285C3CF0-3839-4E2B-9411-05C3E5F3AADF}"/>
                  </a:ext>
                </a:extLst>
              </p:cNvPr>
              <p:cNvCxnSpPr>
                <a:stCxn id="87" idx="2"/>
                <a:endCxn id="83" idx="0"/>
              </p:cNvCxnSpPr>
              <p:nvPr/>
            </p:nvCxnSpPr>
            <p:spPr>
              <a:xfrm>
                <a:off x="1564933" y="2683390"/>
                <a:ext cx="948273" cy="0"/>
              </a:xfrm>
              <a:prstGeom prst="line">
                <a:avLst/>
              </a:prstGeom>
              <a:noFill/>
              <a:ln w="19050">
                <a:solidFill>
                  <a:schemeClr val="tx1">
                    <a:lumMod val="50000"/>
                    <a:lumOff val="50000"/>
                  </a:schemeClr>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grpSp>
        <p:sp>
          <p:nvSpPr>
            <p:cNvPr id="65" name="テキスト ボックス 22">
              <a:extLst>
                <a:ext uri="{FF2B5EF4-FFF2-40B4-BE49-F238E27FC236}">
                  <a16:creationId xmlns:a16="http://schemas.microsoft.com/office/drawing/2014/main" id="{0D33CF65-D505-4458-BF7B-D33C53627390}"/>
                </a:ext>
              </a:extLst>
            </p:cNvPr>
            <p:cNvSpPr txBox="1"/>
            <p:nvPr/>
          </p:nvSpPr>
          <p:spPr>
            <a:xfrm>
              <a:off x="4362179" y="18859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ja-JP" altLang="en-US" sz="1200">
                  <a:latin typeface="微軟正黑體" panose="020B0604030504040204" pitchFamily="34" charset="-120"/>
                  <a:ea typeface="微軟正黑體" panose="020B0604030504040204" pitchFamily="34" charset="-120"/>
                  <a:cs typeface="Times New Roman" panose="02020603050405020304" pitchFamily="18" charset="0"/>
                </a:rPr>
                <a:t>獨特的戰略</a:t>
              </a:r>
              <a:endParaRPr kumimoji="1" lang="ja-JP" altLang="en-US" sz="12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6" name="テキスト ボックス 23">
              <a:extLst>
                <a:ext uri="{FF2B5EF4-FFF2-40B4-BE49-F238E27FC236}">
                  <a16:creationId xmlns:a16="http://schemas.microsoft.com/office/drawing/2014/main" id="{17957595-1A99-4F9A-84B1-0556771DDBB8}"/>
                </a:ext>
              </a:extLst>
            </p:cNvPr>
            <p:cNvSpPr txBox="1"/>
            <p:nvPr/>
          </p:nvSpPr>
          <p:spPr>
            <a:xfrm>
              <a:off x="4362179" y="50482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0" lang="zh-TW" altLang="en-US" sz="1200">
                  <a:solidFill>
                    <a:schemeClr val="tx1"/>
                  </a:solidFill>
                  <a:effectLst/>
                  <a:latin typeface="微軟正黑體" panose="020B0604030504040204" pitchFamily="34" charset="-120"/>
                  <a:ea typeface="微軟正黑體" panose="020B0604030504040204" pitchFamily="34" charset="-120"/>
                </a:rPr>
                <a:t>獨創性</a:t>
              </a:r>
              <a:endParaRPr kumimoji="1" lang="ja-JP" altLang="en-US" sz="1200">
                <a:solidFill>
                  <a:schemeClr val="tx1"/>
                </a:solidFill>
                <a:latin typeface="微軟正黑體" panose="020B0604030504040204" pitchFamily="34" charset="-120"/>
                <a:ea typeface="微軟正黑體" panose="020B0604030504040204" pitchFamily="34" charset="-120"/>
              </a:endParaRPr>
            </a:p>
          </p:txBody>
        </p:sp>
        <p:sp>
          <p:nvSpPr>
            <p:cNvPr id="67" name="テキスト ボックス 24">
              <a:extLst>
                <a:ext uri="{FF2B5EF4-FFF2-40B4-BE49-F238E27FC236}">
                  <a16:creationId xmlns:a16="http://schemas.microsoft.com/office/drawing/2014/main" id="{36CB9745-9FCE-45CE-9D8F-C6ACC9FFC4D7}"/>
                </a:ext>
              </a:extLst>
            </p:cNvPr>
            <p:cNvSpPr txBox="1"/>
            <p:nvPr/>
          </p:nvSpPr>
          <p:spPr>
            <a:xfrm>
              <a:off x="2914379" y="2486025"/>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0" lang="zh-TW" altLang="en-US" sz="1200" b="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自主性</a:t>
              </a:r>
              <a:endParaRPr kumimoji="1" lang="ja-JP" altLang="en-US" sz="1200" b="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8" name="テキスト ボックス 25">
              <a:extLst>
                <a:ext uri="{FF2B5EF4-FFF2-40B4-BE49-F238E27FC236}">
                  <a16:creationId xmlns:a16="http://schemas.microsoft.com/office/drawing/2014/main" id="{70625870-A48D-4B5B-99C2-D04395AB5007}"/>
                </a:ext>
              </a:extLst>
            </p:cNvPr>
            <p:cNvSpPr txBox="1"/>
            <p:nvPr/>
          </p:nvSpPr>
          <p:spPr>
            <a:xfrm>
              <a:off x="5819504" y="2486025"/>
              <a:ext cx="143854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1200">
                  <a:latin typeface="微軟正黑體" panose="020B0604030504040204" pitchFamily="34" charset="-120"/>
                  <a:ea typeface="微軟正黑體" panose="020B0604030504040204" pitchFamily="34" charset="-120"/>
                  <a:cs typeface="Times New Roman" panose="02020603050405020304" pitchFamily="18" charset="0"/>
                </a:rPr>
                <a:t>群眾外包</a:t>
              </a:r>
              <a:endParaRPr kumimoji="1" lang="ja-JP" altLang="en-US" sz="12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69" name="テキスト ボックス 26">
              <a:extLst>
                <a:ext uri="{FF2B5EF4-FFF2-40B4-BE49-F238E27FC236}">
                  <a16:creationId xmlns:a16="http://schemas.microsoft.com/office/drawing/2014/main" id="{7D408712-60EB-4DE7-845F-BEB7BFC970EC}"/>
                </a:ext>
              </a:extLst>
            </p:cNvPr>
            <p:cNvSpPr txBox="1"/>
            <p:nvPr/>
          </p:nvSpPr>
          <p:spPr>
            <a:xfrm>
              <a:off x="2914379" y="44767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0" lang="zh-TW" altLang="en-US" sz="12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年代的融合</a:t>
              </a:r>
              <a:endParaRPr kumimoji="1" lang="ja-JP" altLang="en-US" sz="120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0" name="テキスト ボックス 27">
              <a:extLst>
                <a:ext uri="{FF2B5EF4-FFF2-40B4-BE49-F238E27FC236}">
                  <a16:creationId xmlns:a16="http://schemas.microsoft.com/office/drawing/2014/main" id="{87FBC236-F527-40AC-A78C-49AA2D0F4E40}"/>
                </a:ext>
              </a:extLst>
            </p:cNvPr>
            <p:cNvSpPr txBox="1"/>
            <p:nvPr/>
          </p:nvSpPr>
          <p:spPr>
            <a:xfrm>
              <a:off x="5819504" y="4476750"/>
              <a:ext cx="1172116" cy="3524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zh-TW" altLang="en-US" sz="120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堅持</a:t>
              </a:r>
              <a:endParaRPr kumimoji="1" lang="ja-JP" altLang="en-US" sz="120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71" name="テキスト ボックス 30">
              <a:extLst>
                <a:ext uri="{FF2B5EF4-FFF2-40B4-BE49-F238E27FC236}">
                  <a16:creationId xmlns:a16="http://schemas.microsoft.com/office/drawing/2014/main" id="{F1F6C253-97BF-4F60-B107-8886FAB65349}"/>
                </a:ext>
              </a:extLst>
            </p:cNvPr>
            <p:cNvSpPr txBox="1"/>
            <p:nvPr/>
          </p:nvSpPr>
          <p:spPr>
            <a:xfrm>
              <a:off x="3181079" y="1131454"/>
              <a:ext cx="3534316" cy="61555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lang="en-US" altLang="ja-JP"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2020</a:t>
              </a:r>
              <a:r>
                <a:rPr lang="zh-TW" altLang="en-US"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年為了獲得</a:t>
              </a:r>
              <a:endParaRPr lang="en-US" altLang="zh-TW"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algn="ctr"/>
              <a:r>
                <a:rPr lang="en-US" altLang="zh-TW"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6</a:t>
              </a:r>
              <a:r>
                <a:rPr lang="zh-TW" altLang="en-US"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成市佔率的</a:t>
              </a:r>
              <a:r>
                <a:rPr lang="en-US" altLang="zh-TW"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7S</a:t>
              </a:r>
              <a:r>
                <a:rPr lang="zh-TW" altLang="en-US" sz="2000" b="1">
                  <a:solidFill>
                    <a:sysClr val="windowText" lastClr="000000"/>
                  </a:solidFill>
                  <a:effectLst/>
                  <a:latin typeface="微軟正黑體" panose="020B0604030504040204" pitchFamily="34" charset="-120"/>
                  <a:ea typeface="微軟正黑體" panose="020B0604030504040204" pitchFamily="34" charset="-120"/>
                  <a:cs typeface="Times New Roman" panose="02020603050405020304" pitchFamily="18" charset="0"/>
                </a:rPr>
                <a:t>戰略</a:t>
              </a:r>
              <a:endParaRPr kumimoji="1" lang="ja-JP" altLang="en-US" sz="2000" b="1" dirty="0">
                <a:solidFill>
                  <a:sysClr val="windowText" lastClr="000000"/>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pSp>
    </p:spTree>
    <p:extLst>
      <p:ext uri="{BB962C8B-B14F-4D97-AF65-F5344CB8AC3E}">
        <p14:creationId xmlns:p14="http://schemas.microsoft.com/office/powerpoint/2010/main" val="3119796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38CAF631-13DD-4FF1-8CE0-13F63F69E7F7}"/>
              </a:ext>
            </a:extLst>
          </p:cNvPr>
          <p:cNvGraphicFramePr/>
          <p:nvPr>
            <p:extLst>
              <p:ext uri="{D42A27DB-BD31-4B8C-83A1-F6EECF244321}">
                <p14:modId xmlns:p14="http://schemas.microsoft.com/office/powerpoint/2010/main" val="4242983483"/>
              </p:ext>
            </p:extLst>
          </p:nvPr>
        </p:nvGraphicFramePr>
        <p:xfrm>
          <a:off x="1651000" y="1227666"/>
          <a:ext cx="6604000" cy="4402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7601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38CAF631-13DD-4FF1-8CE0-13F63F69E7F7}"/>
              </a:ext>
            </a:extLst>
          </p:cNvPr>
          <p:cNvGraphicFramePr/>
          <p:nvPr>
            <p:extLst>
              <p:ext uri="{D42A27DB-BD31-4B8C-83A1-F6EECF244321}">
                <p14:modId xmlns:p14="http://schemas.microsoft.com/office/powerpoint/2010/main" val="1155958876"/>
              </p:ext>
            </p:extLst>
          </p:nvPr>
        </p:nvGraphicFramePr>
        <p:xfrm>
          <a:off x="1651000" y="1227666"/>
          <a:ext cx="6604000" cy="4402667"/>
        </p:xfrm>
        <a:graphic>
          <a:graphicData uri="http://schemas.openxmlformats.org/drawingml/2006/chart">
            <c:chart xmlns:c="http://schemas.openxmlformats.org/drawingml/2006/chart" xmlns:r="http://schemas.openxmlformats.org/officeDocument/2006/relationships" r:id="rId2"/>
          </a:graphicData>
        </a:graphic>
      </p:graphicFrame>
      <p:sp>
        <p:nvSpPr>
          <p:cNvPr id="5" name="矢印: 上 4">
            <a:extLst>
              <a:ext uri="{FF2B5EF4-FFF2-40B4-BE49-F238E27FC236}">
                <a16:creationId xmlns:a16="http://schemas.microsoft.com/office/drawing/2014/main" id="{1886AA27-E68F-4FB5-BAF2-57F3B95E500F}"/>
              </a:ext>
            </a:extLst>
          </p:cNvPr>
          <p:cNvSpPr/>
          <p:nvPr/>
        </p:nvSpPr>
        <p:spPr>
          <a:xfrm rot="4480325">
            <a:off x="4882735" y="1529126"/>
            <a:ext cx="484632" cy="4098065"/>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4363435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TM10001106[[fn=バッジ]]</Template>
  <TotalTime>766</TotalTime>
  <Words>614</Words>
  <Application>Microsoft Office PowerPoint</Application>
  <PresentationFormat>A4 紙張 (210x297 公釐)</PresentationFormat>
  <Paragraphs>66</Paragraphs>
  <Slides>6</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6</vt:i4>
      </vt:variant>
    </vt:vector>
  </HeadingPairs>
  <TitlesOfParts>
    <vt:vector size="15" baseType="lpstr">
      <vt:lpstr>游ゴシック</vt:lpstr>
      <vt:lpstr>游ゴシック Light</vt:lpstr>
      <vt:lpstr>微軟正黑體</vt:lpstr>
      <vt:lpstr>Arial</vt:lpstr>
      <vt:lpstr>Arial Black</vt:lpstr>
      <vt:lpstr>Calibri</vt:lpstr>
      <vt:lpstr>Calibri Light</vt:lpstr>
      <vt:lpstr>Times New Roman</vt:lpstr>
      <vt:lpstr>Office テーマ</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渡辺克之</dc:creator>
  <cp:lastModifiedBy>Yosie</cp:lastModifiedBy>
  <cp:revision>69</cp:revision>
  <dcterms:created xsi:type="dcterms:W3CDTF">2017-11-09T07:26:57Z</dcterms:created>
  <dcterms:modified xsi:type="dcterms:W3CDTF">2018-11-07T14:04:00Z</dcterms:modified>
</cp:coreProperties>
</file>