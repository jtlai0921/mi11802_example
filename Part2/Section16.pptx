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57" r:id="rId5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0A1B5D5-9B99-4C35-A422-299274C87663}" styleName="中間スタイル 1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濃色スタイル 1 - アクセント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淡色スタイル 3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25E5076-3810-47DD-B79F-674D7AD40C01}" styleName="濃色スタイル 1 - アクセント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1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比例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6">
                      <a:shade val="58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hade val="58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shade val="58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4-1811-4EED-945C-82641CBA9B64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6">
                      <a:shade val="86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hade val="86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shade val="86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0-1811-4EED-945C-82641CBA9B64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6">
                      <a:tint val="86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tint val="86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tint val="86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811-4EED-945C-82641CBA9B64}"/>
              </c:ext>
            </c:extLst>
          </c:dPt>
          <c:dPt>
            <c:idx val="3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2-1811-4EED-945C-82641CBA9B64}"/>
              </c:ext>
            </c:extLst>
          </c:dPt>
          <c:dLbls>
            <c:dLbl>
              <c:idx val="0"/>
              <c:layout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lang="ja-JP" sz="600" b="0" i="0" u="none" strike="noStrike" kern="1200" baseline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defRPr>
                    </a:pPr>
                    <a:fld id="{A997C7C0-90B1-4313-B64D-5254415CFFEE}" type="CATEGORYNAME">
                      <a:rPr lang="zh-TW" altLang="en-US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rPr>
                      <a:pPr>
                        <a:defRPr lang="ja-JP" sz="60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defRPr>
                      </a:pPr>
                      <a:t>[類別名稱]</a:t>
                    </a:fld>
                    <a:r>
                      <a:rPr lang="zh-TW" altLang="en-US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rPr>
                      <a:t>，</a:t>
                    </a:r>
                    <a:r>
                      <a:rPr lang="zh-TW" altLang="en-US" baseline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rPr>
                      <a:t> </a:t>
                    </a:r>
                    <a:fld id="{4BCF89AA-D5F3-4153-B90E-CDA1E9C442F8}" type="VALUE">
                      <a:rPr lang="en-US" altLang="zh-TW" baseline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rPr>
                      <a:pPr>
                        <a:defRPr lang="ja-JP" sz="60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defRPr>
                      </a:pPr>
                      <a:t>[值]</a:t>
                    </a:fld>
                    <a:endParaRPr lang="zh-TW" altLang="en-US" baseline="0" smtClean="0"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Times New Roman" panose="02020603050405020304" pitchFamily="18" charset="0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lang="ja-JP" sz="600" b="0" i="0" u="none" strike="noStrike" kern="1200" baseline="0">
                      <a:solidFill>
                        <a:schemeClr val="bg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Times New Roman" panose="02020603050405020304" pitchFamily="18" charset="0"/>
                    </a:defRPr>
                  </a:pPr>
                  <a:endParaRPr lang="zh-TW"/>
                </a:p>
              </c:txPr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</c:extLst>
            </c:dLbl>
            <c:dLbl>
              <c:idx val="1"/>
              <c:layout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lang="ja-JP" sz="600" b="0" i="0" u="none" strike="noStrike" kern="1200" baseline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defRPr>
                    </a:pPr>
                    <a:r>
                      <a:rPr lang="zh-TW" altLang="en-US" sz="60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rPr>
                      <a:t>很有興趣，</a:t>
                    </a:r>
                    <a:r>
                      <a:rPr lang="en-US" altLang="zh-TW" sz="60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rPr>
                      <a:t>40</a:t>
                    </a:r>
                    <a:r>
                      <a:rPr lang="en-US" altLang="zh-TW" sz="6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rPr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lang="ja-JP" sz="600" b="0" i="0" u="none" strike="noStrike" kern="1200" baseline="0">
                      <a:solidFill>
                        <a:schemeClr val="bg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Times New Roman" panose="02020603050405020304" pitchFamily="18" charset="0"/>
                    </a:defRPr>
                  </a:pPr>
                  <a:endParaRPr lang="zh-TW"/>
                </a:p>
              </c:txPr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9880777948929881"/>
                      <c:h val="0.2209748858478123"/>
                    </c:manualLayout>
                  </c15:layout>
                </c:ext>
              </c:extLst>
            </c:dLbl>
            <c:dLbl>
              <c:idx val="2"/>
              <c:layout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lang="ja-JP" sz="600" b="0" i="0" u="none" strike="noStrike" kern="1200" baseline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defRPr>
                    </a:pPr>
                    <a:fld id="{A4D0E87D-72CE-4A8B-84B4-790ED70A2C59}" type="CATEGORYNAME">
                      <a:rPr lang="zh-TW" altLang="en-US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rPr>
                      <a:pPr>
                        <a:defRPr lang="ja-JP" sz="6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defRPr>
                      </a:pPr>
                      <a:t>[類別名稱]</a:t>
                    </a:fld>
                    <a:r>
                      <a:rPr lang="zh-TW" altLang="en-US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rPr>
                      <a:t>，</a:t>
                    </a:r>
                    <a:r>
                      <a:rPr lang="zh-TW" altLang="en-US" baseline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rPr>
                      <a:t> </a:t>
                    </a:r>
                    <a:fld id="{7C6190DA-C9F4-4DBA-BBB0-F2B4AF98C0A5}" type="VALUE">
                      <a:rPr lang="en-US" altLang="zh-TW" baseline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rPr>
                      <a:pPr>
                        <a:defRPr lang="ja-JP" sz="6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defRPr>
                      </a:pPr>
                      <a:t>[值]</a:t>
                    </a:fld>
                    <a:endParaRPr lang="zh-TW" altLang="en-US" baseline="0" smtClean="0"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Times New Roman" panose="02020603050405020304" pitchFamily="18" charset="0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lang="ja-JP" sz="600" b="0" i="0" u="none" strike="noStrike" kern="1200" baseline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Times New Roman" panose="02020603050405020304" pitchFamily="18" charset="0"/>
                    </a:defRPr>
                  </a:pPr>
                  <a:endParaRPr lang="zh-TW"/>
                </a:p>
              </c:txPr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</c:extLst>
            </c:dLbl>
            <c:dLbl>
              <c:idx val="3"/>
              <c:layout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lang="ja-JP" sz="600" b="0" i="0" u="none" strike="noStrike" kern="1200" baseline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defRPr>
                    </a:pPr>
                    <a:fld id="{FD70522C-D4D7-4E19-B4FD-7FCE97EA7E29}" type="CATEGORYNAME">
                      <a:rPr lang="zh-TW" altLang="en-US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rPr>
                      <a:pPr>
                        <a:defRPr lang="ja-JP" sz="6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defRPr>
                      </a:pPr>
                      <a:t>[類別名稱]</a:t>
                    </a:fld>
                    <a:r>
                      <a:rPr lang="zh-TW" altLang="en-US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rPr>
                      <a:t>，</a:t>
                    </a:r>
                    <a:r>
                      <a:rPr lang="zh-TW" altLang="en-US" baseline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rPr>
                      <a:t> </a:t>
                    </a:r>
                    <a:fld id="{39AB0DA4-3D00-49CC-A669-46F9A980C986}" type="VALUE">
                      <a:rPr lang="en-US" altLang="zh-TW" baseline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rPr>
                      <a:pPr>
                        <a:defRPr lang="ja-JP" sz="6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defRPr>
                      </a:pPr>
                      <a:t>[值]</a:t>
                    </a:fld>
                    <a:endParaRPr lang="zh-TW" altLang="en-US" baseline="0" smtClean="0"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Times New Roman" panose="02020603050405020304" pitchFamily="18" charset="0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lang="ja-JP" sz="600" b="0" i="0" u="none" strike="noStrike" kern="1200" baseline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Times New Roman" panose="02020603050405020304" pitchFamily="18" charset="0"/>
                    </a:defRPr>
                  </a:pPr>
                  <a:endParaRPr lang="zh-TW"/>
                </a:p>
              </c:txPr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700" b="0" i="0" u="none" strike="noStrike" kern="1200" baseline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6350" cap="flat" cmpd="sng" algn="ctr">
                  <a:solidFill>
                    <a:schemeClr val="tx1"/>
                  </a:solidFill>
                  <a:prstDash val="solid"/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有興趣</c:v>
                </c:pt>
                <c:pt idx="1">
                  <c:v>很有興趣</c:v>
                </c:pt>
                <c:pt idx="2">
                  <c:v>沒興趣</c:v>
                </c:pt>
                <c:pt idx="3">
                  <c:v>沒回答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</c:v>
                </c:pt>
                <c:pt idx="1">
                  <c:v>0.4</c:v>
                </c:pt>
                <c:pt idx="2">
                  <c:v>0.1</c:v>
                </c:pt>
                <c:pt idx="3">
                  <c:v>0.3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1811-4EED-945C-82641CBA9B6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118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3">
      <cs:styleClr val="auto"/>
    </cs:fillRef>
    <cs:effectRef idx="2">
      <a:schemeClr val="dk1"/>
    </cs:effectRef>
    <cs:fontRef idx="minor">
      <a:schemeClr val="tx1"/>
    </cs:fontRef>
  </cs:dataPoint>
  <cs:dataPoint3D>
    <cs:lnRef idx="0"/>
    <cs:fillRef idx="3">
      <cs:styleClr val="auto"/>
    </cs:fillRef>
    <cs:effectRef idx="2">
      <a:schemeClr val="dk1"/>
    </cs:effectRef>
    <cs:fontRef idx="minor">
      <a:schemeClr val="tx1"/>
    </cs:fontRef>
  </cs:dataPoint3D>
  <cs:dataPointLine>
    <cs:lnRef idx="1">
      <cs:styleClr val="auto"/>
    </cs:lnRef>
    <cs:lineWidthScale>5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3">
      <cs:styleClr val="auto"/>
    </cs:fillRef>
    <cs:effectRef idx="2">
      <a:schemeClr val="dk1"/>
    </cs:effectRef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0"/>
    <cs:fillRef idx="3">
      <a:schemeClr val="dk1">
        <a:tint val="95000"/>
      </a:schemeClr>
    </cs:fillRef>
    <cs:effectRef idx="2">
      <a:schemeClr val="dk1"/>
    </cs:effectRef>
    <cs:fontRef idx="minor">
      <a:schemeClr val="tx1"/>
    </cs:fontRef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0"/>
    <cs:fillRef idx="3">
      <a:schemeClr val="dk1">
        <a:tint val="5000"/>
      </a:schemeClr>
    </cs:fillRef>
    <cs:effectRef idx="2">
      <a:schemeClr val="dk1"/>
    </cs:effectRef>
    <cs:fontRef idx="minor">
      <a:schemeClr val="tx1"/>
    </cs:fontRef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F5BE4-CD6F-430E-A7C3-94BA5F659497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35E64-36B6-43A5-8A72-B2AFAF3E34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5064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F5BE4-CD6F-430E-A7C3-94BA5F659497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35E64-36B6-43A5-8A72-B2AFAF3E34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7470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F5BE4-CD6F-430E-A7C3-94BA5F659497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35E64-36B6-43A5-8A72-B2AFAF3E34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7996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F5BE4-CD6F-430E-A7C3-94BA5F659497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35E64-36B6-43A5-8A72-B2AFAF3E34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0591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F5BE4-CD6F-430E-A7C3-94BA5F659497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35E64-36B6-43A5-8A72-B2AFAF3E34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0605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F5BE4-CD6F-430E-A7C3-94BA5F659497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35E64-36B6-43A5-8A72-B2AFAF3E34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49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F5BE4-CD6F-430E-A7C3-94BA5F659497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35E64-36B6-43A5-8A72-B2AFAF3E34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892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F5BE4-CD6F-430E-A7C3-94BA5F659497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35E64-36B6-43A5-8A72-B2AFAF3E34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6182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F5BE4-CD6F-430E-A7C3-94BA5F659497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35E64-36B6-43A5-8A72-B2AFAF3E34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9160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F5BE4-CD6F-430E-A7C3-94BA5F659497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35E64-36B6-43A5-8A72-B2AFAF3E34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1463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F5BE4-CD6F-430E-A7C3-94BA5F659497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35E64-36B6-43A5-8A72-B2AFAF3E34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1538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F5BE4-CD6F-430E-A7C3-94BA5F659497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035E64-36B6-43A5-8A72-B2AFAF3E34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4383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xmlns="" id="{16E0048A-CB0F-41C1-85B0-229452B27C6C}"/>
              </a:ext>
            </a:extLst>
          </p:cNvPr>
          <p:cNvGrpSpPr/>
          <p:nvPr/>
        </p:nvGrpSpPr>
        <p:grpSpPr>
          <a:xfrm>
            <a:off x="0" y="0"/>
            <a:ext cx="9906000" cy="6715595"/>
            <a:chOff x="0" y="0"/>
            <a:chExt cx="9906000" cy="6715595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xmlns="" id="{6D8D09A7-9203-4C8B-A01A-2EDC25CD3BAE}"/>
                </a:ext>
              </a:extLst>
            </p:cNvPr>
            <p:cNvSpPr/>
            <p:nvPr/>
          </p:nvSpPr>
          <p:spPr>
            <a:xfrm>
              <a:off x="0" y="0"/>
              <a:ext cx="9906000" cy="828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xmlns="" id="{C39A7FC6-63F9-40F8-B750-86E90A51AEC8}"/>
                </a:ext>
              </a:extLst>
            </p:cNvPr>
            <p:cNvSpPr txBox="1"/>
            <p:nvPr/>
          </p:nvSpPr>
          <p:spPr>
            <a:xfrm>
              <a:off x="449284" y="216776"/>
              <a:ext cx="50452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400" b="1" spc="-15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銷售一周年紀念促銷企劃</a:t>
              </a:r>
              <a:endParaRPr lang="ja-JP" altLang="en-US" sz="2400" b="1" spc="-15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xmlns="" id="{55508B73-F403-4D14-BB74-6F397D034642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>
              <a:off x="5494488" y="447609"/>
              <a:ext cx="4411512" cy="0"/>
            </a:xfrm>
            <a:prstGeom prst="lin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bg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xmlns="" id="{DEF9EB26-3486-4590-B1E5-F7F162354667}"/>
                </a:ext>
              </a:extLst>
            </p:cNvPr>
            <p:cNvSpPr/>
            <p:nvPr/>
          </p:nvSpPr>
          <p:spPr>
            <a:xfrm>
              <a:off x="7236764" y="168802"/>
              <a:ext cx="2540771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zh-TW" altLang="en-US" sz="10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「便當男子午餐盒」系列</a:t>
              </a:r>
              <a:endParaRPr lang="ja-JP" altLang="en-US" sz="1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xmlns="" id="{3A1703F4-6DA5-4F14-B29C-FAFEF1E01227}"/>
                </a:ext>
              </a:extLst>
            </p:cNvPr>
            <p:cNvSpPr/>
            <p:nvPr/>
          </p:nvSpPr>
          <p:spPr>
            <a:xfrm>
              <a:off x="7236764" y="502309"/>
              <a:ext cx="2540771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zh-TW" altLang="en-US" sz="10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靠節約</a:t>
              </a:r>
              <a:r>
                <a:rPr lang="zh-TW" altLang="en-US" sz="1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＋</a:t>
              </a:r>
              <a:r>
                <a:rPr lang="zh-TW" altLang="en-US" sz="10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美味＋料理男子贏得魅力！</a:t>
              </a:r>
              <a:endParaRPr lang="ja-JP" altLang="en-US" sz="1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xmlns="" id="{B6904B59-559A-4D5D-A0B5-2C3CDC4616B6}"/>
                </a:ext>
              </a:extLst>
            </p:cNvPr>
            <p:cNvSpPr/>
            <p:nvPr/>
          </p:nvSpPr>
          <p:spPr>
            <a:xfrm>
              <a:off x="200472" y="3223595"/>
              <a:ext cx="9505056" cy="349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4" name="下矢印吹き出し 31">
              <a:extLst>
                <a:ext uri="{FF2B5EF4-FFF2-40B4-BE49-F238E27FC236}">
                  <a16:creationId xmlns:a16="http://schemas.microsoft.com/office/drawing/2014/main" xmlns="" id="{C493F84A-787B-4348-8E2D-BF0B69EBB6E4}"/>
                </a:ext>
              </a:extLst>
            </p:cNvPr>
            <p:cNvSpPr/>
            <p:nvPr/>
          </p:nvSpPr>
          <p:spPr>
            <a:xfrm>
              <a:off x="200472" y="1016953"/>
              <a:ext cx="9505056" cy="1980000"/>
            </a:xfrm>
            <a:prstGeom prst="downArrowCallout">
              <a:avLst>
                <a:gd name="adj1" fmla="val 38400"/>
                <a:gd name="adj2" fmla="val 30743"/>
                <a:gd name="adj3" fmla="val 8416"/>
                <a:gd name="adj4" fmla="val 87405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xmlns="" id="{974C3C00-74CB-4E59-B10A-680F64E9FA86}"/>
                </a:ext>
              </a:extLst>
            </p:cNvPr>
            <p:cNvSpPr/>
            <p:nvPr/>
          </p:nvSpPr>
          <p:spPr>
            <a:xfrm>
              <a:off x="2862710" y="3501007"/>
              <a:ext cx="2088000" cy="4532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xmlns="" id="{A8595311-BB3E-4AA9-B4FB-28535B4587B2}"/>
                </a:ext>
              </a:extLst>
            </p:cNvPr>
            <p:cNvSpPr/>
            <p:nvPr/>
          </p:nvSpPr>
          <p:spPr>
            <a:xfrm>
              <a:off x="2961262" y="3552017"/>
              <a:ext cx="1890897" cy="395869"/>
            </a:xfrm>
            <a:prstGeom prst="rect">
              <a:avLst/>
            </a:prstGeom>
          </p:spPr>
          <p:txBody>
            <a:bodyPr wrap="square" lIns="36000" tIns="36000" rIns="36000" bIns="36000" anchor="ctr" anchorCtr="0">
              <a:spAutoFit/>
            </a:bodyPr>
            <a:lstStyle/>
            <a:p>
              <a:pPr algn="ctr"/>
              <a:r>
                <a:rPr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「便當男子午餐盒」系列的</a:t>
              </a:r>
              <a:r>
                <a:rPr lang="en-US" altLang="zh-TW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/>
              </a:r>
              <a:br>
                <a:rPr lang="en-US" altLang="zh-TW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</a:br>
              <a:r>
                <a:rPr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推廣販售</a:t>
              </a:r>
              <a:endParaRPr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xmlns="" id="{7910F722-3760-4818-AAAA-712896167878}"/>
                </a:ext>
              </a:extLst>
            </p:cNvPr>
            <p:cNvSpPr/>
            <p:nvPr/>
          </p:nvSpPr>
          <p:spPr>
            <a:xfrm>
              <a:off x="4953000" y="3501007"/>
              <a:ext cx="2088000" cy="4532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xmlns="" id="{A0C18211-0CB5-419F-A22F-F3E6525EF99A}"/>
                </a:ext>
              </a:extLst>
            </p:cNvPr>
            <p:cNvSpPr/>
            <p:nvPr/>
          </p:nvSpPr>
          <p:spPr>
            <a:xfrm>
              <a:off x="5100565" y="3632808"/>
              <a:ext cx="1806594" cy="234286"/>
            </a:xfrm>
            <a:prstGeom prst="rect">
              <a:avLst/>
            </a:prstGeom>
          </p:spPr>
          <p:txBody>
            <a:bodyPr wrap="square" lIns="36000" tIns="36000" rIns="36000" bIns="36000" anchor="ctr" anchorCtr="0">
              <a:spAutoFit/>
            </a:bodyPr>
            <a:lstStyle/>
            <a:p>
              <a:pPr algn="ctr"/>
              <a:r>
                <a:rPr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提高品牌價值</a:t>
              </a:r>
              <a:endParaRPr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xmlns="" id="{805FEA90-7786-4568-994E-1E9B2C7C9470}"/>
                </a:ext>
              </a:extLst>
            </p:cNvPr>
            <p:cNvSpPr/>
            <p:nvPr/>
          </p:nvSpPr>
          <p:spPr>
            <a:xfrm>
              <a:off x="2863855" y="2996952"/>
              <a:ext cx="4176000" cy="50405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xmlns="" id="{6F5F74D6-31DB-494A-973A-CCB879108234}"/>
                </a:ext>
              </a:extLst>
            </p:cNvPr>
            <p:cNvSpPr txBox="1"/>
            <p:nvPr/>
          </p:nvSpPr>
          <p:spPr>
            <a:xfrm>
              <a:off x="3037328" y="3071226"/>
              <a:ext cx="38290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000" b="1" spc="-15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魅力獲得大作戰</a:t>
              </a:r>
              <a:endParaRPr kumimoji="1" lang="ja-JP" altLang="en-US" sz="2000" b="1" spc="-15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xmlns="" id="{3AF79702-0C0F-419F-963C-5E66A472ED00}"/>
                </a:ext>
              </a:extLst>
            </p:cNvPr>
            <p:cNvSpPr/>
            <p:nvPr/>
          </p:nvSpPr>
          <p:spPr>
            <a:xfrm>
              <a:off x="449285" y="1582021"/>
              <a:ext cx="4752000" cy="972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xmlns="" id="{840A07AF-49CE-4B7E-BB64-A39B45107295}"/>
                </a:ext>
              </a:extLst>
            </p:cNvPr>
            <p:cNvSpPr/>
            <p:nvPr/>
          </p:nvSpPr>
          <p:spPr>
            <a:xfrm>
              <a:off x="449284" y="1186021"/>
              <a:ext cx="4752000" cy="396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xmlns="" id="{BC46AE6C-00F7-42B7-9AC7-AA7D509E7ED3}"/>
                </a:ext>
              </a:extLst>
            </p:cNvPr>
            <p:cNvSpPr txBox="1"/>
            <p:nvPr/>
          </p:nvSpPr>
          <p:spPr>
            <a:xfrm>
              <a:off x="732214" y="1267823"/>
              <a:ext cx="248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擴大市佔率的機會</a:t>
              </a:r>
              <a:endParaRPr kumimoji="1"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4" name="二等辺三角形 23">
              <a:extLst>
                <a:ext uri="{FF2B5EF4-FFF2-40B4-BE49-F238E27FC236}">
                  <a16:creationId xmlns:a16="http://schemas.microsoft.com/office/drawing/2014/main" xmlns="" id="{CAB02C70-496E-4595-BE46-D97F31B31E74}"/>
                </a:ext>
              </a:extLst>
            </p:cNvPr>
            <p:cNvSpPr/>
            <p:nvPr/>
          </p:nvSpPr>
          <p:spPr>
            <a:xfrm rot="5400000">
              <a:off x="5283462" y="1712694"/>
              <a:ext cx="736710" cy="314657"/>
            </a:xfrm>
            <a:prstGeom prst="triangl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xmlns="" id="{F3B6E21F-BF53-40D3-A570-BBE07140EA7D}"/>
                </a:ext>
              </a:extLst>
            </p:cNvPr>
            <p:cNvSpPr/>
            <p:nvPr/>
          </p:nvSpPr>
          <p:spPr>
            <a:xfrm>
              <a:off x="732214" y="1779479"/>
              <a:ext cx="2690902" cy="5770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 algn="just">
                <a:buFont typeface="Wingdings" panose="05000000000000000000" pitchFamily="2" charset="2"/>
                <a:buChar char="l"/>
              </a:pPr>
              <a:r>
                <a:rPr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發售經過</a:t>
              </a:r>
              <a:r>
                <a:rPr lang="en-US" altLang="zh-TW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r>
                <a:rPr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年仍銷量絕佳。</a:t>
              </a:r>
              <a:endParaRPr lang="ja-JP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171450" indent="-171450" algn="just">
                <a:buFont typeface="Wingdings" panose="05000000000000000000" pitchFamily="2" charset="2"/>
                <a:buChar char="l"/>
              </a:pPr>
              <a:r>
                <a:rPr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提高對男子料理的興趣。</a:t>
              </a:r>
              <a:endParaRPr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171450" indent="-171450" algn="just">
                <a:buFont typeface="Wingdings" panose="05000000000000000000" pitchFamily="2" charset="2"/>
                <a:buChar char="l"/>
              </a:pPr>
              <a:r>
                <a:rPr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持續維持外食控制和節約志向。</a:t>
              </a:r>
              <a:endParaRPr lang="ja-JP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xmlns="" id="{02CCCC69-866C-4B4C-BBA4-914C8CB83E59}"/>
                </a:ext>
              </a:extLst>
            </p:cNvPr>
            <p:cNvSpPr/>
            <p:nvPr/>
          </p:nvSpPr>
          <p:spPr>
            <a:xfrm>
              <a:off x="6042341" y="1582021"/>
              <a:ext cx="3416903" cy="972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xmlns="" id="{938F9EDF-3EAE-46F8-B02B-F5395ABC91EC}"/>
                </a:ext>
              </a:extLst>
            </p:cNvPr>
            <p:cNvSpPr/>
            <p:nvPr/>
          </p:nvSpPr>
          <p:spPr>
            <a:xfrm>
              <a:off x="6042340" y="1186021"/>
              <a:ext cx="3416905" cy="396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xmlns="" id="{04821B1C-D8A5-4D97-8592-2C5F2D03EFB3}"/>
                </a:ext>
              </a:extLst>
            </p:cNvPr>
            <p:cNvSpPr txBox="1"/>
            <p:nvPr/>
          </p:nvSpPr>
          <p:spPr>
            <a:xfrm>
              <a:off x="6330160" y="1267823"/>
              <a:ext cx="248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克服課題的機會</a:t>
              </a:r>
              <a:endParaRPr kumimoji="1"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xmlns="" id="{0171B610-98D4-41DD-8DEB-1F6A849D22C0}"/>
                </a:ext>
              </a:extLst>
            </p:cNvPr>
            <p:cNvSpPr/>
            <p:nvPr/>
          </p:nvSpPr>
          <p:spPr>
            <a:xfrm>
              <a:off x="6329928" y="1779479"/>
              <a:ext cx="2841727" cy="5770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 algn="just">
                <a:buFont typeface="Wingdings" panose="05000000000000000000" pitchFamily="2" charset="2"/>
                <a:buChar char="l"/>
              </a:pPr>
              <a:r>
                <a:rPr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與其他公司的產品沒有明顯的差別化。</a:t>
              </a:r>
              <a:endParaRPr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171450" indent="-171450" algn="just">
                <a:buFont typeface="Wingdings" panose="05000000000000000000" pitchFamily="2" charset="2"/>
                <a:buChar char="l"/>
              </a:pPr>
              <a:r>
                <a:rPr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大型企業預定銷售男性用產品。</a:t>
              </a:r>
              <a:endParaRPr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171450" indent="-171450" algn="just">
                <a:buFont typeface="Wingdings" panose="05000000000000000000" pitchFamily="2" charset="2"/>
                <a:buChar char="l"/>
              </a:pPr>
              <a:r>
                <a:rPr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期望產品多元化的心聲。</a:t>
              </a:r>
              <a:endParaRPr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0" name="グラフ 29">
              <a:extLst>
                <a:ext uri="{FF2B5EF4-FFF2-40B4-BE49-F238E27FC236}">
                  <a16:creationId xmlns:a16="http://schemas.microsoft.com/office/drawing/2014/main" xmlns="" id="{2AFAB597-9DED-4F36-8426-BBA1D7BB305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862035089"/>
                </p:ext>
              </p:extLst>
            </p:nvPr>
          </p:nvGraphicFramePr>
          <p:xfrm>
            <a:off x="3050688" y="1159043"/>
            <a:ext cx="2235828" cy="149055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xmlns="" id="{08523CAE-7BBA-45F2-AF2B-03ED2A77FD12}"/>
                </a:ext>
              </a:extLst>
            </p:cNvPr>
            <p:cNvSpPr txBox="1"/>
            <p:nvPr/>
          </p:nvSpPr>
          <p:spPr>
            <a:xfrm>
              <a:off x="4481285" y="2368346"/>
              <a:ext cx="710629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ja-JP" sz="500" smtClean="0"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※</a:t>
              </a:r>
              <a:r>
                <a:rPr kumimoji="1" lang="zh-TW" altLang="en-US" sz="500" smtClean="0"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本公司調查</a:t>
              </a:r>
              <a:endParaRPr kumimoji="1" lang="ja-JP" altLang="en-US" sz="5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xmlns="" id="{D81F494E-B96E-44C9-A17B-6A1848C9C0C5}"/>
                </a:ext>
              </a:extLst>
            </p:cNvPr>
            <p:cNvSpPr/>
            <p:nvPr/>
          </p:nvSpPr>
          <p:spPr>
            <a:xfrm>
              <a:off x="449286" y="4483945"/>
              <a:ext cx="4032000" cy="204186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xmlns="" id="{F6473C91-3F28-4670-ACCC-414384DD77D8}"/>
                </a:ext>
              </a:extLst>
            </p:cNvPr>
            <p:cNvSpPr/>
            <p:nvPr/>
          </p:nvSpPr>
          <p:spPr>
            <a:xfrm>
              <a:off x="449285" y="4077071"/>
              <a:ext cx="4032000" cy="40687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xmlns="" id="{68EFD177-5C9A-4380-8D47-B2AE236EE84C}"/>
                </a:ext>
              </a:extLst>
            </p:cNvPr>
            <p:cNvSpPr txBox="1"/>
            <p:nvPr/>
          </p:nvSpPr>
          <p:spPr>
            <a:xfrm>
              <a:off x="732214" y="4164311"/>
              <a:ext cx="248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措施概要</a:t>
              </a:r>
              <a:endParaRPr kumimoji="1"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xmlns="" id="{A70113D0-750A-4115-A542-65B3331ED148}"/>
                </a:ext>
              </a:extLst>
            </p:cNvPr>
            <p:cNvSpPr/>
            <p:nvPr/>
          </p:nvSpPr>
          <p:spPr>
            <a:xfrm>
              <a:off x="732214" y="4562234"/>
              <a:ext cx="3470465" cy="18697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 algn="just">
                <a:buFont typeface="Wingdings" panose="05000000000000000000" pitchFamily="2" charset="2"/>
                <a:buChar char="l"/>
              </a:pPr>
              <a:r>
                <a:rPr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收集產品的調查資料，並將料理、使用感受、周圍的反應等製成報告。</a:t>
              </a:r>
              <a:endParaRPr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171450" indent="-171450" algn="just">
                <a:buFont typeface="Wingdings" panose="05000000000000000000" pitchFamily="2" charset="2"/>
                <a:buChar char="l"/>
              </a:pPr>
              <a:r>
                <a:rPr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調查對象為</a:t>
              </a:r>
              <a:r>
                <a:rPr lang="en-US" altLang="zh-TW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40</a:t>
              </a:r>
              <a:r>
                <a:rPr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歲以下的男性</a:t>
              </a:r>
              <a:r>
                <a:rPr lang="en-US" altLang="zh-TW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20</a:t>
              </a:r>
              <a:r>
                <a:rPr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名，試用調查的期間為期</a:t>
              </a:r>
              <a:r>
                <a:rPr lang="en-US" altLang="zh-TW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r>
                <a:rPr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個月。</a:t>
              </a:r>
              <a:endParaRPr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171450" indent="-171450" algn="just">
                <a:buFont typeface="Wingdings" panose="05000000000000000000" pitchFamily="2" charset="2"/>
                <a:buChar char="l"/>
              </a:pPr>
              <a:r>
                <a:rPr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使用雜誌的報導廣告、促銷小冊子，謀求報告</a:t>
              </a:r>
              <a:r>
                <a:rPr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資訊的週知。</a:t>
              </a:r>
              <a:endParaRPr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171450" indent="-171450" algn="just">
                <a:buFont typeface="Wingdings" panose="05000000000000000000" pitchFamily="2" charset="2"/>
                <a:buChar char="l"/>
              </a:pPr>
              <a:r>
                <a:rPr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與冷凍食品公司進行合作企劃，以達到相乘效果（有數間公司候補）。</a:t>
              </a:r>
              <a:endParaRPr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171450" indent="-171450" algn="just">
                <a:buFont typeface="Wingdings" panose="05000000000000000000" pitchFamily="2" charset="2"/>
                <a:buChar char="l"/>
              </a:pPr>
              <a:r>
                <a:rPr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在產品賣場配置</a:t>
              </a:r>
              <a:r>
                <a:rPr lang="en-US" altLang="zh-TW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POP</a:t>
              </a:r>
              <a:r>
                <a:rPr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和宣傳單、促銷人員，並推動現場</a:t>
              </a:r>
              <a:r>
                <a:rPr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銷售。</a:t>
              </a:r>
              <a:endParaRPr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171450" indent="-171450" algn="just">
                <a:buFont typeface="Wingdings" panose="05000000000000000000" pitchFamily="2" charset="2"/>
                <a:buChar char="l"/>
              </a:pPr>
              <a:r>
                <a:rPr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透過網站招募自願調查者。</a:t>
              </a:r>
              <a:endParaRPr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xmlns="" id="{1226A40B-1ABD-4478-A259-E117D9872502}"/>
                </a:ext>
              </a:extLst>
            </p:cNvPr>
            <p:cNvSpPr/>
            <p:nvPr/>
          </p:nvSpPr>
          <p:spPr>
            <a:xfrm>
              <a:off x="4950711" y="4077073"/>
              <a:ext cx="4512264" cy="151216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xmlns="" id="{946D763E-81BB-4559-B690-6A4A9B653675}"/>
                </a:ext>
              </a:extLst>
            </p:cNvPr>
            <p:cNvSpPr/>
            <p:nvPr/>
          </p:nvSpPr>
          <p:spPr>
            <a:xfrm>
              <a:off x="4950709" y="6057812"/>
              <a:ext cx="866649" cy="46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xmlns="" id="{7704E34D-8356-41B2-8ACE-8B1C2261C9AB}"/>
                </a:ext>
              </a:extLst>
            </p:cNvPr>
            <p:cNvSpPr/>
            <p:nvPr/>
          </p:nvSpPr>
          <p:spPr>
            <a:xfrm>
              <a:off x="5817358" y="6057812"/>
              <a:ext cx="1049027" cy="468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xmlns="" id="{7F23FB94-104A-4F30-8AA7-FE14B5D57E79}"/>
                </a:ext>
              </a:extLst>
            </p:cNvPr>
            <p:cNvSpPr/>
            <p:nvPr/>
          </p:nvSpPr>
          <p:spPr>
            <a:xfrm>
              <a:off x="4950708" y="6175615"/>
              <a:ext cx="86664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200" smtClean="0"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概算費用</a:t>
              </a:r>
              <a:endParaRPr lang="ja-JP" altLang="en-US" sz="12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xmlns="" id="{9C03FA7B-3FBB-4A05-8E61-F207711945F3}"/>
                </a:ext>
              </a:extLst>
            </p:cNvPr>
            <p:cNvSpPr/>
            <p:nvPr/>
          </p:nvSpPr>
          <p:spPr>
            <a:xfrm>
              <a:off x="5858963" y="6187156"/>
              <a:ext cx="967084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3,000</a:t>
              </a:r>
              <a:r>
                <a:rPr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萬日圓</a:t>
              </a:r>
              <a:endParaRPr lang="ja-JP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xmlns="" id="{6BF183C8-71EB-41FA-A036-E02375499CC9}"/>
                </a:ext>
              </a:extLst>
            </p:cNvPr>
            <p:cNvSpPr/>
            <p:nvPr/>
          </p:nvSpPr>
          <p:spPr>
            <a:xfrm>
              <a:off x="6866385" y="6057812"/>
              <a:ext cx="867600" cy="46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xmlns="" id="{D1ED50C5-39C5-4F42-B94D-C530A50C76E7}"/>
                </a:ext>
              </a:extLst>
            </p:cNvPr>
            <p:cNvSpPr/>
            <p:nvPr/>
          </p:nvSpPr>
          <p:spPr>
            <a:xfrm>
              <a:off x="7701483" y="6057812"/>
              <a:ext cx="1761491" cy="468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xmlns="" id="{FE4092E4-E8DE-4920-B965-3D087CEA62F1}"/>
                </a:ext>
              </a:extLst>
            </p:cNvPr>
            <p:cNvSpPr/>
            <p:nvPr/>
          </p:nvSpPr>
          <p:spPr>
            <a:xfrm>
              <a:off x="6866383" y="6175615"/>
              <a:ext cx="835100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效果預測</a:t>
              </a:r>
              <a:endParaRPr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xmlns="" id="{4CD27784-D86A-4834-B1E4-E04D12FB98EB}"/>
                </a:ext>
              </a:extLst>
            </p:cNvPr>
            <p:cNvSpPr/>
            <p:nvPr/>
          </p:nvSpPr>
          <p:spPr>
            <a:xfrm>
              <a:off x="7749201" y="6164854"/>
              <a:ext cx="1672421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銷售額較前年高出</a:t>
              </a:r>
              <a:r>
                <a:rPr lang="en-US" altLang="ja-JP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130</a:t>
              </a:r>
              <a:r>
                <a:rPr lang="ja-JP" altLang="en-US" sz="105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％</a:t>
              </a:r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xmlns="" id="{E9C670F2-DF8E-4FDC-BBED-ED669675BF4C}"/>
                </a:ext>
              </a:extLst>
            </p:cNvPr>
            <p:cNvSpPr/>
            <p:nvPr/>
          </p:nvSpPr>
          <p:spPr>
            <a:xfrm>
              <a:off x="4950710" y="5589240"/>
              <a:ext cx="866648" cy="46857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xmlns="" id="{1DA3AC8B-FFA8-446A-A17E-5CC3A1BDEAFF}"/>
                </a:ext>
              </a:extLst>
            </p:cNvPr>
            <p:cNvSpPr/>
            <p:nvPr/>
          </p:nvSpPr>
          <p:spPr>
            <a:xfrm>
              <a:off x="4950708" y="5707329"/>
              <a:ext cx="86664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通路對策</a:t>
              </a:r>
              <a:endParaRPr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xmlns="" id="{3B779218-A6CC-4332-A15A-6EADF2452043}"/>
                </a:ext>
              </a:extLst>
            </p:cNvPr>
            <p:cNvSpPr/>
            <p:nvPr/>
          </p:nvSpPr>
          <p:spPr>
            <a:xfrm>
              <a:off x="5817359" y="5589240"/>
              <a:ext cx="3645615" cy="4685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xmlns="" id="{96DDA5D0-F528-4B8A-ACBA-2E62DC354824}"/>
                </a:ext>
              </a:extLst>
            </p:cNvPr>
            <p:cNvSpPr/>
            <p:nvPr/>
          </p:nvSpPr>
          <p:spPr>
            <a:xfrm>
              <a:off x="5867315" y="5615777"/>
              <a:ext cx="3545702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 algn="just">
                <a:buFont typeface="Wingdings" panose="05000000000000000000" pitchFamily="2" charset="2"/>
                <a:buChar char="l"/>
              </a:pPr>
              <a:r>
                <a:rPr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以大型超市為中心，陳列於冷凍食品賣場。</a:t>
              </a:r>
              <a:endParaRPr lang="ja-JP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171450" indent="-171450" algn="just">
                <a:buFont typeface="Wingdings" panose="05000000000000000000" pitchFamily="2" charset="2"/>
                <a:buChar char="l"/>
              </a:pPr>
              <a:r>
                <a:rPr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開發書店、雜貨店等新的銷售通路。</a:t>
              </a:r>
              <a:endParaRPr lang="ja-JP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51" name="二等辺三角形 50">
              <a:extLst>
                <a:ext uri="{FF2B5EF4-FFF2-40B4-BE49-F238E27FC236}">
                  <a16:creationId xmlns:a16="http://schemas.microsoft.com/office/drawing/2014/main" xmlns="" id="{812FF513-3D70-498D-BF14-0D52098940AC}"/>
                </a:ext>
              </a:extLst>
            </p:cNvPr>
            <p:cNvSpPr/>
            <p:nvPr/>
          </p:nvSpPr>
          <p:spPr>
            <a:xfrm rot="5400000">
              <a:off x="4370571" y="5144113"/>
              <a:ext cx="736710" cy="314657"/>
            </a:xfrm>
            <a:prstGeom prst="triangl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8" name="表 37">
            <a:extLst>
              <a:ext uri="{FF2B5EF4-FFF2-40B4-BE49-F238E27FC236}">
                <a16:creationId xmlns:a16="http://schemas.microsoft.com/office/drawing/2014/main" xmlns="" id="{F487E25D-7483-4682-8794-2AB0DBDE1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706586"/>
              </p:ext>
            </p:extLst>
          </p:nvPr>
        </p:nvGraphicFramePr>
        <p:xfrm>
          <a:off x="5233755" y="4216266"/>
          <a:ext cx="3946177" cy="1218852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89205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0005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540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kumimoji="1" lang="zh-TW" altLang="en-US" sz="1000" b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行程</a:t>
                      </a:r>
                      <a:endParaRPr kumimoji="1" lang="ja-JP" altLang="en-US" sz="1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kumimoji="1" lang="zh-TW" altLang="en-US" sz="1000" b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活動內容</a:t>
                      </a:r>
                      <a:endParaRPr kumimoji="1" lang="ja-JP" altLang="en-US" sz="1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kumimoji="1" lang="zh-TW" altLang="en-US" sz="1000" b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補充</a:t>
                      </a:r>
                      <a:endParaRPr kumimoji="1" lang="ja-JP" altLang="en-US" sz="1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1478">
                <a:tc>
                  <a:txBody>
                    <a:bodyPr/>
                    <a:lstStyle/>
                    <a:p>
                      <a:r>
                        <a:rPr lang="en-US" altLang="zh-TW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月上旬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正式公開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透過網站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1478">
                <a:tc>
                  <a:txBody>
                    <a:bodyPr/>
                    <a:lstStyle/>
                    <a:p>
                      <a:r>
                        <a:rPr lang="en-US" altLang="zh-TW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月下旬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調查開始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抽選者確定、聯繫等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41478">
                <a:tc>
                  <a:txBody>
                    <a:bodyPr/>
                    <a:lstStyle/>
                    <a:p>
                      <a:r>
                        <a:rPr lang="en-US" altLang="zh-TW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月下旬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調查結束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使用</a:t>
                      </a:r>
                      <a:r>
                        <a:rPr lang="en-US" altLang="zh-TW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個月、回收報告書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41478">
                <a:tc>
                  <a:txBody>
                    <a:bodyPr/>
                    <a:lstStyle/>
                    <a:p>
                      <a:r>
                        <a:rPr lang="en-US" altLang="zh-TW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月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資訊整理、編輯、製作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媒體選擇、手冊製作等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41478">
                <a:tc>
                  <a:txBody>
                    <a:bodyPr/>
                    <a:lstStyle/>
                    <a:p>
                      <a:r>
                        <a:rPr lang="en-US" altLang="zh-TW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月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促銷活動開始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公開、營業活動等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6719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xmlns="" id="{9E4CEBC9-7FE4-417E-B960-482DE97DD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948060"/>
              </p:ext>
            </p:extLst>
          </p:nvPr>
        </p:nvGraphicFramePr>
        <p:xfrm>
          <a:off x="1204452" y="1945640"/>
          <a:ext cx="7497096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349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05303">
                  <a:extLst>
                    <a:ext uri="{9D8B030D-6E8A-4147-A177-3AD203B41FA5}">
                      <a16:colId xmlns:a16="http://schemas.microsoft.com/office/drawing/2014/main" xmlns="" val="3597370380"/>
                    </a:ext>
                  </a:extLst>
                </a:gridCol>
                <a:gridCol w="1785191">
                  <a:extLst>
                    <a:ext uri="{9D8B030D-6E8A-4147-A177-3AD203B41FA5}">
                      <a16:colId xmlns:a16="http://schemas.microsoft.com/office/drawing/2014/main" xmlns="" val="238951228"/>
                    </a:ext>
                  </a:extLst>
                </a:gridCol>
                <a:gridCol w="1482180">
                  <a:extLst>
                    <a:ext uri="{9D8B030D-6E8A-4147-A177-3AD203B41FA5}">
                      <a16:colId xmlns:a16="http://schemas.microsoft.com/office/drawing/2014/main" xmlns="" val="1020319745"/>
                    </a:ext>
                  </a:extLst>
                </a:gridCol>
                <a:gridCol w="1700923">
                  <a:extLst>
                    <a:ext uri="{9D8B030D-6E8A-4147-A177-3AD203B41FA5}">
                      <a16:colId xmlns:a16="http://schemas.microsoft.com/office/drawing/2014/main" xmlns="" val="28606912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b="1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內容</a:t>
                      </a:r>
                      <a:endParaRPr kumimoji="1" lang="ja-JP" altLang="en-US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b="1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單價</a:t>
                      </a:r>
                      <a:endParaRPr kumimoji="1" lang="ja-JP" altLang="en-US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b="1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數量</a:t>
                      </a:r>
                      <a:endParaRPr kumimoji="1" lang="ja-JP" altLang="en-US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b="1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金額</a:t>
                      </a:r>
                      <a:endParaRPr kumimoji="1" lang="ja-JP" altLang="en-US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25572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zh-TW" altLang="en-US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網站修改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56,000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R="216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25</a:t>
                      </a:r>
                      <a:r>
                        <a:rPr kumimoji="1" lang="zh-TW" altLang="en-US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頁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R="216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1,400,000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R="216000" anchor="ctr"/>
                </a:tc>
                <a:extLst>
                  <a:ext uri="{0D108BD9-81ED-4DB2-BD59-A6C34878D82A}">
                    <a16:rowId xmlns:a16="http://schemas.microsoft.com/office/drawing/2014/main" xmlns="" val="3755612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2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zh-TW" altLang="en-US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調查管理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R="216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zh-TW" altLang="en-US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一份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R="216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600,000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R="216000" anchor="ctr"/>
                </a:tc>
                <a:extLst>
                  <a:ext uri="{0D108BD9-81ED-4DB2-BD59-A6C34878D82A}">
                    <a16:rowId xmlns:a16="http://schemas.microsoft.com/office/drawing/2014/main" xmlns="" val="1144792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3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zh-TW" altLang="en-US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資料統計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R="21600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一份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R="216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1,100,000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R="216000" anchor="ctr"/>
                </a:tc>
                <a:extLst>
                  <a:ext uri="{0D108BD9-81ED-4DB2-BD59-A6C34878D82A}">
                    <a16:rowId xmlns:a16="http://schemas.microsoft.com/office/drawing/2014/main" xmlns="" val="3441896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4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zh-TW" altLang="en-US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促銷品製作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2,300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R="216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2,000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R="216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4,600,000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R="216000" anchor="ctr"/>
                </a:tc>
                <a:extLst>
                  <a:ext uri="{0D108BD9-81ED-4DB2-BD59-A6C34878D82A}">
                    <a16:rowId xmlns:a16="http://schemas.microsoft.com/office/drawing/2014/main" xmlns="" val="1711260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5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zh-TW" altLang="en-US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廣告與宣傳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zh-TW" altLang="en-US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報紙與雜誌</a:t>
                      </a:r>
                      <a:r>
                        <a:rPr kumimoji="1" lang="en-US" altLang="ja-JP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R="216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zh-TW" altLang="en-US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共</a:t>
                      </a:r>
                      <a:r>
                        <a:rPr kumimoji="1" lang="en-US" altLang="zh-TW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zh-TW" altLang="en-US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家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R="216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18,000,000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R="216000" anchor="ctr"/>
                </a:tc>
                <a:extLst>
                  <a:ext uri="{0D108BD9-81ED-4DB2-BD59-A6C34878D82A}">
                    <a16:rowId xmlns:a16="http://schemas.microsoft.com/office/drawing/2014/main" xmlns="" val="3796521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6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zh-TW" altLang="en-US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銷售店支援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20,000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R="216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200</a:t>
                      </a:r>
                      <a:r>
                        <a:rPr kumimoji="1" lang="zh-TW" altLang="en-US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家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R="216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4,000,000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R="216000" anchor="ctr"/>
                </a:tc>
                <a:extLst>
                  <a:ext uri="{0D108BD9-81ED-4DB2-BD59-A6C34878D82A}">
                    <a16:rowId xmlns:a16="http://schemas.microsoft.com/office/drawing/2014/main" xmlns="" val="3383756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b="1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總計</a:t>
                      </a:r>
                      <a:endParaRPr kumimoji="1" lang="ja-JP" altLang="en-US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R="21600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R="21600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30,000,000</a:t>
                      </a:r>
                      <a:endParaRPr kumimoji="1" lang="ja-JP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R="21600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08701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6334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xmlns="" id="{3C07B58D-EBDA-4542-A5D3-DC37E18EA68A}"/>
              </a:ext>
            </a:extLst>
          </p:cNvPr>
          <p:cNvGrpSpPr/>
          <p:nvPr/>
        </p:nvGrpSpPr>
        <p:grpSpPr>
          <a:xfrm>
            <a:off x="1204452" y="2787445"/>
            <a:ext cx="7549082" cy="1283110"/>
            <a:chOff x="1204452" y="2787445"/>
            <a:chExt cx="7549082" cy="1283110"/>
          </a:xfrm>
        </p:grpSpPr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xmlns="" id="{23E7FEBA-13CC-4486-A1CF-D053E5C28831}"/>
                </a:ext>
              </a:extLst>
            </p:cNvPr>
            <p:cNvSpPr txBox="1"/>
            <p:nvPr/>
          </p:nvSpPr>
          <p:spPr>
            <a:xfrm>
              <a:off x="4728073" y="3023090"/>
              <a:ext cx="402546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5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3,000</a:t>
              </a:r>
              <a:r>
                <a:rPr kumimoji="1" lang="zh-TW" altLang="en-US" sz="5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萬日圓</a:t>
              </a:r>
              <a:endParaRPr kumimoji="1" lang="ja-JP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xmlns="" id="{57EC27CE-95D9-4214-8549-885612599A43}"/>
                </a:ext>
              </a:extLst>
            </p:cNvPr>
            <p:cNvSpPr/>
            <p:nvPr/>
          </p:nvSpPr>
          <p:spPr>
            <a:xfrm>
              <a:off x="1204452" y="2787445"/>
              <a:ext cx="3456038" cy="128311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+mn-ea"/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xmlns="" id="{A632AE5C-3E4D-4EFF-BF47-7A4749974ED5}"/>
                </a:ext>
              </a:extLst>
            </p:cNvPr>
            <p:cNvSpPr/>
            <p:nvPr/>
          </p:nvSpPr>
          <p:spPr>
            <a:xfrm>
              <a:off x="4660490" y="2787445"/>
              <a:ext cx="4041059" cy="1283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+mn-ea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xmlns="" id="{B058FDA8-58E1-402F-B8AE-FF3BD86B7521}"/>
                </a:ext>
              </a:extLst>
            </p:cNvPr>
            <p:cNvSpPr txBox="1"/>
            <p:nvPr/>
          </p:nvSpPr>
          <p:spPr>
            <a:xfrm>
              <a:off x="1455144" y="3023090"/>
              <a:ext cx="295465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54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概算費用</a:t>
              </a:r>
              <a:endParaRPr kumimoji="1" lang="ja-JP" altLang="en-US" sz="5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77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xmlns="" id="{8624DB74-6C8D-49CF-89A3-E647EA02D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393518"/>
              </p:ext>
            </p:extLst>
          </p:nvPr>
        </p:nvGraphicFramePr>
        <p:xfrm>
          <a:off x="2979912" y="1826139"/>
          <a:ext cx="3946177" cy="1218852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89205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0005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540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41478">
                <a:tc>
                  <a:txBody>
                    <a:bodyPr/>
                    <a:lstStyle/>
                    <a:p>
                      <a:r>
                        <a:rPr kumimoji="1"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行程</a:t>
                      </a:r>
                      <a:endParaRPr kumimoji="1" lang="ja-JP" altLang="en-US" sz="1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活動内容</a:t>
                      </a:r>
                      <a:endParaRPr kumimoji="1" lang="ja-JP" altLang="en-US" sz="1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kumimoji="1"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補充</a:t>
                      </a:r>
                      <a:endParaRPr kumimoji="1" lang="ja-JP" altLang="en-US" sz="1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1478">
                <a:tc>
                  <a:txBody>
                    <a:bodyPr/>
                    <a:lstStyle/>
                    <a:p>
                      <a:r>
                        <a:rPr lang="en-US" altLang="zh-TW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月上旬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正式公開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透過網站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1478">
                <a:tc>
                  <a:txBody>
                    <a:bodyPr/>
                    <a:lstStyle/>
                    <a:p>
                      <a:r>
                        <a:rPr lang="en-US" altLang="zh-TW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月下旬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調查開始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抽選者確定、聯繫等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41478">
                <a:tc>
                  <a:txBody>
                    <a:bodyPr/>
                    <a:lstStyle/>
                    <a:p>
                      <a:r>
                        <a:rPr kumimoji="1" lang="en-US" altLang="zh-TW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kumimoji="1"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月下旬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調查結束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使用</a:t>
                      </a:r>
                      <a:r>
                        <a:rPr lang="en-US" altLang="zh-TW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個月、回收報告書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41478">
                <a:tc>
                  <a:txBody>
                    <a:bodyPr/>
                    <a:lstStyle/>
                    <a:p>
                      <a:r>
                        <a:rPr lang="en-US" altLang="zh-TW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月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資訊整理、編輯、製作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媒體選擇、手冊製作等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41478">
                <a:tc>
                  <a:txBody>
                    <a:bodyPr/>
                    <a:lstStyle/>
                    <a:p>
                      <a:r>
                        <a:rPr lang="en-US" altLang="zh-TW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月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促銷活動開始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公開、營業活動等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xmlns="" id="{C198D33D-5916-423C-A70B-84C23C71B5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929595"/>
              </p:ext>
            </p:extLst>
          </p:nvPr>
        </p:nvGraphicFramePr>
        <p:xfrm>
          <a:off x="2979912" y="4223651"/>
          <a:ext cx="3946177" cy="1218852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9205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0005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540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41478">
                <a:tc>
                  <a:txBody>
                    <a:bodyPr/>
                    <a:lstStyle/>
                    <a:p>
                      <a:r>
                        <a:rPr kumimoji="1"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行程</a:t>
                      </a:r>
                      <a:endParaRPr kumimoji="1" lang="ja-JP" altLang="en-US" sz="1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kumimoji="1"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活動內容</a:t>
                      </a:r>
                      <a:endParaRPr kumimoji="1" lang="ja-JP" altLang="en-US" sz="1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kumimoji="1" lang="zh-TW" altLang="en-US" sz="1000" b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補充</a:t>
                      </a:r>
                      <a:endParaRPr kumimoji="1" lang="ja-JP" altLang="en-US" sz="1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1478">
                <a:tc>
                  <a:txBody>
                    <a:bodyPr/>
                    <a:lstStyle/>
                    <a:p>
                      <a:r>
                        <a:rPr lang="en-US" altLang="zh-TW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月上旬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正式公開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透過網站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1478">
                <a:tc>
                  <a:txBody>
                    <a:bodyPr/>
                    <a:lstStyle/>
                    <a:p>
                      <a:r>
                        <a:rPr lang="en-US" altLang="zh-TW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月下旬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調查開始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抽選者確定、聯繫等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41478">
                <a:tc>
                  <a:txBody>
                    <a:bodyPr/>
                    <a:lstStyle/>
                    <a:p>
                      <a:r>
                        <a:rPr lang="en-US" altLang="zh-TW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月下旬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調查結束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使用</a:t>
                      </a:r>
                      <a:r>
                        <a:rPr lang="en-US" altLang="zh-TW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個月、回收報告書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41478">
                <a:tc>
                  <a:txBody>
                    <a:bodyPr/>
                    <a:lstStyle/>
                    <a:p>
                      <a:r>
                        <a:rPr lang="en-US" altLang="zh-TW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月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資訊整理、編輯、製作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媒體選擇、手冊製作等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41478">
                <a:tc>
                  <a:txBody>
                    <a:bodyPr/>
                    <a:lstStyle/>
                    <a:p>
                      <a:r>
                        <a:rPr lang="en-US" altLang="zh-TW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月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促銷活動開始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tc>
                  <a:txBody>
                    <a:bodyPr/>
                    <a:lstStyle/>
                    <a:p>
                      <a:r>
                        <a:rPr lang="zh-TW" altLang="en-US" sz="100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公開、營業活動等</a:t>
                      </a:r>
                      <a:endParaRPr kumimoji="1" lang="ja-JP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0742" marR="50742" marT="25371" marB="25371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7847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赤紫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458</TotalTime>
  <Words>475</Words>
  <Application>Microsoft Office PowerPoint</Application>
  <PresentationFormat>A4 紙張 (210x297 公釐)</PresentationFormat>
  <Paragraphs>123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4" baseType="lpstr">
      <vt:lpstr>游ゴシック</vt:lpstr>
      <vt:lpstr>游ゴシック Light</vt:lpstr>
      <vt:lpstr>微軟正黑體</vt:lpstr>
      <vt:lpstr>新細明體</vt:lpstr>
      <vt:lpstr>Arial</vt:lpstr>
      <vt:lpstr>Calibri</vt:lpstr>
      <vt:lpstr>Calibri Light</vt:lpstr>
      <vt:lpstr>Times New Roman</vt:lpstr>
      <vt:lpstr>Wingdings</vt:lpstr>
      <vt:lpstr>Office テーマ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WATANABE-note</dc:creator>
  <cp:lastModifiedBy>Yosie</cp:lastModifiedBy>
  <cp:revision>53</cp:revision>
  <dcterms:created xsi:type="dcterms:W3CDTF">2017-09-28T00:10:12Z</dcterms:created>
  <dcterms:modified xsi:type="dcterms:W3CDTF">2018-09-22T09:45:42Z</dcterms:modified>
</cp:coreProperties>
</file>