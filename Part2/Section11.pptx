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272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479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679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94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520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0068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65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403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392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81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78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929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1C766-2C73-4B5C-8B33-040095498423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9F1F1-AD41-4688-B174-DA89EFF02D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99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9F01F7C-1B99-42BD-88A5-7D8A6B0D451A}"/>
              </a:ext>
            </a:extLst>
          </p:cNvPr>
          <p:cNvGrpSpPr/>
          <p:nvPr/>
        </p:nvGrpSpPr>
        <p:grpSpPr>
          <a:xfrm>
            <a:off x="378860" y="249902"/>
            <a:ext cx="9152861" cy="6402786"/>
            <a:chOff x="378860" y="249902"/>
            <a:chExt cx="9152861" cy="6402786"/>
          </a:xfrm>
        </p:grpSpPr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AC3DE18B-A9D8-44BC-973C-FAA37C2FA153}"/>
                </a:ext>
              </a:extLst>
            </p:cNvPr>
            <p:cNvSpPr/>
            <p:nvPr/>
          </p:nvSpPr>
          <p:spPr>
            <a:xfrm>
              <a:off x="378861" y="3298829"/>
              <a:ext cx="9143698" cy="335385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2700" cap="sq">
              <a:solidFill>
                <a:schemeClr val="accent1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378860" y="249902"/>
              <a:ext cx="58702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增加</a:t>
              </a:r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回頭客的「</a:t>
              </a:r>
              <a:r>
                <a:rPr kumimoji="1" lang="zh-TW" altLang="en-US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接待</a:t>
              </a:r>
              <a:r>
                <a:rPr lang="zh-TW" altLang="en-US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</a:t>
              </a:r>
              <a:r>
                <a:rPr kumimoji="1" lang="zh-TW" altLang="en-US" sz="20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改革</a:t>
              </a:r>
              <a:endParaRPr kumimoji="1" lang="ja-JP" altLang="en-US" sz="20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4" name="テキスト ボックス 53"/>
            <p:cNvSpPr txBox="1"/>
            <p:nvPr/>
          </p:nvSpPr>
          <p:spPr>
            <a:xfrm>
              <a:off x="683973" y="3645024"/>
              <a:ext cx="4629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「接待」＋感動＝再次蒞臨</a:t>
              </a:r>
              <a:endParaRPr kumimoji="1"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B90FF292-3E30-4525-8096-516F454BACED}"/>
                </a:ext>
              </a:extLst>
            </p:cNvPr>
            <p:cNvSpPr/>
            <p:nvPr/>
          </p:nvSpPr>
          <p:spPr>
            <a:xfrm>
              <a:off x="383440" y="714184"/>
              <a:ext cx="9148281" cy="12063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7620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58" name="吹き出し: 四角形 57">
              <a:extLst>
                <a:ext uri="{FF2B5EF4-FFF2-40B4-BE49-F238E27FC236}">
                  <a16:creationId xmlns:a16="http://schemas.microsoft.com/office/drawing/2014/main" id="{F5EDD95A-0C06-4256-B065-9FBBBF1096E0}"/>
                </a:ext>
              </a:extLst>
            </p:cNvPr>
            <p:cNvSpPr/>
            <p:nvPr/>
          </p:nvSpPr>
          <p:spPr>
            <a:xfrm>
              <a:off x="378860" y="949549"/>
              <a:ext cx="9148281" cy="2349280"/>
            </a:xfrm>
            <a:prstGeom prst="wedgeRectCallout">
              <a:avLst>
                <a:gd name="adj1" fmla="val -21565"/>
                <a:gd name="adj2" fmla="val 60427"/>
              </a:avLst>
            </a:prstGeom>
            <a:solidFill>
              <a:schemeClr val="bg1"/>
            </a:solidFill>
            <a:ln w="12700" cap="sq">
              <a:solidFill>
                <a:schemeClr val="accent1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四角形: 角を丸くする 64">
              <a:extLst>
                <a:ext uri="{FF2B5EF4-FFF2-40B4-BE49-F238E27FC236}">
                  <a16:creationId xmlns:a16="http://schemas.microsoft.com/office/drawing/2014/main" id="{21696B06-8A5B-42A6-A4E0-73D889202069}"/>
                </a:ext>
              </a:extLst>
            </p:cNvPr>
            <p:cNvSpPr/>
            <p:nvPr/>
          </p:nvSpPr>
          <p:spPr>
            <a:xfrm>
              <a:off x="636395" y="4115327"/>
              <a:ext cx="5464831" cy="2410018"/>
            </a:xfrm>
            <a:prstGeom prst="roundRect">
              <a:avLst>
                <a:gd name="adj" fmla="val 10652"/>
              </a:avLst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矢印: 下 24">
              <a:extLst>
                <a:ext uri="{FF2B5EF4-FFF2-40B4-BE49-F238E27FC236}">
                  <a16:creationId xmlns:a16="http://schemas.microsoft.com/office/drawing/2014/main" id="{3CC1039E-99DC-4692-9FCF-7E11B58A3415}"/>
                </a:ext>
              </a:extLst>
            </p:cNvPr>
            <p:cNvSpPr/>
            <p:nvPr/>
          </p:nvSpPr>
          <p:spPr>
            <a:xfrm rot="10800000" flipV="1">
              <a:off x="4320380" y="5233704"/>
              <a:ext cx="751836" cy="373504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  <a:ln w="127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6F677F67-F72C-4190-97D3-51C252D1482C}"/>
                </a:ext>
              </a:extLst>
            </p:cNvPr>
            <p:cNvSpPr txBox="1"/>
            <p:nvPr/>
          </p:nvSpPr>
          <p:spPr>
            <a:xfrm>
              <a:off x="910842" y="4735516"/>
              <a:ext cx="229645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以深受眾人喜愛的優質料理和充滿溫暖的貼心服務接待顧客。</a:t>
              </a:r>
            </a:p>
            <a:p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讓包含訪日外國人在內的顧客，留下感動的餘韻與深刻體驗。</a:t>
              </a: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37514C0F-2F48-4231-B5EC-05AB352BAFB2}"/>
                </a:ext>
              </a:extLst>
            </p:cNvPr>
            <p:cNvSpPr/>
            <p:nvPr/>
          </p:nvSpPr>
          <p:spPr>
            <a:xfrm>
              <a:off x="910842" y="4342958"/>
              <a:ext cx="180049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殘留餘韻的感動體驗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AEF67096-DDEB-47B2-BCDB-C28CDAE665CA}"/>
                </a:ext>
              </a:extLst>
            </p:cNvPr>
            <p:cNvSpPr/>
            <p:nvPr/>
          </p:nvSpPr>
          <p:spPr>
            <a:xfrm>
              <a:off x="3630692" y="4518949"/>
              <a:ext cx="2131210" cy="61281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四角形: 角を丸くする 49">
              <a:extLst>
                <a:ext uri="{FF2B5EF4-FFF2-40B4-BE49-F238E27FC236}">
                  <a16:creationId xmlns:a16="http://schemas.microsoft.com/office/drawing/2014/main" id="{C509B5B2-5CC5-47C3-9C7F-46D061CC155A}"/>
                </a:ext>
              </a:extLst>
            </p:cNvPr>
            <p:cNvSpPr/>
            <p:nvPr/>
          </p:nvSpPr>
          <p:spPr>
            <a:xfrm>
              <a:off x="3630692" y="5726701"/>
              <a:ext cx="2131210" cy="61281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64FC0C5F-0BD7-48FE-812E-623DD64C3E3F}"/>
                </a:ext>
              </a:extLst>
            </p:cNvPr>
            <p:cNvCxnSpPr>
              <a:cxnSpLocks/>
            </p:cNvCxnSpPr>
            <p:nvPr/>
          </p:nvCxnSpPr>
          <p:spPr>
            <a:xfrm>
              <a:off x="992560" y="4679443"/>
              <a:ext cx="2088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383B668A-7F4E-4C6E-8AF5-0065B0201C90}"/>
                </a:ext>
              </a:extLst>
            </p:cNvPr>
            <p:cNvSpPr/>
            <p:nvPr/>
          </p:nvSpPr>
          <p:spPr>
            <a:xfrm>
              <a:off x="3789543" y="5769676"/>
              <a:ext cx="181350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受到回憶的刺激，</a:t>
              </a:r>
              <a:br>
                <a:rPr lang="en-US" altLang="ja-JP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再次蒞臨本店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0" name="四角形: 角を丸くする 69">
              <a:extLst>
                <a:ext uri="{FF2B5EF4-FFF2-40B4-BE49-F238E27FC236}">
                  <a16:creationId xmlns:a16="http://schemas.microsoft.com/office/drawing/2014/main" id="{2F4FDCAF-92BE-4340-9F30-DA7DB8CFD264}"/>
                </a:ext>
              </a:extLst>
            </p:cNvPr>
            <p:cNvSpPr/>
            <p:nvPr/>
          </p:nvSpPr>
          <p:spPr>
            <a:xfrm>
              <a:off x="6836358" y="3801409"/>
              <a:ext cx="2474910" cy="2710297"/>
            </a:xfrm>
            <a:prstGeom prst="roundRect">
              <a:avLst>
                <a:gd name="adj" fmla="val 10612"/>
              </a:avLst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二等辺三角形 56">
              <a:extLst>
                <a:ext uri="{FF2B5EF4-FFF2-40B4-BE49-F238E27FC236}">
                  <a16:creationId xmlns:a16="http://schemas.microsoft.com/office/drawing/2014/main" id="{DEB4C3E1-D432-4CAD-AA9E-A2BF6DFC4989}"/>
                </a:ext>
              </a:extLst>
            </p:cNvPr>
            <p:cNvSpPr/>
            <p:nvPr/>
          </p:nvSpPr>
          <p:spPr>
            <a:xfrm rot="5400000">
              <a:off x="5826620" y="5177402"/>
              <a:ext cx="1289002" cy="280745"/>
            </a:xfrm>
            <a:prstGeom prst="triangle">
              <a:avLst/>
            </a:prstGeom>
            <a:solidFill>
              <a:schemeClr val="bg1"/>
            </a:solidFill>
            <a:ln w="127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67" name="二等辺三角形 66">
              <a:extLst>
                <a:ext uri="{FF2B5EF4-FFF2-40B4-BE49-F238E27FC236}">
                  <a16:creationId xmlns:a16="http://schemas.microsoft.com/office/drawing/2014/main" id="{50240990-E0B8-41A0-BB6C-D5ADB4AD91C9}"/>
                </a:ext>
              </a:extLst>
            </p:cNvPr>
            <p:cNvSpPr/>
            <p:nvPr/>
          </p:nvSpPr>
          <p:spPr>
            <a:xfrm rot="5400000">
              <a:off x="5887039" y="2142861"/>
              <a:ext cx="1297480" cy="281714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68" name="二等辺三角形 67">
              <a:extLst>
                <a:ext uri="{FF2B5EF4-FFF2-40B4-BE49-F238E27FC236}">
                  <a16:creationId xmlns:a16="http://schemas.microsoft.com/office/drawing/2014/main" id="{4FCCCA1C-0532-4312-9433-363A773C10F5}"/>
                </a:ext>
              </a:extLst>
            </p:cNvPr>
            <p:cNvSpPr/>
            <p:nvPr/>
          </p:nvSpPr>
          <p:spPr>
            <a:xfrm rot="5400000">
              <a:off x="2742057" y="2142861"/>
              <a:ext cx="1297480" cy="281714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662308" y="1540530"/>
              <a:ext cx="229645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日本宣布訪日外國觀光客的目標人數，舉辦東京奧運的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2020</a:t>
              </a:r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年設定為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4000</a:t>
              </a:r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萬人，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2030</a:t>
              </a:r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年則設定為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6000</a:t>
              </a:r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萬人。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CD59B978-F088-4EF5-8C59-26537BE49124}"/>
                </a:ext>
              </a:extLst>
            </p:cNvPr>
            <p:cNvSpPr/>
            <p:nvPr/>
          </p:nvSpPr>
          <p:spPr>
            <a:xfrm>
              <a:off x="662308" y="1144352"/>
              <a:ext cx="180049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訪日外國人目標倍增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74ABEDFB-9A01-4E74-B9B4-6C3D62FC7A4A}"/>
                </a:ext>
              </a:extLst>
            </p:cNvPr>
            <p:cNvSpPr txBox="1"/>
            <p:nvPr/>
          </p:nvSpPr>
          <p:spPr>
            <a:xfrm>
              <a:off x="3804774" y="1540530"/>
              <a:ext cx="229645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國內外的眾多顧客蜂擁而至的機會，正是讓他們成為本公司粉絲的絕佳機會。提供讓他們「還想再次蒞臨」的高品質服務。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ABCB0F30-E0D2-4326-B590-C2240B8A4288}"/>
                </a:ext>
              </a:extLst>
            </p:cNvPr>
            <p:cNvSpPr txBox="1"/>
            <p:nvPr/>
          </p:nvSpPr>
          <p:spPr>
            <a:xfrm>
              <a:off x="6959472" y="1540530"/>
              <a:ext cx="22968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ja-JP"/>
              </a:defPPr>
              <a:lvl1pPr algn="just">
                <a:defRPr sz="1400">
                  <a:latin typeface="游ゴシック" panose="020B0400000000000000" pitchFamily="50" charset="-128"/>
                  <a:ea typeface="游ゴシック" panose="020B0400000000000000" pitchFamily="50" charset="-128"/>
                </a:defRPr>
              </a:lvl1pPr>
            </a:lstStyle>
            <a:p>
              <a:r>
                <a:rPr lang="zh-TW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在入店、帶位、點餐、上菜、服務、收銀的一連串流程中，提供真正的「接待」。致力增加讓顧客願意多次上門的顧客滿意度，同時增加營業額。</a:t>
              </a: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F89787DF-CD3A-4081-8883-2360458B75D0}"/>
                </a:ext>
              </a:extLst>
            </p:cNvPr>
            <p:cNvSpPr/>
            <p:nvPr/>
          </p:nvSpPr>
          <p:spPr>
            <a:xfrm>
              <a:off x="6959473" y="1144352"/>
              <a:ext cx="144142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真正的「接待」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451AF45E-B41D-42B0-935F-B84416DFA5A9}"/>
                </a:ext>
              </a:extLst>
            </p:cNvPr>
            <p:cNvSpPr/>
            <p:nvPr/>
          </p:nvSpPr>
          <p:spPr>
            <a:xfrm>
              <a:off x="3800872" y="1144352"/>
              <a:ext cx="162095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成為本公司的粉絲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EDE569DD-1099-4DB8-BA16-21987BCFCBEC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8" y="1496330"/>
              <a:ext cx="2088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A43AE526-2C5E-429D-A237-DD805F44420F}"/>
                </a:ext>
              </a:extLst>
            </p:cNvPr>
            <p:cNvCxnSpPr>
              <a:cxnSpLocks/>
            </p:cNvCxnSpPr>
            <p:nvPr/>
          </p:nvCxnSpPr>
          <p:spPr>
            <a:xfrm>
              <a:off x="3892810" y="1490078"/>
              <a:ext cx="2088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00525AA7-64DB-426A-B0F3-2CBB598BA556}"/>
                </a:ext>
              </a:extLst>
            </p:cNvPr>
            <p:cNvCxnSpPr>
              <a:cxnSpLocks/>
            </p:cNvCxnSpPr>
            <p:nvPr/>
          </p:nvCxnSpPr>
          <p:spPr>
            <a:xfrm>
              <a:off x="7041392" y="1490078"/>
              <a:ext cx="2088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5D85CC33-0315-4462-BCDB-3BEA552E754C}"/>
                </a:ext>
              </a:extLst>
            </p:cNvPr>
            <p:cNvSpPr txBox="1"/>
            <p:nvPr/>
          </p:nvSpPr>
          <p:spPr>
            <a:xfrm>
              <a:off x="6926014" y="4439113"/>
              <a:ext cx="2288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實施以改善員工的三年計畫為基礎的經營行動。</a:t>
              </a: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C98746E1-6782-4946-ACB3-C85271690663}"/>
                </a:ext>
              </a:extLst>
            </p:cNvPr>
            <p:cNvSpPr/>
            <p:nvPr/>
          </p:nvSpPr>
          <p:spPr>
            <a:xfrm>
              <a:off x="6921368" y="4049212"/>
              <a:ext cx="228855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意識改革三年計畫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" name="矢印: 下 44">
              <a:extLst>
                <a:ext uri="{FF2B5EF4-FFF2-40B4-BE49-F238E27FC236}">
                  <a16:creationId xmlns:a16="http://schemas.microsoft.com/office/drawing/2014/main" id="{BB87EE46-58DE-4BB4-91A6-1B67EEFBB696}"/>
                </a:ext>
              </a:extLst>
            </p:cNvPr>
            <p:cNvSpPr/>
            <p:nvPr/>
          </p:nvSpPr>
          <p:spPr>
            <a:xfrm rot="10800000" flipV="1">
              <a:off x="7688373" y="5237904"/>
              <a:ext cx="749250" cy="371062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  <a:ln w="127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2DF08674-9766-4FAA-A43F-2C700D89531F}"/>
                </a:ext>
              </a:extLst>
            </p:cNvPr>
            <p:cNvSpPr/>
            <p:nvPr/>
          </p:nvSpPr>
          <p:spPr>
            <a:xfrm>
              <a:off x="7221440" y="5877397"/>
              <a:ext cx="1692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2020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年銷售額倍增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1" name="四角形: 角を丸くする 50">
              <a:extLst>
                <a:ext uri="{FF2B5EF4-FFF2-40B4-BE49-F238E27FC236}">
                  <a16:creationId xmlns:a16="http://schemas.microsoft.com/office/drawing/2014/main" id="{95893CB3-AA08-421C-94CC-82BC6A8FAA16}"/>
                </a:ext>
              </a:extLst>
            </p:cNvPr>
            <p:cNvSpPr/>
            <p:nvPr/>
          </p:nvSpPr>
          <p:spPr>
            <a:xfrm>
              <a:off x="7120356" y="5793998"/>
              <a:ext cx="1895328" cy="478225"/>
            </a:xfrm>
            <a:prstGeom prst="roundRect">
              <a:avLst/>
            </a:prstGeom>
            <a:noFill/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EA66B17B-BE2A-438C-AB94-4BBBF7375E51}"/>
                </a:ext>
              </a:extLst>
            </p:cNvPr>
            <p:cNvCxnSpPr>
              <a:cxnSpLocks/>
            </p:cNvCxnSpPr>
            <p:nvPr/>
          </p:nvCxnSpPr>
          <p:spPr>
            <a:xfrm>
              <a:off x="7019925" y="4385545"/>
              <a:ext cx="2088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7372F087-8DE9-467B-87A2-7BE553C78703}"/>
                </a:ext>
              </a:extLst>
            </p:cNvPr>
            <p:cNvSpPr/>
            <p:nvPr/>
          </p:nvSpPr>
          <p:spPr>
            <a:xfrm>
              <a:off x="3789543" y="4563750"/>
              <a:ext cx="181350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因賓至如歸的服務</a:t>
              </a:r>
              <a:br>
                <a:rPr lang="en-US" altLang="ja-JP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而成為本公司的粉絲！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8926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9E3931A-BB0E-4B92-8F44-0CC0CC518B0B}"/>
              </a:ext>
            </a:extLst>
          </p:cNvPr>
          <p:cNvGrpSpPr/>
          <p:nvPr/>
        </p:nvGrpSpPr>
        <p:grpSpPr>
          <a:xfrm>
            <a:off x="378860" y="249902"/>
            <a:ext cx="9152861" cy="6402786"/>
            <a:chOff x="378860" y="249902"/>
            <a:chExt cx="9152861" cy="6402786"/>
          </a:xfrm>
        </p:grpSpPr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AC3DE18B-A9D8-44BC-973C-FAA37C2FA153}"/>
                </a:ext>
              </a:extLst>
            </p:cNvPr>
            <p:cNvSpPr/>
            <p:nvPr/>
          </p:nvSpPr>
          <p:spPr>
            <a:xfrm>
              <a:off x="378861" y="3298829"/>
              <a:ext cx="9143698" cy="335385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2700" cap="sq">
              <a:solidFill>
                <a:schemeClr val="accent1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378860" y="249902"/>
              <a:ext cx="58702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增加</a:t>
              </a:r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回頭客的「</a:t>
              </a:r>
              <a:r>
                <a:rPr lang="zh-TW" altLang="en-US" sz="20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接待」改革</a:t>
              </a:r>
              <a:endParaRPr lang="ja-JP" altLang="en-US" sz="2000" spc="-15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4" name="テキスト ボックス 53"/>
            <p:cNvSpPr txBox="1"/>
            <p:nvPr/>
          </p:nvSpPr>
          <p:spPr>
            <a:xfrm>
              <a:off x="683973" y="3645024"/>
              <a:ext cx="4629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「接待」＋感動＝再次蒞臨</a:t>
              </a:r>
              <a:endParaRPr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B90FF292-3E30-4525-8096-516F454BACED}"/>
                </a:ext>
              </a:extLst>
            </p:cNvPr>
            <p:cNvSpPr/>
            <p:nvPr/>
          </p:nvSpPr>
          <p:spPr>
            <a:xfrm>
              <a:off x="383440" y="714184"/>
              <a:ext cx="9148281" cy="12063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7620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58" name="吹き出し: 四角形 57">
              <a:extLst>
                <a:ext uri="{FF2B5EF4-FFF2-40B4-BE49-F238E27FC236}">
                  <a16:creationId xmlns:a16="http://schemas.microsoft.com/office/drawing/2014/main" id="{F5EDD95A-0C06-4256-B065-9FBBBF1096E0}"/>
                </a:ext>
              </a:extLst>
            </p:cNvPr>
            <p:cNvSpPr/>
            <p:nvPr/>
          </p:nvSpPr>
          <p:spPr>
            <a:xfrm>
              <a:off x="378860" y="949549"/>
              <a:ext cx="9148281" cy="2349280"/>
            </a:xfrm>
            <a:prstGeom prst="wedgeRectCallout">
              <a:avLst>
                <a:gd name="adj1" fmla="val -21565"/>
                <a:gd name="adj2" fmla="val 60427"/>
              </a:avLst>
            </a:prstGeom>
            <a:solidFill>
              <a:schemeClr val="bg1"/>
            </a:solidFill>
            <a:ln w="12700" cap="sq">
              <a:solidFill>
                <a:schemeClr val="accent1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65" name="四角形: 角を丸くする 64">
              <a:extLst>
                <a:ext uri="{FF2B5EF4-FFF2-40B4-BE49-F238E27FC236}">
                  <a16:creationId xmlns:a16="http://schemas.microsoft.com/office/drawing/2014/main" id="{21696B06-8A5B-42A6-A4E0-73D889202069}"/>
                </a:ext>
              </a:extLst>
            </p:cNvPr>
            <p:cNvSpPr/>
            <p:nvPr/>
          </p:nvSpPr>
          <p:spPr>
            <a:xfrm>
              <a:off x="636395" y="4115327"/>
              <a:ext cx="5464831" cy="2410018"/>
            </a:xfrm>
            <a:prstGeom prst="roundRect">
              <a:avLst>
                <a:gd name="adj" fmla="val 10652"/>
              </a:avLst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矢印: 下 24">
              <a:extLst>
                <a:ext uri="{FF2B5EF4-FFF2-40B4-BE49-F238E27FC236}">
                  <a16:creationId xmlns:a16="http://schemas.microsoft.com/office/drawing/2014/main" id="{3CC1039E-99DC-4692-9FCF-7E11B58A3415}"/>
                </a:ext>
              </a:extLst>
            </p:cNvPr>
            <p:cNvSpPr/>
            <p:nvPr/>
          </p:nvSpPr>
          <p:spPr>
            <a:xfrm rot="10800000" flipV="1">
              <a:off x="4320380" y="5183051"/>
              <a:ext cx="751836" cy="540000"/>
            </a:xfrm>
            <a:prstGeom prst="downArrow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beve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6F677F67-F72C-4190-97D3-51C252D1482C}"/>
                </a:ext>
              </a:extLst>
            </p:cNvPr>
            <p:cNvSpPr txBox="1"/>
            <p:nvPr/>
          </p:nvSpPr>
          <p:spPr>
            <a:xfrm>
              <a:off x="910842" y="4735516"/>
              <a:ext cx="229645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以深受眾人喜愛的優質料理和充滿溫暖的貼心服務接待顧客。</a:t>
              </a:r>
            </a:p>
            <a:p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讓包含訪日外國人在內的顧客，留下感動的餘韻與深刻體驗。</a:t>
              </a: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37514C0F-2F48-4231-B5EC-05AB352BAFB2}"/>
                </a:ext>
              </a:extLst>
            </p:cNvPr>
            <p:cNvSpPr/>
            <p:nvPr/>
          </p:nvSpPr>
          <p:spPr>
            <a:xfrm>
              <a:off x="910842" y="4342958"/>
              <a:ext cx="180049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殘留餘韻的感動體驗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AEF67096-DDEB-47B2-BCDB-C28CDAE665CA}"/>
                </a:ext>
              </a:extLst>
            </p:cNvPr>
            <p:cNvSpPr/>
            <p:nvPr/>
          </p:nvSpPr>
          <p:spPr>
            <a:xfrm>
              <a:off x="3630692" y="4518949"/>
              <a:ext cx="2131210" cy="61281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四角形: 角を丸くする 49">
              <a:extLst>
                <a:ext uri="{FF2B5EF4-FFF2-40B4-BE49-F238E27FC236}">
                  <a16:creationId xmlns:a16="http://schemas.microsoft.com/office/drawing/2014/main" id="{C509B5B2-5CC5-47C3-9C7F-46D061CC155A}"/>
                </a:ext>
              </a:extLst>
            </p:cNvPr>
            <p:cNvSpPr/>
            <p:nvPr/>
          </p:nvSpPr>
          <p:spPr>
            <a:xfrm>
              <a:off x="3630692" y="5726701"/>
              <a:ext cx="2131210" cy="61281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64FC0C5F-0BD7-48FE-812E-623DD64C3E3F}"/>
                </a:ext>
              </a:extLst>
            </p:cNvPr>
            <p:cNvCxnSpPr>
              <a:cxnSpLocks/>
            </p:cNvCxnSpPr>
            <p:nvPr/>
          </p:nvCxnSpPr>
          <p:spPr>
            <a:xfrm>
              <a:off x="992560" y="4679443"/>
              <a:ext cx="2088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383B668A-7F4E-4C6E-8AF5-0065B0201C90}"/>
                </a:ext>
              </a:extLst>
            </p:cNvPr>
            <p:cNvSpPr/>
            <p:nvPr/>
          </p:nvSpPr>
          <p:spPr>
            <a:xfrm>
              <a:off x="3789543" y="5769676"/>
              <a:ext cx="181350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受到回憶的刺激，</a:t>
              </a:r>
              <a:br>
                <a:rPr lang="en-US" altLang="ja-JP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再次蒞臨本店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70" name="四角形: 角を丸くする 69">
              <a:extLst>
                <a:ext uri="{FF2B5EF4-FFF2-40B4-BE49-F238E27FC236}">
                  <a16:creationId xmlns:a16="http://schemas.microsoft.com/office/drawing/2014/main" id="{2F4FDCAF-92BE-4340-9F30-DA7DB8CFD264}"/>
                </a:ext>
              </a:extLst>
            </p:cNvPr>
            <p:cNvSpPr/>
            <p:nvPr/>
          </p:nvSpPr>
          <p:spPr>
            <a:xfrm>
              <a:off x="6836358" y="3801409"/>
              <a:ext cx="2474910" cy="2710297"/>
            </a:xfrm>
            <a:prstGeom prst="roundRect">
              <a:avLst>
                <a:gd name="adj" fmla="val 10612"/>
              </a:avLst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二等辺三角形 56">
              <a:extLst>
                <a:ext uri="{FF2B5EF4-FFF2-40B4-BE49-F238E27FC236}">
                  <a16:creationId xmlns:a16="http://schemas.microsoft.com/office/drawing/2014/main" id="{DEB4C3E1-D432-4CAD-AA9E-A2BF6DFC4989}"/>
                </a:ext>
              </a:extLst>
            </p:cNvPr>
            <p:cNvSpPr/>
            <p:nvPr/>
          </p:nvSpPr>
          <p:spPr>
            <a:xfrm rot="5400000">
              <a:off x="5826620" y="5177402"/>
              <a:ext cx="1289002" cy="280745"/>
            </a:xfrm>
            <a:prstGeom prst="triangle">
              <a:avLst/>
            </a:prstGeom>
            <a:solidFill>
              <a:schemeClr val="bg1"/>
            </a:solidFill>
            <a:ln w="127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68" name="二等辺三角形 67">
              <a:extLst>
                <a:ext uri="{FF2B5EF4-FFF2-40B4-BE49-F238E27FC236}">
                  <a16:creationId xmlns:a16="http://schemas.microsoft.com/office/drawing/2014/main" id="{4FCCCA1C-0532-4312-9433-363A773C10F5}"/>
                </a:ext>
              </a:extLst>
            </p:cNvPr>
            <p:cNvSpPr/>
            <p:nvPr/>
          </p:nvSpPr>
          <p:spPr>
            <a:xfrm rot="5400000">
              <a:off x="2735198" y="1935005"/>
              <a:ext cx="1297480" cy="714538"/>
            </a:xfrm>
            <a:prstGeom prst="triangl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beve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662308" y="1540530"/>
              <a:ext cx="229645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日本宣布訪日外國觀光客的目標人數，舉辦東京奧運的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2020</a:t>
              </a:r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年設定為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4000</a:t>
              </a:r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萬人，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2030</a:t>
              </a:r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年則設定為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6000</a:t>
              </a:r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萬人。</a:t>
              </a:r>
              <a:endParaRPr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CD59B978-F088-4EF5-8C59-26537BE49124}"/>
                </a:ext>
              </a:extLst>
            </p:cNvPr>
            <p:cNvSpPr/>
            <p:nvPr/>
          </p:nvSpPr>
          <p:spPr>
            <a:xfrm>
              <a:off x="662308" y="1144352"/>
              <a:ext cx="180049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訪日外國人目標倍增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74ABEDFB-9A01-4E74-B9B4-6C3D62FC7A4A}"/>
                </a:ext>
              </a:extLst>
            </p:cNvPr>
            <p:cNvSpPr txBox="1"/>
            <p:nvPr/>
          </p:nvSpPr>
          <p:spPr>
            <a:xfrm>
              <a:off x="3804774" y="1540530"/>
              <a:ext cx="229645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國內外的眾多顧客蜂擁而至的機會，正是讓他們成為本公司粉絲的絕佳機會。提供讓他們「還想再次蒞臨」的高品質服務。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ABCB0F30-E0D2-4326-B590-C2240B8A4288}"/>
                </a:ext>
              </a:extLst>
            </p:cNvPr>
            <p:cNvSpPr txBox="1"/>
            <p:nvPr/>
          </p:nvSpPr>
          <p:spPr>
            <a:xfrm>
              <a:off x="6959472" y="1540530"/>
              <a:ext cx="22968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ja-JP"/>
              </a:defPPr>
              <a:lvl1pPr algn="just">
                <a:defRPr sz="1400">
                  <a:latin typeface="游ゴシック" panose="020B0400000000000000" pitchFamily="50" charset="-128"/>
                  <a:ea typeface="游ゴシック" panose="020B0400000000000000" pitchFamily="50" charset="-128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在入店、帶位、點餐、上菜、服務、收銀的一連串流程中，提供真正的「接待」。致力增加讓顧客願意多次上門的顧客滿意度，同時增加營業額。</a:t>
              </a: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F89787DF-CD3A-4081-8883-2360458B75D0}"/>
                </a:ext>
              </a:extLst>
            </p:cNvPr>
            <p:cNvSpPr/>
            <p:nvPr/>
          </p:nvSpPr>
          <p:spPr>
            <a:xfrm>
              <a:off x="6959473" y="1144352"/>
              <a:ext cx="144142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真正的「接待」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451AF45E-B41D-42B0-935F-B84416DFA5A9}"/>
                </a:ext>
              </a:extLst>
            </p:cNvPr>
            <p:cNvSpPr/>
            <p:nvPr/>
          </p:nvSpPr>
          <p:spPr>
            <a:xfrm>
              <a:off x="3800872" y="1144352"/>
              <a:ext cx="162095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成為本公司的粉絲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EDE569DD-1099-4DB8-BA16-21987BCFCBEC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8" y="1496330"/>
              <a:ext cx="2088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A43AE526-2C5E-429D-A237-DD805F44420F}"/>
                </a:ext>
              </a:extLst>
            </p:cNvPr>
            <p:cNvCxnSpPr>
              <a:cxnSpLocks/>
            </p:cNvCxnSpPr>
            <p:nvPr/>
          </p:nvCxnSpPr>
          <p:spPr>
            <a:xfrm>
              <a:off x="3892810" y="1490078"/>
              <a:ext cx="2088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00525AA7-64DB-426A-B0F3-2CBB598BA556}"/>
                </a:ext>
              </a:extLst>
            </p:cNvPr>
            <p:cNvCxnSpPr>
              <a:cxnSpLocks/>
            </p:cNvCxnSpPr>
            <p:nvPr/>
          </p:nvCxnSpPr>
          <p:spPr>
            <a:xfrm>
              <a:off x="7041392" y="1490078"/>
              <a:ext cx="2088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5D85CC33-0315-4462-BCDB-3BEA552E754C}"/>
                </a:ext>
              </a:extLst>
            </p:cNvPr>
            <p:cNvSpPr txBox="1"/>
            <p:nvPr/>
          </p:nvSpPr>
          <p:spPr>
            <a:xfrm>
              <a:off x="6926014" y="4439113"/>
              <a:ext cx="2288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實施以改善員工的三年計畫為基礎的經營行動。</a:t>
              </a: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C98746E1-6782-4946-ACB3-C85271690663}"/>
                </a:ext>
              </a:extLst>
            </p:cNvPr>
            <p:cNvSpPr/>
            <p:nvPr/>
          </p:nvSpPr>
          <p:spPr>
            <a:xfrm>
              <a:off x="6921368" y="4049212"/>
              <a:ext cx="228855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意識改革三年計畫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5" name="矢印: 下 44">
              <a:extLst>
                <a:ext uri="{FF2B5EF4-FFF2-40B4-BE49-F238E27FC236}">
                  <a16:creationId xmlns:a16="http://schemas.microsoft.com/office/drawing/2014/main" id="{BB87EE46-58DE-4BB4-91A6-1B67EEFBB696}"/>
                </a:ext>
              </a:extLst>
            </p:cNvPr>
            <p:cNvSpPr/>
            <p:nvPr/>
          </p:nvSpPr>
          <p:spPr>
            <a:xfrm rot="10800000" flipV="1">
              <a:off x="7688373" y="5177777"/>
              <a:ext cx="749250" cy="612571"/>
            </a:xfrm>
            <a:prstGeom prst="downArrow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beve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2DF08674-9766-4FAA-A43F-2C700D89531F}"/>
                </a:ext>
              </a:extLst>
            </p:cNvPr>
            <p:cNvSpPr/>
            <p:nvPr/>
          </p:nvSpPr>
          <p:spPr>
            <a:xfrm>
              <a:off x="7222020" y="5877397"/>
              <a:ext cx="1692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2020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年銷售額倍增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1" name="四角形: 角を丸くする 50">
              <a:extLst>
                <a:ext uri="{FF2B5EF4-FFF2-40B4-BE49-F238E27FC236}">
                  <a16:creationId xmlns:a16="http://schemas.microsoft.com/office/drawing/2014/main" id="{95893CB3-AA08-421C-94CC-82BC6A8FAA16}"/>
                </a:ext>
              </a:extLst>
            </p:cNvPr>
            <p:cNvSpPr/>
            <p:nvPr/>
          </p:nvSpPr>
          <p:spPr>
            <a:xfrm>
              <a:off x="7120356" y="5793998"/>
              <a:ext cx="1895328" cy="478225"/>
            </a:xfrm>
            <a:prstGeom prst="roundRect">
              <a:avLst/>
            </a:prstGeom>
            <a:noFill/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EA66B17B-BE2A-438C-AB94-4BBBF7375E51}"/>
                </a:ext>
              </a:extLst>
            </p:cNvPr>
            <p:cNvCxnSpPr>
              <a:cxnSpLocks/>
            </p:cNvCxnSpPr>
            <p:nvPr/>
          </p:nvCxnSpPr>
          <p:spPr>
            <a:xfrm>
              <a:off x="7019925" y="4385545"/>
              <a:ext cx="2088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7372F087-8DE9-467B-87A2-7BE553C78703}"/>
                </a:ext>
              </a:extLst>
            </p:cNvPr>
            <p:cNvSpPr/>
            <p:nvPr/>
          </p:nvSpPr>
          <p:spPr>
            <a:xfrm>
              <a:off x="3789543" y="4563750"/>
              <a:ext cx="181350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因賓至如歸的服務</a:t>
              </a:r>
              <a:br>
                <a:rPr lang="en-US" altLang="ja-JP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而成為本公司的粉絲！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5D4F49E0-9A73-40B6-BD37-503C6D27358A}"/>
                </a:ext>
              </a:extLst>
            </p:cNvPr>
            <p:cNvSpPr/>
            <p:nvPr/>
          </p:nvSpPr>
          <p:spPr>
            <a:xfrm rot="5400000">
              <a:off x="5881609" y="1935005"/>
              <a:ext cx="1297480" cy="714538"/>
            </a:xfrm>
            <a:prstGeom prst="triangl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beve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5287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F8C3A52-D90A-41A0-9CFD-83FCCCB6518E}"/>
              </a:ext>
            </a:extLst>
          </p:cNvPr>
          <p:cNvGrpSpPr/>
          <p:nvPr/>
        </p:nvGrpSpPr>
        <p:grpSpPr>
          <a:xfrm>
            <a:off x="374277" y="0"/>
            <a:ext cx="9157446" cy="6615940"/>
            <a:chOff x="374277" y="0"/>
            <a:chExt cx="9157446" cy="6615940"/>
          </a:xfrm>
        </p:grpSpPr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BA7468E7-A4E3-4B3A-84D8-B47D3A247B40}"/>
                </a:ext>
              </a:extLst>
            </p:cNvPr>
            <p:cNvSpPr/>
            <p:nvPr/>
          </p:nvSpPr>
          <p:spPr>
            <a:xfrm>
              <a:off x="374277" y="3474330"/>
              <a:ext cx="9157446" cy="62161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76200" cap="sq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5" name="正方形/長方形 4"/>
            <p:cNvSpPr/>
            <p:nvPr/>
          </p:nvSpPr>
          <p:spPr>
            <a:xfrm>
              <a:off x="374277" y="0"/>
              <a:ext cx="9157446" cy="748693"/>
            </a:xfrm>
            <a:prstGeom prst="rect">
              <a:avLst/>
            </a:prstGeom>
            <a:solidFill>
              <a:schemeClr val="accent5"/>
            </a:solidFill>
            <a:ln w="76200" cap="sq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662308" y="216409"/>
              <a:ext cx="51547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增加回頭客的「接待」改革</a:t>
              </a: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374277" y="954330"/>
              <a:ext cx="2872517" cy="2520000"/>
            </a:xfrm>
            <a:prstGeom prst="rect">
              <a:avLst/>
            </a:prstGeom>
            <a:solidFill>
              <a:schemeClr val="bg1"/>
            </a:solidFill>
            <a:ln w="76200" cap="sq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3650539" y="954330"/>
              <a:ext cx="2601138" cy="2520000"/>
            </a:xfrm>
            <a:prstGeom prst="rect">
              <a:avLst/>
            </a:prstGeom>
            <a:solidFill>
              <a:schemeClr val="bg1"/>
            </a:solidFill>
            <a:ln w="76200" cap="sq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47" name="正方形/長方形 46"/>
            <p:cNvSpPr/>
            <p:nvPr/>
          </p:nvSpPr>
          <p:spPr>
            <a:xfrm>
              <a:off x="6668069" y="954330"/>
              <a:ext cx="2863653" cy="2520000"/>
            </a:xfrm>
            <a:prstGeom prst="rect">
              <a:avLst/>
            </a:prstGeom>
            <a:solidFill>
              <a:schemeClr val="bg1"/>
            </a:solidFill>
            <a:ln w="76200" cap="sq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" name="二等辺三角形 2"/>
            <p:cNvSpPr/>
            <p:nvPr/>
          </p:nvSpPr>
          <p:spPr>
            <a:xfrm flipV="1">
              <a:off x="383440" y="3474330"/>
              <a:ext cx="9148281" cy="914400"/>
            </a:xfrm>
            <a:prstGeom prst="triangle">
              <a:avLst/>
            </a:prstGeom>
            <a:solidFill>
              <a:schemeClr val="bg1"/>
            </a:solidFill>
            <a:ln w="76200" cap="sq">
              <a:solidFill>
                <a:schemeClr val="accent1">
                  <a:lumMod val="60000"/>
                  <a:lumOff val="40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54" name="テキスト ボックス 53"/>
            <p:cNvSpPr txBox="1"/>
            <p:nvPr/>
          </p:nvSpPr>
          <p:spPr>
            <a:xfrm>
              <a:off x="2619755" y="3604954"/>
              <a:ext cx="46664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「接待」＋感動＝再次蒞臨</a:t>
              </a: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9199BF9C-03E9-45D6-ABBA-151B34B5B1EE}"/>
                </a:ext>
              </a:extLst>
            </p:cNvPr>
            <p:cNvSpPr/>
            <p:nvPr/>
          </p:nvSpPr>
          <p:spPr>
            <a:xfrm>
              <a:off x="383440" y="4095566"/>
              <a:ext cx="5868237" cy="2520000"/>
            </a:xfrm>
            <a:prstGeom prst="rect">
              <a:avLst/>
            </a:prstGeom>
            <a:solidFill>
              <a:schemeClr val="bg1"/>
            </a:solidFill>
            <a:ln w="76200" cap="sq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B0FA3883-B692-402E-ACF4-6621133B5D7D}"/>
                </a:ext>
              </a:extLst>
            </p:cNvPr>
            <p:cNvSpPr/>
            <p:nvPr/>
          </p:nvSpPr>
          <p:spPr>
            <a:xfrm>
              <a:off x="6668069" y="4095940"/>
              <a:ext cx="2863654" cy="2520000"/>
            </a:xfrm>
            <a:prstGeom prst="rect">
              <a:avLst/>
            </a:prstGeom>
            <a:solidFill>
              <a:schemeClr val="bg1"/>
            </a:solidFill>
            <a:ln w="76200" cap="sq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3218539" y="954704"/>
              <a:ext cx="432000" cy="2520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76200" cap="sq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44F0B3A4-CFFC-4B76-9241-145199CD574E}"/>
                </a:ext>
              </a:extLst>
            </p:cNvPr>
            <p:cNvSpPr/>
            <p:nvPr/>
          </p:nvSpPr>
          <p:spPr>
            <a:xfrm>
              <a:off x="6251677" y="954704"/>
              <a:ext cx="432000" cy="2520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76200" cap="sq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BFF0629C-D053-4ECC-9A84-9F0A880ECF5C}"/>
                </a:ext>
              </a:extLst>
            </p:cNvPr>
            <p:cNvSpPr/>
            <p:nvPr/>
          </p:nvSpPr>
          <p:spPr>
            <a:xfrm>
              <a:off x="6251677" y="4095566"/>
              <a:ext cx="432000" cy="2520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76200" cap="sq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67" name="二等辺三角形 66">
              <a:extLst>
                <a:ext uri="{FF2B5EF4-FFF2-40B4-BE49-F238E27FC236}">
                  <a16:creationId xmlns:a16="http://schemas.microsoft.com/office/drawing/2014/main" id="{50240990-E0B8-41A0-BB6C-D5ADB4AD91C9}"/>
                </a:ext>
              </a:extLst>
            </p:cNvPr>
            <p:cNvSpPr/>
            <p:nvPr/>
          </p:nvSpPr>
          <p:spPr>
            <a:xfrm rot="5400000">
              <a:off x="5810139" y="2073473"/>
              <a:ext cx="1315076" cy="281714"/>
            </a:xfrm>
            <a:prstGeom prst="triangle">
              <a:avLst/>
            </a:prstGeom>
            <a:solidFill>
              <a:schemeClr val="bg1"/>
            </a:solidFill>
            <a:ln w="127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68" name="二等辺三角形 67">
              <a:extLst>
                <a:ext uri="{FF2B5EF4-FFF2-40B4-BE49-F238E27FC236}">
                  <a16:creationId xmlns:a16="http://schemas.microsoft.com/office/drawing/2014/main" id="{4FCCCA1C-0532-4312-9433-363A773C10F5}"/>
                </a:ext>
              </a:extLst>
            </p:cNvPr>
            <p:cNvSpPr/>
            <p:nvPr/>
          </p:nvSpPr>
          <p:spPr>
            <a:xfrm rot="5400000">
              <a:off x="2777001" y="2073473"/>
              <a:ext cx="1315076" cy="281714"/>
            </a:xfrm>
            <a:prstGeom prst="triangle">
              <a:avLst/>
            </a:prstGeom>
            <a:solidFill>
              <a:schemeClr val="bg1"/>
            </a:solidFill>
            <a:ln w="127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69" name="二等辺三角形 68">
              <a:extLst>
                <a:ext uri="{FF2B5EF4-FFF2-40B4-BE49-F238E27FC236}">
                  <a16:creationId xmlns:a16="http://schemas.microsoft.com/office/drawing/2014/main" id="{1055382E-7568-4DD4-8722-811253F33D13}"/>
                </a:ext>
              </a:extLst>
            </p:cNvPr>
            <p:cNvSpPr/>
            <p:nvPr/>
          </p:nvSpPr>
          <p:spPr>
            <a:xfrm rot="5400000">
              <a:off x="5810139" y="5214896"/>
              <a:ext cx="1315076" cy="281714"/>
            </a:xfrm>
            <a:prstGeom prst="triangle">
              <a:avLst/>
            </a:prstGeom>
            <a:solidFill>
              <a:schemeClr val="bg1"/>
            </a:solidFill>
            <a:ln w="12700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B8AFB347-CF4E-42B2-A945-D07F6FD6929D}"/>
                </a:ext>
              </a:extLst>
            </p:cNvPr>
            <p:cNvGrpSpPr/>
            <p:nvPr/>
          </p:nvGrpSpPr>
          <p:grpSpPr>
            <a:xfrm>
              <a:off x="662308" y="1218981"/>
              <a:ext cx="2296452" cy="1565729"/>
              <a:chOff x="662308" y="1218981"/>
              <a:chExt cx="2296452" cy="1565729"/>
            </a:xfrm>
          </p:grpSpPr>
          <p:sp>
            <p:nvSpPr>
              <p:cNvPr id="24" name="テキスト ボックス 23"/>
              <p:cNvSpPr txBox="1"/>
              <p:nvPr/>
            </p:nvSpPr>
            <p:spPr>
              <a:xfrm>
                <a:off x="662308" y="1615159"/>
                <a:ext cx="2296452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日本宣布訪日外國觀光客的目標人數，舉辦東京奧運的</a:t>
                </a:r>
                <a:r>
                  <a:rPr lang="en-US" altLang="zh-TW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2020</a:t>
                </a:r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年設定為</a:t>
                </a:r>
                <a:r>
                  <a:rPr lang="en-US" altLang="zh-TW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4000</a:t>
                </a:r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萬人，</a:t>
                </a:r>
                <a:r>
                  <a:rPr lang="en-US" altLang="zh-TW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2030</a:t>
                </a:r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年則設定為</a:t>
                </a:r>
                <a:r>
                  <a:rPr lang="en-US" altLang="zh-TW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6000</a:t>
                </a:r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萬人。</a:t>
                </a:r>
              </a:p>
            </p:txBody>
          </p:sp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CD59B978-F088-4EF5-8C59-26537BE49124}"/>
                  </a:ext>
                </a:extLst>
              </p:cNvPr>
              <p:cNvSpPr/>
              <p:nvPr/>
            </p:nvSpPr>
            <p:spPr>
              <a:xfrm>
                <a:off x="662308" y="1218981"/>
                <a:ext cx="180049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訪日外國人目標倍增</a:t>
                </a:r>
              </a:p>
            </p:txBody>
          </p:sp>
        </p:grp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3CC1039E-99DC-4692-9FCF-7E11B58A3415}"/>
                </a:ext>
              </a:extLst>
            </p:cNvPr>
            <p:cNvSpPr/>
            <p:nvPr/>
          </p:nvSpPr>
          <p:spPr>
            <a:xfrm rot="10800000">
              <a:off x="3788247" y="5346761"/>
              <a:ext cx="1315076" cy="281714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 w="7620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DDC9BC8E-BAC5-4BB4-827F-56FB51D1A784}"/>
                </a:ext>
              </a:extLst>
            </p:cNvPr>
            <p:cNvGrpSpPr/>
            <p:nvPr/>
          </p:nvGrpSpPr>
          <p:grpSpPr>
            <a:xfrm>
              <a:off x="3815693" y="1218981"/>
              <a:ext cx="2296452" cy="1565729"/>
              <a:chOff x="662308" y="1218981"/>
              <a:chExt cx="2296452" cy="1565729"/>
            </a:xfrm>
          </p:grpSpPr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74ABEDFB-9A01-4E74-B9B4-6C3D62FC7A4A}"/>
                  </a:ext>
                </a:extLst>
              </p:cNvPr>
              <p:cNvSpPr txBox="1"/>
              <p:nvPr/>
            </p:nvSpPr>
            <p:spPr>
              <a:xfrm>
                <a:off x="662308" y="1615159"/>
                <a:ext cx="2296452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國內外的眾多顧客蜂擁而至的機會，正是讓他們成為本公司粉絲的絕佳機會。提供讓他們「還想再次蒞臨」的高品質服務。</a:t>
                </a:r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451AF45E-B41D-42B0-935F-B84416DFA5A9}"/>
                  </a:ext>
                </a:extLst>
              </p:cNvPr>
              <p:cNvSpPr/>
              <p:nvPr/>
            </p:nvSpPr>
            <p:spPr>
              <a:xfrm>
                <a:off x="662308" y="1218981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成為本公司的粉絲</a:t>
                </a:r>
                <a:endParaRPr lang="ja-JP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9F8E58C2-A29A-4496-B074-FB27CEC815C9}"/>
                </a:ext>
              </a:extLst>
            </p:cNvPr>
            <p:cNvGrpSpPr/>
            <p:nvPr/>
          </p:nvGrpSpPr>
          <p:grpSpPr>
            <a:xfrm>
              <a:off x="6959473" y="1218981"/>
              <a:ext cx="2296452" cy="1781173"/>
              <a:chOff x="662308" y="1218981"/>
              <a:chExt cx="2296452" cy="1781173"/>
            </a:xfrm>
          </p:grpSpPr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ABCB0F30-E0D2-4326-B590-C2240B8A4288}"/>
                  </a:ext>
                </a:extLst>
              </p:cNvPr>
              <p:cNvSpPr txBox="1"/>
              <p:nvPr/>
            </p:nvSpPr>
            <p:spPr>
              <a:xfrm>
                <a:off x="662308" y="1615159"/>
                <a:ext cx="229645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在入店、帶位、點餐、上菜、服務、收銀的一連串流程中，提供真正的「接待」。致力增加讓顧客願意多次上門的顧客滿意度，同時增加營業額。</a:t>
                </a:r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F89787DF-CD3A-4081-8883-2360458B75D0}"/>
                  </a:ext>
                </a:extLst>
              </p:cNvPr>
              <p:cNvSpPr/>
              <p:nvPr/>
            </p:nvSpPr>
            <p:spPr>
              <a:xfrm>
                <a:off x="662308" y="1218981"/>
                <a:ext cx="144142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真正的「接待」</a:t>
                </a:r>
              </a:p>
            </p:txBody>
          </p:sp>
        </p:grp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0483D171-A908-40F7-921E-BEAD43C0B611}"/>
                </a:ext>
              </a:extLst>
            </p:cNvPr>
            <p:cNvGrpSpPr/>
            <p:nvPr/>
          </p:nvGrpSpPr>
          <p:grpSpPr>
            <a:xfrm>
              <a:off x="6959473" y="4423593"/>
              <a:ext cx="2296452" cy="850478"/>
              <a:chOff x="662308" y="1287901"/>
              <a:chExt cx="2296452" cy="850478"/>
            </a:xfrm>
          </p:grpSpPr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5D85CC33-0315-4462-BCDB-3BEA552E754C}"/>
                  </a:ext>
                </a:extLst>
              </p:cNvPr>
              <p:cNvSpPr txBox="1"/>
              <p:nvPr/>
            </p:nvSpPr>
            <p:spPr>
              <a:xfrm>
                <a:off x="662308" y="1615159"/>
                <a:ext cx="22964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實施以改善員工的三年計畫為基礎的經營行動。</a:t>
                </a:r>
              </a:p>
            </p:txBody>
          </p:sp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C98746E1-6782-4946-ACB3-C85271690663}"/>
                  </a:ext>
                </a:extLst>
              </p:cNvPr>
              <p:cNvSpPr/>
              <p:nvPr/>
            </p:nvSpPr>
            <p:spPr>
              <a:xfrm>
                <a:off x="662308" y="1287901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意識改革三年計畫</a:t>
                </a:r>
              </a:p>
            </p:txBody>
          </p:sp>
        </p:grpSp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8CDAD6ED-DBE8-4941-BD67-B6E08D558C4D}"/>
                </a:ext>
              </a:extLst>
            </p:cNvPr>
            <p:cNvGrpSpPr/>
            <p:nvPr/>
          </p:nvGrpSpPr>
          <p:grpSpPr>
            <a:xfrm>
              <a:off x="662308" y="4423594"/>
              <a:ext cx="2296452" cy="1781173"/>
              <a:chOff x="662308" y="1218981"/>
              <a:chExt cx="2296452" cy="1781173"/>
            </a:xfrm>
          </p:grpSpPr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6F677F67-F72C-4190-97D3-51C252D1482C}"/>
                  </a:ext>
                </a:extLst>
              </p:cNvPr>
              <p:cNvSpPr txBox="1"/>
              <p:nvPr/>
            </p:nvSpPr>
            <p:spPr>
              <a:xfrm>
                <a:off x="662308" y="1615159"/>
                <a:ext cx="229645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以深受眾人喜愛的優質料理和充滿溫暖的貼心服務接待顧客。</a:t>
                </a:r>
              </a:p>
              <a:p>
                <a:pPr algn="just"/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讓包含訪日外國人在內的顧客，留下感動的餘韻與深刻體驗。</a:t>
                </a:r>
              </a:p>
            </p:txBody>
          </p:sp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37514C0F-2F48-4231-B5EC-05AB352BAFB2}"/>
                  </a:ext>
                </a:extLst>
              </p:cNvPr>
              <p:cNvSpPr/>
              <p:nvPr/>
            </p:nvSpPr>
            <p:spPr>
              <a:xfrm>
                <a:off x="662308" y="1218981"/>
                <a:ext cx="180049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殘留餘韻的感動體驗</a:t>
                </a:r>
                <a:endParaRPr lang="ja-JP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BB87EE46-58DE-4BB4-91A6-1B67EEFBB696}"/>
                </a:ext>
              </a:extLst>
            </p:cNvPr>
            <p:cNvSpPr/>
            <p:nvPr/>
          </p:nvSpPr>
          <p:spPr>
            <a:xfrm rot="10800000">
              <a:off x="7447898" y="5578953"/>
              <a:ext cx="1315076" cy="281714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 w="7620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2DF08674-9766-4FAA-A43F-2C700D89531F}"/>
                </a:ext>
              </a:extLst>
            </p:cNvPr>
            <p:cNvSpPr/>
            <p:nvPr/>
          </p:nvSpPr>
          <p:spPr>
            <a:xfrm>
              <a:off x="7257390" y="6046379"/>
              <a:ext cx="167866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2020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年銷售額倍增</a:t>
              </a: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B908580F-F523-4F74-BEC5-41AF6D854BA8}"/>
                </a:ext>
              </a:extLst>
            </p:cNvPr>
            <p:cNvSpPr/>
            <p:nvPr/>
          </p:nvSpPr>
          <p:spPr>
            <a:xfrm>
              <a:off x="3506520" y="4647463"/>
              <a:ext cx="187852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因賓至如歸的服務</a:t>
              </a:r>
              <a:b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而成為本公司的粉絲！</a:t>
              </a: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383B668A-7F4E-4C6E-8AF5-0065B0201C90}"/>
                </a:ext>
              </a:extLst>
            </p:cNvPr>
            <p:cNvSpPr/>
            <p:nvPr/>
          </p:nvSpPr>
          <p:spPr>
            <a:xfrm>
              <a:off x="3506520" y="5815050"/>
              <a:ext cx="187852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受到回憶的刺激，</a:t>
              </a:r>
              <a:b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再次蒞臨本店</a:t>
              </a: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AEF67096-DDEB-47B2-BCDB-C28CDAE665CA}"/>
                </a:ext>
              </a:extLst>
            </p:cNvPr>
            <p:cNvSpPr/>
            <p:nvPr/>
          </p:nvSpPr>
          <p:spPr>
            <a:xfrm>
              <a:off x="3382158" y="4603205"/>
              <a:ext cx="2131210" cy="612818"/>
            </a:xfrm>
            <a:prstGeom prst="roundRect">
              <a:avLst/>
            </a:prstGeom>
            <a:noFill/>
            <a:ln w="190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四角形: 角を丸くする 49">
              <a:extLst>
                <a:ext uri="{FF2B5EF4-FFF2-40B4-BE49-F238E27FC236}">
                  <a16:creationId xmlns:a16="http://schemas.microsoft.com/office/drawing/2014/main" id="{C509B5B2-5CC5-47C3-9C7F-46D061CC155A}"/>
                </a:ext>
              </a:extLst>
            </p:cNvPr>
            <p:cNvSpPr/>
            <p:nvPr/>
          </p:nvSpPr>
          <p:spPr>
            <a:xfrm>
              <a:off x="3382158" y="5768510"/>
              <a:ext cx="2131210" cy="612818"/>
            </a:xfrm>
            <a:prstGeom prst="roundRect">
              <a:avLst/>
            </a:prstGeom>
            <a:noFill/>
            <a:ln w="190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四角形: 角を丸くする 50">
              <a:extLst>
                <a:ext uri="{FF2B5EF4-FFF2-40B4-BE49-F238E27FC236}">
                  <a16:creationId xmlns:a16="http://schemas.microsoft.com/office/drawing/2014/main" id="{95893CB3-AA08-421C-94CC-82BC6A8FAA16}"/>
                </a:ext>
              </a:extLst>
            </p:cNvPr>
            <p:cNvSpPr/>
            <p:nvPr/>
          </p:nvSpPr>
          <p:spPr>
            <a:xfrm>
              <a:off x="7155586" y="5949280"/>
              <a:ext cx="1901870" cy="481372"/>
            </a:xfrm>
            <a:prstGeom prst="roundRect">
              <a:avLst/>
            </a:prstGeom>
            <a:noFill/>
            <a:ln w="190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39275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赤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615</Words>
  <Application>Microsoft Office PowerPoint</Application>
  <PresentationFormat>A4 紙張 (210x297 公釐)</PresentationFormat>
  <Paragraphs>48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ＭＳ Ｐゴシック</vt:lpstr>
      <vt:lpstr>游ゴシック</vt:lpstr>
      <vt:lpstr>微軟正黑體</vt:lpstr>
      <vt:lpstr>Arial</vt:lpstr>
      <vt:lpstr>Calibri</vt:lpstr>
      <vt:lpstr>Times New Roman</vt:lpstr>
      <vt:lpstr>Office ​​テーマ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Yosie</cp:lastModifiedBy>
  <cp:revision>68</cp:revision>
  <dcterms:created xsi:type="dcterms:W3CDTF">2013-03-15T01:14:16Z</dcterms:created>
  <dcterms:modified xsi:type="dcterms:W3CDTF">2018-11-07T14:12:42Z</dcterms:modified>
</cp:coreProperties>
</file>