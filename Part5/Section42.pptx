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xmlns="" id="{18BAF17C-4B33-4A2D-A4E3-C3690FD61D04}"/>
              </a:ext>
            </a:extLst>
          </p:cNvPr>
          <p:cNvGrpSpPr/>
          <p:nvPr/>
        </p:nvGrpSpPr>
        <p:grpSpPr>
          <a:xfrm>
            <a:off x="1032386" y="460493"/>
            <a:ext cx="8133916" cy="6023858"/>
            <a:chOff x="1032386" y="460493"/>
            <a:chExt cx="8133916" cy="602385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xmlns="" id="{E770AFB9-03B0-44EF-AD5B-BEC4A7A5D247}"/>
                </a:ext>
              </a:extLst>
            </p:cNvPr>
            <p:cNvSpPr/>
            <p:nvPr/>
          </p:nvSpPr>
          <p:spPr>
            <a:xfrm>
              <a:off x="1167482" y="2882932"/>
              <a:ext cx="2404260" cy="360141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253613" y="1158696"/>
              <a:ext cx="77027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這是為了守護中小企業的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IT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業務和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IT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資產，以最低成本實現所需支援的服務。可以在不設置專任的社內</a:t>
              </a:r>
              <a:r>
                <a:rPr kumimoji="1"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SE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和</a:t>
              </a:r>
              <a:r>
                <a:rPr kumimoji="1"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IT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管理者的情況下，代替資訊系統部門，執行障礙時的緊急對應。可依照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電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腦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台數設定月額費用，並準備各種選項，依照客戶的需求簽約。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1253614" y="493156"/>
              <a:ext cx="76494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中小企業專用的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支援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xmlns="" id="{D0E70A3E-C133-439D-A3C8-D49B069B4366}"/>
                </a:ext>
              </a:extLst>
            </p:cNvPr>
            <p:cNvSpPr/>
            <p:nvPr/>
          </p:nvSpPr>
          <p:spPr>
            <a:xfrm>
              <a:off x="1032386" y="460493"/>
              <a:ext cx="221227" cy="5232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xmlns="" id="{EE20A916-50BF-48AD-BA83-9DB8EF9712E9}"/>
                </a:ext>
              </a:extLst>
            </p:cNvPr>
            <p:cNvSpPr/>
            <p:nvPr/>
          </p:nvSpPr>
          <p:spPr>
            <a:xfrm>
              <a:off x="3975913" y="2882932"/>
              <a:ext cx="2404260" cy="360141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5938F860-D64B-47CB-BA9A-6E95813DD7DD}"/>
                </a:ext>
              </a:extLst>
            </p:cNvPr>
            <p:cNvSpPr txBox="1"/>
            <p:nvPr/>
          </p:nvSpPr>
          <p:spPr>
            <a:xfrm>
              <a:off x="4227952" y="2476977"/>
              <a:ext cx="1877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契約專案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C0D8F455-6A50-4A1E-81D5-DE7C0CA9744D}"/>
                </a:ext>
              </a:extLst>
            </p:cNvPr>
            <p:cNvSpPr txBox="1"/>
            <p:nvPr/>
          </p:nvSpPr>
          <p:spPr>
            <a:xfrm>
              <a:off x="1428176" y="2476977"/>
              <a:ext cx="1877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支援開始準備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xmlns="" id="{08538DE0-121F-4338-B913-B1A71984BC81}"/>
                </a:ext>
              </a:extLst>
            </p:cNvPr>
            <p:cNvSpPr txBox="1"/>
            <p:nvPr/>
          </p:nvSpPr>
          <p:spPr>
            <a:xfrm>
              <a:off x="7025232" y="2476977"/>
              <a:ext cx="1877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ja-JP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運用</a:t>
              </a:r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xmlns="" id="{A9C9EF50-C282-43B1-B290-4D449D53AC4A}"/>
                </a:ext>
              </a:extLst>
            </p:cNvPr>
            <p:cNvSpPr/>
            <p:nvPr/>
          </p:nvSpPr>
          <p:spPr>
            <a:xfrm>
              <a:off x="1514026" y="3260411"/>
              <a:ext cx="1706180" cy="612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xmlns="" id="{CAC9AEAF-E724-4FB5-94EF-2F9DAE428791}"/>
                </a:ext>
              </a:extLst>
            </p:cNvPr>
            <p:cNvSpPr txBox="1"/>
            <p:nvPr/>
          </p:nvSpPr>
          <p:spPr>
            <a:xfrm>
              <a:off x="1592825" y="3416184"/>
              <a:ext cx="1548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現況調查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xmlns="" id="{39C23BDB-5632-438E-BF9A-593614DC5CC5}"/>
                </a:ext>
              </a:extLst>
            </p:cNvPr>
            <p:cNvSpPr/>
            <p:nvPr/>
          </p:nvSpPr>
          <p:spPr>
            <a:xfrm>
              <a:off x="1514026" y="4382511"/>
              <a:ext cx="1706180" cy="612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C4732EFC-DE59-481D-8CE6-17EEEA14A638}"/>
                </a:ext>
              </a:extLst>
            </p:cNvPr>
            <p:cNvSpPr txBox="1"/>
            <p:nvPr/>
          </p:nvSpPr>
          <p:spPr>
            <a:xfrm>
              <a:off x="1592825" y="4415174"/>
              <a:ext cx="1548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製作</a:t>
              </a:r>
              <a:endParaRPr lang="en-US" altLang="zh-TW" sz="16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管理手冊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xmlns="" id="{2FDCEE6D-644A-4561-98AF-BEE452856A54}"/>
                </a:ext>
              </a:extLst>
            </p:cNvPr>
            <p:cNvSpPr/>
            <p:nvPr/>
          </p:nvSpPr>
          <p:spPr>
            <a:xfrm>
              <a:off x="1514026" y="5504612"/>
              <a:ext cx="1706180" cy="612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AEA729AC-34F8-49B5-B7E9-6AD9A0F9D367}"/>
                </a:ext>
              </a:extLst>
            </p:cNvPr>
            <p:cNvSpPr txBox="1"/>
            <p:nvPr/>
          </p:nvSpPr>
          <p:spPr>
            <a:xfrm>
              <a:off x="1592825" y="5537275"/>
              <a:ext cx="1548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改善事項</a:t>
              </a:r>
              <a:endParaRPr lang="en-US" altLang="zh-TW" sz="16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spcAft>
                  <a:spcPts val="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的建議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xmlns="" id="{D49083B3-B9A0-4E0E-8CED-2B7B9D0C3CFF}"/>
                </a:ext>
              </a:extLst>
            </p:cNvPr>
            <p:cNvCxnSpPr>
              <a:cxnSpLocks/>
              <a:stCxn id="21" idx="2"/>
              <a:endCxn id="25" idx="0"/>
            </p:cNvCxnSpPr>
            <p:nvPr/>
          </p:nvCxnSpPr>
          <p:spPr>
            <a:xfrm>
              <a:off x="2367116" y="3872411"/>
              <a:ext cx="0" cy="510100"/>
            </a:xfrm>
            <a:prstGeom prst="straightConnector1">
              <a:avLst/>
            </a:prstGeom>
            <a:ln w="19050" cap="sq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xmlns="" id="{ADA79A83-96D9-4FAA-881B-6904FF9AB42C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>
              <a:off x="2367116" y="4994511"/>
              <a:ext cx="0" cy="510101"/>
            </a:xfrm>
            <a:prstGeom prst="straightConnector1">
              <a:avLst/>
            </a:prstGeom>
            <a:ln w="19050" cap="sq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xmlns="" id="{085D5E77-E254-4781-97F4-AB4BD0107CE1}"/>
                </a:ext>
              </a:extLst>
            </p:cNvPr>
            <p:cNvSpPr/>
            <p:nvPr/>
          </p:nvSpPr>
          <p:spPr>
            <a:xfrm>
              <a:off x="4324953" y="3260411"/>
              <a:ext cx="1706180" cy="61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xmlns="" id="{27A72815-025F-43D8-85A8-5B39C74E9DA2}"/>
                </a:ext>
              </a:extLst>
            </p:cNvPr>
            <p:cNvSpPr txBox="1"/>
            <p:nvPr/>
          </p:nvSpPr>
          <p:spPr>
            <a:xfrm>
              <a:off x="4403752" y="3293074"/>
              <a:ext cx="1548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</a:t>
              </a:r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執行</a:t>
              </a:r>
              <a:endParaRPr lang="en-US" altLang="zh-TW" sz="16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spcAft>
                  <a:spcPts val="0"/>
                </a:spcAft>
              </a:pPr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專案</a:t>
              </a:r>
              <a:endParaRPr lang="ja-JP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8D015A8D-9172-41B6-851C-7F8E9744D085}"/>
                </a:ext>
              </a:extLst>
            </p:cNvPr>
            <p:cNvSpPr/>
            <p:nvPr/>
          </p:nvSpPr>
          <p:spPr>
            <a:xfrm>
              <a:off x="4324953" y="4379517"/>
              <a:ext cx="1706180" cy="61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xmlns="" id="{C62B55AD-598F-45B8-9083-EEC131FBD072}"/>
                </a:ext>
              </a:extLst>
            </p:cNvPr>
            <p:cNvSpPr txBox="1"/>
            <p:nvPr/>
          </p:nvSpPr>
          <p:spPr>
            <a:xfrm>
              <a:off x="4403752" y="4415174"/>
              <a:ext cx="1548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緊急對應</a:t>
              </a:r>
              <a:r>
                <a:rPr lang="en-US" altLang="ja-JP" sz="16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 sz="16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專案</a:t>
              </a:r>
              <a:endParaRPr lang="ja-JP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xmlns="" id="{25728BAC-20AF-439F-83F8-309493DFFF95}"/>
                </a:ext>
              </a:extLst>
            </p:cNvPr>
            <p:cNvSpPr/>
            <p:nvPr/>
          </p:nvSpPr>
          <p:spPr>
            <a:xfrm>
              <a:off x="4324953" y="5504612"/>
              <a:ext cx="1706180" cy="612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xmlns="" id="{629809EB-601A-4E5F-9746-2CB17971BE40}"/>
                </a:ext>
              </a:extLst>
            </p:cNvPr>
            <p:cNvSpPr txBox="1"/>
            <p:nvPr/>
          </p:nvSpPr>
          <p:spPr>
            <a:xfrm>
              <a:off x="4403752" y="5641335"/>
              <a:ext cx="1548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6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選項專案</a:t>
              </a:r>
              <a:endParaRPr lang="ja-JP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二等辺三角形 51">
              <a:extLst>
                <a:ext uri="{FF2B5EF4-FFF2-40B4-BE49-F238E27FC236}">
                  <a16:creationId xmlns:a16="http://schemas.microsoft.com/office/drawing/2014/main" xmlns="" id="{1ED391C4-ACE8-40F9-9EF9-0E4405187148}"/>
                </a:ext>
              </a:extLst>
            </p:cNvPr>
            <p:cNvSpPr/>
            <p:nvPr/>
          </p:nvSpPr>
          <p:spPr>
            <a:xfrm rot="5400000">
              <a:off x="3079619" y="4586510"/>
              <a:ext cx="1388418" cy="290347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4F12C00F-6116-4CC3-A5A7-6D099F043BA1}"/>
                </a:ext>
              </a:extLst>
            </p:cNvPr>
            <p:cNvSpPr/>
            <p:nvPr/>
          </p:nvSpPr>
          <p:spPr>
            <a:xfrm>
              <a:off x="6762042" y="2882932"/>
              <a:ext cx="2404260" cy="360141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xmlns="" id="{A625A11B-F7F4-40F4-97C9-2C65BF71AE30}"/>
                </a:ext>
              </a:extLst>
            </p:cNvPr>
            <p:cNvSpPr/>
            <p:nvPr/>
          </p:nvSpPr>
          <p:spPr>
            <a:xfrm>
              <a:off x="6972000" y="3129851"/>
              <a:ext cx="1984344" cy="8731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xmlns="" id="{0A5E7EA6-6B18-45FF-A0B4-079D154A177C}"/>
                </a:ext>
              </a:extLst>
            </p:cNvPr>
            <p:cNvSpPr txBox="1"/>
            <p:nvPr/>
          </p:nvSpPr>
          <p:spPr>
            <a:xfrm>
              <a:off x="7025232" y="3266328"/>
              <a:ext cx="18778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根據</a:t>
              </a:r>
              <a:r>
                <a:rPr lang="en-US" altLang="ja-JP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NAS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、電子郵件伺服、雲端服務的用戶設定，代替執行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應用程式的對應與運用</a:t>
              </a:r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xmlns="" id="{508B0B52-340B-4AA6-A4B3-09A9CE462372}"/>
                </a:ext>
              </a:extLst>
            </p:cNvPr>
            <p:cNvSpPr/>
            <p:nvPr/>
          </p:nvSpPr>
          <p:spPr>
            <a:xfrm>
              <a:off x="6972000" y="5374053"/>
              <a:ext cx="1984344" cy="8731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xmlns="" id="{A65BC813-F43C-4057-BC97-91A4DB6ED0BC}"/>
                </a:ext>
              </a:extLst>
            </p:cNvPr>
            <p:cNvSpPr/>
            <p:nvPr/>
          </p:nvSpPr>
          <p:spPr>
            <a:xfrm>
              <a:off x="6972000" y="4248958"/>
              <a:ext cx="1984344" cy="8731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xmlns="" id="{895DD130-F84D-4145-B946-740EC4757AAC}"/>
                </a:ext>
              </a:extLst>
            </p:cNvPr>
            <p:cNvSpPr txBox="1"/>
            <p:nvPr/>
          </p:nvSpPr>
          <p:spPr>
            <a:xfrm>
              <a:off x="7025232" y="5450676"/>
              <a:ext cx="18778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ja-JP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PC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ja-JP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NW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機器、伺服器等障礙修復作業、再建構作業、</a:t>
              </a:r>
              <a:r>
                <a:rPr lang="ja-JP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再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LAN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建構、電腦設置作業等</a:t>
              </a:r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8" name="矢印: 右 87">
              <a:extLst>
                <a:ext uri="{FF2B5EF4-FFF2-40B4-BE49-F238E27FC236}">
                  <a16:creationId xmlns:a16="http://schemas.microsoft.com/office/drawing/2014/main" xmlns="" id="{FFB94DE8-42A5-4A1B-8746-78BE87AF974D}"/>
                </a:ext>
              </a:extLst>
            </p:cNvPr>
            <p:cNvSpPr/>
            <p:nvPr/>
          </p:nvSpPr>
          <p:spPr>
            <a:xfrm>
              <a:off x="6084364" y="3383587"/>
              <a:ext cx="887635" cy="360000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矢印: 右 88">
              <a:extLst>
                <a:ext uri="{FF2B5EF4-FFF2-40B4-BE49-F238E27FC236}">
                  <a16:creationId xmlns:a16="http://schemas.microsoft.com/office/drawing/2014/main" xmlns="" id="{6A1FF6E2-DC91-4746-AAE5-56D76E739082}"/>
                </a:ext>
              </a:extLst>
            </p:cNvPr>
            <p:cNvSpPr/>
            <p:nvPr/>
          </p:nvSpPr>
          <p:spPr>
            <a:xfrm>
              <a:off x="6084364" y="4511674"/>
              <a:ext cx="887635" cy="360000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矢印: 右 89">
              <a:extLst>
                <a:ext uri="{FF2B5EF4-FFF2-40B4-BE49-F238E27FC236}">
                  <a16:creationId xmlns:a16="http://schemas.microsoft.com/office/drawing/2014/main" xmlns="" id="{4F2DAC35-AB27-491B-8CFD-984D879087D3}"/>
                </a:ext>
              </a:extLst>
            </p:cNvPr>
            <p:cNvSpPr/>
            <p:nvPr/>
          </p:nvSpPr>
          <p:spPr>
            <a:xfrm>
              <a:off x="6084364" y="5633776"/>
              <a:ext cx="887635" cy="360000"/>
            </a:xfrm>
            <a:prstGeom prst="rightArrow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xmlns="" id="{CE2B7A84-35A4-4247-9CF1-1C423C4D1912}"/>
                </a:ext>
              </a:extLst>
            </p:cNvPr>
            <p:cNvSpPr txBox="1"/>
            <p:nvPr/>
          </p:nvSpPr>
          <p:spPr>
            <a:xfrm>
              <a:off x="7025232" y="4385435"/>
              <a:ext cx="18778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快速對應、透過遠端操作協助疑難排除，使設備更完善的輔助型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支援</a:t>
              </a:r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xmlns="" id="{E45F76B3-6C73-4681-97F2-C7A34D67732E}"/>
              </a:ext>
            </a:extLst>
          </p:cNvPr>
          <p:cNvGrpSpPr/>
          <p:nvPr/>
        </p:nvGrpSpPr>
        <p:grpSpPr>
          <a:xfrm>
            <a:off x="1032385" y="460493"/>
            <a:ext cx="8157206" cy="5738310"/>
            <a:chOff x="1032385" y="460493"/>
            <a:chExt cx="8157206" cy="5738310"/>
          </a:xfrm>
        </p:grpSpPr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xmlns="" id="{AB3D372E-2FED-44AA-90DD-75BC2A87DEC2}"/>
                </a:ext>
              </a:extLst>
            </p:cNvPr>
            <p:cNvSpPr txBox="1"/>
            <p:nvPr/>
          </p:nvSpPr>
          <p:spPr>
            <a:xfrm>
              <a:off x="1253614" y="493156"/>
              <a:ext cx="76494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ja-JP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</a:t>
              </a:r>
              <a:r>
                <a:rPr lang="ja-JP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率</a:t>
              </a:r>
              <a:r>
                <a:rPr lang="ja-JP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目標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xmlns="" id="{FD9A11B0-45AB-42CE-9A99-972BB33B5AE6}"/>
                </a:ext>
              </a:extLst>
            </p:cNvPr>
            <p:cNvSpPr/>
            <p:nvPr/>
          </p:nvSpPr>
          <p:spPr>
            <a:xfrm>
              <a:off x="1032386" y="460493"/>
              <a:ext cx="221227" cy="5232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xmlns="" id="{DBABA2AE-2B68-4F71-AB64-256EB1D44555}"/>
                </a:ext>
              </a:extLst>
            </p:cNvPr>
            <p:cNvSpPr txBox="1"/>
            <p:nvPr/>
          </p:nvSpPr>
          <p:spPr>
            <a:xfrm>
              <a:off x="1128251" y="1310516"/>
              <a:ext cx="80613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年後，透過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執行專案」和「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計劃」，實現銷售額的八成。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xmlns="" id="{954BDBC7-D2D3-4B58-83AB-45517FBD0D37}"/>
                </a:ext>
              </a:extLst>
            </p:cNvPr>
            <p:cNvSpPr/>
            <p:nvPr/>
          </p:nvSpPr>
          <p:spPr>
            <a:xfrm>
              <a:off x="1032386" y="3992435"/>
              <a:ext cx="1812161" cy="529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xmlns="" id="{EDFD8724-4A7B-4EBA-A0BE-ABB7B45845F6}"/>
                </a:ext>
              </a:extLst>
            </p:cNvPr>
            <p:cNvSpPr txBox="1"/>
            <p:nvPr/>
          </p:nvSpPr>
          <p:spPr>
            <a:xfrm>
              <a:off x="1114698" y="4141470"/>
              <a:ext cx="164753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代理執行專案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FE6B4495-FE81-4C8E-87F9-C3FA99EF57E2}"/>
                </a:ext>
              </a:extLst>
            </p:cNvPr>
            <p:cNvSpPr/>
            <p:nvPr/>
          </p:nvSpPr>
          <p:spPr>
            <a:xfrm>
              <a:off x="1032386" y="4556164"/>
              <a:ext cx="1812161" cy="12636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xmlns="" id="{8A465533-7F63-413B-B3CC-DC7990E7FBF0}"/>
                </a:ext>
              </a:extLst>
            </p:cNvPr>
            <p:cNvSpPr txBox="1"/>
            <p:nvPr/>
          </p:nvSpPr>
          <p:spPr>
            <a:xfrm>
              <a:off x="1114698" y="5072399"/>
              <a:ext cx="164753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緊急對應專案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xmlns="" id="{31CD52E8-4728-499D-85F5-65786C816040}"/>
                </a:ext>
              </a:extLst>
            </p:cNvPr>
            <p:cNvSpPr/>
            <p:nvPr/>
          </p:nvSpPr>
          <p:spPr>
            <a:xfrm flipV="1">
              <a:off x="1032386" y="5854311"/>
              <a:ext cx="1812161" cy="34449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A20838FA-6BBD-4FF6-9285-A5EE85C9F9FA}"/>
                </a:ext>
              </a:extLst>
            </p:cNvPr>
            <p:cNvSpPr txBox="1"/>
            <p:nvPr/>
          </p:nvSpPr>
          <p:spPr>
            <a:xfrm>
              <a:off x="1114698" y="5910992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選項專案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xmlns="" id="{671FD7B6-4718-43ED-9228-F6E0AF89ED14}"/>
                </a:ext>
              </a:extLst>
            </p:cNvPr>
            <p:cNvSpPr txBox="1"/>
            <p:nvPr/>
          </p:nvSpPr>
          <p:spPr>
            <a:xfrm>
              <a:off x="2271592" y="4276268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30%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xmlns="" id="{22CC3BE7-96A0-452B-8392-AB1E3833E194}"/>
                </a:ext>
              </a:extLst>
            </p:cNvPr>
            <p:cNvSpPr txBox="1"/>
            <p:nvPr/>
          </p:nvSpPr>
          <p:spPr>
            <a:xfrm>
              <a:off x="2271592" y="5561904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50%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339E79A5-8143-476B-B2D4-6869AF4C0679}"/>
                </a:ext>
              </a:extLst>
            </p:cNvPr>
            <p:cNvSpPr txBox="1"/>
            <p:nvPr/>
          </p:nvSpPr>
          <p:spPr>
            <a:xfrm>
              <a:off x="2271592" y="5952582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20%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xmlns="" id="{E4BA07AC-50BC-4E8E-AD32-9484A06E59C4}"/>
                </a:ext>
              </a:extLst>
            </p:cNvPr>
            <p:cNvSpPr/>
            <p:nvPr/>
          </p:nvSpPr>
          <p:spPr>
            <a:xfrm>
              <a:off x="7377430" y="3616004"/>
              <a:ext cx="1812161" cy="126286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xmlns="" id="{BE78ADA9-28B1-4FAD-8221-D4CE6768379F}"/>
                </a:ext>
              </a:extLst>
            </p:cNvPr>
            <p:cNvSpPr txBox="1"/>
            <p:nvPr/>
          </p:nvSpPr>
          <p:spPr>
            <a:xfrm>
              <a:off x="7459742" y="4140471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代理執行專案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xmlns="" id="{F4C35B53-37EE-4DDB-88BF-B8F80E1A41DF}"/>
                </a:ext>
              </a:extLst>
            </p:cNvPr>
            <p:cNvSpPr/>
            <p:nvPr/>
          </p:nvSpPr>
          <p:spPr>
            <a:xfrm>
              <a:off x="7377430" y="5473092"/>
              <a:ext cx="1812161" cy="3456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xmlns="" id="{785750C3-4244-4433-8388-AFC5D69650FD}"/>
                </a:ext>
              </a:extLst>
            </p:cNvPr>
            <p:cNvSpPr txBox="1"/>
            <p:nvPr/>
          </p:nvSpPr>
          <p:spPr>
            <a:xfrm>
              <a:off x="7459742" y="5530327"/>
              <a:ext cx="164753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緊急對應專案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xmlns="" id="{F0A07B0D-067E-4F60-B160-575FEFC0D5B4}"/>
                </a:ext>
              </a:extLst>
            </p:cNvPr>
            <p:cNvSpPr/>
            <p:nvPr/>
          </p:nvSpPr>
          <p:spPr>
            <a:xfrm>
              <a:off x="7377430" y="5852293"/>
              <a:ext cx="1812161" cy="34449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xmlns="" id="{72EC4278-EC1F-4DA9-81AD-EFEC4860F347}"/>
                </a:ext>
              </a:extLst>
            </p:cNvPr>
            <p:cNvSpPr txBox="1"/>
            <p:nvPr/>
          </p:nvSpPr>
          <p:spPr>
            <a:xfrm>
              <a:off x="7459742" y="5908974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選項專案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xmlns="" id="{971905A5-EEC4-4216-B7CF-4190D38D2713}"/>
                </a:ext>
              </a:extLst>
            </p:cNvPr>
            <p:cNvSpPr/>
            <p:nvPr/>
          </p:nvSpPr>
          <p:spPr>
            <a:xfrm>
              <a:off x="7377430" y="4920713"/>
              <a:ext cx="1812161" cy="529200"/>
            </a:xfrm>
            <a:prstGeom prst="rect">
              <a:avLst/>
            </a:prstGeom>
            <a:solidFill>
              <a:srgbClr val="0070C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xmlns="" id="{982CB9D7-78DA-4650-B555-7CC4C41F792F}"/>
                </a:ext>
              </a:extLst>
            </p:cNvPr>
            <p:cNvSpPr txBox="1"/>
            <p:nvPr/>
          </p:nvSpPr>
          <p:spPr>
            <a:xfrm>
              <a:off x="7459742" y="5069748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計劃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xmlns="" id="{5E728378-B5F6-4BFB-81F9-272495E20D31}"/>
                </a:ext>
              </a:extLst>
            </p:cNvPr>
            <p:cNvSpPr txBox="1"/>
            <p:nvPr/>
          </p:nvSpPr>
          <p:spPr>
            <a:xfrm>
              <a:off x="8616636" y="4627105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50%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xmlns="" id="{BA1AF803-E883-4C3A-AA56-80A74580AFCB}"/>
                </a:ext>
              </a:extLst>
            </p:cNvPr>
            <p:cNvSpPr txBox="1"/>
            <p:nvPr/>
          </p:nvSpPr>
          <p:spPr>
            <a:xfrm>
              <a:off x="8616636" y="5203692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30%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xmlns="" id="{1745EED9-8360-4D25-AA1F-9225DA586945}"/>
                </a:ext>
              </a:extLst>
            </p:cNvPr>
            <p:cNvSpPr txBox="1"/>
            <p:nvPr/>
          </p:nvSpPr>
          <p:spPr>
            <a:xfrm>
              <a:off x="8616636" y="5576151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10%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xmlns="" id="{008E5CA7-CA59-4101-BC24-E5CC238FC631}"/>
                </a:ext>
              </a:extLst>
            </p:cNvPr>
            <p:cNvSpPr txBox="1"/>
            <p:nvPr/>
          </p:nvSpPr>
          <p:spPr>
            <a:xfrm>
              <a:off x="8616636" y="5950563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10%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xmlns="" id="{04D87DA3-26F6-48B2-8E49-A2974C3255EF}"/>
                </a:ext>
              </a:extLst>
            </p:cNvPr>
            <p:cNvSpPr/>
            <p:nvPr/>
          </p:nvSpPr>
          <p:spPr>
            <a:xfrm>
              <a:off x="3298827" y="3616004"/>
              <a:ext cx="1812161" cy="126286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xmlns="" id="{67463F6C-3EC5-4914-838F-64242FB6764A}"/>
                </a:ext>
              </a:extLst>
            </p:cNvPr>
            <p:cNvSpPr txBox="1"/>
            <p:nvPr/>
          </p:nvSpPr>
          <p:spPr>
            <a:xfrm>
              <a:off x="3381139" y="4131872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代理執行專案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088DEB1C-F307-45B4-887D-4B39A2D7A015}"/>
                </a:ext>
              </a:extLst>
            </p:cNvPr>
            <p:cNvSpPr/>
            <p:nvPr/>
          </p:nvSpPr>
          <p:spPr>
            <a:xfrm>
              <a:off x="3298827" y="5295126"/>
              <a:ext cx="1812161" cy="5272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xmlns="" id="{9521F56A-B5F9-4C38-8030-63CD78724C99}"/>
                </a:ext>
              </a:extLst>
            </p:cNvPr>
            <p:cNvSpPr txBox="1"/>
            <p:nvPr/>
          </p:nvSpPr>
          <p:spPr>
            <a:xfrm>
              <a:off x="3381139" y="5443184"/>
              <a:ext cx="164753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緊急對應專案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xmlns="" id="{E558F30D-4EF0-419E-BBF9-59AE10081C05}"/>
                </a:ext>
              </a:extLst>
            </p:cNvPr>
            <p:cNvSpPr/>
            <p:nvPr/>
          </p:nvSpPr>
          <p:spPr>
            <a:xfrm>
              <a:off x="3298827" y="5852293"/>
              <a:ext cx="1812161" cy="34449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xmlns="" id="{99C7FCE7-9AD9-4C9B-917D-496175515363}"/>
                </a:ext>
              </a:extLst>
            </p:cNvPr>
            <p:cNvSpPr txBox="1"/>
            <p:nvPr/>
          </p:nvSpPr>
          <p:spPr>
            <a:xfrm>
              <a:off x="3381139" y="5908974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選項專案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xmlns="" id="{65AE8656-39B0-4A0B-BF57-AD9BD031D546}"/>
                </a:ext>
              </a:extLst>
            </p:cNvPr>
            <p:cNvSpPr/>
            <p:nvPr/>
          </p:nvSpPr>
          <p:spPr>
            <a:xfrm>
              <a:off x="3298827" y="4920713"/>
              <a:ext cx="1812161" cy="344492"/>
            </a:xfrm>
            <a:prstGeom prst="rect">
              <a:avLst/>
            </a:prstGeom>
            <a:solidFill>
              <a:srgbClr val="0070C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xmlns="" id="{42255097-0740-4EEF-B782-04C5B4097397}"/>
                </a:ext>
              </a:extLst>
            </p:cNvPr>
            <p:cNvSpPr txBox="1"/>
            <p:nvPr/>
          </p:nvSpPr>
          <p:spPr>
            <a:xfrm>
              <a:off x="3381139" y="4977394"/>
              <a:ext cx="16475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lang="zh-TW" altLang="en-US" sz="105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計劃</a:t>
              </a:r>
              <a:endParaRPr lang="ja-JP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xmlns="" id="{31AC9B04-882D-4590-871D-3C84DB155F18}"/>
                </a:ext>
              </a:extLst>
            </p:cNvPr>
            <p:cNvGrpSpPr/>
            <p:nvPr/>
          </p:nvGrpSpPr>
          <p:grpSpPr>
            <a:xfrm>
              <a:off x="3478200" y="4965707"/>
              <a:ext cx="352739" cy="252000"/>
              <a:chOff x="3478200" y="4980097"/>
              <a:chExt cx="352739" cy="252000"/>
            </a:xfrm>
          </p:grpSpPr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xmlns="" id="{8FD19EAE-B923-44D8-A2FB-37E0243840B6}"/>
                  </a:ext>
                </a:extLst>
              </p:cNvPr>
              <p:cNvSpPr txBox="1"/>
              <p:nvPr/>
            </p:nvSpPr>
            <p:spPr>
              <a:xfrm>
                <a:off x="3478200" y="4997251"/>
                <a:ext cx="352739" cy="227216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ctr">
                  <a:spcAft>
                    <a:spcPts val="0"/>
                  </a:spcAft>
                </a:pPr>
                <a:r>
                  <a:rPr lang="ja-JP" altLang="en-US" sz="1050" b="1" dirty="0">
                    <a:solidFill>
                      <a:schemeClr val="bg1"/>
                    </a:solidFill>
                  </a:rPr>
                  <a:t>新</a:t>
                </a:r>
              </a:p>
            </p:txBody>
          </p:sp>
          <p:sp>
            <p:nvSpPr>
              <p:cNvPr id="59" name="楕円 58">
                <a:extLst>
                  <a:ext uri="{FF2B5EF4-FFF2-40B4-BE49-F238E27FC236}">
                    <a16:creationId xmlns:a16="http://schemas.microsoft.com/office/drawing/2014/main" xmlns="" id="{877BCC45-0180-45A5-94BF-0B743795E80E}"/>
                  </a:ext>
                </a:extLst>
              </p:cNvPr>
              <p:cNvSpPr/>
              <p:nvPr/>
            </p:nvSpPr>
            <p:spPr>
              <a:xfrm>
                <a:off x="3528569" y="4980097"/>
                <a:ext cx="252000" cy="252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xmlns="" id="{E8065199-C7A1-4C96-AB2C-EDBDB378ABF5}"/>
                </a:ext>
              </a:extLst>
            </p:cNvPr>
            <p:cNvSpPr txBox="1"/>
            <p:nvPr/>
          </p:nvSpPr>
          <p:spPr>
            <a:xfrm>
              <a:off x="4538033" y="4627105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50%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xmlns="" id="{29AA8FF8-EEF2-4EE2-937A-C2DD5156F2CF}"/>
                </a:ext>
              </a:extLst>
            </p:cNvPr>
            <p:cNvSpPr txBox="1"/>
            <p:nvPr/>
          </p:nvSpPr>
          <p:spPr>
            <a:xfrm>
              <a:off x="4538033" y="5013971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10%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xmlns="" id="{EB0B56BE-254F-46F0-A1BC-59D6D026933D}"/>
                </a:ext>
              </a:extLst>
            </p:cNvPr>
            <p:cNvSpPr txBox="1"/>
            <p:nvPr/>
          </p:nvSpPr>
          <p:spPr>
            <a:xfrm>
              <a:off x="4538033" y="5576151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30%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xmlns="" id="{3B5EDF81-AA68-4319-A3E7-D65C048FE94C}"/>
                </a:ext>
              </a:extLst>
            </p:cNvPr>
            <p:cNvSpPr txBox="1"/>
            <p:nvPr/>
          </p:nvSpPr>
          <p:spPr>
            <a:xfrm>
              <a:off x="4538033" y="5950564"/>
              <a:ext cx="572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000" dirty="0">
                  <a:solidFill>
                    <a:schemeClr val="bg1"/>
                  </a:solidFill>
                </a:rPr>
                <a:t>10%</a:t>
              </a:r>
              <a:endParaRPr lang="ja-JP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xmlns="" id="{2A4E9AFC-6D7A-4782-9C74-BAFD3BA6718A}"/>
                </a:ext>
              </a:extLst>
            </p:cNvPr>
            <p:cNvSpPr txBox="1"/>
            <p:nvPr/>
          </p:nvSpPr>
          <p:spPr>
            <a:xfrm>
              <a:off x="1032385" y="2955308"/>
              <a:ext cx="18121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本期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xmlns="" id="{9B5E8F33-7F6A-4365-A9D8-130180DC22DD}"/>
                </a:ext>
              </a:extLst>
            </p:cNvPr>
            <p:cNvSpPr txBox="1"/>
            <p:nvPr/>
          </p:nvSpPr>
          <p:spPr>
            <a:xfrm>
              <a:off x="3298827" y="2955308"/>
              <a:ext cx="18121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年後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xmlns="" id="{EADF89D7-E99D-4370-9738-108CAAF4340E}"/>
                </a:ext>
              </a:extLst>
            </p:cNvPr>
            <p:cNvSpPr txBox="1"/>
            <p:nvPr/>
          </p:nvSpPr>
          <p:spPr>
            <a:xfrm>
              <a:off x="7377430" y="2955308"/>
              <a:ext cx="18121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年後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xmlns="" id="{E20E22C0-21D1-4E64-8376-7EF8644E104A}"/>
                </a:ext>
              </a:extLst>
            </p:cNvPr>
            <p:cNvGrpSpPr/>
            <p:nvPr/>
          </p:nvGrpSpPr>
          <p:grpSpPr>
            <a:xfrm>
              <a:off x="5432988" y="5199702"/>
              <a:ext cx="1628467" cy="432000"/>
              <a:chOff x="5447975" y="5360349"/>
              <a:chExt cx="1628467" cy="432000"/>
            </a:xfrm>
          </p:grpSpPr>
          <p:sp>
            <p:nvSpPr>
              <p:cNvPr id="66" name="二等辺三角形 65">
                <a:extLst>
                  <a:ext uri="{FF2B5EF4-FFF2-40B4-BE49-F238E27FC236}">
                    <a16:creationId xmlns:a16="http://schemas.microsoft.com/office/drawing/2014/main" xmlns="" id="{6B9F05CE-B9B8-4E3E-A34B-DBED50FDC278}"/>
                  </a:ext>
                </a:extLst>
              </p:cNvPr>
              <p:cNvSpPr/>
              <p:nvPr/>
            </p:nvSpPr>
            <p:spPr>
              <a:xfrm rot="5400000">
                <a:off x="5339975" y="5468349"/>
                <a:ext cx="432000" cy="21600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7" name="二等辺三角形 66">
                <a:extLst>
                  <a:ext uri="{FF2B5EF4-FFF2-40B4-BE49-F238E27FC236}">
                    <a16:creationId xmlns:a16="http://schemas.microsoft.com/office/drawing/2014/main" xmlns="" id="{A0FCC701-4F3B-4D27-973E-986EBC362CB9}"/>
                  </a:ext>
                </a:extLst>
              </p:cNvPr>
              <p:cNvSpPr/>
              <p:nvPr/>
            </p:nvSpPr>
            <p:spPr>
              <a:xfrm rot="5400000">
                <a:off x="5693092" y="5468349"/>
                <a:ext cx="432000" cy="21600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二等辺三角形 67">
                <a:extLst>
                  <a:ext uri="{FF2B5EF4-FFF2-40B4-BE49-F238E27FC236}">
                    <a16:creationId xmlns:a16="http://schemas.microsoft.com/office/drawing/2014/main" xmlns="" id="{505AED15-2752-488F-BA5E-561DFD82D286}"/>
                  </a:ext>
                </a:extLst>
              </p:cNvPr>
              <p:cNvSpPr/>
              <p:nvPr/>
            </p:nvSpPr>
            <p:spPr>
              <a:xfrm rot="5400000">
                <a:off x="6046209" y="5468349"/>
                <a:ext cx="432000" cy="21600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二等辺三角形 68">
                <a:extLst>
                  <a:ext uri="{FF2B5EF4-FFF2-40B4-BE49-F238E27FC236}">
                    <a16:creationId xmlns:a16="http://schemas.microsoft.com/office/drawing/2014/main" xmlns="" id="{B642FA7A-15E5-4EBD-AA90-2165FBAE092E}"/>
                  </a:ext>
                </a:extLst>
              </p:cNvPr>
              <p:cNvSpPr/>
              <p:nvPr/>
            </p:nvSpPr>
            <p:spPr>
              <a:xfrm rot="5400000">
                <a:off x="6399326" y="5468349"/>
                <a:ext cx="432000" cy="21600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0" name="二等辺三角形 69">
                <a:extLst>
                  <a:ext uri="{FF2B5EF4-FFF2-40B4-BE49-F238E27FC236}">
                    <a16:creationId xmlns:a16="http://schemas.microsoft.com/office/drawing/2014/main" xmlns="" id="{F6D155EB-5916-48F0-96BA-17B01FA78A1D}"/>
                  </a:ext>
                </a:extLst>
              </p:cNvPr>
              <p:cNvSpPr/>
              <p:nvPr/>
            </p:nvSpPr>
            <p:spPr>
              <a:xfrm rot="5400000">
                <a:off x="6752442" y="5468349"/>
                <a:ext cx="432000" cy="21600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xmlns="" id="{53B48D1F-2A3C-4010-A316-8AF4F68A9CAE}"/>
                </a:ext>
              </a:extLst>
            </p:cNvPr>
            <p:cNvGrpSpPr/>
            <p:nvPr/>
          </p:nvGrpSpPr>
          <p:grpSpPr>
            <a:xfrm>
              <a:off x="7562691" y="5073702"/>
              <a:ext cx="352739" cy="252000"/>
              <a:chOff x="3478200" y="4980097"/>
              <a:chExt cx="352739" cy="252000"/>
            </a:xfrm>
          </p:grpSpPr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xmlns="" id="{01481C77-2FA5-46F1-AFE4-388FC3F284F3}"/>
                  </a:ext>
                </a:extLst>
              </p:cNvPr>
              <p:cNvSpPr txBox="1"/>
              <p:nvPr/>
            </p:nvSpPr>
            <p:spPr>
              <a:xfrm>
                <a:off x="3478200" y="4997251"/>
                <a:ext cx="352739" cy="227216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ctr">
                  <a:spcAft>
                    <a:spcPts val="0"/>
                  </a:spcAft>
                </a:pPr>
                <a:r>
                  <a:rPr lang="ja-JP" altLang="en-US" sz="1050" b="1" dirty="0">
                    <a:solidFill>
                      <a:schemeClr val="bg1"/>
                    </a:solidFill>
                  </a:rPr>
                  <a:t>新</a:t>
                </a:r>
              </a:p>
            </p:txBody>
          </p:sp>
          <p:sp>
            <p:nvSpPr>
              <p:cNvPr id="62" name="楕円 61">
                <a:extLst>
                  <a:ext uri="{FF2B5EF4-FFF2-40B4-BE49-F238E27FC236}">
                    <a16:creationId xmlns:a16="http://schemas.microsoft.com/office/drawing/2014/main" xmlns="" id="{21B4FF22-9330-480F-8E75-4D2F8D032221}"/>
                  </a:ext>
                </a:extLst>
              </p:cNvPr>
              <p:cNvSpPr/>
              <p:nvPr/>
            </p:nvSpPr>
            <p:spPr>
              <a:xfrm>
                <a:off x="3528569" y="4980097"/>
                <a:ext cx="252000" cy="252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05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924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E4AC2D2C-475A-4207-9454-D06249D3A7C0}"/>
              </a:ext>
            </a:extLst>
          </p:cNvPr>
          <p:cNvGrpSpPr/>
          <p:nvPr/>
        </p:nvGrpSpPr>
        <p:grpSpPr>
          <a:xfrm>
            <a:off x="1032386" y="460493"/>
            <a:ext cx="8145068" cy="6115225"/>
            <a:chOff x="1032386" y="460493"/>
            <a:chExt cx="8145068" cy="6115225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xmlns="" id="{1D9B5F9C-7069-4AF3-9D2D-75E2EC55F13E}"/>
                </a:ext>
              </a:extLst>
            </p:cNvPr>
            <p:cNvSpPr/>
            <p:nvPr/>
          </p:nvSpPr>
          <p:spPr>
            <a:xfrm>
              <a:off x="1167481" y="2049097"/>
              <a:ext cx="3626587" cy="45266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CAF6501C-3F4D-49BA-8775-9FF009FAA90A}"/>
                </a:ext>
              </a:extLst>
            </p:cNvPr>
            <p:cNvSpPr txBox="1"/>
            <p:nvPr/>
          </p:nvSpPr>
          <p:spPr>
            <a:xfrm>
              <a:off x="2043445" y="1515176"/>
              <a:ext cx="187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本期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xmlns="" id="{FBB660BF-5941-4CF8-BA6A-F508D135BFC3}"/>
                </a:ext>
              </a:extLst>
            </p:cNvPr>
            <p:cNvSpPr/>
            <p:nvPr/>
          </p:nvSpPr>
          <p:spPr>
            <a:xfrm>
              <a:off x="1647607" y="2430651"/>
              <a:ext cx="2666333" cy="88379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83F9C9BB-9AF1-4865-9B69-30DDD37EF091}"/>
                </a:ext>
              </a:extLst>
            </p:cNvPr>
            <p:cNvSpPr txBox="1"/>
            <p:nvPr/>
          </p:nvSpPr>
          <p:spPr>
            <a:xfrm>
              <a:off x="1827607" y="2710185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代理執行專案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C83A4240-FAD5-45D0-AC7D-4861423DF5D2}"/>
                </a:ext>
              </a:extLst>
            </p:cNvPr>
            <p:cNvSpPr/>
            <p:nvPr/>
          </p:nvSpPr>
          <p:spPr>
            <a:xfrm>
              <a:off x="1647607" y="3375114"/>
              <a:ext cx="2666333" cy="205367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047237CF-C2AE-4E1C-8E1C-FB002AD0AAC1}"/>
                </a:ext>
              </a:extLst>
            </p:cNvPr>
            <p:cNvSpPr txBox="1"/>
            <p:nvPr/>
          </p:nvSpPr>
          <p:spPr>
            <a:xfrm>
              <a:off x="1827607" y="4239588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緊急</a:t>
              </a:r>
              <a:r>
                <a:rPr lang="zh-TW" altLang="en-US" sz="1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對應</a:t>
              </a:r>
              <a:r>
                <a:rPr lang="zh-TW" altLang="en-US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專案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1ECB6B03-EED5-432A-945C-DDCA31FD11A1}"/>
                </a:ext>
              </a:extLst>
            </p:cNvPr>
            <p:cNvSpPr/>
            <p:nvPr/>
          </p:nvSpPr>
          <p:spPr>
            <a:xfrm>
              <a:off x="1647607" y="5490000"/>
              <a:ext cx="2666333" cy="66767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1F9551C0-BF57-461E-B6D1-F60BF5F1985E}"/>
                </a:ext>
              </a:extLst>
            </p:cNvPr>
            <p:cNvSpPr txBox="1"/>
            <p:nvPr/>
          </p:nvSpPr>
          <p:spPr>
            <a:xfrm>
              <a:off x="1827607" y="5661475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選項專案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xmlns="" id="{AB3D372E-2FED-44AA-90DD-75BC2A87DEC2}"/>
                </a:ext>
              </a:extLst>
            </p:cNvPr>
            <p:cNvSpPr txBox="1"/>
            <p:nvPr/>
          </p:nvSpPr>
          <p:spPr>
            <a:xfrm>
              <a:off x="1253614" y="493156"/>
              <a:ext cx="76494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ja-JP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</a:t>
              </a:r>
              <a:r>
                <a:rPr lang="ja-JP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率目標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xmlns="" id="{FD9A11B0-45AB-42CE-9A99-972BB33B5AE6}"/>
                </a:ext>
              </a:extLst>
            </p:cNvPr>
            <p:cNvSpPr/>
            <p:nvPr/>
          </p:nvSpPr>
          <p:spPr>
            <a:xfrm>
              <a:off x="1032386" y="460493"/>
              <a:ext cx="221227" cy="5232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xmlns="" id="{4F7374F4-DADA-4A82-8D24-13131BF0D9B1}"/>
                </a:ext>
              </a:extLst>
            </p:cNvPr>
            <p:cNvSpPr/>
            <p:nvPr/>
          </p:nvSpPr>
          <p:spPr>
            <a:xfrm>
              <a:off x="5550867" y="2049098"/>
              <a:ext cx="3626587" cy="45266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xmlns="" id="{83684E8F-5964-48BD-8D73-AA0E79C91A59}"/>
                </a:ext>
              </a:extLst>
            </p:cNvPr>
            <p:cNvSpPr txBox="1"/>
            <p:nvPr/>
          </p:nvSpPr>
          <p:spPr>
            <a:xfrm>
              <a:off x="6425220" y="1515176"/>
              <a:ext cx="187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年後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xmlns="" id="{25687514-FF45-478C-998C-80586E4FC66F}"/>
                </a:ext>
              </a:extLst>
            </p:cNvPr>
            <p:cNvCxnSpPr>
              <a:cxnSpLocks/>
              <a:stCxn id="6" idx="3"/>
              <a:endCxn id="55" idx="1"/>
            </p:cNvCxnSpPr>
            <p:nvPr/>
          </p:nvCxnSpPr>
          <p:spPr>
            <a:xfrm>
              <a:off x="4313940" y="2872550"/>
              <a:ext cx="1717053" cy="459441"/>
            </a:xfrm>
            <a:prstGeom prst="straightConnector1">
              <a:avLst/>
            </a:prstGeom>
            <a:ln w="76200" cap="sq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xmlns="" id="{5DE3A5CB-FAA8-4BFD-BC17-5FFCE724A4BF}"/>
                </a:ext>
              </a:extLst>
            </p:cNvPr>
            <p:cNvCxnSpPr>
              <a:cxnSpLocks/>
              <a:stCxn id="6" idx="3"/>
              <a:endCxn id="61" idx="1"/>
            </p:cNvCxnSpPr>
            <p:nvPr/>
          </p:nvCxnSpPr>
          <p:spPr>
            <a:xfrm>
              <a:off x="4313940" y="2872550"/>
              <a:ext cx="1717053" cy="1679498"/>
            </a:xfrm>
            <a:prstGeom prst="straightConnector1">
              <a:avLst/>
            </a:prstGeom>
            <a:ln w="19050" cap="sq"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矢印コネクタ 72">
              <a:extLst>
                <a:ext uri="{FF2B5EF4-FFF2-40B4-BE49-F238E27FC236}">
                  <a16:creationId xmlns:a16="http://schemas.microsoft.com/office/drawing/2014/main" xmlns="" id="{9C0D4DC8-B462-4E4B-8099-0E0111C0D98B}"/>
                </a:ext>
              </a:extLst>
            </p:cNvPr>
            <p:cNvCxnSpPr>
              <a:cxnSpLocks/>
              <a:stCxn id="8" idx="3"/>
              <a:endCxn id="57" idx="1"/>
            </p:cNvCxnSpPr>
            <p:nvPr/>
          </p:nvCxnSpPr>
          <p:spPr>
            <a:xfrm>
              <a:off x="4313940" y="4401953"/>
              <a:ext cx="1717053" cy="823418"/>
            </a:xfrm>
            <a:prstGeom prst="straightConnector1">
              <a:avLst/>
            </a:prstGeom>
            <a:ln w="28575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xmlns="" id="{ED861596-7A40-47BE-BA85-4FDCC7C51D91}"/>
                </a:ext>
              </a:extLst>
            </p:cNvPr>
            <p:cNvCxnSpPr>
              <a:cxnSpLocks/>
              <a:stCxn id="10" idx="3"/>
              <a:endCxn id="59" idx="1"/>
            </p:cNvCxnSpPr>
            <p:nvPr/>
          </p:nvCxnSpPr>
          <p:spPr>
            <a:xfrm>
              <a:off x="4313940" y="5823839"/>
              <a:ext cx="1717053" cy="87499"/>
            </a:xfrm>
            <a:prstGeom prst="straightConnector1">
              <a:avLst/>
            </a:prstGeom>
            <a:ln w="1905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xmlns="" id="{CC36A2A5-6EF5-4BA2-ABC4-0D13886916F5}"/>
                </a:ext>
              </a:extLst>
            </p:cNvPr>
            <p:cNvSpPr/>
            <p:nvPr/>
          </p:nvSpPr>
          <p:spPr>
            <a:xfrm>
              <a:off x="6030993" y="2430651"/>
              <a:ext cx="2666333" cy="180267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xmlns="" id="{DC8FB487-9C48-43CA-850A-F57EBC09ECA1}"/>
                </a:ext>
              </a:extLst>
            </p:cNvPr>
            <p:cNvSpPr txBox="1"/>
            <p:nvPr/>
          </p:nvSpPr>
          <p:spPr>
            <a:xfrm>
              <a:off x="6221445" y="3169626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代理執行專案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xmlns="" id="{C4BA526F-BC69-467C-9A4E-539BAA415207}"/>
                </a:ext>
              </a:extLst>
            </p:cNvPr>
            <p:cNvSpPr/>
            <p:nvPr/>
          </p:nvSpPr>
          <p:spPr>
            <a:xfrm>
              <a:off x="6030993" y="4849062"/>
              <a:ext cx="2666333" cy="75261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xmlns="" id="{E827C99A-9953-4D0E-AAFF-DC6CF7D5AD8C}"/>
                </a:ext>
              </a:extLst>
            </p:cNvPr>
            <p:cNvSpPr txBox="1"/>
            <p:nvPr/>
          </p:nvSpPr>
          <p:spPr>
            <a:xfrm>
              <a:off x="6221445" y="5063006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緊急對應專案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xmlns="" id="{C28E5AED-E8D0-49EF-AB51-3E7C84CD6E1E}"/>
                </a:ext>
              </a:extLst>
            </p:cNvPr>
            <p:cNvSpPr/>
            <p:nvPr/>
          </p:nvSpPr>
          <p:spPr>
            <a:xfrm>
              <a:off x="6030993" y="5665465"/>
              <a:ext cx="2666333" cy="49174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xmlns="" id="{71347266-F02F-4072-AB0B-99EBC18EDEBD}"/>
                </a:ext>
              </a:extLst>
            </p:cNvPr>
            <p:cNvSpPr txBox="1"/>
            <p:nvPr/>
          </p:nvSpPr>
          <p:spPr>
            <a:xfrm>
              <a:off x="6221445" y="5748973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選項專案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xmlns="" id="{A01A05BF-34D7-4BA0-B0B5-36209951130A}"/>
                </a:ext>
              </a:extLst>
            </p:cNvPr>
            <p:cNvSpPr/>
            <p:nvPr/>
          </p:nvSpPr>
          <p:spPr>
            <a:xfrm>
              <a:off x="6030993" y="4306175"/>
              <a:ext cx="2666333" cy="491746"/>
            </a:xfrm>
            <a:prstGeom prst="rect">
              <a:avLst/>
            </a:prstGeom>
            <a:solidFill>
              <a:srgbClr val="0070C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xmlns="" id="{2B84E540-E57F-4690-A0B7-C97CB27F5852}"/>
                </a:ext>
              </a:extLst>
            </p:cNvPr>
            <p:cNvSpPr txBox="1"/>
            <p:nvPr/>
          </p:nvSpPr>
          <p:spPr>
            <a:xfrm>
              <a:off x="6221445" y="4389684"/>
              <a:ext cx="22854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</a:t>
              </a:r>
              <a:r>
                <a:rPr lang="zh-TW" altLang="en-US" sz="1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計劃</a:t>
              </a:r>
              <a:endParaRPr lang="ja-JP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xmlns="" id="{337E5149-7F6B-4B6E-B8DA-22119AEA1719}"/>
                </a:ext>
              </a:extLst>
            </p:cNvPr>
            <p:cNvGrpSpPr/>
            <p:nvPr/>
          </p:nvGrpSpPr>
          <p:grpSpPr>
            <a:xfrm>
              <a:off x="6382348" y="4369101"/>
              <a:ext cx="397020" cy="365895"/>
              <a:chOff x="6705418" y="2609827"/>
              <a:chExt cx="375231" cy="365895"/>
            </a:xfrm>
          </p:grpSpPr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xmlns="" id="{1E20C097-C5E9-49E8-B272-693E2BCE2962}"/>
                  </a:ext>
                </a:extLst>
              </p:cNvPr>
              <p:cNvSpPr txBox="1"/>
              <p:nvPr/>
            </p:nvSpPr>
            <p:spPr>
              <a:xfrm>
                <a:off x="6705418" y="2629488"/>
                <a:ext cx="375231" cy="346234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ctr">
                  <a:spcAft>
                    <a:spcPts val="0"/>
                  </a:spcAft>
                </a:pPr>
                <a:r>
                  <a:rPr lang="ja-JP" altLang="en-US" sz="1600" b="1" dirty="0">
                    <a:solidFill>
                      <a:schemeClr val="bg1"/>
                    </a:solidFill>
                  </a:rPr>
                  <a:t>新</a:t>
                </a:r>
              </a:p>
            </p:txBody>
          </p:sp>
          <p:sp>
            <p:nvSpPr>
              <p:cNvPr id="114" name="楕円 113">
                <a:extLst>
                  <a:ext uri="{FF2B5EF4-FFF2-40B4-BE49-F238E27FC236}">
                    <a16:creationId xmlns:a16="http://schemas.microsoft.com/office/drawing/2014/main" xmlns="" id="{F519808B-37F2-4AAD-A191-7C5EA5F49776}"/>
                  </a:ext>
                </a:extLst>
              </p:cNvPr>
              <p:cNvSpPr/>
              <p:nvPr/>
            </p:nvSpPr>
            <p:spPr>
              <a:xfrm>
                <a:off x="6713033" y="2609827"/>
                <a:ext cx="360000" cy="360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xmlns="" id="{978EB565-4009-4470-93F6-9979A4E9EC7F}"/>
                </a:ext>
              </a:extLst>
            </p:cNvPr>
            <p:cNvSpPr txBox="1"/>
            <p:nvPr/>
          </p:nvSpPr>
          <p:spPr>
            <a:xfrm>
              <a:off x="3638274" y="2988195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30%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3" name="テキスト ボックス 132">
              <a:extLst>
                <a:ext uri="{FF2B5EF4-FFF2-40B4-BE49-F238E27FC236}">
                  <a16:creationId xmlns:a16="http://schemas.microsoft.com/office/drawing/2014/main" xmlns="" id="{12828763-1118-4783-A287-0C52E2B2EE8A}"/>
                </a:ext>
              </a:extLst>
            </p:cNvPr>
            <p:cNvSpPr txBox="1"/>
            <p:nvPr/>
          </p:nvSpPr>
          <p:spPr>
            <a:xfrm>
              <a:off x="3638274" y="5118466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50%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xmlns="" id="{ADD1E371-0E54-455B-A392-2AC8BDF15EFB}"/>
                </a:ext>
              </a:extLst>
            </p:cNvPr>
            <p:cNvSpPr txBox="1"/>
            <p:nvPr/>
          </p:nvSpPr>
          <p:spPr>
            <a:xfrm>
              <a:off x="3638274" y="5834979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20%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5" name="テキスト ボックス 134">
              <a:extLst>
                <a:ext uri="{FF2B5EF4-FFF2-40B4-BE49-F238E27FC236}">
                  <a16:creationId xmlns:a16="http://schemas.microsoft.com/office/drawing/2014/main" xmlns="" id="{7B818B44-59FD-4098-97C7-4F145E0FF8FE}"/>
                </a:ext>
              </a:extLst>
            </p:cNvPr>
            <p:cNvSpPr txBox="1"/>
            <p:nvPr/>
          </p:nvSpPr>
          <p:spPr>
            <a:xfrm>
              <a:off x="8021660" y="3924684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50%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6" name="テキスト ボックス 135">
              <a:extLst>
                <a:ext uri="{FF2B5EF4-FFF2-40B4-BE49-F238E27FC236}">
                  <a16:creationId xmlns:a16="http://schemas.microsoft.com/office/drawing/2014/main" xmlns="" id="{EF170E47-489C-44E8-BA5D-2045852E5FBB}"/>
                </a:ext>
              </a:extLst>
            </p:cNvPr>
            <p:cNvSpPr txBox="1"/>
            <p:nvPr/>
          </p:nvSpPr>
          <p:spPr>
            <a:xfrm>
              <a:off x="8021660" y="4483132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10%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xmlns="" id="{22DCDCD2-6C22-4290-896F-BBF57FCC1C73}"/>
                </a:ext>
              </a:extLst>
            </p:cNvPr>
            <p:cNvSpPr txBox="1"/>
            <p:nvPr/>
          </p:nvSpPr>
          <p:spPr>
            <a:xfrm>
              <a:off x="8021660" y="5293902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30%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xmlns="" id="{43D2F83F-00B5-4455-B851-5590655909D6}"/>
                </a:ext>
              </a:extLst>
            </p:cNvPr>
            <p:cNvSpPr txBox="1"/>
            <p:nvPr/>
          </p:nvSpPr>
          <p:spPr>
            <a:xfrm>
              <a:off x="8021660" y="5846141"/>
              <a:ext cx="6756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1400" dirty="0">
                  <a:solidFill>
                    <a:schemeClr val="bg1"/>
                  </a:solidFill>
                </a:rPr>
                <a:t>10%</a:t>
              </a:r>
              <a:endParaRPr lang="ja-JP" alt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80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670</TotalTime>
  <Words>289</Words>
  <Application>Microsoft Office PowerPoint</Application>
  <PresentationFormat>A4 紙張 (210x297 公釐)</PresentationFormat>
  <Paragraphs>64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71</cp:revision>
  <dcterms:created xsi:type="dcterms:W3CDTF">2017-11-09T07:26:57Z</dcterms:created>
  <dcterms:modified xsi:type="dcterms:W3CDTF">2018-09-24T14:17:45Z</dcterms:modified>
</cp:coreProperties>
</file>