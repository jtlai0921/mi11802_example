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7" r:id="rId3"/>
    <p:sldId id="261" r:id="rId4"/>
    <p:sldId id="260" r:id="rId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1C08DBA-41C9-4D41-9E5E-54C10EAD486C}"/>
              </a:ext>
            </a:extLst>
          </p:cNvPr>
          <p:cNvGrpSpPr/>
          <p:nvPr/>
        </p:nvGrpSpPr>
        <p:grpSpPr>
          <a:xfrm>
            <a:off x="916279" y="670327"/>
            <a:ext cx="8731499" cy="5453573"/>
            <a:chOff x="916279" y="670327"/>
            <a:chExt cx="8731499" cy="5453573"/>
          </a:xfrm>
        </p:grpSpPr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1D536373-30F3-4106-997D-4CB68C6DB84F}"/>
                </a:ext>
              </a:extLst>
            </p:cNvPr>
            <p:cNvSpPr txBox="1"/>
            <p:nvPr/>
          </p:nvSpPr>
          <p:spPr>
            <a:xfrm>
              <a:off x="1386704" y="670327"/>
              <a:ext cx="713259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3200">
                  <a:solidFill>
                    <a:schemeClr val="accent6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次世代汽車的需求</a:t>
              </a:r>
              <a:endParaRPr lang="ja-JP" altLang="en-US" sz="3200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3915805C-6E91-48D2-862D-00D2F1FE9BB3}"/>
                </a:ext>
              </a:extLst>
            </p:cNvPr>
            <p:cNvSpPr txBox="1"/>
            <p:nvPr/>
          </p:nvSpPr>
          <p:spPr>
            <a:xfrm>
              <a:off x="3573516" y="2018306"/>
              <a:ext cx="32014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dirty="0" err="1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Nox</a:t>
              </a:r>
              <a:r>
                <a:rPr kumimoji="1" lang="ja-JP" altLang="en-US" sz="2000" dirty="0" err="1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、</a:t>
              </a:r>
              <a:r>
                <a:rPr kumimoji="1" lang="en-US" altLang="ja-JP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Sox</a:t>
              </a:r>
              <a:r>
                <a:rPr kumimoji="1" lang="ja-JP" altLang="en-US" sz="2000" dirty="0" err="1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、</a:t>
              </a:r>
              <a:r>
                <a:rPr kumimoji="1" lang="en-US" altLang="ja-JP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PM</a:t>
              </a:r>
              <a:r>
                <a:rPr kumimoji="1" lang="ja-JP" altLang="en-US" sz="2000" dirty="0" err="1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、</a:t>
              </a:r>
              <a:r>
                <a:rPr kumimoji="1" lang="en-US" altLang="ja-JP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CO2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6" name="矢印: 右 15">
              <a:extLst>
                <a:ext uri="{FF2B5EF4-FFF2-40B4-BE49-F238E27FC236}">
                  <a16:creationId xmlns:a16="http://schemas.microsoft.com/office/drawing/2014/main" id="{B203496F-CB64-48F7-A7F3-968F48114634}"/>
                </a:ext>
              </a:extLst>
            </p:cNvPr>
            <p:cNvSpPr/>
            <p:nvPr/>
          </p:nvSpPr>
          <p:spPr>
            <a:xfrm>
              <a:off x="2837707" y="1942592"/>
              <a:ext cx="525194" cy="484632"/>
            </a:xfrm>
            <a:prstGeom prst="rightArrow">
              <a:avLst/>
            </a:prstGeom>
            <a:solidFill>
              <a:schemeClr val="accent6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5EE44729-1ADA-4C5F-9F7D-CC40C6AD3F91}"/>
                </a:ext>
              </a:extLst>
            </p:cNvPr>
            <p:cNvSpPr/>
            <p:nvPr/>
          </p:nvSpPr>
          <p:spPr>
            <a:xfrm>
              <a:off x="916279" y="1870354"/>
              <a:ext cx="1710813" cy="629108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D9072CFA-D4D8-434A-84B1-ACABFBAF657A}"/>
                </a:ext>
              </a:extLst>
            </p:cNvPr>
            <p:cNvSpPr txBox="1"/>
            <p:nvPr/>
          </p:nvSpPr>
          <p:spPr>
            <a:xfrm>
              <a:off x="1144161" y="2018306"/>
              <a:ext cx="1255050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空氣環境</a:t>
              </a:r>
              <a:endParaRPr kumimoji="1" lang="ja-JP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0DF34192-3CB3-47D4-ACD1-25BFE747A2D3}"/>
                </a:ext>
              </a:extLst>
            </p:cNvPr>
            <p:cNvSpPr txBox="1"/>
            <p:nvPr/>
          </p:nvSpPr>
          <p:spPr>
            <a:xfrm>
              <a:off x="3573516" y="2904721"/>
              <a:ext cx="32014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駕駛、速度、視野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21" name="矢印: 右 20">
              <a:extLst>
                <a:ext uri="{FF2B5EF4-FFF2-40B4-BE49-F238E27FC236}">
                  <a16:creationId xmlns:a16="http://schemas.microsoft.com/office/drawing/2014/main" id="{99E47427-67D8-4CBD-8E43-DF9DCDF841AF}"/>
                </a:ext>
              </a:extLst>
            </p:cNvPr>
            <p:cNvSpPr/>
            <p:nvPr/>
          </p:nvSpPr>
          <p:spPr>
            <a:xfrm>
              <a:off x="2837707" y="2829007"/>
              <a:ext cx="525194" cy="484632"/>
            </a:xfrm>
            <a:prstGeom prst="rightArrow">
              <a:avLst/>
            </a:prstGeom>
            <a:solidFill>
              <a:schemeClr val="accent6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17" name="四角形: 角を丸くする 16">
              <a:extLst>
                <a:ext uri="{FF2B5EF4-FFF2-40B4-BE49-F238E27FC236}">
                  <a16:creationId xmlns:a16="http://schemas.microsoft.com/office/drawing/2014/main" id="{C0CAC48E-647F-4B8D-87CC-BE0DA6C19534}"/>
                </a:ext>
              </a:extLst>
            </p:cNvPr>
            <p:cNvSpPr/>
            <p:nvPr/>
          </p:nvSpPr>
          <p:spPr>
            <a:xfrm>
              <a:off x="916279" y="2756769"/>
              <a:ext cx="1710813" cy="629108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531F384C-23DE-46D3-8287-38E95DFCAEB7}"/>
                </a:ext>
              </a:extLst>
            </p:cNvPr>
            <p:cNvSpPr txBox="1"/>
            <p:nvPr/>
          </p:nvSpPr>
          <p:spPr>
            <a:xfrm>
              <a:off x="1144161" y="2904721"/>
              <a:ext cx="1255050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安全性</a:t>
              </a:r>
              <a:endParaRPr kumimoji="1" lang="ja-JP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49DA3866-DA25-4074-93C8-D77CCEE3C94F}"/>
                </a:ext>
              </a:extLst>
            </p:cNvPr>
            <p:cNvSpPr txBox="1"/>
            <p:nvPr/>
          </p:nvSpPr>
          <p:spPr>
            <a:xfrm>
              <a:off x="3573516" y="3791136"/>
              <a:ext cx="32014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車內空間、振動、噪音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22" name="矢印: 右 21">
              <a:extLst>
                <a:ext uri="{FF2B5EF4-FFF2-40B4-BE49-F238E27FC236}">
                  <a16:creationId xmlns:a16="http://schemas.microsoft.com/office/drawing/2014/main" id="{D3B88EC1-5FDD-4B51-BAD9-41F2C8FCA41E}"/>
                </a:ext>
              </a:extLst>
            </p:cNvPr>
            <p:cNvSpPr/>
            <p:nvPr/>
          </p:nvSpPr>
          <p:spPr>
            <a:xfrm>
              <a:off x="2837707" y="3715422"/>
              <a:ext cx="525194" cy="484632"/>
            </a:xfrm>
            <a:prstGeom prst="rightArrow">
              <a:avLst/>
            </a:prstGeom>
            <a:solidFill>
              <a:schemeClr val="accent6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18" name="四角形: 角を丸くする 17">
              <a:extLst>
                <a:ext uri="{FF2B5EF4-FFF2-40B4-BE49-F238E27FC236}">
                  <a16:creationId xmlns:a16="http://schemas.microsoft.com/office/drawing/2014/main" id="{D5E75A82-9143-4F22-B99C-D460FA5E102B}"/>
                </a:ext>
              </a:extLst>
            </p:cNvPr>
            <p:cNvSpPr/>
            <p:nvPr/>
          </p:nvSpPr>
          <p:spPr>
            <a:xfrm>
              <a:off x="916279" y="3643184"/>
              <a:ext cx="1710813" cy="629108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05D23389-B520-40FA-B7BA-DABF48464ED3}"/>
                </a:ext>
              </a:extLst>
            </p:cNvPr>
            <p:cNvSpPr txBox="1"/>
            <p:nvPr/>
          </p:nvSpPr>
          <p:spPr>
            <a:xfrm>
              <a:off x="1144161" y="3791136"/>
              <a:ext cx="1255050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舒適性</a:t>
              </a:r>
              <a:endParaRPr kumimoji="1" lang="ja-JP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1484751B-1F7F-4AC0-A1DB-B7B425F6EABB}"/>
                </a:ext>
              </a:extLst>
            </p:cNvPr>
            <p:cNvSpPr txBox="1"/>
            <p:nvPr/>
          </p:nvSpPr>
          <p:spPr>
            <a:xfrm>
              <a:off x="3573516" y="4677551"/>
              <a:ext cx="32014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自動駕駛、燃費、電費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23" name="矢印: 右 22">
              <a:extLst>
                <a:ext uri="{FF2B5EF4-FFF2-40B4-BE49-F238E27FC236}">
                  <a16:creationId xmlns:a16="http://schemas.microsoft.com/office/drawing/2014/main" id="{BE4BCF1A-97CF-4950-9E38-FFE579E5B7AF}"/>
                </a:ext>
              </a:extLst>
            </p:cNvPr>
            <p:cNvSpPr/>
            <p:nvPr/>
          </p:nvSpPr>
          <p:spPr>
            <a:xfrm>
              <a:off x="2837707" y="4601837"/>
              <a:ext cx="525194" cy="484632"/>
            </a:xfrm>
            <a:prstGeom prst="rightArrow">
              <a:avLst/>
            </a:prstGeom>
            <a:solidFill>
              <a:schemeClr val="accent6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19" name="四角形: 角を丸くする 18">
              <a:extLst>
                <a:ext uri="{FF2B5EF4-FFF2-40B4-BE49-F238E27FC236}">
                  <a16:creationId xmlns:a16="http://schemas.microsoft.com/office/drawing/2014/main" id="{10BCC257-ECF9-4687-9DC5-2CF59CBE046C}"/>
                </a:ext>
              </a:extLst>
            </p:cNvPr>
            <p:cNvSpPr/>
            <p:nvPr/>
          </p:nvSpPr>
          <p:spPr>
            <a:xfrm>
              <a:off x="916279" y="4529599"/>
              <a:ext cx="1710813" cy="629108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1E7661AD-DA24-4D9F-969E-5A36C7099019}"/>
                </a:ext>
              </a:extLst>
            </p:cNvPr>
            <p:cNvSpPr txBox="1"/>
            <p:nvPr/>
          </p:nvSpPr>
          <p:spPr>
            <a:xfrm>
              <a:off x="1144161" y="4677551"/>
              <a:ext cx="1255050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性能</a:t>
              </a:r>
              <a:endParaRPr kumimoji="1" lang="ja-JP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7845B028-9DD2-426C-88D6-98FF79D725EE}"/>
                </a:ext>
              </a:extLst>
            </p:cNvPr>
            <p:cNvSpPr txBox="1"/>
            <p:nvPr/>
          </p:nvSpPr>
          <p:spPr>
            <a:xfrm>
              <a:off x="3573517" y="5416014"/>
              <a:ext cx="320148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碳纖維、玻璃纖維、</a:t>
              </a:r>
              <a:br>
                <a:rPr kumimoji="1" lang="en-US" altLang="ja-JP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</a:b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植物衍生的塑料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24" name="矢印: 右 23">
              <a:extLst>
                <a:ext uri="{FF2B5EF4-FFF2-40B4-BE49-F238E27FC236}">
                  <a16:creationId xmlns:a16="http://schemas.microsoft.com/office/drawing/2014/main" id="{ED3CD291-EE94-449E-8665-66722DC44126}"/>
                </a:ext>
              </a:extLst>
            </p:cNvPr>
            <p:cNvSpPr/>
            <p:nvPr/>
          </p:nvSpPr>
          <p:spPr>
            <a:xfrm>
              <a:off x="2837707" y="5494188"/>
              <a:ext cx="525194" cy="484632"/>
            </a:xfrm>
            <a:prstGeom prst="rightArrow">
              <a:avLst/>
            </a:prstGeom>
            <a:solidFill>
              <a:schemeClr val="accent6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20" name="四角形: 角を丸くする 19">
              <a:extLst>
                <a:ext uri="{FF2B5EF4-FFF2-40B4-BE49-F238E27FC236}">
                  <a16:creationId xmlns:a16="http://schemas.microsoft.com/office/drawing/2014/main" id="{44FD1A8C-8C36-4C8D-AF6F-E3AB2B66747D}"/>
                </a:ext>
              </a:extLst>
            </p:cNvPr>
            <p:cNvSpPr/>
            <p:nvPr/>
          </p:nvSpPr>
          <p:spPr>
            <a:xfrm>
              <a:off x="916279" y="5421950"/>
              <a:ext cx="1710813" cy="629108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B1D114F9-7213-4ADC-BCC8-DBC11A175F02}"/>
                </a:ext>
              </a:extLst>
            </p:cNvPr>
            <p:cNvSpPr txBox="1"/>
            <p:nvPr/>
          </p:nvSpPr>
          <p:spPr>
            <a:xfrm>
              <a:off x="1144161" y="5569902"/>
              <a:ext cx="1255050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素材</a:t>
              </a:r>
              <a:endParaRPr kumimoji="1" lang="ja-JP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pic>
          <p:nvPicPr>
            <p:cNvPr id="35" name="図 34" descr="装置, 自動車, 室内, 黒 が含まれている画像&#10;&#10;非常に高い精度で生成された説明">
              <a:extLst>
                <a:ext uri="{FF2B5EF4-FFF2-40B4-BE49-F238E27FC236}">
                  <a16:creationId xmlns:a16="http://schemas.microsoft.com/office/drawing/2014/main" id="{6BA5303B-69AC-4910-8C57-8DA02F3CF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1374" y="4166870"/>
              <a:ext cx="2706404" cy="1803142"/>
            </a:xfrm>
            <a:prstGeom prst="rect">
              <a:avLst/>
            </a:prstGeom>
            <a:effectLst>
              <a:softEdge rad="63500"/>
            </a:effectLst>
          </p:spPr>
        </p:pic>
      </p:grpSp>
    </p:spTree>
    <p:extLst>
      <p:ext uri="{BB962C8B-B14F-4D97-AF65-F5344CB8AC3E}">
        <p14:creationId xmlns:p14="http://schemas.microsoft.com/office/powerpoint/2010/main" val="2349072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89D4E230-E2A6-4BD4-A362-E24BB80865EC}"/>
              </a:ext>
            </a:extLst>
          </p:cNvPr>
          <p:cNvGrpSpPr/>
          <p:nvPr/>
        </p:nvGrpSpPr>
        <p:grpSpPr>
          <a:xfrm>
            <a:off x="916279" y="670327"/>
            <a:ext cx="8731499" cy="5453573"/>
            <a:chOff x="916279" y="670327"/>
            <a:chExt cx="8731499" cy="5453573"/>
          </a:xfrm>
        </p:grpSpPr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1D536373-30F3-4106-997D-4CB68C6DB84F}"/>
                </a:ext>
              </a:extLst>
            </p:cNvPr>
            <p:cNvSpPr txBox="1"/>
            <p:nvPr/>
          </p:nvSpPr>
          <p:spPr>
            <a:xfrm>
              <a:off x="1386704" y="670327"/>
              <a:ext cx="713259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3200">
                  <a:solidFill>
                    <a:schemeClr val="accent6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次世代汽車的需求</a:t>
              </a:r>
              <a:endParaRPr lang="ja-JP" altLang="en-US" sz="3200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36" name="グループ化 35">
              <a:extLst>
                <a:ext uri="{FF2B5EF4-FFF2-40B4-BE49-F238E27FC236}">
                  <a16:creationId xmlns:a16="http://schemas.microsoft.com/office/drawing/2014/main" id="{30D7DD64-4BE9-4007-9FFC-B186383BCEBA}"/>
                </a:ext>
              </a:extLst>
            </p:cNvPr>
            <p:cNvGrpSpPr/>
            <p:nvPr/>
          </p:nvGrpSpPr>
          <p:grpSpPr>
            <a:xfrm>
              <a:off x="916279" y="1870354"/>
              <a:ext cx="5858725" cy="4253546"/>
              <a:chOff x="872035" y="1870354"/>
              <a:chExt cx="5858725" cy="4253546"/>
            </a:xfrm>
          </p:grpSpPr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3915805C-6E91-48D2-862D-00D2F1FE9BB3}"/>
                  </a:ext>
                </a:extLst>
              </p:cNvPr>
              <p:cNvSpPr txBox="1"/>
              <p:nvPr/>
            </p:nvSpPr>
            <p:spPr>
              <a:xfrm>
                <a:off x="3529272" y="2018306"/>
                <a:ext cx="320148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000" dirty="0" err="1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Nox</a:t>
                </a:r>
                <a:r>
                  <a:rPr kumimoji="1" lang="ja-JP" altLang="en-US" sz="2000" dirty="0" err="1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、</a:t>
                </a:r>
                <a:r>
                  <a:rPr kumimoji="1" lang="en-US" altLang="ja-JP" sz="2000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Sox</a:t>
                </a:r>
                <a:r>
                  <a:rPr kumimoji="1" lang="ja-JP" altLang="en-US" sz="2000" dirty="0" err="1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、</a:t>
                </a:r>
                <a:r>
                  <a:rPr kumimoji="1" lang="en-US" altLang="ja-JP" sz="2000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PM</a:t>
                </a:r>
                <a:r>
                  <a:rPr kumimoji="1" lang="ja-JP" altLang="en-US" sz="2000" dirty="0" err="1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、</a:t>
                </a:r>
                <a:r>
                  <a:rPr kumimoji="1" lang="en-US" altLang="ja-JP" sz="2000" dirty="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CO2</a:t>
                </a:r>
                <a:endParaRPr kumimoji="1" lang="ja-JP" altLang="en-US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  <p:sp>
            <p:nvSpPr>
              <p:cNvPr id="16" name="矢印: 右 15">
                <a:extLst>
                  <a:ext uri="{FF2B5EF4-FFF2-40B4-BE49-F238E27FC236}">
                    <a16:creationId xmlns:a16="http://schemas.microsoft.com/office/drawing/2014/main" id="{B203496F-CB64-48F7-A7F3-968F48114634}"/>
                  </a:ext>
                </a:extLst>
              </p:cNvPr>
              <p:cNvSpPr/>
              <p:nvPr/>
            </p:nvSpPr>
            <p:spPr>
              <a:xfrm>
                <a:off x="2793463" y="1942592"/>
                <a:ext cx="525194" cy="484632"/>
              </a:xfrm>
              <a:prstGeom prst="rightArrow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2000"/>
              </a:p>
            </p:txBody>
          </p:sp>
          <p:sp>
            <p:nvSpPr>
              <p:cNvPr id="5" name="四角形: 角を丸くする 4">
                <a:extLst>
                  <a:ext uri="{FF2B5EF4-FFF2-40B4-BE49-F238E27FC236}">
                    <a16:creationId xmlns:a16="http://schemas.microsoft.com/office/drawing/2014/main" id="{5EE44729-1ADA-4C5F-9F7D-CC40C6AD3F91}"/>
                  </a:ext>
                </a:extLst>
              </p:cNvPr>
              <p:cNvSpPr/>
              <p:nvPr/>
            </p:nvSpPr>
            <p:spPr>
              <a:xfrm>
                <a:off x="872035" y="1870354"/>
                <a:ext cx="1710813" cy="629108"/>
              </a:xfrm>
              <a:prstGeom prst="roundRect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2000"/>
              </a:p>
            </p:txBody>
          </p:sp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D9072CFA-D4D8-434A-84B1-ACABFBAF657A}"/>
                  </a:ext>
                </a:extLst>
              </p:cNvPr>
              <p:cNvSpPr txBox="1"/>
              <p:nvPr/>
            </p:nvSpPr>
            <p:spPr>
              <a:xfrm>
                <a:off x="1099917" y="2018306"/>
                <a:ext cx="12550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TW" altLang="en-US" sz="200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空氣環境</a:t>
                </a:r>
                <a:endParaRPr kumimoji="1" lang="ja-JP" altLang="en-US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0DF34192-3CB3-47D4-ACD1-25BFE747A2D3}"/>
                  </a:ext>
                </a:extLst>
              </p:cNvPr>
              <p:cNvSpPr txBox="1"/>
              <p:nvPr/>
            </p:nvSpPr>
            <p:spPr>
              <a:xfrm>
                <a:off x="3529272" y="2904721"/>
                <a:ext cx="320148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sz="200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駕駛、速度、視野</a:t>
                </a:r>
                <a:endParaRPr kumimoji="1" lang="ja-JP" altLang="en-US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  <p:sp>
            <p:nvSpPr>
              <p:cNvPr id="21" name="矢印: 右 20">
                <a:extLst>
                  <a:ext uri="{FF2B5EF4-FFF2-40B4-BE49-F238E27FC236}">
                    <a16:creationId xmlns:a16="http://schemas.microsoft.com/office/drawing/2014/main" id="{99E47427-67D8-4CBD-8E43-DF9DCDF841AF}"/>
                  </a:ext>
                </a:extLst>
              </p:cNvPr>
              <p:cNvSpPr/>
              <p:nvPr/>
            </p:nvSpPr>
            <p:spPr>
              <a:xfrm>
                <a:off x="2793463" y="2829007"/>
                <a:ext cx="525194" cy="484632"/>
              </a:xfrm>
              <a:prstGeom prst="rightArrow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2000"/>
              </a:p>
            </p:txBody>
          </p:sp>
          <p:sp>
            <p:nvSpPr>
              <p:cNvPr id="17" name="四角形: 角を丸くする 16">
                <a:extLst>
                  <a:ext uri="{FF2B5EF4-FFF2-40B4-BE49-F238E27FC236}">
                    <a16:creationId xmlns:a16="http://schemas.microsoft.com/office/drawing/2014/main" id="{C0CAC48E-647F-4B8D-87CC-BE0DA6C19534}"/>
                  </a:ext>
                </a:extLst>
              </p:cNvPr>
              <p:cNvSpPr/>
              <p:nvPr/>
            </p:nvSpPr>
            <p:spPr>
              <a:xfrm>
                <a:off x="872035" y="2756769"/>
                <a:ext cx="1710813" cy="629108"/>
              </a:xfrm>
              <a:prstGeom prst="roundRect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2000"/>
              </a:p>
            </p:txBody>
          </p:sp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531F384C-23DE-46D3-8287-38E95DFCAEB7}"/>
                  </a:ext>
                </a:extLst>
              </p:cNvPr>
              <p:cNvSpPr txBox="1"/>
              <p:nvPr/>
            </p:nvSpPr>
            <p:spPr>
              <a:xfrm>
                <a:off x="1099917" y="2904721"/>
                <a:ext cx="12550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TW" altLang="en-US" sz="200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安全性</a:t>
                </a:r>
                <a:endParaRPr kumimoji="1" lang="ja-JP" altLang="en-US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49DA3866-DA25-4074-93C8-D77CCEE3C94F}"/>
                  </a:ext>
                </a:extLst>
              </p:cNvPr>
              <p:cNvSpPr txBox="1"/>
              <p:nvPr/>
            </p:nvSpPr>
            <p:spPr>
              <a:xfrm>
                <a:off x="3529272" y="3791136"/>
                <a:ext cx="320148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sz="200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車內空間、振動、噪音</a:t>
                </a:r>
                <a:endParaRPr kumimoji="1" lang="ja-JP" altLang="en-US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  <p:sp>
            <p:nvSpPr>
              <p:cNvPr id="22" name="矢印: 右 21">
                <a:extLst>
                  <a:ext uri="{FF2B5EF4-FFF2-40B4-BE49-F238E27FC236}">
                    <a16:creationId xmlns:a16="http://schemas.microsoft.com/office/drawing/2014/main" id="{D3B88EC1-5FDD-4B51-BAD9-41F2C8FCA41E}"/>
                  </a:ext>
                </a:extLst>
              </p:cNvPr>
              <p:cNvSpPr/>
              <p:nvPr/>
            </p:nvSpPr>
            <p:spPr>
              <a:xfrm>
                <a:off x="2793463" y="3715422"/>
                <a:ext cx="525194" cy="484632"/>
              </a:xfrm>
              <a:prstGeom prst="rightArrow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2000"/>
              </a:p>
            </p:txBody>
          </p:sp>
          <p:sp>
            <p:nvSpPr>
              <p:cNvPr id="18" name="四角形: 角を丸くする 17">
                <a:extLst>
                  <a:ext uri="{FF2B5EF4-FFF2-40B4-BE49-F238E27FC236}">
                    <a16:creationId xmlns:a16="http://schemas.microsoft.com/office/drawing/2014/main" id="{D5E75A82-9143-4F22-B99C-D460FA5E102B}"/>
                  </a:ext>
                </a:extLst>
              </p:cNvPr>
              <p:cNvSpPr/>
              <p:nvPr/>
            </p:nvSpPr>
            <p:spPr>
              <a:xfrm>
                <a:off x="872035" y="3643184"/>
                <a:ext cx="1710813" cy="629108"/>
              </a:xfrm>
              <a:prstGeom prst="roundRect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2000"/>
              </a:p>
            </p:txBody>
          </p:sp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05D23389-B520-40FA-B7BA-DABF48464ED3}"/>
                  </a:ext>
                </a:extLst>
              </p:cNvPr>
              <p:cNvSpPr txBox="1"/>
              <p:nvPr/>
            </p:nvSpPr>
            <p:spPr>
              <a:xfrm>
                <a:off x="1099917" y="3791136"/>
                <a:ext cx="12550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TW" altLang="en-US" sz="200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舒適性</a:t>
                </a:r>
                <a:endParaRPr kumimoji="1" lang="ja-JP" altLang="en-US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1484751B-1F7F-4AC0-A1DB-B7B425F6EABB}"/>
                  </a:ext>
                </a:extLst>
              </p:cNvPr>
              <p:cNvSpPr txBox="1"/>
              <p:nvPr/>
            </p:nvSpPr>
            <p:spPr>
              <a:xfrm>
                <a:off x="3529272" y="4677551"/>
                <a:ext cx="320148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sz="200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自動駕駛、燃費、電費</a:t>
                </a:r>
                <a:endParaRPr kumimoji="1" lang="ja-JP" altLang="en-US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  <p:sp>
            <p:nvSpPr>
              <p:cNvPr id="23" name="矢印: 右 22">
                <a:extLst>
                  <a:ext uri="{FF2B5EF4-FFF2-40B4-BE49-F238E27FC236}">
                    <a16:creationId xmlns:a16="http://schemas.microsoft.com/office/drawing/2014/main" id="{BE4BCF1A-97CF-4950-9E38-FFE579E5B7AF}"/>
                  </a:ext>
                </a:extLst>
              </p:cNvPr>
              <p:cNvSpPr/>
              <p:nvPr/>
            </p:nvSpPr>
            <p:spPr>
              <a:xfrm>
                <a:off x="2793463" y="4601837"/>
                <a:ext cx="525194" cy="484632"/>
              </a:xfrm>
              <a:prstGeom prst="rightArrow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2000"/>
              </a:p>
            </p:txBody>
          </p:sp>
          <p:sp>
            <p:nvSpPr>
              <p:cNvPr id="19" name="四角形: 角を丸くする 18">
                <a:extLst>
                  <a:ext uri="{FF2B5EF4-FFF2-40B4-BE49-F238E27FC236}">
                    <a16:creationId xmlns:a16="http://schemas.microsoft.com/office/drawing/2014/main" id="{10BCC257-ECF9-4687-9DC5-2CF59CBE046C}"/>
                  </a:ext>
                </a:extLst>
              </p:cNvPr>
              <p:cNvSpPr/>
              <p:nvPr/>
            </p:nvSpPr>
            <p:spPr>
              <a:xfrm>
                <a:off x="872035" y="4529599"/>
                <a:ext cx="1710813" cy="629108"/>
              </a:xfrm>
              <a:prstGeom prst="roundRect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2000"/>
              </a:p>
            </p:txBody>
          </p:sp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1E7661AD-DA24-4D9F-969E-5A36C7099019}"/>
                  </a:ext>
                </a:extLst>
              </p:cNvPr>
              <p:cNvSpPr txBox="1"/>
              <p:nvPr/>
            </p:nvSpPr>
            <p:spPr>
              <a:xfrm>
                <a:off x="1099917" y="4677551"/>
                <a:ext cx="12550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TW" altLang="en-US" sz="200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性能</a:t>
                </a:r>
                <a:endParaRPr kumimoji="1" lang="ja-JP" altLang="en-US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7845B028-9DD2-426C-88D6-98FF79D725EE}"/>
                  </a:ext>
                </a:extLst>
              </p:cNvPr>
              <p:cNvSpPr txBox="1"/>
              <p:nvPr/>
            </p:nvSpPr>
            <p:spPr>
              <a:xfrm>
                <a:off x="3529273" y="5416014"/>
                <a:ext cx="320148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sz="200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碳纖維、玻璃纖維、</a:t>
                </a:r>
                <a:br>
                  <a:rPr kumimoji="1" lang="en-US" altLang="ja-JP" sz="200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</a:br>
                <a:r>
                  <a:rPr kumimoji="1" lang="zh-TW" altLang="en-US" sz="200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植物衍生的塑料</a:t>
                </a:r>
                <a:endParaRPr kumimoji="1" lang="ja-JP" altLang="en-US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  <p:sp>
            <p:nvSpPr>
              <p:cNvPr id="24" name="矢印: 右 23">
                <a:extLst>
                  <a:ext uri="{FF2B5EF4-FFF2-40B4-BE49-F238E27FC236}">
                    <a16:creationId xmlns:a16="http://schemas.microsoft.com/office/drawing/2014/main" id="{ED3CD291-EE94-449E-8665-66722DC44126}"/>
                  </a:ext>
                </a:extLst>
              </p:cNvPr>
              <p:cNvSpPr/>
              <p:nvPr/>
            </p:nvSpPr>
            <p:spPr>
              <a:xfrm>
                <a:off x="2793463" y="5494188"/>
                <a:ext cx="525194" cy="484632"/>
              </a:xfrm>
              <a:prstGeom prst="rightArrow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2000"/>
              </a:p>
            </p:txBody>
          </p:sp>
          <p:sp>
            <p:nvSpPr>
              <p:cNvPr id="20" name="四角形: 角を丸くする 19">
                <a:extLst>
                  <a:ext uri="{FF2B5EF4-FFF2-40B4-BE49-F238E27FC236}">
                    <a16:creationId xmlns:a16="http://schemas.microsoft.com/office/drawing/2014/main" id="{44FD1A8C-8C36-4C8D-AF6F-E3AB2B66747D}"/>
                  </a:ext>
                </a:extLst>
              </p:cNvPr>
              <p:cNvSpPr/>
              <p:nvPr/>
            </p:nvSpPr>
            <p:spPr>
              <a:xfrm>
                <a:off x="872035" y="5421950"/>
                <a:ext cx="1710813" cy="629108"/>
              </a:xfrm>
              <a:prstGeom prst="roundRect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2000"/>
              </a:p>
            </p:txBody>
          </p:sp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B1D114F9-7213-4ADC-BCC8-DBC11A175F02}"/>
                  </a:ext>
                </a:extLst>
              </p:cNvPr>
              <p:cNvSpPr txBox="1"/>
              <p:nvPr/>
            </p:nvSpPr>
            <p:spPr>
              <a:xfrm>
                <a:off x="1099917" y="5569902"/>
                <a:ext cx="12550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TW" altLang="en-US" sz="2000"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素材</a:t>
                </a:r>
                <a:endParaRPr kumimoji="1" lang="ja-JP" altLang="en-US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35" name="図 34" descr="装置, 自動車, 室内, 黒 が含まれている画像&#10;&#10;非常に高い精度で生成された説明">
              <a:extLst>
                <a:ext uri="{FF2B5EF4-FFF2-40B4-BE49-F238E27FC236}">
                  <a16:creationId xmlns:a16="http://schemas.microsoft.com/office/drawing/2014/main" id="{6BA5303B-69AC-4910-8C57-8DA02F3CF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1374" y="4166870"/>
              <a:ext cx="2706404" cy="1803142"/>
            </a:xfrm>
            <a:prstGeom prst="rect">
              <a:avLst/>
            </a:prstGeom>
            <a:effectLst>
              <a:softEdge rad="63500"/>
            </a:effectLst>
          </p:spPr>
        </p:pic>
      </p:grp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D8A7B301-9093-41F0-9FFC-43DE7ABD730A}"/>
              </a:ext>
            </a:extLst>
          </p:cNvPr>
          <p:cNvGrpSpPr/>
          <p:nvPr/>
        </p:nvGrpSpPr>
        <p:grpSpPr>
          <a:xfrm>
            <a:off x="916279" y="670327"/>
            <a:ext cx="8731499" cy="5453573"/>
            <a:chOff x="916279" y="670327"/>
            <a:chExt cx="8731499" cy="5453573"/>
          </a:xfrm>
        </p:grpSpPr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1D536373-30F3-4106-997D-4CB68C6DB84F}"/>
                </a:ext>
              </a:extLst>
            </p:cNvPr>
            <p:cNvSpPr txBox="1"/>
            <p:nvPr/>
          </p:nvSpPr>
          <p:spPr>
            <a:xfrm>
              <a:off x="1386704" y="670327"/>
              <a:ext cx="713259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>
                <a:spcAft>
                  <a:spcPts val="0"/>
                </a:spcAft>
              </a:pPr>
              <a:r>
                <a:rPr lang="zh-TW" altLang="en-US" sz="3200">
                  <a:solidFill>
                    <a:schemeClr val="accent6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次世代汽車的需求</a:t>
              </a:r>
              <a:endParaRPr lang="ja-JP" altLang="en-US" sz="3200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3915805C-6E91-48D2-862D-00D2F1FE9BB3}"/>
                </a:ext>
              </a:extLst>
            </p:cNvPr>
            <p:cNvSpPr txBox="1"/>
            <p:nvPr/>
          </p:nvSpPr>
          <p:spPr>
            <a:xfrm>
              <a:off x="3573516" y="2018306"/>
              <a:ext cx="32014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dirty="0" err="1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Nox</a:t>
              </a:r>
              <a:r>
                <a:rPr kumimoji="1" lang="ja-JP" altLang="en-US" sz="2000" dirty="0" err="1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、</a:t>
              </a:r>
              <a:r>
                <a:rPr kumimoji="1" lang="en-US" altLang="ja-JP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Sox</a:t>
              </a:r>
              <a:r>
                <a:rPr kumimoji="1" lang="ja-JP" altLang="en-US" sz="2000" dirty="0" err="1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、</a:t>
              </a:r>
              <a:r>
                <a:rPr kumimoji="1" lang="en-US" altLang="ja-JP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PM</a:t>
              </a:r>
              <a:r>
                <a:rPr kumimoji="1" lang="ja-JP" altLang="en-US" sz="2000" dirty="0" err="1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、</a:t>
              </a:r>
              <a:r>
                <a:rPr kumimoji="1" lang="en-US" altLang="ja-JP" sz="20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CO2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6" name="矢印: 右 15">
              <a:extLst>
                <a:ext uri="{FF2B5EF4-FFF2-40B4-BE49-F238E27FC236}">
                  <a16:creationId xmlns:a16="http://schemas.microsoft.com/office/drawing/2014/main" id="{B203496F-CB64-48F7-A7F3-968F48114634}"/>
                </a:ext>
              </a:extLst>
            </p:cNvPr>
            <p:cNvSpPr/>
            <p:nvPr/>
          </p:nvSpPr>
          <p:spPr>
            <a:xfrm>
              <a:off x="2837707" y="1942592"/>
              <a:ext cx="525194" cy="484632"/>
            </a:xfrm>
            <a:prstGeom prst="rightArrow">
              <a:avLst/>
            </a:prstGeom>
            <a:noFill/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5EE44729-1ADA-4C5F-9F7D-CC40C6AD3F91}"/>
                </a:ext>
              </a:extLst>
            </p:cNvPr>
            <p:cNvSpPr/>
            <p:nvPr/>
          </p:nvSpPr>
          <p:spPr>
            <a:xfrm>
              <a:off x="916279" y="1870354"/>
              <a:ext cx="1710813" cy="629108"/>
            </a:xfrm>
            <a:prstGeom prst="roundRect">
              <a:avLst/>
            </a:prstGeom>
            <a:noFill/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D9072CFA-D4D8-434A-84B1-ACABFBAF657A}"/>
                </a:ext>
              </a:extLst>
            </p:cNvPr>
            <p:cNvSpPr txBox="1"/>
            <p:nvPr/>
          </p:nvSpPr>
          <p:spPr>
            <a:xfrm>
              <a:off x="1144161" y="2018306"/>
              <a:ext cx="1255050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空氣環境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0DF34192-3CB3-47D4-ACD1-25BFE747A2D3}"/>
                </a:ext>
              </a:extLst>
            </p:cNvPr>
            <p:cNvSpPr txBox="1"/>
            <p:nvPr/>
          </p:nvSpPr>
          <p:spPr>
            <a:xfrm>
              <a:off x="3573516" y="2904721"/>
              <a:ext cx="32014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駕駛、速度、視野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21" name="矢印: 右 20">
              <a:extLst>
                <a:ext uri="{FF2B5EF4-FFF2-40B4-BE49-F238E27FC236}">
                  <a16:creationId xmlns:a16="http://schemas.microsoft.com/office/drawing/2014/main" id="{99E47427-67D8-4CBD-8E43-DF9DCDF841AF}"/>
                </a:ext>
              </a:extLst>
            </p:cNvPr>
            <p:cNvSpPr/>
            <p:nvPr/>
          </p:nvSpPr>
          <p:spPr>
            <a:xfrm>
              <a:off x="2837707" y="2829007"/>
              <a:ext cx="525194" cy="484632"/>
            </a:xfrm>
            <a:prstGeom prst="rightArrow">
              <a:avLst/>
            </a:prstGeom>
            <a:noFill/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17" name="四角形: 角を丸くする 16">
              <a:extLst>
                <a:ext uri="{FF2B5EF4-FFF2-40B4-BE49-F238E27FC236}">
                  <a16:creationId xmlns:a16="http://schemas.microsoft.com/office/drawing/2014/main" id="{C0CAC48E-647F-4B8D-87CC-BE0DA6C19534}"/>
                </a:ext>
              </a:extLst>
            </p:cNvPr>
            <p:cNvSpPr/>
            <p:nvPr/>
          </p:nvSpPr>
          <p:spPr>
            <a:xfrm>
              <a:off x="916279" y="2756769"/>
              <a:ext cx="1710813" cy="629108"/>
            </a:xfrm>
            <a:prstGeom prst="roundRect">
              <a:avLst/>
            </a:prstGeom>
            <a:noFill/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531F384C-23DE-46D3-8287-38E95DFCAEB7}"/>
                </a:ext>
              </a:extLst>
            </p:cNvPr>
            <p:cNvSpPr txBox="1"/>
            <p:nvPr/>
          </p:nvSpPr>
          <p:spPr>
            <a:xfrm>
              <a:off x="1144161" y="2904721"/>
              <a:ext cx="1255050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安全性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49DA3866-DA25-4074-93C8-D77CCEE3C94F}"/>
                </a:ext>
              </a:extLst>
            </p:cNvPr>
            <p:cNvSpPr txBox="1"/>
            <p:nvPr/>
          </p:nvSpPr>
          <p:spPr>
            <a:xfrm>
              <a:off x="3573516" y="3791136"/>
              <a:ext cx="32014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車內空間、振動、噪音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22" name="矢印: 右 21">
              <a:extLst>
                <a:ext uri="{FF2B5EF4-FFF2-40B4-BE49-F238E27FC236}">
                  <a16:creationId xmlns:a16="http://schemas.microsoft.com/office/drawing/2014/main" id="{D3B88EC1-5FDD-4B51-BAD9-41F2C8FCA41E}"/>
                </a:ext>
              </a:extLst>
            </p:cNvPr>
            <p:cNvSpPr/>
            <p:nvPr/>
          </p:nvSpPr>
          <p:spPr>
            <a:xfrm>
              <a:off x="2837707" y="3715422"/>
              <a:ext cx="525194" cy="484632"/>
            </a:xfrm>
            <a:prstGeom prst="rightArrow">
              <a:avLst/>
            </a:prstGeom>
            <a:noFill/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18" name="四角形: 角を丸くする 17">
              <a:extLst>
                <a:ext uri="{FF2B5EF4-FFF2-40B4-BE49-F238E27FC236}">
                  <a16:creationId xmlns:a16="http://schemas.microsoft.com/office/drawing/2014/main" id="{D5E75A82-9143-4F22-B99C-D460FA5E102B}"/>
                </a:ext>
              </a:extLst>
            </p:cNvPr>
            <p:cNvSpPr/>
            <p:nvPr/>
          </p:nvSpPr>
          <p:spPr>
            <a:xfrm>
              <a:off x="916279" y="3643184"/>
              <a:ext cx="1710813" cy="629108"/>
            </a:xfrm>
            <a:prstGeom prst="roundRect">
              <a:avLst/>
            </a:prstGeom>
            <a:noFill/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05D23389-B520-40FA-B7BA-DABF48464ED3}"/>
                </a:ext>
              </a:extLst>
            </p:cNvPr>
            <p:cNvSpPr txBox="1"/>
            <p:nvPr/>
          </p:nvSpPr>
          <p:spPr>
            <a:xfrm>
              <a:off x="1144161" y="3791136"/>
              <a:ext cx="1255050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舒適性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1484751B-1F7F-4AC0-A1DB-B7B425F6EABB}"/>
                </a:ext>
              </a:extLst>
            </p:cNvPr>
            <p:cNvSpPr txBox="1"/>
            <p:nvPr/>
          </p:nvSpPr>
          <p:spPr>
            <a:xfrm>
              <a:off x="3573516" y="4677551"/>
              <a:ext cx="32014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自動駕駛、燃費、電費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23" name="矢印: 右 22">
              <a:extLst>
                <a:ext uri="{FF2B5EF4-FFF2-40B4-BE49-F238E27FC236}">
                  <a16:creationId xmlns:a16="http://schemas.microsoft.com/office/drawing/2014/main" id="{BE4BCF1A-97CF-4950-9E38-FFE579E5B7AF}"/>
                </a:ext>
              </a:extLst>
            </p:cNvPr>
            <p:cNvSpPr/>
            <p:nvPr/>
          </p:nvSpPr>
          <p:spPr>
            <a:xfrm>
              <a:off x="2837707" y="4601837"/>
              <a:ext cx="525194" cy="484632"/>
            </a:xfrm>
            <a:prstGeom prst="rightArrow">
              <a:avLst/>
            </a:prstGeom>
            <a:noFill/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19" name="四角形: 角を丸くする 18">
              <a:extLst>
                <a:ext uri="{FF2B5EF4-FFF2-40B4-BE49-F238E27FC236}">
                  <a16:creationId xmlns:a16="http://schemas.microsoft.com/office/drawing/2014/main" id="{10BCC257-ECF9-4687-9DC5-2CF59CBE046C}"/>
                </a:ext>
              </a:extLst>
            </p:cNvPr>
            <p:cNvSpPr/>
            <p:nvPr/>
          </p:nvSpPr>
          <p:spPr>
            <a:xfrm>
              <a:off x="916279" y="4529599"/>
              <a:ext cx="1710813" cy="629108"/>
            </a:xfrm>
            <a:prstGeom prst="roundRect">
              <a:avLst/>
            </a:prstGeom>
            <a:noFill/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1E7661AD-DA24-4D9F-969E-5A36C7099019}"/>
                </a:ext>
              </a:extLst>
            </p:cNvPr>
            <p:cNvSpPr txBox="1"/>
            <p:nvPr/>
          </p:nvSpPr>
          <p:spPr>
            <a:xfrm>
              <a:off x="1144161" y="4677551"/>
              <a:ext cx="1255050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性能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7845B028-9DD2-426C-88D6-98FF79D725EE}"/>
                </a:ext>
              </a:extLst>
            </p:cNvPr>
            <p:cNvSpPr txBox="1"/>
            <p:nvPr/>
          </p:nvSpPr>
          <p:spPr>
            <a:xfrm>
              <a:off x="3573517" y="5416014"/>
              <a:ext cx="320148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碳纖維、玻璃纖維、</a:t>
              </a:r>
              <a:br>
                <a:rPr kumimoji="1" lang="en-US" altLang="ja-JP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</a:b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植物衍生的塑料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24" name="矢印: 右 23">
              <a:extLst>
                <a:ext uri="{FF2B5EF4-FFF2-40B4-BE49-F238E27FC236}">
                  <a16:creationId xmlns:a16="http://schemas.microsoft.com/office/drawing/2014/main" id="{ED3CD291-EE94-449E-8665-66722DC44126}"/>
                </a:ext>
              </a:extLst>
            </p:cNvPr>
            <p:cNvSpPr/>
            <p:nvPr/>
          </p:nvSpPr>
          <p:spPr>
            <a:xfrm>
              <a:off x="2837707" y="5494188"/>
              <a:ext cx="525194" cy="484632"/>
            </a:xfrm>
            <a:prstGeom prst="rightArrow">
              <a:avLst/>
            </a:prstGeom>
            <a:noFill/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20" name="四角形: 角を丸くする 19">
              <a:extLst>
                <a:ext uri="{FF2B5EF4-FFF2-40B4-BE49-F238E27FC236}">
                  <a16:creationId xmlns:a16="http://schemas.microsoft.com/office/drawing/2014/main" id="{44FD1A8C-8C36-4C8D-AF6F-E3AB2B66747D}"/>
                </a:ext>
              </a:extLst>
            </p:cNvPr>
            <p:cNvSpPr/>
            <p:nvPr/>
          </p:nvSpPr>
          <p:spPr>
            <a:xfrm>
              <a:off x="916279" y="5421950"/>
              <a:ext cx="1710813" cy="629108"/>
            </a:xfrm>
            <a:prstGeom prst="roundRect">
              <a:avLst/>
            </a:prstGeom>
            <a:noFill/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000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B1D114F9-7213-4ADC-BCC8-DBC11A175F02}"/>
                </a:ext>
              </a:extLst>
            </p:cNvPr>
            <p:cNvSpPr txBox="1"/>
            <p:nvPr/>
          </p:nvSpPr>
          <p:spPr>
            <a:xfrm>
              <a:off x="1144161" y="5569902"/>
              <a:ext cx="1255050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素材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pic>
          <p:nvPicPr>
            <p:cNvPr id="35" name="図 34" descr="装置, 自動車, 室内, 黒 が含まれている画像&#10;&#10;非常に高い精度で生成された説明">
              <a:extLst>
                <a:ext uri="{FF2B5EF4-FFF2-40B4-BE49-F238E27FC236}">
                  <a16:creationId xmlns:a16="http://schemas.microsoft.com/office/drawing/2014/main" id="{6BA5303B-69AC-4910-8C57-8DA02F3CF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1374" y="4166870"/>
              <a:ext cx="2706404" cy="1803142"/>
            </a:xfrm>
            <a:prstGeom prst="rect">
              <a:avLst/>
            </a:prstGeom>
            <a:effectLst>
              <a:softEdge rad="63500"/>
            </a:effectLst>
          </p:spPr>
        </p:pic>
      </p:grpSp>
    </p:spTree>
    <p:extLst>
      <p:ext uri="{BB962C8B-B14F-4D97-AF65-F5344CB8AC3E}">
        <p14:creationId xmlns:p14="http://schemas.microsoft.com/office/powerpoint/2010/main" val="784985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F5136976-E980-4EBE-96B4-9A2F3F399210}"/>
              </a:ext>
            </a:extLst>
          </p:cNvPr>
          <p:cNvGrpSpPr/>
          <p:nvPr/>
        </p:nvGrpSpPr>
        <p:grpSpPr>
          <a:xfrm>
            <a:off x="2443318" y="702441"/>
            <a:ext cx="5019365" cy="5621238"/>
            <a:chOff x="2443318" y="702441"/>
            <a:chExt cx="5019365" cy="5621238"/>
          </a:xfrm>
        </p:grpSpPr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2D5481E0-5E54-43E0-A30C-B7830621B259}"/>
                </a:ext>
              </a:extLst>
            </p:cNvPr>
            <p:cNvGrpSpPr/>
            <p:nvPr/>
          </p:nvGrpSpPr>
          <p:grpSpPr>
            <a:xfrm>
              <a:off x="2443318" y="1586133"/>
              <a:ext cx="5019365" cy="4737546"/>
              <a:chOff x="2996014" y="1871825"/>
              <a:chExt cx="3913972" cy="3694214"/>
            </a:xfrm>
          </p:grpSpPr>
          <p:sp>
            <p:nvSpPr>
              <p:cNvPr id="9" name="フリーフォーム: 図形 8">
                <a:extLst>
                  <a:ext uri="{FF2B5EF4-FFF2-40B4-BE49-F238E27FC236}">
                    <a16:creationId xmlns:a16="http://schemas.microsoft.com/office/drawing/2014/main" id="{46AE1CF4-17B6-4E1F-A7E8-ADFC63B65B02}"/>
                  </a:ext>
                </a:extLst>
              </p:cNvPr>
              <p:cNvSpPr/>
              <p:nvPr/>
            </p:nvSpPr>
            <p:spPr>
              <a:xfrm>
                <a:off x="3816319" y="1871825"/>
                <a:ext cx="2273362" cy="2273362"/>
              </a:xfrm>
              <a:custGeom>
                <a:avLst/>
                <a:gdLst>
                  <a:gd name="connsiteX0" fmla="*/ 0 w 2273362"/>
                  <a:gd name="connsiteY0" fmla="*/ 1136681 h 2273362"/>
                  <a:gd name="connsiteX1" fmla="*/ 1136681 w 2273362"/>
                  <a:gd name="connsiteY1" fmla="*/ 0 h 2273362"/>
                  <a:gd name="connsiteX2" fmla="*/ 2273362 w 2273362"/>
                  <a:gd name="connsiteY2" fmla="*/ 1136681 h 2273362"/>
                  <a:gd name="connsiteX3" fmla="*/ 1136681 w 2273362"/>
                  <a:gd name="connsiteY3" fmla="*/ 2273362 h 2273362"/>
                  <a:gd name="connsiteX4" fmla="*/ 0 w 2273362"/>
                  <a:gd name="connsiteY4" fmla="*/ 1136681 h 227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73362" h="2273362">
                    <a:moveTo>
                      <a:pt x="0" y="1136681"/>
                    </a:moveTo>
                    <a:cubicBezTo>
                      <a:pt x="0" y="508909"/>
                      <a:pt x="508909" y="0"/>
                      <a:pt x="1136681" y="0"/>
                    </a:cubicBezTo>
                    <a:cubicBezTo>
                      <a:pt x="1764453" y="0"/>
                      <a:pt x="2273362" y="508909"/>
                      <a:pt x="2273362" y="1136681"/>
                    </a:cubicBezTo>
                    <a:cubicBezTo>
                      <a:pt x="2273362" y="1764453"/>
                      <a:pt x="1764453" y="2273362"/>
                      <a:pt x="1136681" y="2273362"/>
                    </a:cubicBezTo>
                    <a:cubicBezTo>
                      <a:pt x="508909" y="2273362"/>
                      <a:pt x="0" y="1764453"/>
                      <a:pt x="0" y="1136681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  <a:alpha val="30000"/>
                </a:schemeClr>
              </a:solidFill>
              <a:ln w="28575">
                <a:solidFill>
                  <a:schemeClr val="accent1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/>
              </a:fontRef>
            </p:style>
            <p:txBody>
              <a:bodyPr spcFirstLastPara="0" vert="horz" wrap="square" lIns="303115" tIns="397839" rIns="303115" bIns="852510" numCol="1" spcCol="1270" anchor="ctr" anchorCtr="0">
                <a:noAutofit/>
              </a:bodyPr>
              <a:lstStyle/>
              <a:p>
                <a:pPr marL="0" lvl="0" indent="0" algn="ctr" defTabSz="12446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kumimoji="1" lang="ja-JP" altLang="en-US" sz="2800" kern="1200"/>
              </a:p>
            </p:txBody>
          </p:sp>
          <p:sp>
            <p:nvSpPr>
              <p:cNvPr id="10" name="フリーフォーム: 図形 9">
                <a:extLst>
                  <a:ext uri="{FF2B5EF4-FFF2-40B4-BE49-F238E27FC236}">
                    <a16:creationId xmlns:a16="http://schemas.microsoft.com/office/drawing/2014/main" id="{3ED57A47-3FD7-4979-8DAD-5A77D7C6676C}"/>
                  </a:ext>
                </a:extLst>
              </p:cNvPr>
              <p:cNvSpPr/>
              <p:nvPr/>
            </p:nvSpPr>
            <p:spPr>
              <a:xfrm>
                <a:off x="4636624" y="3292677"/>
                <a:ext cx="2273362" cy="2273362"/>
              </a:xfrm>
              <a:custGeom>
                <a:avLst/>
                <a:gdLst>
                  <a:gd name="connsiteX0" fmla="*/ 0 w 2273362"/>
                  <a:gd name="connsiteY0" fmla="*/ 1136681 h 2273362"/>
                  <a:gd name="connsiteX1" fmla="*/ 1136681 w 2273362"/>
                  <a:gd name="connsiteY1" fmla="*/ 0 h 2273362"/>
                  <a:gd name="connsiteX2" fmla="*/ 2273362 w 2273362"/>
                  <a:gd name="connsiteY2" fmla="*/ 1136681 h 2273362"/>
                  <a:gd name="connsiteX3" fmla="*/ 1136681 w 2273362"/>
                  <a:gd name="connsiteY3" fmla="*/ 2273362 h 2273362"/>
                  <a:gd name="connsiteX4" fmla="*/ 0 w 2273362"/>
                  <a:gd name="connsiteY4" fmla="*/ 1136681 h 227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73362" h="2273362">
                    <a:moveTo>
                      <a:pt x="0" y="1136681"/>
                    </a:moveTo>
                    <a:cubicBezTo>
                      <a:pt x="0" y="508909"/>
                      <a:pt x="508909" y="0"/>
                      <a:pt x="1136681" y="0"/>
                    </a:cubicBezTo>
                    <a:cubicBezTo>
                      <a:pt x="1764453" y="0"/>
                      <a:pt x="2273362" y="508909"/>
                      <a:pt x="2273362" y="1136681"/>
                    </a:cubicBezTo>
                    <a:cubicBezTo>
                      <a:pt x="2273362" y="1764453"/>
                      <a:pt x="1764453" y="2273362"/>
                      <a:pt x="1136681" y="2273362"/>
                    </a:cubicBezTo>
                    <a:cubicBezTo>
                      <a:pt x="508909" y="2273362"/>
                      <a:pt x="0" y="1764453"/>
                      <a:pt x="0" y="1136681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30000"/>
                </a:schemeClr>
              </a:solidFill>
              <a:ln w="190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/>
              </a:fontRef>
            </p:style>
            <p:txBody>
              <a:bodyPr spcFirstLastPara="0" vert="horz" wrap="square" lIns="695270" tIns="587285" rIns="214075" bIns="435728" numCol="1" spcCol="1270" anchor="ctr" anchorCtr="0">
                <a:noAutofit/>
              </a:bodyPr>
              <a:lstStyle/>
              <a:p>
                <a:pPr marL="0" lvl="0" indent="0" algn="ctr" defTabSz="10223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kumimoji="1" lang="ja-JP" altLang="en-US" sz="2300" kern="1200"/>
              </a:p>
            </p:txBody>
          </p:sp>
          <p:sp>
            <p:nvSpPr>
              <p:cNvPr id="11" name="フリーフォーム: 図形 10">
                <a:extLst>
                  <a:ext uri="{FF2B5EF4-FFF2-40B4-BE49-F238E27FC236}">
                    <a16:creationId xmlns:a16="http://schemas.microsoft.com/office/drawing/2014/main" id="{D32E2EE7-E748-4522-B513-B3CE471B8851}"/>
                  </a:ext>
                </a:extLst>
              </p:cNvPr>
              <p:cNvSpPr/>
              <p:nvPr/>
            </p:nvSpPr>
            <p:spPr>
              <a:xfrm>
                <a:off x="2996014" y="3292677"/>
                <a:ext cx="2273362" cy="2273362"/>
              </a:xfrm>
              <a:custGeom>
                <a:avLst/>
                <a:gdLst>
                  <a:gd name="connsiteX0" fmla="*/ 0 w 2273362"/>
                  <a:gd name="connsiteY0" fmla="*/ 1136681 h 2273362"/>
                  <a:gd name="connsiteX1" fmla="*/ 1136681 w 2273362"/>
                  <a:gd name="connsiteY1" fmla="*/ 0 h 2273362"/>
                  <a:gd name="connsiteX2" fmla="*/ 2273362 w 2273362"/>
                  <a:gd name="connsiteY2" fmla="*/ 1136681 h 2273362"/>
                  <a:gd name="connsiteX3" fmla="*/ 1136681 w 2273362"/>
                  <a:gd name="connsiteY3" fmla="*/ 2273362 h 2273362"/>
                  <a:gd name="connsiteX4" fmla="*/ 0 w 2273362"/>
                  <a:gd name="connsiteY4" fmla="*/ 1136681 h 227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73362" h="2273362">
                    <a:moveTo>
                      <a:pt x="0" y="1136681"/>
                    </a:moveTo>
                    <a:cubicBezTo>
                      <a:pt x="0" y="508909"/>
                      <a:pt x="508909" y="0"/>
                      <a:pt x="1136681" y="0"/>
                    </a:cubicBezTo>
                    <a:cubicBezTo>
                      <a:pt x="1764453" y="0"/>
                      <a:pt x="2273362" y="508909"/>
                      <a:pt x="2273362" y="1136681"/>
                    </a:cubicBezTo>
                    <a:cubicBezTo>
                      <a:pt x="2273362" y="1764453"/>
                      <a:pt x="1764453" y="2273362"/>
                      <a:pt x="1136681" y="2273362"/>
                    </a:cubicBezTo>
                    <a:cubicBezTo>
                      <a:pt x="508909" y="2273362"/>
                      <a:pt x="0" y="1764453"/>
                      <a:pt x="0" y="1136681"/>
                    </a:cubicBez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  <a:alpha val="30000"/>
                </a:schemeClr>
              </a:solidFill>
              <a:ln w="19050">
                <a:solidFill>
                  <a:schemeClr val="accent6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/>
              </a:fontRef>
            </p:style>
            <p:txBody>
              <a:bodyPr spcFirstLastPara="0" vert="horz" wrap="square" lIns="214075" tIns="587285" rIns="695270" bIns="435728" numCol="1" spcCol="1270" anchor="ctr" anchorCtr="0">
                <a:noAutofit/>
              </a:bodyPr>
              <a:lstStyle/>
              <a:p>
                <a:pPr marL="0" lvl="0" indent="0" algn="ctr" defTabSz="10223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kumimoji="1" lang="ja-JP" altLang="en-US" sz="2300" kern="1200"/>
              </a:p>
            </p:txBody>
          </p:sp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1161EDE4-1A24-4511-A1CD-55B2E865F096}"/>
                  </a:ext>
                </a:extLst>
              </p:cNvPr>
              <p:cNvSpPr txBox="1"/>
              <p:nvPr/>
            </p:nvSpPr>
            <p:spPr>
              <a:xfrm>
                <a:off x="4041015" y="2482594"/>
                <a:ext cx="1823971" cy="647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zh-TW" altLang="en-US" sz="240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沒有時間與場所</a:t>
                </a:r>
                <a:endParaRPr kumimoji="1" lang="en-US" altLang="zh-TW" sz="24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algn="ctr"/>
                <a:r>
                  <a:rPr kumimoji="1" lang="zh-TW" altLang="en-US" sz="240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的限制</a:t>
                </a:r>
                <a:endParaRPr kumimoji="1" lang="ja-JP" altLang="en-US" sz="2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FB8D20EA-C328-4A2C-BEF9-3661911762D2}"/>
                  </a:ext>
                </a:extLst>
              </p:cNvPr>
              <p:cNvSpPr txBox="1"/>
              <p:nvPr/>
            </p:nvSpPr>
            <p:spPr>
              <a:xfrm>
                <a:off x="5414664" y="4308938"/>
                <a:ext cx="1343979" cy="647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zh-TW" altLang="en-US" sz="240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郵件回覆的</a:t>
                </a:r>
                <a:endParaRPr kumimoji="1" lang="en-US" altLang="zh-TW" sz="24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algn="ctr"/>
                <a:r>
                  <a:rPr kumimoji="1" lang="zh-TW" altLang="en-US" sz="240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自動化</a:t>
                </a:r>
                <a:endParaRPr kumimoji="1" lang="ja-JP" altLang="en-US" sz="2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3953B648-3C83-447B-B512-DE203FB8C80D}"/>
                  </a:ext>
                </a:extLst>
              </p:cNvPr>
              <p:cNvSpPr txBox="1"/>
              <p:nvPr/>
            </p:nvSpPr>
            <p:spPr>
              <a:xfrm>
                <a:off x="3224386" y="4308939"/>
                <a:ext cx="1343979" cy="647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zh-TW" altLang="en-US" sz="240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提高</a:t>
                </a:r>
                <a:endParaRPr kumimoji="1" lang="en-US" altLang="zh-TW" sz="240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pPr algn="ctr"/>
                <a:r>
                  <a:rPr kumimoji="1" lang="zh-TW" altLang="en-US" sz="240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項目聯鎖率</a:t>
                </a:r>
                <a:endParaRPr kumimoji="1" lang="ja-JP" altLang="en-US" sz="2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AFBFE953-04A7-4987-88B0-C179F15472E7}"/>
                </a:ext>
              </a:extLst>
            </p:cNvPr>
            <p:cNvSpPr txBox="1"/>
            <p:nvPr/>
          </p:nvSpPr>
          <p:spPr>
            <a:xfrm>
              <a:off x="2996013" y="702441"/>
              <a:ext cx="391397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32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網路業務的加速化</a:t>
              </a:r>
              <a:endParaRPr kumimoji="1"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8629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400</TotalTime>
  <Words>149</Words>
  <Application>Microsoft Office PowerPoint</Application>
  <PresentationFormat>A4 紙張 (210x297 公釐)</PresentationFormat>
  <Paragraphs>40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Office テーマ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Windows 使用者</cp:lastModifiedBy>
  <cp:revision>45</cp:revision>
  <dcterms:created xsi:type="dcterms:W3CDTF">2017-11-09T07:26:57Z</dcterms:created>
  <dcterms:modified xsi:type="dcterms:W3CDTF">2018-10-02T06:55:57Z</dcterms:modified>
</cp:coreProperties>
</file>