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60" r:id="rId4"/>
    <p:sldId id="262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中間スタイル 3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中間スタイル 3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6D2DA8AD-C074-451B-82EB-4FE559B2C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992835"/>
              </p:ext>
            </p:extLst>
          </p:nvPr>
        </p:nvGraphicFramePr>
        <p:xfrm>
          <a:off x="610192" y="3222872"/>
          <a:ext cx="8915482" cy="2880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12562">
                  <a:extLst>
                    <a:ext uri="{9D8B030D-6E8A-4147-A177-3AD203B41FA5}">
                      <a16:colId xmlns:a16="http://schemas.microsoft.com/office/drawing/2014/main" val="3078851599"/>
                    </a:ext>
                  </a:extLst>
                </a:gridCol>
                <a:gridCol w="1187960">
                  <a:extLst>
                    <a:ext uri="{9D8B030D-6E8A-4147-A177-3AD203B41FA5}">
                      <a16:colId xmlns:a16="http://schemas.microsoft.com/office/drawing/2014/main" val="2980576036"/>
                    </a:ext>
                  </a:extLst>
                </a:gridCol>
                <a:gridCol w="748454">
                  <a:extLst>
                    <a:ext uri="{9D8B030D-6E8A-4147-A177-3AD203B41FA5}">
                      <a16:colId xmlns:a16="http://schemas.microsoft.com/office/drawing/2014/main" val="1392655444"/>
                    </a:ext>
                  </a:extLst>
                </a:gridCol>
                <a:gridCol w="1187960">
                  <a:extLst>
                    <a:ext uri="{9D8B030D-6E8A-4147-A177-3AD203B41FA5}">
                      <a16:colId xmlns:a16="http://schemas.microsoft.com/office/drawing/2014/main" val="4030730228"/>
                    </a:ext>
                  </a:extLst>
                </a:gridCol>
                <a:gridCol w="748454">
                  <a:extLst>
                    <a:ext uri="{9D8B030D-6E8A-4147-A177-3AD203B41FA5}">
                      <a16:colId xmlns:a16="http://schemas.microsoft.com/office/drawing/2014/main" val="4259719906"/>
                    </a:ext>
                  </a:extLst>
                </a:gridCol>
                <a:gridCol w="1074335">
                  <a:extLst>
                    <a:ext uri="{9D8B030D-6E8A-4147-A177-3AD203B41FA5}">
                      <a16:colId xmlns:a16="http://schemas.microsoft.com/office/drawing/2014/main" val="3017391568"/>
                    </a:ext>
                  </a:extLst>
                </a:gridCol>
                <a:gridCol w="748454">
                  <a:extLst>
                    <a:ext uri="{9D8B030D-6E8A-4147-A177-3AD203B41FA5}">
                      <a16:colId xmlns:a16="http://schemas.microsoft.com/office/drawing/2014/main" val="2015839732"/>
                    </a:ext>
                  </a:extLst>
                </a:gridCol>
                <a:gridCol w="1087779">
                  <a:extLst>
                    <a:ext uri="{9D8B030D-6E8A-4147-A177-3AD203B41FA5}">
                      <a16:colId xmlns:a16="http://schemas.microsoft.com/office/drawing/2014/main" val="3989574626"/>
                    </a:ext>
                  </a:extLst>
                </a:gridCol>
                <a:gridCol w="719524">
                  <a:extLst>
                    <a:ext uri="{9D8B030D-6E8A-4147-A177-3AD203B41FA5}">
                      <a16:colId xmlns:a16="http://schemas.microsoft.com/office/drawing/2014/main" val="36443257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國籍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總數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成長率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觀光客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成長率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商務客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成長率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其他旅客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成長率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578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kumimoji="1" lang="zh-TW" alt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整體</a:t>
                      </a:r>
                      <a:endParaRPr kumimoji="1" lang="ja-JP" altLang="en-US" sz="1400" b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24,039,700</a:t>
                      </a:r>
                      <a:r>
                        <a:rPr lang="en-US" altLang="ja-JP" sz="1400" b="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kumimoji="1" lang="en-US" altLang="ja-JP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21.8%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21,049,676</a:t>
                      </a:r>
                      <a:r>
                        <a:rPr lang="en-US" altLang="ja-JP" sz="1400" b="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24.0%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1,701,902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3.7%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1,288,122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14.3%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58865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u="none" strike="noStrike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亞洲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20,428,866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22.7%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18,253,834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24.4%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1,113,683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5.1%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1,061,349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15.6%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49087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u="none" strike="noStrike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歐洲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1,421,934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14.2%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1,030,228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18.2%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285,886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2.5%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105,820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11.8%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654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大洋洲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505,638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17.9%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446,159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20.0%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41,327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3.0%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18,152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5.5%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3705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u="none" strike="noStrike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南非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77,958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5.1%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60,071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1.6%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10,537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36.7%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7,350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-0.2%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94366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u="none" strike="noStrike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非洲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33,762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5.8%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12,783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-7.5%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8,691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27.0%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12,288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9.1%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81612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u="none" strike="noStrike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無國籍、其他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1,122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32.3%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602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14.4%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49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36.1%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471 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64.7%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686589"/>
                  </a:ext>
                </a:extLst>
              </a:tr>
            </a:tbl>
          </a:graphicData>
        </a:graphic>
      </p:graphicFrame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BB44898-9A13-4117-A740-7BD824A18F45}"/>
              </a:ext>
            </a:extLst>
          </p:cNvPr>
          <p:cNvGrpSpPr/>
          <p:nvPr/>
        </p:nvGrpSpPr>
        <p:grpSpPr>
          <a:xfrm>
            <a:off x="559211" y="323384"/>
            <a:ext cx="8966464" cy="6137819"/>
            <a:chOff x="559211" y="323384"/>
            <a:chExt cx="8966464" cy="6137819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3003397" y="2836438"/>
              <a:ext cx="3899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2016</a:t>
              </a:r>
              <a:r>
                <a:rPr kumimoji="1" lang="zh-TW" altLang="en-US" sz="14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年</a:t>
              </a:r>
              <a:r>
                <a:rPr kumimoji="1" lang="ja-JP" altLang="en-US" sz="14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kumimoji="1" lang="zh-TW" altLang="en-US" sz="14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國籍別</a:t>
              </a:r>
              <a:r>
                <a:rPr kumimoji="1" lang="ja-JP" altLang="en-US" sz="14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kumimoji="1" lang="en-US" altLang="ja-JP" sz="14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/ </a:t>
              </a:r>
              <a:r>
                <a:rPr kumimoji="1" lang="zh-TW" altLang="en-US" sz="14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目的別</a:t>
              </a:r>
              <a:r>
                <a:rPr kumimoji="1" lang="ja-JP" altLang="en-US" sz="14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kumimoji="1" lang="zh-TW" altLang="en-US" sz="14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訪日外國客數</a:t>
              </a:r>
              <a:endParaRPr kumimoji="1" lang="ja-JP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8EA37FA0-67A2-4DF7-8F51-4636B7D26B78}"/>
                </a:ext>
              </a:extLst>
            </p:cNvPr>
            <p:cNvSpPr/>
            <p:nvPr/>
          </p:nvSpPr>
          <p:spPr>
            <a:xfrm>
              <a:off x="7467098" y="6214982"/>
              <a:ext cx="205857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0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出處</a:t>
              </a:r>
              <a:r>
                <a:rPr lang="ja-JP" altLang="en-US" sz="10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：</a:t>
              </a:r>
              <a:r>
                <a:rPr lang="zh-TW" altLang="en-US" sz="10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日本政府觀光局（</a:t>
              </a:r>
              <a:r>
                <a:rPr lang="en-US" altLang="ja-JP" sz="100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JNTO</a:t>
              </a:r>
              <a:r>
                <a:rPr lang="zh-TW" altLang="en-US" sz="10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）</a:t>
              </a:r>
              <a:endParaRPr lang="ja-JP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EE52D1C4-B0CA-40EF-AE19-68E3666FD5B9}"/>
                </a:ext>
              </a:extLst>
            </p:cNvPr>
            <p:cNvSpPr txBox="1"/>
            <p:nvPr/>
          </p:nvSpPr>
          <p:spPr>
            <a:xfrm>
              <a:off x="1462668" y="1039247"/>
              <a:ext cx="698066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造訪日本的外國人人數在</a:t>
              </a:r>
              <a:r>
                <a:rPr kumimoji="1" lang="en-US" altLang="zh-TW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2016</a:t>
              </a:r>
              <a:r>
                <a:rPr kumimoji="1" lang="zh-TW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年</a:t>
              </a:r>
              <a:r>
                <a:rPr kumimoji="1" lang="en-US" altLang="zh-TW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年期間創下新高，比前年增加了</a:t>
              </a:r>
              <a:r>
                <a:rPr kumimoji="1" lang="en-US" altLang="ja-JP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21.8</a:t>
              </a:r>
              <a:r>
                <a:rPr kumimoji="1" lang="ja-JP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％</a:t>
              </a:r>
              <a:r>
                <a:rPr kumimoji="1" lang="zh-TW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，達到了</a:t>
              </a:r>
              <a:r>
                <a:rPr kumimoji="1" lang="en-US" altLang="ja-JP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2,403</a:t>
              </a:r>
              <a:r>
                <a:rPr kumimoji="1" lang="zh-TW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萬</a:t>
              </a:r>
              <a:r>
                <a:rPr kumimoji="1" lang="en-US" altLang="ja-JP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9,000</a:t>
              </a:r>
              <a:r>
                <a:rPr kumimoji="1" lang="zh-TW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人。</a:t>
              </a:r>
              <a:endParaRPr kumimoji="1" lang="en-US" altLang="ja-JP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雖然人數比過去最高記錄的</a:t>
              </a:r>
              <a:r>
                <a:rPr kumimoji="1" lang="en-US" altLang="zh-TW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2015</a:t>
              </a:r>
              <a:r>
                <a:rPr kumimoji="1" lang="zh-TW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年的</a:t>
              </a:r>
              <a:r>
                <a:rPr kumimoji="1" lang="en-US" altLang="zh-TW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1973</a:t>
              </a:r>
              <a:r>
                <a:rPr kumimoji="1" lang="zh-TW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萬</a:t>
              </a:r>
              <a:r>
                <a:rPr kumimoji="1" lang="en-US" altLang="ja-JP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7,000</a:t>
              </a:r>
              <a:r>
                <a:rPr kumimoji="1" lang="zh-TW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人多出約</a:t>
              </a:r>
              <a:r>
                <a:rPr kumimoji="1" lang="en-US" altLang="zh-TW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430</a:t>
              </a:r>
              <a:r>
                <a:rPr kumimoji="1" lang="zh-TW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萬人左右，可是，成長率卻比同年的</a:t>
              </a:r>
              <a:r>
                <a:rPr kumimoji="1" lang="en-US" altLang="ja-JP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47.1</a:t>
              </a:r>
              <a:r>
                <a:rPr kumimoji="1" lang="ja-JP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％</a:t>
              </a:r>
              <a:r>
                <a:rPr kumimoji="1" lang="zh-TW" altLang="en-US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低上許多，由此便可看出成長的緩慢。</a:t>
              </a:r>
              <a:endParaRPr kumimoji="1" lang="ja-JP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1" name="フローチャート: 処理 10">
              <a:extLst>
                <a:ext uri="{FF2B5EF4-FFF2-40B4-BE49-F238E27FC236}">
                  <a16:creationId xmlns:a16="http://schemas.microsoft.com/office/drawing/2014/main" id="{E6EE3CD0-DBFA-4D39-9C92-187106C0A3A9}"/>
                </a:ext>
              </a:extLst>
            </p:cNvPr>
            <p:cNvSpPr/>
            <p:nvPr/>
          </p:nvSpPr>
          <p:spPr>
            <a:xfrm>
              <a:off x="559211" y="323384"/>
              <a:ext cx="4860000" cy="396000"/>
            </a:xfrm>
            <a:prstGeom prst="flowChartProcess">
              <a:avLst/>
            </a:prstGeom>
            <a:gradFill flip="none" rotWithShape="1">
              <a:gsLst>
                <a:gs pos="0">
                  <a:schemeClr val="bg1"/>
                </a:gs>
                <a:gs pos="74000">
                  <a:schemeClr val="accent1"/>
                </a:gs>
                <a:gs pos="83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0FDC6B94-D1F8-4A63-A86D-2004250B7729}"/>
                </a:ext>
              </a:extLst>
            </p:cNvPr>
            <p:cNvSpPr txBox="1"/>
            <p:nvPr/>
          </p:nvSpPr>
          <p:spPr>
            <a:xfrm>
              <a:off x="780585" y="352107"/>
              <a:ext cx="22839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b="1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DATA</a:t>
              </a:r>
              <a:endParaRPr kumimoji="1" lang="ja-JP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49CA52FA-AEF4-41E7-B1CE-85435135D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257540"/>
              </p:ext>
            </p:extLst>
          </p:nvPr>
        </p:nvGraphicFramePr>
        <p:xfrm>
          <a:off x="973874" y="3273265"/>
          <a:ext cx="7746379" cy="32918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604662">
                  <a:extLst>
                    <a:ext uri="{9D8B030D-6E8A-4147-A177-3AD203B41FA5}">
                      <a16:colId xmlns:a16="http://schemas.microsoft.com/office/drawing/2014/main" val="703632499"/>
                    </a:ext>
                  </a:extLst>
                </a:gridCol>
                <a:gridCol w="2761686">
                  <a:extLst>
                    <a:ext uri="{9D8B030D-6E8A-4147-A177-3AD203B41FA5}">
                      <a16:colId xmlns:a16="http://schemas.microsoft.com/office/drawing/2014/main" val="1090819235"/>
                    </a:ext>
                  </a:extLst>
                </a:gridCol>
                <a:gridCol w="1528791">
                  <a:extLst>
                    <a:ext uri="{9D8B030D-6E8A-4147-A177-3AD203B41FA5}">
                      <a16:colId xmlns:a16="http://schemas.microsoft.com/office/drawing/2014/main" val="3716122789"/>
                    </a:ext>
                  </a:extLst>
                </a:gridCol>
                <a:gridCol w="1851240">
                  <a:extLst>
                    <a:ext uri="{9D8B030D-6E8A-4147-A177-3AD203B41FA5}">
                      <a16:colId xmlns:a16="http://schemas.microsoft.com/office/drawing/2014/main" val="2634204949"/>
                    </a:ext>
                  </a:extLst>
                </a:gridCol>
              </a:tblGrid>
              <a:tr h="484535"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年度</a:t>
                      </a:r>
                      <a:endParaRPr kumimoji="1" lang="ja-JP" altLang="en-US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銷售額</a:t>
                      </a:r>
                      <a:endParaRPr kumimoji="1" lang="ja-JP" altLang="en-US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店鋪數</a:t>
                      </a:r>
                      <a:endParaRPr kumimoji="1" lang="ja-JP" altLang="en-US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會員數</a:t>
                      </a:r>
                      <a:endParaRPr kumimoji="1" lang="ja-JP" altLang="en-US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048529731"/>
                  </a:ext>
                </a:extLst>
              </a:tr>
              <a:tr h="48453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2013</a:t>
                      </a:r>
                      <a:r>
                        <a:rPr kumimoji="1"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年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21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億</a:t>
                      </a:r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5,600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萬日圓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35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15.3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萬人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818089618"/>
                  </a:ext>
                </a:extLst>
              </a:tr>
              <a:tr h="4845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2014</a:t>
                      </a:r>
                      <a:r>
                        <a:rPr kumimoji="1"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年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22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億</a:t>
                      </a:r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1,200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萬日圓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36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16.4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萬人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419860085"/>
                  </a:ext>
                </a:extLst>
              </a:tr>
              <a:tr h="4845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2015</a:t>
                      </a:r>
                      <a:r>
                        <a:rPr kumimoji="1"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年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23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億</a:t>
                      </a:r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2,000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萬日圓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42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17.1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萬人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003175077"/>
                  </a:ext>
                </a:extLst>
              </a:tr>
              <a:tr h="4845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2016</a:t>
                      </a:r>
                      <a:r>
                        <a:rPr kumimoji="1"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年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24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億</a:t>
                      </a:r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1,700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萬日圓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44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17.7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萬人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78979623"/>
                  </a:ext>
                </a:extLst>
              </a:tr>
              <a:tr h="4845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2017</a:t>
                      </a:r>
                      <a:r>
                        <a:rPr kumimoji="1"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年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25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億</a:t>
                      </a:r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4,500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萬日圓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51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18.3</a:t>
                      </a:r>
                      <a:r>
                        <a:rPr kumimoji="1"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萬人</a:t>
                      </a:r>
                      <a:endParaRPr kumimoji="1" lang="ja-JP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613106630"/>
                  </a:ext>
                </a:extLst>
              </a:tr>
            </a:tbl>
          </a:graphicData>
        </a:graphic>
      </p:graphicFrame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9BDDC53-C889-4A46-9D4A-A7ACB467A1AC}"/>
              </a:ext>
            </a:extLst>
          </p:cNvPr>
          <p:cNvGrpSpPr/>
          <p:nvPr/>
        </p:nvGrpSpPr>
        <p:grpSpPr>
          <a:xfrm>
            <a:off x="973874" y="384938"/>
            <a:ext cx="7746380" cy="2675270"/>
            <a:chOff x="973874" y="384938"/>
            <a:chExt cx="7746380" cy="2675270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2273070" y="384938"/>
              <a:ext cx="53598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市場持續擴大，客單價也持續上升</a:t>
              </a:r>
              <a:endParaRPr kumimoji="1"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DB4D2A74-05B3-4DD7-A15E-54FD13E5D080}"/>
                </a:ext>
              </a:extLst>
            </p:cNvPr>
            <p:cNvSpPr txBox="1"/>
            <p:nvPr/>
          </p:nvSpPr>
          <p:spPr>
            <a:xfrm>
              <a:off x="973874" y="1121216"/>
              <a:ext cx="774638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2017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年度的健身事業從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2013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年開始走勢強勁，收入增加，利潤持續增長。最近的銷售額和會員數、客單價全都創下了這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年期間的最高值。</a:t>
              </a:r>
              <a:endParaRPr kumimoji="1"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客單價的上升來自於高價格會員類別的入會者增加、會員保留率的提升、低單價類別的招募停止、退會者的減少，以及蛋白質、營養品、</a:t>
              </a:r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負氫水素水等附帶商品的收入增加。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4" name="直線コネクタ 3">
              <a:extLst>
                <a:ext uri="{FF2B5EF4-FFF2-40B4-BE49-F238E27FC236}">
                  <a16:creationId xmlns:a16="http://schemas.microsoft.com/office/drawing/2014/main" id="{E3992C40-A0EB-471A-B14F-35F6029AEC26}"/>
                </a:ext>
              </a:extLst>
            </p:cNvPr>
            <p:cNvCxnSpPr>
              <a:cxnSpLocks/>
            </p:cNvCxnSpPr>
            <p:nvPr/>
          </p:nvCxnSpPr>
          <p:spPr>
            <a:xfrm>
              <a:off x="2541000" y="846603"/>
              <a:ext cx="4824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3259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AD55A979-C426-4053-809F-AD601BE27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492104"/>
              </p:ext>
            </p:extLst>
          </p:nvPr>
        </p:nvGraphicFramePr>
        <p:xfrm>
          <a:off x="1052016" y="3429000"/>
          <a:ext cx="8316271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325">
                  <a:extLst>
                    <a:ext uri="{9D8B030D-6E8A-4147-A177-3AD203B41FA5}">
                      <a16:colId xmlns:a16="http://schemas.microsoft.com/office/drawing/2014/main" val="779451363"/>
                    </a:ext>
                  </a:extLst>
                </a:gridCol>
                <a:gridCol w="1063045">
                  <a:extLst>
                    <a:ext uri="{9D8B030D-6E8A-4147-A177-3AD203B41FA5}">
                      <a16:colId xmlns:a16="http://schemas.microsoft.com/office/drawing/2014/main" val="3435245826"/>
                    </a:ext>
                  </a:extLst>
                </a:gridCol>
                <a:gridCol w="1979450">
                  <a:extLst>
                    <a:ext uri="{9D8B030D-6E8A-4147-A177-3AD203B41FA5}">
                      <a16:colId xmlns:a16="http://schemas.microsoft.com/office/drawing/2014/main" val="1435143808"/>
                    </a:ext>
                  </a:extLst>
                </a:gridCol>
                <a:gridCol w="1923090">
                  <a:extLst>
                    <a:ext uri="{9D8B030D-6E8A-4147-A177-3AD203B41FA5}">
                      <a16:colId xmlns:a16="http://schemas.microsoft.com/office/drawing/2014/main" val="2649647895"/>
                    </a:ext>
                  </a:extLst>
                </a:gridCol>
                <a:gridCol w="1654361">
                  <a:extLst>
                    <a:ext uri="{9D8B030D-6E8A-4147-A177-3AD203B41FA5}">
                      <a16:colId xmlns:a16="http://schemas.microsoft.com/office/drawing/2014/main" val="2066876907"/>
                    </a:ext>
                  </a:extLst>
                </a:gridCol>
              </a:tblGrid>
              <a:tr h="702000"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店鋪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月</a:t>
                      </a:r>
                      <a:r>
                        <a:rPr kumimoji="1" lang="ja-JP" altLang="en-US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／</a:t>
                      </a:r>
                      <a:r>
                        <a:rPr kumimoji="1" lang="zh-TW" altLang="en-US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年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現在（</a:t>
                      </a:r>
                      <a:r>
                        <a:rPr kumimoji="1" lang="en-US" altLang="ja-JP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zh-TW" altLang="en-US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社）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變更後（</a:t>
                      </a:r>
                      <a:r>
                        <a:rPr kumimoji="1" lang="en-US" altLang="zh-TW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1" lang="zh-TW" altLang="en-US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社）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折扣額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859365"/>
                  </a:ext>
                </a:extLst>
              </a:tr>
              <a:tr h="70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每</a:t>
                      </a:r>
                      <a:r>
                        <a:rPr kumimoji="1" lang="en-US" altLang="ja-JP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zh-TW" altLang="en-US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店鋪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月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48,925</a:t>
                      </a:r>
                      <a:r>
                        <a:rPr kumimoji="1" lang="zh-TW" altLang="en-US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日圓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46,853</a:t>
                      </a:r>
                      <a:r>
                        <a:rPr kumimoji="1" lang="zh-TW" altLang="en-US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日圓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2,072</a:t>
                      </a:r>
                      <a:r>
                        <a:rPr kumimoji="1" lang="zh-TW" altLang="en-US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日圓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5073255"/>
                  </a:ext>
                </a:extLst>
              </a:tr>
              <a:tr h="7020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</a:t>
                      </a:r>
                      <a:r>
                        <a:rPr kumimoji="1" lang="en-US" altLang="ja-JP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</a:t>
                      </a:r>
                      <a:r>
                        <a:rPr kumimoji="1" lang="zh-TW" altLang="en-US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店鋪總計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月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391,400</a:t>
                      </a:r>
                      <a:r>
                        <a:rPr kumimoji="1" lang="zh-TW" altLang="en-US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日圓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374,824</a:t>
                      </a:r>
                      <a:r>
                        <a:rPr kumimoji="1" lang="zh-TW" altLang="en-US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日圓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16,576</a:t>
                      </a:r>
                      <a:r>
                        <a:rPr kumimoji="1" lang="zh-TW" altLang="en-US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日圓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76440"/>
                  </a:ext>
                </a:extLst>
              </a:tr>
              <a:tr h="70200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2000" b="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年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4,696,800</a:t>
                      </a:r>
                      <a:r>
                        <a:rPr kumimoji="1" lang="zh-TW" altLang="en-US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日圓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4,497,888</a:t>
                      </a:r>
                      <a:r>
                        <a:rPr kumimoji="1" lang="zh-TW" altLang="en-US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日圓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198,912</a:t>
                      </a:r>
                      <a:r>
                        <a:rPr kumimoji="1" lang="zh-TW" altLang="en-US" sz="2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日圓</a:t>
                      </a:r>
                      <a:endParaRPr kumimoji="1" lang="ja-JP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520662"/>
                  </a:ext>
                </a:extLst>
              </a:tr>
            </a:tbl>
          </a:graphicData>
        </a:graphic>
      </p:graphicFrame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E050C8E-DC05-465A-987C-4B7875ECD60D}"/>
              </a:ext>
            </a:extLst>
          </p:cNvPr>
          <p:cNvGrpSpPr/>
          <p:nvPr/>
        </p:nvGrpSpPr>
        <p:grpSpPr>
          <a:xfrm>
            <a:off x="1" y="0"/>
            <a:ext cx="9906000" cy="3055491"/>
            <a:chOff x="1" y="0"/>
            <a:chExt cx="9906000" cy="3055491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DAFB32E-228F-44B7-B47E-52E5E9587E9B}"/>
                </a:ext>
              </a:extLst>
            </p:cNvPr>
            <p:cNvSpPr/>
            <p:nvPr/>
          </p:nvSpPr>
          <p:spPr>
            <a:xfrm>
              <a:off x="1" y="0"/>
              <a:ext cx="9906000" cy="105076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052016" y="295945"/>
              <a:ext cx="54379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3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電費的比較</a:t>
              </a:r>
              <a:endParaRPr kumimoji="1" lang="ja-JP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DB4D2A74-05B3-4DD7-A15E-54FD13E5D080}"/>
                </a:ext>
              </a:extLst>
            </p:cNvPr>
            <p:cNvSpPr txBox="1"/>
            <p:nvPr/>
          </p:nvSpPr>
          <p:spPr>
            <a:xfrm>
              <a:off x="1052016" y="1424275"/>
              <a:ext cx="704353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ja-JP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樣品商店</a:t>
              </a:r>
              <a: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ja-JP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：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赤坂店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試算月</a:t>
              </a:r>
              <a:r>
                <a:rPr kumimoji="1"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	</a:t>
              </a:r>
              <a:r>
                <a:rPr kumimoji="1" lang="ja-JP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：</a:t>
              </a:r>
              <a: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</a:t>
              </a:r>
              <a:r>
                <a:rPr kumimoji="1" lang="zh-TW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月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使用費</a:t>
              </a:r>
              <a:r>
                <a:rPr kumimoji="1"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	</a:t>
              </a:r>
              <a:r>
                <a: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：</a:t>
              </a:r>
              <a: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1,800 kWh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（</a:t>
              </a:r>
              <a: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15kVA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）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新電力</a:t>
              </a:r>
              <a:r>
                <a:rPr kumimoji="1"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ja-JP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：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對</a:t>
              </a:r>
              <a: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B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公司變更契約的情況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條件</a:t>
              </a:r>
              <a:r>
                <a:rPr kumimoji="1"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ja-JP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：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無初期費用</a:t>
              </a:r>
              <a:r>
                <a:rPr kumimoji="1" lang="ja-JP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／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無解約時的違約金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" name="二等辺三角形 1">
              <a:extLst>
                <a:ext uri="{FF2B5EF4-FFF2-40B4-BE49-F238E27FC236}">
                  <a16:creationId xmlns:a16="http://schemas.microsoft.com/office/drawing/2014/main" id="{8CA79881-40E2-4A7C-B3E8-304706FED29C}"/>
                </a:ext>
              </a:extLst>
            </p:cNvPr>
            <p:cNvSpPr/>
            <p:nvPr/>
          </p:nvSpPr>
          <p:spPr>
            <a:xfrm rot="5400000">
              <a:off x="518941" y="342836"/>
              <a:ext cx="432000" cy="4320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6511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536373-30F3-4106-997D-4CB68C6DB84F}"/>
              </a:ext>
            </a:extLst>
          </p:cNvPr>
          <p:cNvSpPr txBox="1"/>
          <p:nvPr/>
        </p:nvSpPr>
        <p:spPr>
          <a:xfrm>
            <a:off x="1735395" y="588937"/>
            <a:ext cx="643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橄欖油的人氣食譜</a:t>
            </a:r>
            <a:endParaRPr kumimoji="1" lang="ja-JP" altLang="en-US" sz="32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BF2FDE94-1B4D-4D19-BA24-1C12A7B45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746654"/>
              </p:ext>
            </p:extLst>
          </p:nvPr>
        </p:nvGraphicFramePr>
        <p:xfrm>
          <a:off x="679631" y="1430594"/>
          <a:ext cx="8546739" cy="4970203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87743">
                  <a:extLst>
                    <a:ext uri="{9D8B030D-6E8A-4147-A177-3AD203B41FA5}">
                      <a16:colId xmlns:a16="http://schemas.microsoft.com/office/drawing/2014/main" val="1466498558"/>
                    </a:ext>
                  </a:extLst>
                </a:gridCol>
                <a:gridCol w="2184106">
                  <a:extLst>
                    <a:ext uri="{9D8B030D-6E8A-4147-A177-3AD203B41FA5}">
                      <a16:colId xmlns:a16="http://schemas.microsoft.com/office/drawing/2014/main" val="1579534278"/>
                    </a:ext>
                  </a:extLst>
                </a:gridCol>
                <a:gridCol w="2687445">
                  <a:extLst>
                    <a:ext uri="{9D8B030D-6E8A-4147-A177-3AD203B41FA5}">
                      <a16:colId xmlns:a16="http://schemas.microsoft.com/office/drawing/2014/main" val="2859463340"/>
                    </a:ext>
                  </a:extLst>
                </a:gridCol>
                <a:gridCol w="2687445">
                  <a:extLst>
                    <a:ext uri="{9D8B030D-6E8A-4147-A177-3AD203B41FA5}">
                      <a16:colId xmlns:a16="http://schemas.microsoft.com/office/drawing/2014/main" val="1413782372"/>
                    </a:ext>
                  </a:extLst>
                </a:gridCol>
              </a:tblGrid>
              <a:tr h="387219"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類型</a:t>
                      </a:r>
                      <a:endParaRPr kumimoji="1" lang="ja-JP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料理名稱</a:t>
                      </a:r>
                      <a:endParaRPr kumimoji="1" lang="ja-JP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特徵</a:t>
                      </a:r>
                      <a:endParaRPr kumimoji="1" lang="ja-JP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材料</a:t>
                      </a:r>
                      <a:endParaRPr kumimoji="1" lang="ja-JP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634784"/>
                  </a:ext>
                </a:extLst>
              </a:tr>
              <a:tr h="668352">
                <a:tc rowSpan="2">
                  <a:txBody>
                    <a:bodyPr/>
                    <a:lstStyle/>
                    <a:p>
                      <a:pPr algn="just"/>
                      <a:r>
                        <a:rPr kumimoji="1" lang="zh-TW" altLang="en-US" sz="12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飽足類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雞肉橄欖油義大利麵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簡單又美味，同時富含高蛋白質。可當午餐也可當晚餐！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橄欖油、雞肉、蘑菇、鹽巴、胡椒、法式清湯、湯、</a:t>
                      </a:r>
                      <a:r>
                        <a:rPr kumimoji="1" lang="ja-JP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捲葉洋香菜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339671"/>
                  </a:ext>
                </a:extLst>
              </a:tr>
              <a:tr h="668352">
                <a:tc vMerge="1">
                  <a:txBody>
                    <a:bodyPr/>
                    <a:lstStyle/>
                    <a:p>
                      <a:pPr algn="just"/>
                      <a:endParaRPr kumimoji="1" lang="ja-JP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豬肉炒白菜蓮藕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用橄欖油拌炒豬肉、白菜和蓮藕，簡單且滿足的食譜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薄切豬肉、白菜、蓮藕、洋蔥、橄欖油、法式清湯、海鹽、胡椒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214627"/>
                  </a:ext>
                </a:extLst>
              </a:tr>
              <a:tr h="477394"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2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開胃類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蓮藕炒培根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清脆的蓮藕和香脆培根的口感令人上癮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蓮藕、培根、橄欖油、鹽巴、胡椒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8801277"/>
                  </a:ext>
                </a:extLst>
              </a:tr>
              <a:tr h="477394">
                <a:tc vMerge="1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涼拌水煮章魚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直接吃也可以，也可以用來製作義大利麵或熱炒！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水煮章魚、蒜頭、鷹爪辣椒、月桂葉、橄欖油、鹽巴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266442"/>
                  </a:ext>
                </a:extLst>
              </a:tr>
              <a:tr h="668352"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2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精緻類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ja-JP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蒜炒</a:t>
                      </a:r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鮮蝦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適合搭配紅酒的西班牙料理。剩下的油也可以使用於其他料理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帶殼蝦、生香菇、羅勒或義大利巴西里、橄欖油、蒜頭、鷹爪辣椒、鹽巴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637386"/>
                  </a:ext>
                </a:extLst>
              </a:tr>
              <a:tr h="668352">
                <a:tc vMerge="1">
                  <a:txBody>
                    <a:bodyPr/>
                    <a:lstStyle/>
                    <a:p>
                      <a:pPr algn="just"/>
                      <a:endParaRPr kumimoji="1" lang="ja-JP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ja-JP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箔燒</a:t>
                      </a:r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雞肉蕃茄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想吃肉的時候，推薦品嚐的健康料理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雞肉（雞胸肉）、洋蔥、小蕃茄、鹽巴、橄欖油、鹽麴、海鹽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506348"/>
                  </a:ext>
                </a:extLst>
              </a:tr>
              <a:tr h="477394">
                <a:tc rowSpan="2">
                  <a:txBody>
                    <a:bodyPr/>
                    <a:lstStyle/>
                    <a:p>
                      <a:pPr algn="just"/>
                      <a:r>
                        <a:rPr kumimoji="1" lang="zh-TW" altLang="en-US" sz="12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簡單類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ja-JP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魩仔魚</a:t>
                      </a:r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佐青花菜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隨手可取得的</a:t>
                      </a:r>
                      <a:r>
                        <a:rPr kumimoji="1" lang="ja-JP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魩仔魚</a:t>
                      </a:r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。適合當下酒菜的簡單料理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青花菜、</a:t>
                      </a:r>
                      <a:r>
                        <a:rPr kumimoji="1" lang="ja-JP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魩仔魚</a:t>
                      </a:r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、橄欖油、檸檬汁、醬油、少許的鹽巴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457997"/>
                  </a:ext>
                </a:extLst>
              </a:tr>
              <a:tr h="477394">
                <a:tc vMerge="1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楓糖吐司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只需稍微烤一下即可。</a:t>
                      </a:r>
                      <a:endParaRPr kumimoji="1" lang="en-US" altLang="ja-JP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讓人想來杯咖啡的感覺！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吐司、橄欖油、楓糖、鹽巴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944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903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953</TotalTime>
  <Words>703</Words>
  <Application>Microsoft Office PowerPoint</Application>
  <PresentationFormat>A4 紙張 (210x297 公釐)</PresentationFormat>
  <Paragraphs>163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81</cp:revision>
  <dcterms:created xsi:type="dcterms:W3CDTF">2017-11-09T07:26:57Z</dcterms:created>
  <dcterms:modified xsi:type="dcterms:W3CDTF">2018-11-08T02:54:03Z</dcterms:modified>
</cp:coreProperties>
</file>