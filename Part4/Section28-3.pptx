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B287E28C-EE25-4C16-8B68-2A166791C58E}"/>
              </a:ext>
            </a:extLst>
          </p:cNvPr>
          <p:cNvGrpSpPr/>
          <p:nvPr/>
        </p:nvGrpSpPr>
        <p:grpSpPr>
          <a:xfrm>
            <a:off x="2" y="0"/>
            <a:ext cx="10114621" cy="6604056"/>
            <a:chOff x="2" y="0"/>
            <a:chExt cx="10114621" cy="6604056"/>
          </a:xfrm>
        </p:grpSpPr>
        <p:sp>
          <p:nvSpPr>
            <p:cNvPr id="10" name="フローチャート: 処理 9">
              <a:extLst>
                <a:ext uri="{FF2B5EF4-FFF2-40B4-BE49-F238E27FC236}">
                  <a16:creationId xmlns:a16="http://schemas.microsoft.com/office/drawing/2014/main" id="{7D893D13-6EA4-406E-8003-9BA317282C11}"/>
                </a:ext>
              </a:extLst>
            </p:cNvPr>
            <p:cNvSpPr/>
            <p:nvPr/>
          </p:nvSpPr>
          <p:spPr>
            <a:xfrm>
              <a:off x="2" y="0"/>
              <a:ext cx="7824436" cy="720000"/>
            </a:xfrm>
            <a:prstGeom prst="flowChartProcess">
              <a:avLst/>
            </a:prstGeom>
            <a:gradFill flip="none" rotWithShape="1">
              <a:gsLst>
                <a:gs pos="0">
                  <a:schemeClr val="bg1"/>
                </a:gs>
                <a:gs pos="74000">
                  <a:schemeClr val="accent2">
                    <a:lumMod val="75000"/>
                  </a:schemeClr>
                </a:gs>
                <a:gs pos="83000">
                  <a:schemeClr val="accent2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027E064C-F492-4B33-B027-A8544B17DD41}"/>
                </a:ext>
              </a:extLst>
            </p:cNvPr>
            <p:cNvSpPr txBox="1"/>
            <p:nvPr/>
          </p:nvSpPr>
          <p:spPr>
            <a:xfrm>
              <a:off x="1040781" y="2043599"/>
              <a:ext cx="7222274" cy="3785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spcAft>
                  <a:spcPts val="1200"/>
                </a:spcAft>
              </a:pP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除了某些專家需要使用單眼相機拍照之外，其他人是否都認為只要有智慧型手機就足夠了？根據攝影影像機器工會的統計，全球的數位相機出貨台數在</a:t>
              </a:r>
              <a:r>
                <a:rPr kumimoji="1"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2010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年達到</a:t>
              </a:r>
              <a:r>
                <a:rPr kumimoji="1"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億</a:t>
              </a:r>
              <a:r>
                <a:rPr kumimoji="1"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2146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萬台，在</a:t>
              </a:r>
              <a:r>
                <a:rPr kumimoji="1"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2016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年達到</a:t>
              </a:r>
              <a:r>
                <a:rPr kumimoji="1"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2419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萬台之後開始逐漸下降。</a:t>
              </a:r>
              <a:endParaRPr kumimoji="1"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>
                <a:spcAft>
                  <a:spcPts val="1200"/>
                </a:spcAft>
              </a:pP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近</a:t>
              </a:r>
              <a:r>
                <a:rPr kumimoji="1"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6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年期間的數位相機市場的下降情況，若和以前成長時期的上升率相比，下降的程度可說是相當急遽。</a:t>
              </a:r>
              <a:r>
                <a:rPr kumimoji="1"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APPLE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公司在</a:t>
              </a:r>
              <a:r>
                <a:rPr kumimoji="1"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2007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年把</a:t>
              </a:r>
              <a:r>
                <a:rPr kumimoji="1"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iPhone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投入市場。之後，因為智慧型手機的普及、搭載相機的高性能化，以及單手可收納的便利性，而使數位相機市場變得低迷。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>
                <a:spcAft>
                  <a:spcPts val="600"/>
                </a:spcAft>
              </a:pP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就算如此，和智慧型手機相比，數位相機的優點仍相當明顯。數位相機的快門聲較小，因此不需要考慮周遭。然後，數位相</a:t>
              </a:r>
              <a:endParaRPr kumimoji="1"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1D536373-30F3-4106-997D-4CB68C6DB84F}"/>
                </a:ext>
              </a:extLst>
            </p:cNvPr>
            <p:cNvSpPr txBox="1"/>
            <p:nvPr/>
          </p:nvSpPr>
          <p:spPr>
            <a:xfrm>
              <a:off x="1040782" y="1259581"/>
              <a:ext cx="78244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2800" spc="-3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只要有智慧型手機，就不需要數位相機了？</a:t>
              </a:r>
              <a:endParaRPr kumimoji="1" lang="ja-JP" altLang="en-US" sz="2800" spc="-3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C157BA9A-C576-4E2D-A135-D54126A00007}"/>
                </a:ext>
              </a:extLst>
            </p:cNvPr>
            <p:cNvSpPr txBox="1"/>
            <p:nvPr/>
          </p:nvSpPr>
          <p:spPr>
            <a:xfrm>
              <a:off x="1040781" y="221086"/>
              <a:ext cx="241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2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企劃的背景</a:t>
              </a:r>
              <a:endParaRPr kumimoji="1" lang="ja-JP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8CAA267E-4E5C-489E-BE20-AF6268B964DC}"/>
                </a:ext>
              </a:extLst>
            </p:cNvPr>
            <p:cNvSpPr txBox="1"/>
            <p:nvPr/>
          </p:nvSpPr>
          <p:spPr>
            <a:xfrm>
              <a:off x="6779943" y="316578"/>
              <a:ext cx="228228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數位相機促銷企劃書</a:t>
              </a:r>
              <a:endParaRPr kumimoji="1" lang="ja-JP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D1C7003D-A497-4594-9470-096BA0EDF3F0}"/>
                </a:ext>
              </a:extLst>
            </p:cNvPr>
            <p:cNvCxnSpPr>
              <a:cxnSpLocks/>
            </p:cNvCxnSpPr>
            <p:nvPr/>
          </p:nvCxnSpPr>
          <p:spPr>
            <a:xfrm>
              <a:off x="791737" y="360515"/>
              <a:ext cx="0" cy="1260000"/>
            </a:xfrm>
            <a:prstGeom prst="line">
              <a:avLst/>
            </a:prstGeom>
            <a:ln w="82550" cap="rnd">
              <a:solidFill>
                <a:schemeClr val="accent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86484D2B-B57B-4C9F-ADD4-06C3D4D2EC43}"/>
                </a:ext>
              </a:extLst>
            </p:cNvPr>
            <p:cNvSpPr txBox="1"/>
            <p:nvPr/>
          </p:nvSpPr>
          <p:spPr>
            <a:xfrm>
              <a:off x="8865218" y="6203946"/>
              <a:ext cx="55756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000" dirty="0">
                  <a:solidFill>
                    <a:schemeClr val="accent2">
                      <a:lumMod val="50000"/>
                    </a:schemeClr>
                  </a:solidFill>
                  <a:latin typeface="Arial" panose="020B0604020202020204" pitchFamily="34" charset="0"/>
                  <a:ea typeface="游ゴシック Medium" panose="020B0500000000000000" pitchFamily="50" charset="-128"/>
                  <a:cs typeface="Arial" panose="020B0604020202020204" pitchFamily="34" charset="0"/>
                </a:rPr>
                <a:t>2</a:t>
              </a:r>
              <a:endParaRPr kumimoji="1" lang="ja-JP" alt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游ゴシック Medium" panose="020B0500000000000000" pitchFamily="50" charset="-128"/>
                <a:cs typeface="Arial" panose="020B0604020202020204" pitchFamily="34" charset="0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584FF218-2EE1-4CD4-9ACD-34BF7FA8535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664623" y="5935767"/>
              <a:ext cx="0" cy="900000"/>
            </a:xfrm>
            <a:prstGeom prst="line">
              <a:avLst/>
            </a:prstGeom>
            <a:ln w="82550" cap="rnd">
              <a:solidFill>
                <a:schemeClr val="accent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95085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00333260-FA4E-493D-8B17-665F33964D62}"/>
              </a:ext>
            </a:extLst>
          </p:cNvPr>
          <p:cNvGrpSpPr/>
          <p:nvPr/>
        </p:nvGrpSpPr>
        <p:grpSpPr>
          <a:xfrm>
            <a:off x="2" y="0"/>
            <a:ext cx="10114621" cy="6604056"/>
            <a:chOff x="2" y="0"/>
            <a:chExt cx="10114621" cy="6604056"/>
          </a:xfrm>
        </p:grpSpPr>
        <p:sp>
          <p:nvSpPr>
            <p:cNvPr id="10" name="フローチャート: 処理 9">
              <a:extLst>
                <a:ext uri="{FF2B5EF4-FFF2-40B4-BE49-F238E27FC236}">
                  <a16:creationId xmlns:a16="http://schemas.microsoft.com/office/drawing/2014/main" id="{2A4CB388-E047-438C-9411-EA72A24F99AE}"/>
                </a:ext>
              </a:extLst>
            </p:cNvPr>
            <p:cNvSpPr/>
            <p:nvPr/>
          </p:nvSpPr>
          <p:spPr>
            <a:xfrm>
              <a:off x="2" y="0"/>
              <a:ext cx="7824436" cy="720000"/>
            </a:xfrm>
            <a:prstGeom prst="flowChartProcess">
              <a:avLst/>
            </a:prstGeom>
            <a:gradFill flip="none" rotWithShape="1">
              <a:gsLst>
                <a:gs pos="0">
                  <a:schemeClr val="bg1"/>
                </a:gs>
                <a:gs pos="74000">
                  <a:schemeClr val="accent2">
                    <a:lumMod val="75000"/>
                  </a:schemeClr>
                </a:gs>
                <a:gs pos="83000">
                  <a:schemeClr val="accent2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027E064C-F492-4B33-B027-A8544B17DD41}"/>
                </a:ext>
              </a:extLst>
            </p:cNvPr>
            <p:cNvSpPr txBox="1"/>
            <p:nvPr/>
          </p:nvSpPr>
          <p:spPr>
            <a:xfrm>
              <a:off x="1040780" y="2043599"/>
              <a:ext cx="7221600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spcAft>
                  <a:spcPts val="600"/>
                </a:spcAft>
              </a:pP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機的畫質和功能，也比智慧型手機的相機優異許多。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>
                <a:spcAft>
                  <a:spcPts val="600"/>
                </a:spcAft>
              </a:pP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另外，只要使用數位相機，就不需要使用智慧型手機的相機，就可以抑制智慧型手機的電池耗電量。甚至，只要使用支援</a:t>
              </a:r>
              <a:r>
                <a:rPr kumimoji="1"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Wi-Fi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的機種，也可以簡單傳輸到任意位置。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>
                <a:spcAft>
                  <a:spcPts val="600"/>
                </a:spcAft>
              </a:pP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只要掌握這些特徵，就可充分保留住數位相機的市場價值。</a:t>
              </a:r>
              <a:endParaRPr kumimoji="1"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C157BA9A-C576-4E2D-A135-D54126A00007}"/>
                </a:ext>
              </a:extLst>
            </p:cNvPr>
            <p:cNvSpPr txBox="1"/>
            <p:nvPr/>
          </p:nvSpPr>
          <p:spPr>
            <a:xfrm>
              <a:off x="1040781" y="221086"/>
              <a:ext cx="241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2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企劃的方法</a:t>
              </a:r>
              <a:endParaRPr kumimoji="1" lang="ja-JP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8CAA267E-4E5C-489E-BE20-AF6268B964DC}"/>
                </a:ext>
              </a:extLst>
            </p:cNvPr>
            <p:cNvSpPr txBox="1"/>
            <p:nvPr/>
          </p:nvSpPr>
          <p:spPr>
            <a:xfrm>
              <a:off x="6779943" y="316578"/>
              <a:ext cx="228228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數位相機促銷企劃書</a:t>
              </a:r>
              <a:endParaRPr kumimoji="1" lang="ja-JP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D1C7003D-A497-4594-9470-096BA0EDF3F0}"/>
                </a:ext>
              </a:extLst>
            </p:cNvPr>
            <p:cNvCxnSpPr>
              <a:cxnSpLocks/>
            </p:cNvCxnSpPr>
            <p:nvPr/>
          </p:nvCxnSpPr>
          <p:spPr>
            <a:xfrm>
              <a:off x="791737" y="360515"/>
              <a:ext cx="0" cy="1260000"/>
            </a:xfrm>
            <a:prstGeom prst="line">
              <a:avLst/>
            </a:prstGeom>
            <a:ln w="82550" cap="rnd">
              <a:solidFill>
                <a:schemeClr val="accent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86484D2B-B57B-4C9F-ADD4-06C3D4D2EC43}"/>
                </a:ext>
              </a:extLst>
            </p:cNvPr>
            <p:cNvSpPr txBox="1"/>
            <p:nvPr/>
          </p:nvSpPr>
          <p:spPr>
            <a:xfrm>
              <a:off x="8865218" y="6203946"/>
              <a:ext cx="55756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000" dirty="0">
                  <a:solidFill>
                    <a:schemeClr val="accent2">
                      <a:lumMod val="50000"/>
                    </a:schemeClr>
                  </a:solidFill>
                  <a:latin typeface="Arial" panose="020B0604020202020204" pitchFamily="34" charset="0"/>
                  <a:ea typeface="游ゴシック Medium" panose="020B0500000000000000" pitchFamily="50" charset="-128"/>
                  <a:cs typeface="Arial" panose="020B0604020202020204" pitchFamily="34" charset="0"/>
                </a:rPr>
                <a:t>3</a:t>
              </a:r>
              <a:endParaRPr kumimoji="1" lang="ja-JP" alt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游ゴシック Medium" panose="020B0500000000000000" pitchFamily="50" charset="-128"/>
                <a:cs typeface="Arial" panose="020B0604020202020204" pitchFamily="34" charset="0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584FF218-2EE1-4CD4-9ACD-34BF7FA8535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664623" y="5935767"/>
              <a:ext cx="0" cy="900000"/>
            </a:xfrm>
            <a:prstGeom prst="line">
              <a:avLst/>
            </a:prstGeom>
            <a:ln w="82550" cap="rnd">
              <a:solidFill>
                <a:schemeClr val="accent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22784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黄緑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197</TotalTime>
  <Words>260</Words>
  <Application>Microsoft Office PowerPoint</Application>
  <PresentationFormat>A4 紙張 (210x297 公釐)</PresentationFormat>
  <Paragraphs>13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10" baseType="lpstr">
      <vt:lpstr>游ゴシック</vt:lpstr>
      <vt:lpstr>游ゴシック Light</vt:lpstr>
      <vt:lpstr>游ゴシック Medium</vt:lpstr>
      <vt:lpstr>微軟正黑體</vt:lpstr>
      <vt:lpstr>Arial</vt:lpstr>
      <vt:lpstr>Calibri</vt:lpstr>
      <vt:lpstr>Calibri Light</vt:lpstr>
      <vt:lpstr>Office テーマ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Windows 使用者</cp:lastModifiedBy>
  <cp:revision>25</cp:revision>
  <dcterms:created xsi:type="dcterms:W3CDTF">2017-11-09T07:26:57Z</dcterms:created>
  <dcterms:modified xsi:type="dcterms:W3CDTF">2018-10-01T04:15:41Z</dcterms:modified>
</cp:coreProperties>
</file>