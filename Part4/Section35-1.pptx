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3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ja-JP" sz="1862" b="0" i="0" u="none" strike="noStrike" kern="1200" spc="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pP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書店數的演進</a:t>
            </a:r>
            <a:endParaRPr 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1862" b="0" i="0" u="none" strike="noStrike" kern="1200" spc="0" baseline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店</c:v>
                </c:pt>
              </c:strCache>
            </c:strRef>
          </c:tx>
          <c:spPr>
            <a:ln w="28575" cap="rnd">
              <a:solidFill>
                <a:schemeClr val="accent5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4270-48F8-A927-CBF80C8CF94B}"/>
                </c:ext>
              </c:extLst>
            </c:dLbl>
            <c:dLbl>
              <c:idx val="17"/>
              <c:layout>
                <c:manualLayout>
                  <c:x val="-3.0009085402786192E-3"/>
                  <c:y val="-6.023076467059636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270-48F8-A927-CBF80C8CF94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ja-JP" sz="1197" b="0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zh-TW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Sheet1!$A$2:$A$19</c:f>
              <c:numCache>
                <c:formatCode>00_ </c:formatCode>
                <c:ptCount val="18"/>
                <c:pt idx="0">
                  <c:v>99</c:v>
                </c:pt>
                <c:pt idx="1">
                  <c:v>0</c:v>
                </c:pt>
                <c:pt idx="2">
                  <c:v>1</c:v>
                </c:pt>
                <c:pt idx="3">
                  <c:v>2</c:v>
                </c:pt>
                <c:pt idx="4">
                  <c:v>3</c:v>
                </c:pt>
                <c:pt idx="5">
                  <c:v>4</c:v>
                </c:pt>
                <c:pt idx="6">
                  <c:v>5</c:v>
                </c:pt>
                <c:pt idx="7">
                  <c:v>6</c:v>
                </c:pt>
                <c:pt idx="8">
                  <c:v>7</c:v>
                </c:pt>
                <c:pt idx="9">
                  <c:v>8</c:v>
                </c:pt>
                <c:pt idx="10">
                  <c:v>9</c:v>
                </c:pt>
                <c:pt idx="11">
                  <c:v>10</c:v>
                </c:pt>
                <c:pt idx="12">
                  <c:v>11</c:v>
                </c:pt>
                <c:pt idx="13">
                  <c:v>12</c:v>
                </c:pt>
                <c:pt idx="14">
                  <c:v>13</c:v>
                </c:pt>
                <c:pt idx="15">
                  <c:v>14</c:v>
                </c:pt>
                <c:pt idx="16">
                  <c:v>15</c:v>
                </c:pt>
                <c:pt idx="17">
                  <c:v>17</c:v>
                </c:pt>
              </c:numCache>
            </c:numRef>
          </c:cat>
          <c:val>
            <c:numRef>
              <c:f>Sheet1!$B$2:$B$19</c:f>
              <c:numCache>
                <c:formatCode>#,##0_ </c:formatCode>
                <c:ptCount val="18"/>
                <c:pt idx="0">
                  <c:v>22296</c:v>
                </c:pt>
                <c:pt idx="1">
                  <c:v>21495</c:v>
                </c:pt>
                <c:pt idx="2">
                  <c:v>20939</c:v>
                </c:pt>
                <c:pt idx="3">
                  <c:v>19946</c:v>
                </c:pt>
                <c:pt idx="4">
                  <c:v>19179</c:v>
                </c:pt>
                <c:pt idx="5">
                  <c:v>18156</c:v>
                </c:pt>
                <c:pt idx="6">
                  <c:v>17839</c:v>
                </c:pt>
                <c:pt idx="7">
                  <c:v>17582</c:v>
                </c:pt>
                <c:pt idx="8">
                  <c:v>17098</c:v>
                </c:pt>
                <c:pt idx="9">
                  <c:v>16342</c:v>
                </c:pt>
                <c:pt idx="10">
                  <c:v>15765</c:v>
                </c:pt>
                <c:pt idx="11">
                  <c:v>15314</c:v>
                </c:pt>
                <c:pt idx="12">
                  <c:v>15061</c:v>
                </c:pt>
                <c:pt idx="13">
                  <c:v>14696</c:v>
                </c:pt>
                <c:pt idx="14">
                  <c:v>14241</c:v>
                </c:pt>
                <c:pt idx="15">
                  <c:v>13943</c:v>
                </c:pt>
                <c:pt idx="16">
                  <c:v>13488</c:v>
                </c:pt>
                <c:pt idx="17">
                  <c:v>12526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270-48F8-A927-CBF80C8CF9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24545776"/>
        <c:axId val="624547408"/>
      </c:lineChart>
      <c:catAx>
        <c:axId val="62454577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lang="ja-JP" sz="1330" b="0" i="0" u="none" strike="noStrike" kern="1200" baseline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defRPr>
                </a:pPr>
                <a:r>
                  <a:rPr lang="zh-TW" altLang="en-US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年度</a:t>
                </a:r>
                <a:endParaRPr lang="ja-JP" altLang="en-US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c:rich>
          </c:tx>
          <c:layout>
            <c:manualLayout>
              <c:xMode val="edge"/>
              <c:yMode val="edge"/>
              <c:x val="0.91194412477286491"/>
              <c:y val="0.8836753559907759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ja-JP" sz="1330" b="0" i="0" u="none" strike="noStrike" kern="1200" baseline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defRPr>
              </a:pPr>
              <a:endParaRPr lang="zh-TW"/>
            </a:p>
          </c:txPr>
        </c:title>
        <c:numFmt formatCode="00_ 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1197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zh-TW"/>
          </a:p>
        </c:txPr>
        <c:crossAx val="624547408"/>
        <c:crosses val="autoZero"/>
        <c:auto val="1"/>
        <c:lblAlgn val="ctr"/>
        <c:lblOffset val="100"/>
        <c:noMultiLvlLbl val="0"/>
      </c:catAx>
      <c:valAx>
        <c:axId val="624547408"/>
        <c:scaling>
          <c:orientation val="minMax"/>
          <c:max val="24000"/>
          <c:min val="10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wrap="square" anchor="ctr" anchorCtr="1"/>
              <a:lstStyle/>
              <a:p>
                <a:pPr>
                  <a:defRPr lang="ja-JP" sz="1330" b="0" i="0" u="none" strike="noStrike" kern="1200" baseline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defRPr>
                </a:pPr>
                <a:r>
                  <a:rPr lang="zh-TW" altLang="en-US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店</a:t>
                </a:r>
                <a:endParaRPr lang="ja-JP" altLang="en-US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c:rich>
          </c:tx>
          <c:layout>
            <c:manualLayout>
              <c:xMode val="edge"/>
              <c:yMode val="edge"/>
              <c:x val="0.10576923076923077"/>
              <c:y val="4.4564805832464721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>
                <a:defRPr lang="ja-JP" sz="1330" b="0" i="0" u="none" strike="noStrike" kern="1200" baseline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defRPr>
              </a:pPr>
              <a:endParaRPr lang="zh-TW"/>
            </a:p>
          </c:txPr>
        </c:title>
        <c:numFmt formatCode="#,##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1197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zh-TW"/>
          </a:p>
        </c:txPr>
        <c:crossAx val="624545776"/>
        <c:crosses val="autoZero"/>
        <c:crossBetween val="between"/>
        <c:majorUnit val="2000"/>
        <c:minorUnit val="50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2018/11/7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2018/11/7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2018/11/7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2018/11/7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0C178C42-06F6-4D1B-A679-9D58E632D0BB}"/>
              </a:ext>
            </a:extLst>
          </p:cNvPr>
          <p:cNvGrpSpPr/>
          <p:nvPr/>
        </p:nvGrpSpPr>
        <p:grpSpPr>
          <a:xfrm>
            <a:off x="0" y="0"/>
            <a:ext cx="9906000" cy="6677468"/>
            <a:chOff x="0" y="0"/>
            <a:chExt cx="9906000" cy="6677468"/>
          </a:xfrm>
        </p:grpSpPr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D72A0060-8C3C-4426-BCC7-44E83CD7DF79}"/>
                </a:ext>
              </a:extLst>
            </p:cNvPr>
            <p:cNvSpPr/>
            <p:nvPr/>
          </p:nvSpPr>
          <p:spPr>
            <a:xfrm>
              <a:off x="0" y="0"/>
              <a:ext cx="9906000" cy="1165123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aphicFrame>
          <p:nvGraphicFramePr>
            <p:cNvPr id="4" name="グラフ 3">
              <a:extLst>
                <a:ext uri="{FF2B5EF4-FFF2-40B4-BE49-F238E27FC236}">
                  <a16:creationId xmlns:a16="http://schemas.microsoft.com/office/drawing/2014/main" id="{046514E5-0CD1-4888-9F88-18E066C5428F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606494746"/>
                </p:ext>
              </p:extLst>
            </p:nvPr>
          </p:nvGraphicFramePr>
          <p:xfrm>
            <a:off x="1651000" y="3428999"/>
            <a:ext cx="6604000" cy="324846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056C0063-3346-4D62-B403-B063F7D4BBCC}"/>
                </a:ext>
              </a:extLst>
            </p:cNvPr>
            <p:cNvSpPr/>
            <p:nvPr/>
          </p:nvSpPr>
          <p:spPr>
            <a:xfrm>
              <a:off x="1469923" y="1589972"/>
              <a:ext cx="6966154" cy="15696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457200" indent="-457200">
                <a:buFont typeface="+mj-lt"/>
                <a:buAutoNum type="arabicPeriod"/>
              </a:pPr>
              <a:r>
                <a:rPr lang="en-US" altLang="ja-JP" sz="24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2020</a:t>
              </a:r>
              <a:r>
                <a:rPr lang="zh-TW" altLang="en-US" sz="24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年預測將達</a:t>
              </a:r>
              <a:r>
                <a:rPr lang="en-US" altLang="zh-TW" sz="24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1</a:t>
              </a:r>
              <a:r>
                <a:rPr lang="zh-TW" altLang="en-US" sz="24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萬筆。</a:t>
              </a:r>
              <a:endParaRPr lang="ja-JP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marL="457200" indent="-457200">
                <a:buFont typeface="+mj-lt"/>
                <a:buAutoNum type="arabicPeriod"/>
              </a:pPr>
              <a:r>
                <a:rPr lang="zh-TW" altLang="en-US" sz="24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實際開店的書店數變少。</a:t>
              </a:r>
              <a:endParaRPr lang="ja-JP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marL="457200" indent="-457200">
                <a:buFont typeface="+mj-lt"/>
                <a:buAutoNum type="arabicPeriod"/>
              </a:pPr>
              <a:r>
                <a:rPr lang="en-US" altLang="ja-JP" sz="24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EC</a:t>
              </a:r>
              <a:r>
                <a:rPr lang="zh-TW" altLang="en-US" sz="24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網站的使用頻率增加。</a:t>
              </a:r>
              <a:endParaRPr lang="ja-JP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marL="457200" indent="-457200">
                <a:buFont typeface="+mj-lt"/>
                <a:buAutoNum type="arabicPeriod"/>
              </a:pPr>
              <a:r>
                <a:rPr lang="zh-TW" altLang="en-US" sz="24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大型的</a:t>
              </a:r>
              <a:r>
                <a:rPr lang="en-US" altLang="zh-TW" sz="24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A</a:t>
              </a:r>
              <a:r>
                <a:rPr lang="zh-TW" altLang="en-US" sz="24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公司、</a:t>
              </a:r>
              <a:r>
                <a:rPr lang="en-US" altLang="zh-TW" sz="24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R</a:t>
              </a:r>
              <a:r>
                <a:rPr lang="zh-TW" altLang="en-US" sz="24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公司維持前年增長。</a:t>
              </a:r>
              <a:endParaRPr lang="ja-JP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9FCD8381-1229-4ED5-86EE-0E4A634FA39B}"/>
                </a:ext>
              </a:extLst>
            </p:cNvPr>
            <p:cNvSpPr/>
            <p:nvPr/>
          </p:nvSpPr>
          <p:spPr>
            <a:xfrm>
              <a:off x="5987845" y="680706"/>
              <a:ext cx="3170904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ja-JP" altLang="en-US" sz="16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▸ ▸ ▸ ▸ </a:t>
              </a:r>
              <a:r>
                <a:rPr lang="zh-TW" altLang="en-US" sz="16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書店圈粉戰術</a:t>
              </a:r>
              <a:endParaRPr lang="ja-JP" altLang="en-US" sz="16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D84B3261-E1A1-416D-A081-B98E2A1D9743}"/>
                </a:ext>
              </a:extLst>
            </p:cNvPr>
            <p:cNvSpPr/>
            <p:nvPr/>
          </p:nvSpPr>
          <p:spPr>
            <a:xfrm>
              <a:off x="747252" y="434485"/>
              <a:ext cx="3170904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ja-JP" sz="32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Current</a:t>
              </a:r>
              <a:r>
                <a:rPr lang="ja-JP" altLang="en-US" sz="32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 </a:t>
              </a:r>
              <a:r>
                <a:rPr lang="en-US" altLang="ja-JP" sz="32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Status</a:t>
              </a:r>
              <a:endParaRPr lang="ja-JP" altLang="en-US" sz="32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84348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141</TotalTime>
  <Words>51</Words>
  <Application>Microsoft Office PowerPoint</Application>
  <PresentationFormat>A4 紙張 (210x297 公釐)</PresentationFormat>
  <Paragraphs>11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8" baseType="lpstr">
      <vt:lpstr>游ゴシック</vt:lpstr>
      <vt:lpstr>游ゴシック Light</vt:lpstr>
      <vt:lpstr>微軟正黑體</vt:lpstr>
      <vt:lpstr>Arial</vt:lpstr>
      <vt:lpstr>Calibri</vt:lpstr>
      <vt:lpstr>Calibri Light</vt:lpstr>
      <vt:lpstr>Office テーマ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Yosie</cp:lastModifiedBy>
  <cp:revision>18</cp:revision>
  <dcterms:created xsi:type="dcterms:W3CDTF">2017-11-09T07:26:57Z</dcterms:created>
  <dcterms:modified xsi:type="dcterms:W3CDTF">2018-11-07T15:11:57Z</dcterms:modified>
</cp:coreProperties>
</file>