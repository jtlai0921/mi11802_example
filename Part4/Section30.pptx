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xmlns="" id="{ED6FE556-2C27-4352-9737-1BBEACF246ED}"/>
              </a:ext>
            </a:extLst>
          </p:cNvPr>
          <p:cNvGrpSpPr/>
          <p:nvPr/>
        </p:nvGrpSpPr>
        <p:grpSpPr>
          <a:xfrm>
            <a:off x="275868" y="359303"/>
            <a:ext cx="9182453" cy="6224430"/>
            <a:chOff x="275868" y="359303"/>
            <a:chExt cx="9182453" cy="622443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981094" y="359303"/>
              <a:ext cx="3943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醬油的促銷企劃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xmlns="" id="{D9AFFB43-4150-4963-ACEF-B22CC7BC584B}"/>
                </a:ext>
              </a:extLst>
            </p:cNvPr>
            <p:cNvSpPr/>
            <p:nvPr/>
          </p:nvSpPr>
          <p:spPr>
            <a:xfrm>
              <a:off x="447318" y="1018569"/>
              <a:ext cx="4392000" cy="2664000"/>
            </a:xfrm>
            <a:prstGeom prst="rect">
              <a:avLst/>
            </a:prstGeom>
            <a:solidFill>
              <a:schemeClr val="bg1"/>
            </a:solidFill>
            <a:ln w="28575" cap="sq">
              <a:solidFill>
                <a:schemeClr val="accent5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xmlns="" id="{A22D3E58-B64F-4437-B5D4-BA051F4F386C}"/>
                </a:ext>
              </a:extLst>
            </p:cNvPr>
            <p:cNvSpPr/>
            <p:nvPr/>
          </p:nvSpPr>
          <p:spPr>
            <a:xfrm>
              <a:off x="5066321" y="1018569"/>
              <a:ext cx="4392000" cy="2664000"/>
            </a:xfrm>
            <a:prstGeom prst="rect">
              <a:avLst/>
            </a:prstGeom>
            <a:solidFill>
              <a:schemeClr val="bg1"/>
            </a:solidFill>
            <a:ln w="28575" cap="sq">
              <a:solidFill>
                <a:schemeClr val="accent5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xmlns="" id="{72109C8C-CCA3-4079-9115-22C7D489C194}"/>
                </a:ext>
              </a:extLst>
            </p:cNvPr>
            <p:cNvSpPr/>
            <p:nvPr/>
          </p:nvSpPr>
          <p:spPr>
            <a:xfrm>
              <a:off x="5066321" y="3919733"/>
              <a:ext cx="4392000" cy="2664000"/>
            </a:xfrm>
            <a:prstGeom prst="rect">
              <a:avLst/>
            </a:prstGeom>
            <a:solidFill>
              <a:schemeClr val="bg1"/>
            </a:solidFill>
            <a:ln w="28575" cap="sq">
              <a:solidFill>
                <a:schemeClr val="accent5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0" name="二等辺三角形 79">
              <a:extLst>
                <a:ext uri="{FF2B5EF4-FFF2-40B4-BE49-F238E27FC236}">
                  <a16:creationId xmlns:a16="http://schemas.microsoft.com/office/drawing/2014/main" xmlns="" id="{2DEB62EF-DB58-46B9-9BEF-26371C436883}"/>
                </a:ext>
              </a:extLst>
            </p:cNvPr>
            <p:cNvSpPr/>
            <p:nvPr/>
          </p:nvSpPr>
          <p:spPr>
            <a:xfrm rot="5400000">
              <a:off x="4171572" y="2243696"/>
              <a:ext cx="1548000" cy="213745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二等辺三角形 80">
              <a:extLst>
                <a:ext uri="{FF2B5EF4-FFF2-40B4-BE49-F238E27FC236}">
                  <a16:creationId xmlns:a16="http://schemas.microsoft.com/office/drawing/2014/main" xmlns="" id="{AA633B1A-8D75-4F52-A645-ED769B8C1189}"/>
                </a:ext>
              </a:extLst>
            </p:cNvPr>
            <p:cNvSpPr/>
            <p:nvPr/>
          </p:nvSpPr>
          <p:spPr>
            <a:xfrm rot="5400000">
              <a:off x="4156569" y="2242569"/>
              <a:ext cx="1548000" cy="2160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二等辺三角形 81">
              <a:extLst>
                <a:ext uri="{FF2B5EF4-FFF2-40B4-BE49-F238E27FC236}">
                  <a16:creationId xmlns:a16="http://schemas.microsoft.com/office/drawing/2014/main" xmlns="" id="{C44DA59C-0F0D-4ED6-8474-04E3AD7BF847}"/>
                </a:ext>
              </a:extLst>
            </p:cNvPr>
            <p:cNvSpPr/>
            <p:nvPr/>
          </p:nvSpPr>
          <p:spPr>
            <a:xfrm rot="10800000">
              <a:off x="6488682" y="3681214"/>
              <a:ext cx="1548000" cy="216000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二等辺三角形 82">
              <a:extLst>
                <a:ext uri="{FF2B5EF4-FFF2-40B4-BE49-F238E27FC236}">
                  <a16:creationId xmlns:a16="http://schemas.microsoft.com/office/drawing/2014/main" xmlns="" id="{4EFD7206-0D7D-4DD6-9E51-24CF8A5BD081}"/>
                </a:ext>
              </a:extLst>
            </p:cNvPr>
            <p:cNvSpPr/>
            <p:nvPr/>
          </p:nvSpPr>
          <p:spPr>
            <a:xfrm rot="10800000">
              <a:off x="6488682" y="3666364"/>
              <a:ext cx="1548000" cy="21600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xmlns="" id="{7FB74B66-106C-4AE2-87AC-9110D01F12B7}"/>
                </a:ext>
              </a:extLst>
            </p:cNvPr>
            <p:cNvSpPr txBox="1"/>
            <p:nvPr/>
          </p:nvSpPr>
          <p:spPr>
            <a:xfrm>
              <a:off x="670146" y="1804545"/>
              <a:ext cx="3947067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400">
                  <a:latin typeface="メイリオ" panose="020B0604030504040204" pitchFamily="50" charset="-128"/>
                  <a:ea typeface="メイリオ" panose="020B0604030504040204" pitchFamily="50" charset="-128"/>
                </a:defRPr>
              </a:lvl1pPr>
            </a:lstStyle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日本的醬油在國外的人氣逐漸高漲，現在更滲透至許多國家的餐桌。亞洲圈當然不用說，北美更有銷售情況優於日本國內的地區。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另一方面，國內的銷售市占率卻不如預期，必須針對少子化與照護時代採取緊急對策才行。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xmlns="" id="{367860C9-A94B-41C9-A7B5-51F96F679D7E}"/>
                </a:ext>
              </a:extLst>
            </p:cNvPr>
            <p:cNvSpPr/>
            <p:nvPr/>
          </p:nvSpPr>
          <p:spPr>
            <a:xfrm>
              <a:off x="670148" y="882523"/>
              <a:ext cx="66963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背景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xmlns="" id="{8430CAE4-E1D0-4A78-983A-BCE31F80F811}"/>
                </a:ext>
              </a:extLst>
            </p:cNvPr>
            <p:cNvSpPr/>
            <p:nvPr/>
          </p:nvSpPr>
          <p:spPr>
            <a:xfrm>
              <a:off x="670147" y="1400378"/>
              <a:ext cx="2899317" cy="30777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xmlns="" id="{0FEF7E05-A865-431A-AC14-A78B9414C00F}"/>
                </a:ext>
              </a:extLst>
            </p:cNvPr>
            <p:cNvSpPr/>
            <p:nvPr/>
          </p:nvSpPr>
          <p:spPr>
            <a:xfrm>
              <a:off x="670147" y="1422680"/>
              <a:ext cx="351393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TW" altLang="en-US" sz="1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苦惱於國內的銷售市占率成長</a:t>
              </a:r>
              <a:endParaRPr kumimoji="1" lang="ja-JP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xmlns="" id="{74EB1956-3ED7-4C2E-8EFE-D275004791ED}"/>
                </a:ext>
              </a:extLst>
            </p:cNvPr>
            <p:cNvSpPr txBox="1"/>
            <p:nvPr/>
          </p:nvSpPr>
          <p:spPr>
            <a:xfrm>
              <a:off x="5288787" y="1804545"/>
              <a:ext cx="3947067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電影或戲劇裡常有飲食的場景。今後，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可把上映的電影和正在上演的戲劇的飲食場景剪下，貼上本公司的商品貼紙。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製作出宛如飲食場景同樣也在使用本公司商品般的海報，用於促銷販售。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xmlns="" id="{3A65B188-61E6-48A0-ABA2-425E5D05B3F0}"/>
                </a:ext>
              </a:extLst>
            </p:cNvPr>
            <p:cNvSpPr/>
            <p:nvPr/>
          </p:nvSpPr>
          <p:spPr>
            <a:xfrm>
              <a:off x="5288789" y="885997"/>
              <a:ext cx="66963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內容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xmlns="" id="{B418CC3E-C9B3-4554-B9BF-0D88C4837C54}"/>
                </a:ext>
              </a:extLst>
            </p:cNvPr>
            <p:cNvSpPr/>
            <p:nvPr/>
          </p:nvSpPr>
          <p:spPr>
            <a:xfrm>
              <a:off x="5288788" y="1400006"/>
              <a:ext cx="3375710" cy="30777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xmlns="" id="{4F58DD66-43B1-44CA-9907-B786CC0D4D05}"/>
                </a:ext>
              </a:extLst>
            </p:cNvPr>
            <p:cNvSpPr/>
            <p:nvPr/>
          </p:nvSpPr>
          <p:spPr>
            <a:xfrm>
              <a:off x="5288788" y="1422308"/>
              <a:ext cx="3513932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TW" altLang="en-US" sz="14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戲劇的世界觀有本公司的商品</a:t>
              </a:r>
              <a:endParaRPr kumimoji="1" lang="ja-JP" altLang="en-US" sz="1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xmlns="" id="{80A05FE6-D399-426A-9805-B510F54AD6A3}"/>
                </a:ext>
              </a:extLst>
            </p:cNvPr>
            <p:cNvSpPr/>
            <p:nvPr/>
          </p:nvSpPr>
          <p:spPr>
            <a:xfrm>
              <a:off x="5288789" y="3794416"/>
              <a:ext cx="66963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展開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xmlns="" id="{3B7C3E7E-DE91-4552-87DC-BC684497FB8F}"/>
                </a:ext>
              </a:extLst>
            </p:cNvPr>
            <p:cNvSpPr/>
            <p:nvPr/>
          </p:nvSpPr>
          <p:spPr>
            <a:xfrm>
              <a:off x="5288787" y="4102193"/>
              <a:ext cx="3947066" cy="23852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600"/>
                </a:spcAft>
              </a:pPr>
              <a:r>
                <a:rPr kumimoji="1" lang="ja-JP" altLang="en-US" sz="140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張貼街頭海報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把醬油的貼紙貼在電影和戲劇的宣傳海報上，引起話題性。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ja-JP" altLang="en-US" sz="140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ja-JP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分發</a:t>
              </a:r>
              <a:r>
                <a:rPr kumimoji="1" lang="ja-JP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貼紙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在電影院等處分發貼在海報上的貼紙，供人自由使用。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ja-JP" altLang="en-US" sz="140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贈送電影招待券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贈送電影的免費招待券，在商品貼上宣傳貼紙，促進購買意願。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ja-JP" altLang="en-US" sz="140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透過</a:t>
              </a:r>
              <a:r>
                <a:rPr kumimoji="1" lang="en-US" altLang="zh-TW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SNS</a:t>
              </a:r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</a:t>
              </a:r>
              <a:endParaRPr kumimoji="1" lang="en-US" altLang="ja-JP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en-US" altLang="ja-JP" sz="8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Twitter</a:t>
              </a:r>
              <a:r>
                <a:rPr kumimoji="1"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在日常中展現些許幽默，引起話題性。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en-US" altLang="ja-JP" sz="8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Instagram</a:t>
              </a:r>
              <a:r>
                <a:rPr kumimoji="1"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以照片投稿在街上找到的場景，共享有趣的資訊。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>
                <a:spcAft>
                  <a:spcPts val="600"/>
                </a:spcAft>
              </a:pPr>
              <a:r>
                <a:rPr kumimoji="1" lang="en-US" altLang="ja-JP" sz="800" b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Facebook</a:t>
              </a:r>
              <a:r>
                <a:rPr kumimoji="1" lang="ja-JP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kumimoji="1" lang="zh-TW" altLang="en-US" sz="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當成讓人想主動分享的題材，促使標記的分享宣傳。</a:t>
              </a:r>
              <a:endParaRPr kumimoji="1" lang="en-US" altLang="ja-JP" sz="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6" name="テキスト ボックス 105">
              <a:extLst>
                <a:ext uri="{FF2B5EF4-FFF2-40B4-BE49-F238E27FC236}">
                  <a16:creationId xmlns:a16="http://schemas.microsoft.com/office/drawing/2014/main" xmlns="" id="{FEAFF55C-CB4E-443D-82B3-930D872ECC1A}"/>
                </a:ext>
              </a:extLst>
            </p:cNvPr>
            <p:cNvSpPr txBox="1"/>
            <p:nvPr/>
          </p:nvSpPr>
          <p:spPr>
            <a:xfrm>
              <a:off x="1102557" y="3966752"/>
              <a:ext cx="30815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表現戲劇的世界觀，同時</a:t>
              </a:r>
              <a: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/>
              </a:r>
              <a:br>
                <a:rPr kumimoji="1" lang="en-US" altLang="ja-JP" sz="1600"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kumimoji="1" lang="zh-TW" altLang="en-US" sz="16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訴求商品的存在感</a:t>
              </a:r>
              <a:endParaRPr kumimoji="1"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xmlns="" id="{06A2748A-8FF5-48FA-AE81-6E9AFD10CB2A}"/>
                </a:ext>
              </a:extLst>
            </p:cNvPr>
            <p:cNvSpPr txBox="1"/>
            <p:nvPr/>
          </p:nvSpPr>
          <p:spPr>
            <a:xfrm>
              <a:off x="3428397" y="4738611"/>
              <a:ext cx="144495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貼近的食品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不可欠缺的食品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8" name="テキスト ボックス 107">
              <a:extLst>
                <a:ext uri="{FF2B5EF4-FFF2-40B4-BE49-F238E27FC236}">
                  <a16:creationId xmlns:a16="http://schemas.microsoft.com/office/drawing/2014/main" xmlns="" id="{16FCBDFE-0F3E-42EF-9E5D-11FFEDF5D80B}"/>
                </a:ext>
              </a:extLst>
            </p:cNvPr>
            <p:cNvSpPr txBox="1"/>
            <p:nvPr/>
          </p:nvSpPr>
          <p:spPr>
            <a:xfrm>
              <a:off x="275868" y="4738611"/>
              <a:ext cx="155016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電影合作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話題性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獨特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>
                <a:buFont typeface="Wingdings" panose="05000000000000000000" pitchFamily="2" charset="2"/>
                <a:buChar char="l"/>
              </a:pP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希望共享的資訊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4" name="図 3" descr="家具, 座席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281D9D64-2D29-4F24-8AE7-F2C67B24C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3436" y="4971836"/>
              <a:ext cx="2087558" cy="1532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0197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xmlns="" id="{44A07567-1D59-4387-A95F-D1417605053B}"/>
              </a:ext>
            </a:extLst>
          </p:cNvPr>
          <p:cNvGrpSpPr/>
          <p:nvPr/>
        </p:nvGrpSpPr>
        <p:grpSpPr>
          <a:xfrm>
            <a:off x="273000" y="119212"/>
            <a:ext cx="9360000" cy="6459788"/>
            <a:chOff x="273000" y="119212"/>
            <a:chExt cx="9360000" cy="6459788"/>
          </a:xfrm>
        </p:grpSpPr>
        <p:sp>
          <p:nvSpPr>
            <p:cNvPr id="42" name="楕円 41">
              <a:extLst>
                <a:ext uri="{FF2B5EF4-FFF2-40B4-BE49-F238E27FC236}">
                  <a16:creationId xmlns:a16="http://schemas.microsoft.com/office/drawing/2014/main" xmlns="" id="{9CF3E226-89C9-433A-ABC7-1D0E149C1973}"/>
                </a:ext>
              </a:extLst>
            </p:cNvPr>
            <p:cNvSpPr/>
            <p:nvPr/>
          </p:nvSpPr>
          <p:spPr>
            <a:xfrm>
              <a:off x="2319912" y="2821207"/>
              <a:ext cx="3051715" cy="100296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accent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48">
              <a:extLst>
                <a:ext uri="{FF2B5EF4-FFF2-40B4-BE49-F238E27FC236}">
                  <a16:creationId xmlns:a16="http://schemas.microsoft.com/office/drawing/2014/main" xmlns="" id="{83B0CBC0-56B6-4860-8E38-A7DA15BD17D5}"/>
                </a:ext>
              </a:extLst>
            </p:cNvPr>
            <p:cNvSpPr/>
            <p:nvPr/>
          </p:nvSpPr>
          <p:spPr>
            <a:xfrm>
              <a:off x="273000" y="279000"/>
              <a:ext cx="9360000" cy="6300000"/>
            </a:xfrm>
            <a:prstGeom prst="roundRect">
              <a:avLst>
                <a:gd name="adj" fmla="val 2620"/>
              </a:avLst>
            </a:prstGeom>
            <a:noFill/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981094" y="433079"/>
              <a:ext cx="3943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醬油的促銷企劃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879648" y="1557445"/>
              <a:ext cx="3051716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日本的醬油在國外的人氣逐漸高漲，現在更滲透至許多國家的餐桌。亞洲圈當然不用說，北美更有銷售情況優於日本國內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地區。另一方面，國內的銷售市占率卻不如預期，必須針對少子化與照護時代採取緊急對策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才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xmlns="" id="{40807E36-53DF-4EE6-9F4A-A5116841209B}"/>
                </a:ext>
              </a:extLst>
            </p:cNvPr>
            <p:cNvSpPr/>
            <p:nvPr/>
          </p:nvSpPr>
          <p:spPr>
            <a:xfrm>
              <a:off x="879648" y="1216186"/>
              <a:ext cx="1260000" cy="2520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xmlns="" id="{F55E2786-0B75-4696-BAA6-414188E28D92}"/>
                </a:ext>
              </a:extLst>
            </p:cNvPr>
            <p:cNvSpPr/>
            <p:nvPr/>
          </p:nvSpPr>
          <p:spPr>
            <a:xfrm>
              <a:off x="927077" y="1216186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 smtClean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背景</a:t>
              </a:r>
              <a:endPara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C85EE405-B557-4E23-B553-B9D783DB767D}"/>
                </a:ext>
              </a:extLst>
            </p:cNvPr>
            <p:cNvSpPr/>
            <p:nvPr/>
          </p:nvSpPr>
          <p:spPr>
            <a:xfrm>
              <a:off x="879130" y="4710774"/>
              <a:ext cx="3051716" cy="1546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張貼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街頭海報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把醬油的貼紙貼在電影和戲劇的宣傳海報上，引起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性。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ja-JP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分發貼紙</a:t>
              </a:r>
              <a:endParaRPr kumimoji="1" lang="en-US" altLang="ja-JP" sz="105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電影院等處分發貼在海報上的貼紙，供人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自由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電影招待券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電影的免費招待券，在商品貼上宣傳貼紙，促進購買意願</a:t>
              </a:r>
              <a:r>
                <a:rPr kumimoji="1" lang="ja-JP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DDB258AF-F8B2-4AC0-BE33-34584FAFAECE}"/>
                </a:ext>
              </a:extLst>
            </p:cNvPr>
            <p:cNvSpPr txBox="1"/>
            <p:nvPr/>
          </p:nvSpPr>
          <p:spPr>
            <a:xfrm>
              <a:off x="5759717" y="1557445"/>
              <a:ext cx="305171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電影或戲劇裡常有飲食的場景。今後，可把上映的電影和正在上演的戲劇的飲食場景剪下，貼上本公司的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商品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貼紙。製作出宛如飲食場景同樣也在使用本公司商品般的海報，用於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販售。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xmlns="" id="{350DCA94-12A3-4080-BB88-0505BB180B22}"/>
                </a:ext>
              </a:extLst>
            </p:cNvPr>
            <p:cNvSpPr/>
            <p:nvPr/>
          </p:nvSpPr>
          <p:spPr>
            <a:xfrm>
              <a:off x="5759717" y="1216186"/>
              <a:ext cx="1260000" cy="2520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xmlns="" id="{D6234EF0-668F-4473-9C7D-90814AC937E0}"/>
                </a:ext>
              </a:extLst>
            </p:cNvPr>
            <p:cNvSpPr/>
            <p:nvPr/>
          </p:nvSpPr>
          <p:spPr>
            <a:xfrm>
              <a:off x="5807146" y="1216186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内容</a:t>
              </a: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xmlns="" id="{54A0DAF7-DE59-4A22-AD59-D764801DC421}"/>
                </a:ext>
              </a:extLst>
            </p:cNvPr>
            <p:cNvSpPr txBox="1"/>
            <p:nvPr/>
          </p:nvSpPr>
          <p:spPr>
            <a:xfrm>
              <a:off x="2494614" y="3030303"/>
              <a:ext cx="27023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「醬油</a:t>
              </a:r>
              <a:r>
                <a:rPr kumimoji="1" lang="zh-TW" altLang="en-US" b="1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」</a:t>
              </a:r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就在</a:t>
              </a:r>
              <a:endParaRPr kumimoji="1"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ctr"/>
              <a:r>
                <a:rPr kumimoji="1" lang="zh-TW" altLang="en-US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我們的日常中</a:t>
              </a:r>
              <a:endParaRPr kumimoji="1"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5" name="思考の吹き出し: 雲形 34">
              <a:extLst>
                <a:ext uri="{FF2B5EF4-FFF2-40B4-BE49-F238E27FC236}">
                  <a16:creationId xmlns:a16="http://schemas.microsoft.com/office/drawing/2014/main" xmlns="" id="{452EF274-4652-4C70-B919-3C09BFF23B1B}"/>
                </a:ext>
              </a:extLst>
            </p:cNvPr>
            <p:cNvSpPr/>
            <p:nvPr/>
          </p:nvSpPr>
          <p:spPr>
            <a:xfrm>
              <a:off x="5728939" y="2685385"/>
              <a:ext cx="2498461" cy="925704"/>
            </a:xfrm>
            <a:prstGeom prst="cloudCallout">
              <a:avLst>
                <a:gd name="adj1" fmla="val 10409"/>
                <a:gd name="adj2" fmla="val 5662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xmlns="" id="{03FB7160-3528-4AEC-B213-30D42F338C96}"/>
                </a:ext>
              </a:extLst>
            </p:cNvPr>
            <p:cNvSpPr txBox="1"/>
            <p:nvPr/>
          </p:nvSpPr>
          <p:spPr>
            <a:xfrm>
              <a:off x="6133743" y="2888302"/>
              <a:ext cx="166806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1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表現戲劇的世界觀，同時訴求商品的存在感</a:t>
              </a:r>
              <a:endParaRPr kumimoji="1" lang="ja-JP" altLang="en-US" sz="11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37" name="グラフィックス 36" descr="カチンコ">
              <a:extLst>
                <a:ext uri="{FF2B5EF4-FFF2-40B4-BE49-F238E27FC236}">
                  <a16:creationId xmlns:a16="http://schemas.microsoft.com/office/drawing/2014/main" xmlns="" id="{02D06CC6-B278-453A-8151-A5C91D194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5439084" y="3473871"/>
              <a:ext cx="914400" cy="914400"/>
            </a:xfrm>
            <a:prstGeom prst="rect">
              <a:avLst/>
            </a:prstGeom>
          </p:spPr>
        </p:pic>
        <p:pic>
          <p:nvPicPr>
            <p:cNvPr id="39" name="グラフィックス 38" descr="フィルム ストリップ">
              <a:extLst>
                <a:ext uri="{FF2B5EF4-FFF2-40B4-BE49-F238E27FC236}">
                  <a16:creationId xmlns:a16="http://schemas.microsoft.com/office/drawing/2014/main" xmlns="" id="{6BD525B3-C16F-40FB-98DA-33D884AFE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 rot="1800000">
              <a:off x="8530658" y="3242793"/>
              <a:ext cx="914400" cy="914400"/>
            </a:xfrm>
            <a:prstGeom prst="rect">
              <a:avLst/>
            </a:prstGeom>
          </p:spPr>
        </p:pic>
        <p:sp>
          <p:nvSpPr>
            <p:cNvPr id="40" name="四角形: 角を丸くする 39">
              <a:extLst>
                <a:ext uri="{FF2B5EF4-FFF2-40B4-BE49-F238E27FC236}">
                  <a16:creationId xmlns:a16="http://schemas.microsoft.com/office/drawing/2014/main" xmlns="" id="{1C319BA9-C230-4FFF-8CC4-946ADE5AB4D7}"/>
                </a:ext>
              </a:extLst>
            </p:cNvPr>
            <p:cNvSpPr/>
            <p:nvPr/>
          </p:nvSpPr>
          <p:spPr>
            <a:xfrm>
              <a:off x="879648" y="4371815"/>
              <a:ext cx="1260000" cy="25200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/>
                </a:gs>
                <a:gs pos="83000">
                  <a:schemeClr val="accent5"/>
                </a:gs>
                <a:gs pos="100000">
                  <a:schemeClr val="accent5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4DFFE5A4-1778-45FA-9691-A880E9302C8F}"/>
                </a:ext>
              </a:extLst>
            </p:cNvPr>
            <p:cNvSpPr/>
            <p:nvPr/>
          </p:nvSpPr>
          <p:spPr>
            <a:xfrm>
              <a:off x="927077" y="4371815"/>
              <a:ext cx="4924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展開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矢印: ストライプ 31">
              <a:extLst>
                <a:ext uri="{FF2B5EF4-FFF2-40B4-BE49-F238E27FC236}">
                  <a16:creationId xmlns:a16="http://schemas.microsoft.com/office/drawing/2014/main" xmlns="" id="{0CD56037-0811-4D7A-887C-B134ABE9980D}"/>
                </a:ext>
              </a:extLst>
            </p:cNvPr>
            <p:cNvSpPr/>
            <p:nvPr/>
          </p:nvSpPr>
          <p:spPr>
            <a:xfrm>
              <a:off x="4395092" y="1642310"/>
              <a:ext cx="881034" cy="892097"/>
            </a:xfrm>
            <a:prstGeom prst="striped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xmlns="" id="{AD8CB235-48B3-4E36-89CF-990FA46F0302}"/>
                </a:ext>
              </a:extLst>
            </p:cNvPr>
            <p:cNvSpPr txBox="1"/>
            <p:nvPr/>
          </p:nvSpPr>
          <p:spPr>
            <a:xfrm>
              <a:off x="4402441" y="1983702"/>
              <a:ext cx="92829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因此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xmlns="" id="{EE4D3D41-44DE-4A3F-A6CA-B1D9D9C5E76C}"/>
                </a:ext>
              </a:extLst>
            </p:cNvPr>
            <p:cNvSpPr txBox="1"/>
            <p:nvPr/>
          </p:nvSpPr>
          <p:spPr>
            <a:xfrm>
              <a:off x="4298058" y="3984087"/>
              <a:ext cx="12096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2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獨特</a:t>
              </a:r>
              <a:endParaRPr kumimoji="1" lang="en-US" altLang="ja-JP" sz="1200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xmlns="" id="{42201862-4192-4101-954B-1C44A83A5C6D}"/>
                </a:ext>
              </a:extLst>
            </p:cNvPr>
            <p:cNvSpPr txBox="1"/>
            <p:nvPr/>
          </p:nvSpPr>
          <p:spPr>
            <a:xfrm>
              <a:off x="7509882" y="3559237"/>
              <a:ext cx="12096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2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話題性</a:t>
              </a:r>
              <a:endParaRPr kumimoji="1" lang="en-US" altLang="ja-JP" sz="1200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xmlns="" id="{85C345C0-F405-44D6-9F20-AAB7DF649CEB}"/>
                </a:ext>
              </a:extLst>
            </p:cNvPr>
            <p:cNvSpPr txBox="1"/>
            <p:nvPr/>
          </p:nvSpPr>
          <p:spPr>
            <a:xfrm>
              <a:off x="8201976" y="2777063"/>
              <a:ext cx="12096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2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即時</a:t>
              </a:r>
              <a:endParaRPr kumimoji="1" lang="en-US" altLang="ja-JP" sz="1200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49" name="グラフィックス 48" descr="矢印: 左に回転">
              <a:extLst>
                <a:ext uri="{FF2B5EF4-FFF2-40B4-BE49-F238E27FC236}">
                  <a16:creationId xmlns:a16="http://schemas.microsoft.com/office/drawing/2014/main" xmlns="" id="{1D86E2BD-30F2-41AB-BB92-51FF7E1BD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 rot="19800000">
              <a:off x="1336425" y="3114497"/>
              <a:ext cx="914400" cy="914400"/>
            </a:xfrm>
            <a:prstGeom prst="rect">
              <a:avLst/>
            </a:prstGeom>
          </p:spPr>
        </p:pic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xmlns="" id="{E18867B5-B580-4532-BFF9-4C788D305D63}"/>
                </a:ext>
              </a:extLst>
            </p:cNvPr>
            <p:cNvSpPr txBox="1"/>
            <p:nvPr/>
          </p:nvSpPr>
          <p:spPr>
            <a:xfrm>
              <a:off x="598011" y="3338436"/>
              <a:ext cx="92829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如此一來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4" name="矢印: ストライプ 53">
              <a:extLst>
                <a:ext uri="{FF2B5EF4-FFF2-40B4-BE49-F238E27FC236}">
                  <a16:creationId xmlns:a16="http://schemas.microsoft.com/office/drawing/2014/main" xmlns="" id="{302A634F-FEFD-415E-8884-BC4BC6C19DF8}"/>
                </a:ext>
              </a:extLst>
            </p:cNvPr>
            <p:cNvSpPr/>
            <p:nvPr/>
          </p:nvSpPr>
          <p:spPr>
            <a:xfrm>
              <a:off x="4395092" y="5024717"/>
              <a:ext cx="881034" cy="892097"/>
            </a:xfrm>
            <a:prstGeom prst="stripedRightArrow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xmlns="" id="{D034FEA5-1A50-4945-ADD7-60C6C58E19F9}"/>
                </a:ext>
              </a:extLst>
            </p:cNvPr>
            <p:cNvSpPr txBox="1"/>
            <p:nvPr/>
          </p:nvSpPr>
          <p:spPr>
            <a:xfrm>
              <a:off x="4402441" y="5366109"/>
              <a:ext cx="92829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進一步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…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6" name="楕円 55">
              <a:extLst>
                <a:ext uri="{FF2B5EF4-FFF2-40B4-BE49-F238E27FC236}">
                  <a16:creationId xmlns:a16="http://schemas.microsoft.com/office/drawing/2014/main" xmlns="" id="{F952A741-0AD8-4CBB-A901-8C88F4ACEE0D}"/>
                </a:ext>
              </a:extLst>
            </p:cNvPr>
            <p:cNvSpPr/>
            <p:nvPr/>
          </p:nvSpPr>
          <p:spPr>
            <a:xfrm>
              <a:off x="8325433" y="2677430"/>
              <a:ext cx="972000" cy="432000"/>
            </a:xfrm>
            <a:prstGeom prst="ellipse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楕円 56">
              <a:extLst>
                <a:ext uri="{FF2B5EF4-FFF2-40B4-BE49-F238E27FC236}">
                  <a16:creationId xmlns:a16="http://schemas.microsoft.com/office/drawing/2014/main" xmlns="" id="{17CC54E4-BB2D-40CE-9D88-A2460CED5D56}"/>
                </a:ext>
              </a:extLst>
            </p:cNvPr>
            <p:cNvSpPr/>
            <p:nvPr/>
          </p:nvSpPr>
          <p:spPr>
            <a:xfrm>
              <a:off x="7603394" y="3463732"/>
              <a:ext cx="972000" cy="432000"/>
            </a:xfrm>
            <a:prstGeom prst="ellipse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楕円 57">
              <a:extLst>
                <a:ext uri="{FF2B5EF4-FFF2-40B4-BE49-F238E27FC236}">
                  <a16:creationId xmlns:a16="http://schemas.microsoft.com/office/drawing/2014/main" xmlns="" id="{EBE11AB4-B177-4C31-8326-7ECDCC4632E8}"/>
                </a:ext>
              </a:extLst>
            </p:cNvPr>
            <p:cNvSpPr/>
            <p:nvPr/>
          </p:nvSpPr>
          <p:spPr>
            <a:xfrm>
              <a:off x="4416883" y="3881176"/>
              <a:ext cx="972000" cy="432000"/>
            </a:xfrm>
            <a:prstGeom prst="ellipse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四角形: 角を丸くする 60">
              <a:extLst>
                <a:ext uri="{FF2B5EF4-FFF2-40B4-BE49-F238E27FC236}">
                  <a16:creationId xmlns:a16="http://schemas.microsoft.com/office/drawing/2014/main" xmlns="" id="{5245310A-A1CE-455D-9978-DE9D5FCFAEC9}"/>
                </a:ext>
              </a:extLst>
            </p:cNvPr>
            <p:cNvSpPr/>
            <p:nvPr/>
          </p:nvSpPr>
          <p:spPr>
            <a:xfrm>
              <a:off x="5529097" y="5162988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xmlns="" id="{07BD9750-D77D-403F-9E77-1941563C5A86}"/>
                </a:ext>
              </a:extLst>
            </p:cNvPr>
            <p:cNvSpPr/>
            <p:nvPr/>
          </p:nvSpPr>
          <p:spPr>
            <a:xfrm>
              <a:off x="5620822" y="5195394"/>
              <a:ext cx="788550" cy="27699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Twitter</a:t>
              </a:r>
            </a:p>
          </p:txBody>
        </p:sp>
        <p:sp>
          <p:nvSpPr>
            <p:cNvPr id="62" name="四角形: 角を丸くする 61">
              <a:extLst>
                <a:ext uri="{FF2B5EF4-FFF2-40B4-BE49-F238E27FC236}">
                  <a16:creationId xmlns:a16="http://schemas.microsoft.com/office/drawing/2014/main" xmlns="" id="{66AB167F-04D3-4B76-9539-0DF757A9743D}"/>
                </a:ext>
              </a:extLst>
            </p:cNvPr>
            <p:cNvSpPr/>
            <p:nvPr/>
          </p:nvSpPr>
          <p:spPr>
            <a:xfrm>
              <a:off x="5529097" y="5592056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xmlns="" id="{D27BB031-65EB-494C-9FF1-4DAE0C5FBA48}"/>
                </a:ext>
              </a:extLst>
            </p:cNvPr>
            <p:cNvSpPr/>
            <p:nvPr/>
          </p:nvSpPr>
          <p:spPr>
            <a:xfrm>
              <a:off x="5508869" y="5623328"/>
              <a:ext cx="1012457" cy="27699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Instagram</a:t>
              </a:r>
            </a:p>
          </p:txBody>
        </p:sp>
        <p:sp>
          <p:nvSpPr>
            <p:cNvPr id="64" name="四角形: 角を丸くする 63">
              <a:extLst>
                <a:ext uri="{FF2B5EF4-FFF2-40B4-BE49-F238E27FC236}">
                  <a16:creationId xmlns:a16="http://schemas.microsoft.com/office/drawing/2014/main" xmlns="" id="{4F9CC19C-6887-4B6F-9934-BE30C6DA2706}"/>
                </a:ext>
              </a:extLst>
            </p:cNvPr>
            <p:cNvSpPr/>
            <p:nvPr/>
          </p:nvSpPr>
          <p:spPr>
            <a:xfrm>
              <a:off x="5529097" y="6021124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xmlns="" id="{0BE1C5A2-088C-4DE1-94D1-C1FC2FD9785D}"/>
                </a:ext>
              </a:extLst>
            </p:cNvPr>
            <p:cNvSpPr/>
            <p:nvPr/>
          </p:nvSpPr>
          <p:spPr>
            <a:xfrm>
              <a:off x="5530830" y="6053530"/>
              <a:ext cx="968535" cy="276999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Facebook</a:t>
              </a: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xmlns="" id="{82C4502F-8F18-4F7C-B656-3E19EAA95CD5}"/>
                </a:ext>
              </a:extLst>
            </p:cNvPr>
            <p:cNvSpPr/>
            <p:nvPr/>
          </p:nvSpPr>
          <p:spPr>
            <a:xfrm>
              <a:off x="6634693" y="5191260"/>
              <a:ext cx="24876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在日常中展現些許幽默，引起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性。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xmlns="" id="{CF768B07-C277-490C-8FEA-EE8D8920DA1A}"/>
                </a:ext>
              </a:extLst>
            </p:cNvPr>
            <p:cNvSpPr txBox="1"/>
            <p:nvPr/>
          </p:nvSpPr>
          <p:spPr>
            <a:xfrm>
              <a:off x="4916000" y="4553041"/>
              <a:ext cx="16481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200" smtClean="0">
                  <a:solidFill>
                    <a:schemeClr val="accent5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想談論的話題</a:t>
              </a:r>
              <a:endParaRPr kumimoji="1" lang="en-US" altLang="ja-JP" sz="1200" dirty="0">
                <a:solidFill>
                  <a:schemeClr val="accent5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0" name="楕円 49">
              <a:extLst>
                <a:ext uri="{FF2B5EF4-FFF2-40B4-BE49-F238E27FC236}">
                  <a16:creationId xmlns:a16="http://schemas.microsoft.com/office/drawing/2014/main" xmlns="" id="{9B71B2B0-B1B6-41A8-A063-75C21AC3F3DC}"/>
                </a:ext>
              </a:extLst>
            </p:cNvPr>
            <p:cNvSpPr/>
            <p:nvPr/>
          </p:nvSpPr>
          <p:spPr>
            <a:xfrm>
              <a:off x="4953000" y="4446761"/>
              <a:ext cx="1588352" cy="432000"/>
            </a:xfrm>
            <a:prstGeom prst="ellipse">
              <a:avLst/>
            </a:prstGeom>
            <a:noFill/>
            <a:ln w="1270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xmlns="" id="{72234E4C-2FB9-42C5-A36F-570E90FE5324}"/>
                </a:ext>
              </a:extLst>
            </p:cNvPr>
            <p:cNvSpPr/>
            <p:nvPr/>
          </p:nvSpPr>
          <p:spPr>
            <a:xfrm>
              <a:off x="6634693" y="5557330"/>
              <a:ext cx="24876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以照片投稿在街上找到的場景，共享有趣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xmlns="" id="{9863FDCB-171B-4DB5-A64E-8C119BF5E545}"/>
                </a:ext>
              </a:extLst>
            </p:cNvPr>
            <p:cNvSpPr/>
            <p:nvPr/>
          </p:nvSpPr>
          <p:spPr>
            <a:xfrm>
              <a:off x="6634693" y="5963530"/>
              <a:ext cx="24876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當成讓人想主動分享的題材，促使標記的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分享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7" name="四角形: 角を丸くする 66">
              <a:extLst>
                <a:ext uri="{FF2B5EF4-FFF2-40B4-BE49-F238E27FC236}">
                  <a16:creationId xmlns:a16="http://schemas.microsoft.com/office/drawing/2014/main" xmlns="" id="{117EED0C-95B2-45AF-AA97-8EBF906240C0}"/>
                </a:ext>
              </a:extLst>
            </p:cNvPr>
            <p:cNvSpPr/>
            <p:nvPr/>
          </p:nvSpPr>
          <p:spPr>
            <a:xfrm>
              <a:off x="2428665" y="3939164"/>
              <a:ext cx="1776367" cy="5040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xmlns="" id="{9A2406C1-1ED1-4C6E-9A8D-5B911CA26D43}"/>
                </a:ext>
              </a:extLst>
            </p:cNvPr>
            <p:cNvSpPr txBox="1"/>
            <p:nvPr/>
          </p:nvSpPr>
          <p:spPr>
            <a:xfrm>
              <a:off x="2476469" y="4064206"/>
              <a:ext cx="16674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平凡卻不可欠缺的食品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爆発: 14 pt 3">
              <a:extLst>
                <a:ext uri="{FF2B5EF4-FFF2-40B4-BE49-F238E27FC236}">
                  <a16:creationId xmlns:a16="http://schemas.microsoft.com/office/drawing/2014/main" xmlns="" id="{85AFE262-F61F-4542-8B95-1E67D58895C9}"/>
                </a:ext>
              </a:extLst>
            </p:cNvPr>
            <p:cNvSpPr/>
            <p:nvPr/>
          </p:nvSpPr>
          <p:spPr>
            <a:xfrm>
              <a:off x="7223522" y="119212"/>
              <a:ext cx="2315221" cy="1027476"/>
            </a:xfrm>
            <a:prstGeom prst="irregularSeal2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xmlns="" id="{D1DF4067-A90A-4119-9654-FA8444CC633C}"/>
                </a:ext>
              </a:extLst>
            </p:cNvPr>
            <p:cNvSpPr txBox="1"/>
            <p:nvPr/>
          </p:nvSpPr>
          <p:spPr>
            <a:xfrm rot="21223690">
              <a:off x="7290875" y="518653"/>
              <a:ext cx="21805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400" smtClean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認知度提升作戰</a:t>
              </a:r>
              <a:endParaRPr kumimoji="1"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xmlns="" id="{B4A525F1-DD3C-466B-B6FC-05274B1DAB10}"/>
                </a:ext>
              </a:extLst>
            </p:cNvPr>
            <p:cNvSpPr txBox="1"/>
            <p:nvPr/>
          </p:nvSpPr>
          <p:spPr>
            <a:xfrm>
              <a:off x="4248356" y="6051882"/>
              <a:ext cx="114052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活用</a:t>
              </a:r>
              <a:r>
                <a:rPr kumimoji="1" lang="en-US" altLang="ja-JP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SNS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70" name="図 69" descr="家具, 座席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77EB0B59-0EF0-4223-A13A-3B4AF6DE3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0154" y="3872298"/>
              <a:ext cx="1515052" cy="1112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295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xmlns="" id="{8491844A-77C7-445E-BE38-21B9FE752870}"/>
              </a:ext>
            </a:extLst>
          </p:cNvPr>
          <p:cNvGrpSpPr/>
          <p:nvPr/>
        </p:nvGrpSpPr>
        <p:grpSpPr>
          <a:xfrm>
            <a:off x="273000" y="279000"/>
            <a:ext cx="9360000" cy="6300000"/>
            <a:chOff x="273000" y="279000"/>
            <a:chExt cx="9360000" cy="6300000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xmlns="" id="{833BCC82-67B8-4946-8929-3D467C89371C}"/>
                </a:ext>
              </a:extLst>
            </p:cNvPr>
            <p:cNvSpPr/>
            <p:nvPr/>
          </p:nvSpPr>
          <p:spPr>
            <a:xfrm>
              <a:off x="3477321" y="1953321"/>
              <a:ext cx="2951358" cy="295135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60000"/>
                    <a:lumOff val="40000"/>
                  </a:schemeClr>
                </a:gs>
                <a:gs pos="69000">
                  <a:schemeClr val="accent1"/>
                </a:gs>
                <a:gs pos="97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48">
              <a:extLst>
                <a:ext uri="{FF2B5EF4-FFF2-40B4-BE49-F238E27FC236}">
                  <a16:creationId xmlns:a16="http://schemas.microsoft.com/office/drawing/2014/main" xmlns="" id="{83B0CBC0-56B6-4860-8E38-A7DA15BD17D5}"/>
                </a:ext>
              </a:extLst>
            </p:cNvPr>
            <p:cNvSpPr/>
            <p:nvPr/>
          </p:nvSpPr>
          <p:spPr>
            <a:xfrm>
              <a:off x="273000" y="279000"/>
              <a:ext cx="9360000" cy="6300000"/>
            </a:xfrm>
            <a:prstGeom prst="roundRect">
              <a:avLst>
                <a:gd name="adj" fmla="val 2620"/>
              </a:avLst>
            </a:prstGeom>
            <a:noFill/>
            <a:ln w="19050" cap="sq">
              <a:solidFill>
                <a:schemeClr val="accent5">
                  <a:lumMod val="75000"/>
                </a:scheme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xmlns="" id="{1D536373-30F3-4106-997D-4CB68C6DB84F}"/>
                </a:ext>
              </a:extLst>
            </p:cNvPr>
            <p:cNvSpPr txBox="1"/>
            <p:nvPr/>
          </p:nvSpPr>
          <p:spPr>
            <a:xfrm>
              <a:off x="2981094" y="433079"/>
              <a:ext cx="39438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醬油的促銷企劃</a:t>
              </a:r>
              <a:endParaRPr kumimoji="1"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879648" y="1557445"/>
              <a:ext cx="3051716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本的醬油在國外的人氣逐漸高漲，現在更滲透至許多國家的餐桌。亞洲圈當然不用說，北美更有銷售情況優於日本國內的地區。另一方面，國內的銷售市占率卻不如預期，必須針對少子化與照護時代採取緊急對策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才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行。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xmlns="" id="{40807E36-53DF-4EE6-9F4A-A5116841209B}"/>
                </a:ext>
              </a:extLst>
            </p:cNvPr>
            <p:cNvSpPr/>
            <p:nvPr/>
          </p:nvSpPr>
          <p:spPr>
            <a:xfrm>
              <a:off x="879648" y="1216186"/>
              <a:ext cx="3051198" cy="252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xmlns="" id="{F55E2786-0B75-4696-BAA6-414188E28D92}"/>
                </a:ext>
              </a:extLst>
            </p:cNvPr>
            <p:cNvSpPr/>
            <p:nvPr/>
          </p:nvSpPr>
          <p:spPr>
            <a:xfrm>
              <a:off x="927077" y="1216186"/>
              <a:ext cx="6559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en-US" altLang="ja-JP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. </a:t>
              </a:r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背景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xmlns="" id="{C85EE405-B557-4E23-B553-B9D783DB767D}"/>
                </a:ext>
              </a:extLst>
            </p:cNvPr>
            <p:cNvSpPr/>
            <p:nvPr/>
          </p:nvSpPr>
          <p:spPr>
            <a:xfrm>
              <a:off x="879130" y="4710774"/>
              <a:ext cx="3051716" cy="1546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張貼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街頭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海報</a:t>
              </a:r>
              <a:endParaRPr kumimoji="1" lang="en-US" altLang="ja-JP" sz="105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把醬油的貼紙貼在電影和戲劇的宣傳海報上，引起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性。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分發貼紙</a:t>
              </a:r>
              <a:endParaRPr kumimoji="1" lang="en-US" altLang="ja-JP" sz="105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在電影院等處分發貼在海報上的貼紙，供人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自由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使用。</a:t>
              </a:r>
              <a:endParaRPr kumimoji="1" lang="en-US" altLang="ja-JP" sz="1050" smtClean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ja-JP" altLang="en-US" sz="1050" smtClean="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●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電影招待券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贈送電影的免費招待券，在商品貼上宣傳貼紙，促進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購買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意願。</a:t>
              </a:r>
              <a:endParaRPr kumimoji="1" lang="en-US" altLang="ja-JP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xmlns="" id="{DDB258AF-F8B2-4AC0-BE33-34584FAFAECE}"/>
                </a:ext>
              </a:extLst>
            </p:cNvPr>
            <p:cNvSpPr txBox="1"/>
            <p:nvPr/>
          </p:nvSpPr>
          <p:spPr>
            <a:xfrm>
              <a:off x="5759717" y="1557445"/>
              <a:ext cx="305171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電影或戲劇裡常有飲食的場景。今後，可把上映的電影和正在上演的戲劇的飲食場景剪下，貼上本公司的商品貼紙。製作出宛如飲食場景同樣也在使用本公司商品般的海報，用於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促銷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販售。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xmlns="" id="{350DCA94-12A3-4080-BB88-0505BB180B22}"/>
                </a:ext>
              </a:extLst>
            </p:cNvPr>
            <p:cNvSpPr/>
            <p:nvPr/>
          </p:nvSpPr>
          <p:spPr>
            <a:xfrm>
              <a:off x="5759717" y="1216186"/>
              <a:ext cx="3052800" cy="252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xmlns="" id="{D6234EF0-668F-4473-9C7D-90814AC937E0}"/>
                </a:ext>
              </a:extLst>
            </p:cNvPr>
            <p:cNvSpPr/>
            <p:nvPr/>
          </p:nvSpPr>
          <p:spPr>
            <a:xfrm>
              <a:off x="5807146" y="1216186"/>
              <a:ext cx="6559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en-US" altLang="ja-JP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. </a:t>
              </a:r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內容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xmlns="" id="{03FB7160-3528-4AEC-B213-30D42F338C96}"/>
                </a:ext>
              </a:extLst>
            </p:cNvPr>
            <p:cNvSpPr txBox="1"/>
            <p:nvPr/>
          </p:nvSpPr>
          <p:spPr>
            <a:xfrm>
              <a:off x="6012789" y="2833448"/>
              <a:ext cx="27986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>
                  <a:solidFill>
                    <a:schemeClr val="accent5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表現戲劇的世界觀，同時訴求商品的存在感</a:t>
              </a:r>
            </a:p>
          </p:txBody>
        </p:sp>
        <p:sp>
          <p:nvSpPr>
            <p:cNvPr id="40" name="四角形: 角を丸くする 39">
              <a:extLst>
                <a:ext uri="{FF2B5EF4-FFF2-40B4-BE49-F238E27FC236}">
                  <a16:creationId xmlns:a16="http://schemas.microsoft.com/office/drawing/2014/main" xmlns="" id="{1C319BA9-C230-4FFF-8CC4-946ADE5AB4D7}"/>
                </a:ext>
              </a:extLst>
            </p:cNvPr>
            <p:cNvSpPr/>
            <p:nvPr/>
          </p:nvSpPr>
          <p:spPr>
            <a:xfrm>
              <a:off x="879648" y="4371815"/>
              <a:ext cx="3052800" cy="252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xmlns="" id="{4DFFE5A4-1778-45FA-9691-A880E9302C8F}"/>
                </a:ext>
              </a:extLst>
            </p:cNvPr>
            <p:cNvSpPr/>
            <p:nvPr/>
          </p:nvSpPr>
          <p:spPr>
            <a:xfrm>
              <a:off x="927077" y="4371815"/>
              <a:ext cx="65594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en-US" altLang="ja-JP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. </a:t>
              </a:r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展開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xmlns="" id="{EE4D3D41-44DE-4A3F-A6CA-B1D9D9C5E76C}"/>
                </a:ext>
              </a:extLst>
            </p:cNvPr>
            <p:cNvSpPr txBox="1"/>
            <p:nvPr/>
          </p:nvSpPr>
          <p:spPr>
            <a:xfrm>
              <a:off x="6012789" y="3576168"/>
              <a:ext cx="30616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just">
                <a:buClr>
                  <a:schemeClr val="accent5">
                    <a:lumMod val="75000"/>
                  </a:schemeClr>
                </a:buClr>
                <a:buFont typeface="Wingdings" panose="05000000000000000000" pitchFamily="2" charset="2"/>
                <a:buChar char="l"/>
              </a:pPr>
              <a:r>
                <a:rPr kumimoji="1"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和電影、戲劇合作，引起話題性</a:t>
              </a:r>
              <a:endParaRPr kumimoji="1"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171450" indent="-171450" algn="just">
                <a:buClr>
                  <a:schemeClr val="accent5">
                    <a:lumMod val="75000"/>
                  </a:schemeClr>
                </a:buClr>
                <a:buFont typeface="Wingdings" panose="05000000000000000000" pitchFamily="2" charset="2"/>
                <a:buChar char="l"/>
              </a:pPr>
              <a:r>
                <a:rPr kumimoji="1"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提供讓人想分享的題材，透過</a:t>
              </a:r>
              <a:r>
                <a:rPr kumimoji="1" lang="en-US" altLang="ja-JP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SNS</a:t>
              </a:r>
              <a:r>
                <a:rPr kumimoji="1" lang="zh-TW" altLang="en-US" sz="10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</a:t>
              </a:r>
              <a:endParaRPr kumimoji="1" lang="en-US" altLang="ja-JP" sz="1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四角形: 角を丸くする 60">
              <a:extLst>
                <a:ext uri="{FF2B5EF4-FFF2-40B4-BE49-F238E27FC236}">
                  <a16:creationId xmlns:a16="http://schemas.microsoft.com/office/drawing/2014/main" xmlns="" id="{5245310A-A1CE-455D-9978-DE9D5FCFAEC9}"/>
                </a:ext>
              </a:extLst>
            </p:cNvPr>
            <p:cNvSpPr/>
            <p:nvPr/>
          </p:nvSpPr>
          <p:spPr>
            <a:xfrm>
              <a:off x="5759717" y="4831773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xmlns="" id="{07BD9750-D77D-403F-9E77-1941563C5A86}"/>
                </a:ext>
              </a:extLst>
            </p:cNvPr>
            <p:cNvSpPr/>
            <p:nvPr/>
          </p:nvSpPr>
          <p:spPr>
            <a:xfrm>
              <a:off x="5894339" y="4864179"/>
              <a:ext cx="702756" cy="27699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Twitter</a:t>
              </a:r>
            </a:p>
          </p:txBody>
        </p:sp>
        <p:sp>
          <p:nvSpPr>
            <p:cNvPr id="62" name="四角形: 角を丸くする 61">
              <a:extLst>
                <a:ext uri="{FF2B5EF4-FFF2-40B4-BE49-F238E27FC236}">
                  <a16:creationId xmlns:a16="http://schemas.microsoft.com/office/drawing/2014/main" xmlns="" id="{66AB167F-04D3-4B76-9539-0DF757A9743D}"/>
                </a:ext>
              </a:extLst>
            </p:cNvPr>
            <p:cNvSpPr/>
            <p:nvPr/>
          </p:nvSpPr>
          <p:spPr>
            <a:xfrm>
              <a:off x="5759717" y="5256532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xmlns="" id="{D27BB031-65EB-494C-9FF1-4DAE0C5FBA48}"/>
                </a:ext>
              </a:extLst>
            </p:cNvPr>
            <p:cNvSpPr/>
            <p:nvPr/>
          </p:nvSpPr>
          <p:spPr>
            <a:xfrm>
              <a:off x="5787900" y="5288938"/>
              <a:ext cx="915635" cy="27699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Instagram</a:t>
              </a:r>
            </a:p>
          </p:txBody>
        </p:sp>
        <p:sp>
          <p:nvSpPr>
            <p:cNvPr id="64" name="四角形: 角を丸くする 63">
              <a:extLst>
                <a:ext uri="{FF2B5EF4-FFF2-40B4-BE49-F238E27FC236}">
                  <a16:creationId xmlns:a16="http://schemas.microsoft.com/office/drawing/2014/main" xmlns="" id="{4F9CC19C-6887-4B6F-9934-BE30C6DA2706}"/>
                </a:ext>
              </a:extLst>
            </p:cNvPr>
            <p:cNvSpPr/>
            <p:nvPr/>
          </p:nvSpPr>
          <p:spPr>
            <a:xfrm>
              <a:off x="5759717" y="5689909"/>
              <a:ext cx="972000" cy="307778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xmlns="" id="{0BE1C5A2-088C-4DE1-94D1-C1FC2FD9785D}"/>
                </a:ext>
              </a:extLst>
            </p:cNvPr>
            <p:cNvSpPr/>
            <p:nvPr/>
          </p:nvSpPr>
          <p:spPr>
            <a:xfrm>
              <a:off x="5803353" y="5722315"/>
              <a:ext cx="884729" cy="27699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Facebook</a:t>
              </a:r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xmlns="" id="{82C4502F-8F18-4F7C-B656-3E19EAA95CD5}"/>
                </a:ext>
              </a:extLst>
            </p:cNvPr>
            <p:cNvSpPr/>
            <p:nvPr/>
          </p:nvSpPr>
          <p:spPr>
            <a:xfrm>
              <a:off x="6759742" y="4851807"/>
              <a:ext cx="248763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在日常中展現些許幽默，引起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話題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性。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xmlns="" id="{72234E4C-2FB9-42C5-A36F-570E90FE5324}"/>
                </a:ext>
              </a:extLst>
            </p:cNvPr>
            <p:cNvSpPr/>
            <p:nvPr/>
          </p:nvSpPr>
          <p:spPr>
            <a:xfrm>
              <a:off x="6759742" y="5221466"/>
              <a:ext cx="24876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以照片投稿在街上找到的場景，共享有趣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xmlns="" id="{9863FDCB-171B-4DB5-A64E-8C119BF5E545}"/>
                </a:ext>
              </a:extLst>
            </p:cNvPr>
            <p:cNvSpPr/>
            <p:nvPr/>
          </p:nvSpPr>
          <p:spPr>
            <a:xfrm>
              <a:off x="6759742" y="5632315"/>
              <a:ext cx="248763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當成讓人想主動分享的題材，促使標記的</a:t>
              </a:r>
              <a:r>
                <a:rPr kumimoji="1" lang="zh-TW" altLang="en-US" sz="105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分享</a:t>
              </a:r>
              <a:r>
                <a:rPr kumimoji="1" lang="zh-TW" altLang="en-US" sz="105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宣傳。</a:t>
              </a:r>
              <a:endParaRPr kumimoji="1" lang="ja-JP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9" name="四角形: 角を丸くする 68">
              <a:extLst>
                <a:ext uri="{FF2B5EF4-FFF2-40B4-BE49-F238E27FC236}">
                  <a16:creationId xmlns:a16="http://schemas.microsoft.com/office/drawing/2014/main" xmlns="" id="{570A174F-84DE-49D3-A488-42CD16CA7F8F}"/>
                </a:ext>
              </a:extLst>
            </p:cNvPr>
            <p:cNvSpPr/>
            <p:nvPr/>
          </p:nvSpPr>
          <p:spPr>
            <a:xfrm>
              <a:off x="5759717" y="4371815"/>
              <a:ext cx="3052800" cy="252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xmlns="" id="{59496389-A476-443A-B49F-BD5BDECDBA49}"/>
                </a:ext>
              </a:extLst>
            </p:cNvPr>
            <p:cNvSpPr/>
            <p:nvPr/>
          </p:nvSpPr>
          <p:spPr>
            <a:xfrm>
              <a:off x="5807146" y="4371815"/>
              <a:ext cx="131318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2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r>
                <a:rPr lang="en-US" altLang="ja-JP" sz="12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. </a:t>
              </a:r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利用</a:t>
              </a:r>
              <a:r>
                <a:rPr lang="en-US" altLang="ja-JP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SNS</a:t>
              </a:r>
              <a:r>
                <a:rPr lang="zh-TW" altLang="en-US" sz="12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宣傳</a:t>
              </a:r>
              <a:endParaRPr lang="ja-JP" altLang="en-US" sz="12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xmlns="" id="{1CED8B47-9FC1-4906-8DA2-7E2672303E3E}"/>
                </a:ext>
              </a:extLst>
            </p:cNvPr>
            <p:cNvSpPr txBox="1"/>
            <p:nvPr/>
          </p:nvSpPr>
          <p:spPr>
            <a:xfrm>
              <a:off x="2044695" y="3113183"/>
              <a:ext cx="19413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40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一直存在於我們身邊的食品</a:t>
              </a:r>
              <a:endParaRPr kumimoji="1"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0" name="図 9" descr="家具, テーブル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xmlns="" id="{DC73FE4B-0825-456A-8353-55947DD13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0157" y="2685449"/>
              <a:ext cx="2025686" cy="14871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165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511</TotalTime>
  <Words>831</Words>
  <Application>Microsoft Office PowerPoint</Application>
  <PresentationFormat>A4 紙張 (210x297 公釐)</PresentationFormat>
  <Paragraphs>81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2" baseType="lpstr">
      <vt:lpstr>メイリオ</vt:lpstr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66</cp:revision>
  <dcterms:created xsi:type="dcterms:W3CDTF">2017-11-09T07:26:57Z</dcterms:created>
  <dcterms:modified xsi:type="dcterms:W3CDTF">2018-09-23T10:21:10Z</dcterms:modified>
</cp:coreProperties>
</file>