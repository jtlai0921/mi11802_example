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57" r:id="rId4"/>
    <p:sldId id="260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440" b="0" i="0" u="none" strike="noStrike" kern="1200" spc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r>
              <a:rPr lang="zh-TW" altLang="en-US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kumimoji="1" lang="en-US" altLang="zh-TW" sz="1440" b="0" i="0" u="none" strike="noStrike" baseline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Black Spark</a:t>
            </a:r>
            <a:r>
              <a:rPr lang="zh-TW" altLang="en-US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」銷售個數的演進</a:t>
            </a:r>
            <a:endParaRPr lang="ja-JP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40" b="0" i="0" u="none" strike="noStrike" kern="1200" spc="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販売個数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ja-JP" sz="1600" b="0" i="0" u="none" strike="noStrik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zh-TW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3C3-4A69-BD1E-A9C0640DBA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105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2015年</c:v>
                </c:pt>
                <c:pt idx="1">
                  <c:v>2016年</c:v>
                </c:pt>
                <c:pt idx="2">
                  <c:v>2017年</c:v>
                </c:pt>
                <c:pt idx="3">
                  <c:v>2018年</c:v>
                </c:pt>
              </c:strCache>
            </c:strRef>
          </c:cat>
          <c:val>
            <c:numRef>
              <c:f>Sheet1!$B$2:$B$5</c:f>
              <c:numCache>
                <c:formatCode>#,##0_ </c:formatCode>
                <c:ptCount val="4"/>
                <c:pt idx="0">
                  <c:v>3669</c:v>
                </c:pt>
                <c:pt idx="1">
                  <c:v>8550</c:v>
                </c:pt>
                <c:pt idx="2">
                  <c:v>13334</c:v>
                </c:pt>
                <c:pt idx="3">
                  <c:v>18759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BE-42DE-8F21-A8C49AA8E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0"/>
        <c:axId val="-393198944"/>
        <c:axId val="-393209824"/>
      </c:barChart>
      <c:catAx>
        <c:axId val="-39319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000" b="0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endParaRPr lang="zh-TW"/>
          </a:p>
        </c:txPr>
        <c:crossAx val="-393209824"/>
        <c:crosses val="autoZero"/>
        <c:auto val="1"/>
        <c:lblAlgn val="ctr"/>
        <c:lblOffset val="100"/>
        <c:noMultiLvlLbl val="0"/>
      </c:catAx>
      <c:valAx>
        <c:axId val="-3932098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out"/>
        <c:minorTickMark val="none"/>
        <c:tickLblPos val="nextTo"/>
        <c:crossAx val="-39319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440" b="0" i="0" u="none" strike="noStrike" kern="1200" spc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r>
              <a:rPr lang="zh-TW" altLang="zh-TW" sz="1440" b="0" i="0" u="none" strike="noStrike" baseline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kumimoji="1" lang="en-US" altLang="zh-TW" sz="1440" b="0" i="0" u="none" strike="noStrike" baseline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Black Spark</a:t>
            </a:r>
            <a:r>
              <a:rPr lang="zh-TW" altLang="zh-TW" sz="1440" b="0" i="0" u="none" strike="noStrike" baseline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」銷售個數的演進</a:t>
            </a:r>
            <a:endParaRPr lang="ja-JP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40" b="0" i="0" u="none" strike="noStrike" kern="1200" spc="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銷售個數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2010年</c:v>
                </c:pt>
                <c:pt idx="1">
                  <c:v>2011年</c:v>
                </c:pt>
                <c:pt idx="2">
                  <c:v>2012年</c:v>
                </c:pt>
                <c:pt idx="3">
                  <c:v>2013年</c:v>
                </c:pt>
                <c:pt idx="4">
                  <c:v>2014年</c:v>
                </c:pt>
                <c:pt idx="5">
                  <c:v>2015年</c:v>
                </c:pt>
                <c:pt idx="6">
                  <c:v>2016年</c:v>
                </c:pt>
                <c:pt idx="7">
                  <c:v>2017年</c:v>
                </c:pt>
                <c:pt idx="8">
                  <c:v>2018年</c:v>
                </c:pt>
              </c:strCache>
            </c:strRef>
          </c:cat>
          <c:val>
            <c:numRef>
              <c:f>Sheet1!$B$2:$B$10</c:f>
              <c:numCache>
                <c:formatCode>#,##0_ </c:formatCode>
                <c:ptCount val="9"/>
                <c:pt idx="0">
                  <c:v>1347</c:v>
                </c:pt>
                <c:pt idx="1">
                  <c:v>1466</c:v>
                </c:pt>
                <c:pt idx="2">
                  <c:v>2100</c:v>
                </c:pt>
                <c:pt idx="3">
                  <c:v>2580</c:v>
                </c:pt>
                <c:pt idx="4">
                  <c:v>3347</c:v>
                </c:pt>
                <c:pt idx="5">
                  <c:v>3669</c:v>
                </c:pt>
                <c:pt idx="6">
                  <c:v>8550</c:v>
                </c:pt>
                <c:pt idx="7">
                  <c:v>13334</c:v>
                </c:pt>
                <c:pt idx="8">
                  <c:v>18759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BE-42DE-8F21-A8C49AA8E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393202752"/>
        <c:axId val="-39320601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前年對比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2010年</c:v>
                </c:pt>
                <c:pt idx="1">
                  <c:v>2011年</c:v>
                </c:pt>
                <c:pt idx="2">
                  <c:v>2012年</c:v>
                </c:pt>
                <c:pt idx="3">
                  <c:v>2013年</c:v>
                </c:pt>
                <c:pt idx="4">
                  <c:v>2014年</c:v>
                </c:pt>
                <c:pt idx="5">
                  <c:v>2015年</c:v>
                </c:pt>
                <c:pt idx="6">
                  <c:v>2016年</c:v>
                </c:pt>
                <c:pt idx="7">
                  <c:v>2017年</c:v>
                </c:pt>
                <c:pt idx="8">
                  <c:v>2018年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1">
                  <c:v>1.0883444691907944</c:v>
                </c:pt>
                <c:pt idx="2">
                  <c:v>1.4324693042291952</c:v>
                </c:pt>
                <c:pt idx="3">
                  <c:v>1.2285714285714286</c:v>
                </c:pt>
                <c:pt idx="4">
                  <c:v>1.2972868217054263</c:v>
                </c:pt>
                <c:pt idx="5">
                  <c:v>1.0962055572154168</c:v>
                </c:pt>
                <c:pt idx="6">
                  <c:v>2.3303352412101388</c:v>
                </c:pt>
                <c:pt idx="7">
                  <c:v>1.55953216374269</c:v>
                </c:pt>
                <c:pt idx="8">
                  <c:v>1.4068546572671365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BE-42DE-8F21-A8C49AA8E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393197312"/>
        <c:axId val="-393209280"/>
      </c:lineChart>
      <c:catAx>
        <c:axId val="-393202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000" b="0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endParaRPr lang="zh-TW"/>
          </a:p>
        </c:txPr>
        <c:crossAx val="-393206016"/>
        <c:crosses val="autoZero"/>
        <c:auto val="1"/>
        <c:lblAlgn val="ctr"/>
        <c:lblOffset val="100"/>
        <c:noMultiLvlLbl val="0"/>
      </c:catAx>
      <c:valAx>
        <c:axId val="-393206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05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-393202752"/>
        <c:crosses val="autoZero"/>
        <c:crossBetween val="between"/>
      </c:valAx>
      <c:valAx>
        <c:axId val="-393209280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05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-393197312"/>
        <c:crosses val="max"/>
        <c:crossBetween val="between"/>
      </c:valAx>
      <c:catAx>
        <c:axId val="-3931973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3932092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050" b="0" i="0" u="none" strike="noStrike" kern="120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zh-TW"/>
              <a:t>「</a:t>
            </a:r>
            <a:r>
              <a:rPr lang="en-US"/>
              <a:t>Black Spark</a:t>
            </a:r>
            <a:r>
              <a:rPr lang="zh-TW"/>
              <a:t>」銷售個數的演進</a:t>
            </a:r>
            <a:endParaRPr lang="ja-JP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2.615822222954561E-2"/>
          <c:y val="0.33571135464920487"/>
          <c:w val="0.94768355554090877"/>
          <c:h val="0.527386239064729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販売個数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2015年</c:v>
                </c:pt>
                <c:pt idx="1">
                  <c:v>2016年</c:v>
                </c:pt>
                <c:pt idx="2">
                  <c:v>2017年</c:v>
                </c:pt>
                <c:pt idx="3">
                  <c:v>2018年</c:v>
                </c:pt>
              </c:strCache>
            </c:strRef>
          </c:cat>
          <c:val>
            <c:numRef>
              <c:f>Sheet1!$B$2:$B$5</c:f>
              <c:numCache>
                <c:formatCode>#,##0_ </c:formatCode>
                <c:ptCount val="4"/>
                <c:pt idx="0">
                  <c:v>3669</c:v>
                </c:pt>
                <c:pt idx="1">
                  <c:v>8550</c:v>
                </c:pt>
                <c:pt idx="2">
                  <c:v>13334</c:v>
                </c:pt>
                <c:pt idx="3">
                  <c:v>18759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BE-42DE-8F21-A8C49AA8E42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-393205472"/>
        <c:axId val="-393204384"/>
      </c:barChart>
      <c:catAx>
        <c:axId val="-393205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zh-TW"/>
          </a:p>
        </c:txPr>
        <c:crossAx val="-393204384"/>
        <c:crosses val="autoZero"/>
        <c:auto val="1"/>
        <c:lblAlgn val="ctr"/>
        <c:lblOffset val="100"/>
        <c:noMultiLvlLbl val="0"/>
      </c:catAx>
      <c:valAx>
        <c:axId val="-393204384"/>
        <c:scaling>
          <c:orientation val="minMax"/>
        </c:scaling>
        <c:delete val="1"/>
        <c:axPos val="l"/>
        <c:numFmt formatCode="#,##0_ " sourceLinked="1"/>
        <c:majorTickMark val="none"/>
        <c:minorTickMark val="none"/>
        <c:tickLblPos val="nextTo"/>
        <c:crossAx val="-39320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0.02416</cdr:x>
      <cdr:y>0.24299</cdr:y>
    </cdr:from>
    <cdr:to>
      <cdr:x>0.26188</cdr:x>
      <cdr:y>0.3263</cdr:y>
    </cdr:to>
    <cdr:sp macro="" textlink="">
      <cdr:nvSpPr>
        <cdr:cNvPr id="2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C70D6B8D-41E3-45C5-854E-3BD1D48D3E42}"/>
            </a:ext>
          </a:extLst>
        </cdr:cNvPr>
        <cdr:cNvSpPr txBox="1"/>
      </cdr:nvSpPr>
      <cdr:spPr>
        <a:xfrm xmlns:a="http://schemas.openxmlformats.org/drawingml/2006/main">
          <a:off x="129055" y="865120"/>
          <a:ext cx="1269537" cy="29662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zh-TW" altLang="en-US" sz="1000">
              <a:latin typeface="微軟正黑體" panose="020B0604030504040204" pitchFamily="34" charset="-120"/>
              <a:ea typeface="微軟正黑體" panose="020B0604030504040204" pitchFamily="34" charset="-120"/>
            </a:rPr>
            <a:t>單位：千個</a:t>
          </a:r>
          <a:endParaRPr lang="ja-JP" altLang="en-US" sz="1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0.09307</cdr:x>
      <cdr:y>0.22419</cdr:y>
    </cdr:from>
    <cdr:to>
      <cdr:x>0.33078</cdr:x>
      <cdr:y>0.3075</cdr:y>
    </cdr:to>
    <cdr:sp macro="" textlink="">
      <cdr:nvSpPr>
        <cdr:cNvPr id="2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C70D6B8D-41E3-45C5-854E-3BD1D48D3E42}"/>
            </a:ext>
          </a:extLst>
        </cdr:cNvPr>
        <cdr:cNvSpPr txBox="1"/>
      </cdr:nvSpPr>
      <cdr:spPr>
        <a:xfrm xmlns:a="http://schemas.openxmlformats.org/drawingml/2006/main">
          <a:off x="467150" y="750205"/>
          <a:ext cx="1193181" cy="27878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zh-TW" altLang="en-US" sz="1000">
              <a:latin typeface="微軟正黑體" panose="020B0604030504040204" pitchFamily="34" charset="-120"/>
              <a:ea typeface="微軟正黑體" panose="020B0604030504040204" pitchFamily="34" charset="-120"/>
            </a:rPr>
            <a:t>單位：千個</a:t>
          </a:r>
          <a:endParaRPr lang="ja-JP" altLang="en-US" sz="1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0.01879</cdr:x>
      <cdr:y>0.17095</cdr:y>
    </cdr:from>
    <cdr:to>
      <cdr:x>0.2565</cdr:x>
      <cdr:y>0.25426</cdr:y>
    </cdr:to>
    <cdr:sp macro="" textlink="">
      <cdr:nvSpPr>
        <cdr:cNvPr id="2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C70D6B8D-41E3-45C5-854E-3BD1D48D3E42}"/>
            </a:ext>
          </a:extLst>
        </cdr:cNvPr>
        <cdr:cNvSpPr txBox="1"/>
      </cdr:nvSpPr>
      <cdr:spPr>
        <a:xfrm xmlns:a="http://schemas.openxmlformats.org/drawingml/2006/main">
          <a:off x="100349" y="608647"/>
          <a:ext cx="1269509" cy="2966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zh-TW" altLang="en-US" sz="1000">
              <a:latin typeface="微軟正黑體" panose="020B0604030504040204" pitchFamily="34" charset="-120"/>
              <a:ea typeface="微軟正黑體" panose="020B0604030504040204" pitchFamily="34" charset="-120"/>
            </a:rPr>
            <a:t>單位：千個</a:t>
          </a:r>
          <a:endParaRPr lang="ja-JP" altLang="en-US" sz="1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cdr:txBody>
    </cdr:sp>
  </cdr:relSizeAnchor>
  <cdr:relSizeAnchor xmlns:cdr="http://schemas.openxmlformats.org/drawingml/2006/chartDrawing">
    <cdr:from>
      <cdr:x>0.58348</cdr:x>
      <cdr:y>0.191</cdr:y>
    </cdr:from>
    <cdr:to>
      <cdr:x>0.9121</cdr:x>
      <cdr:y>0.29934</cdr:y>
    </cdr:to>
    <cdr:sp macro="" textlink="">
      <cdr:nvSpPr>
        <cdr:cNvPr id="3" name="テキスト ボックス 2">
          <a:extLst xmlns:a="http://schemas.openxmlformats.org/drawingml/2006/main">
            <a:ext uri="{FF2B5EF4-FFF2-40B4-BE49-F238E27FC236}">
              <a16:creationId xmlns:a16="http://schemas.microsoft.com/office/drawing/2014/main" id="{6FA39A9C-2F4F-40EA-B1C8-73228CEC9E44}"/>
            </a:ext>
          </a:extLst>
        </cdr:cNvPr>
        <cdr:cNvSpPr txBox="1"/>
      </cdr:nvSpPr>
      <cdr:spPr>
        <a:xfrm xmlns:a="http://schemas.openxmlformats.org/drawingml/2006/main">
          <a:off x="3022410" y="659583"/>
          <a:ext cx="1702242" cy="374132"/>
        </a:xfrm>
        <a:prstGeom xmlns:a="http://schemas.openxmlformats.org/drawingml/2006/main" prst="wedgeRoundRectCallout">
          <a:avLst>
            <a:gd name="adj1" fmla="val 30812"/>
            <a:gd name="adj2" fmla="val 98962"/>
            <a:gd name="adj3" fmla="val 16667"/>
          </a:avLst>
        </a:prstGeom>
        <a:solidFill xmlns:a="http://schemas.openxmlformats.org/drawingml/2006/main">
          <a:srgbClr val="FF0000"/>
        </a:solidFill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zh-TW" altLang="en-US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rPr>
            <a:t>比</a:t>
          </a:r>
          <a:r>
            <a:rPr lang="en-US" altLang="ja-JP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rPr>
            <a:t>15</a:t>
          </a:r>
          <a:r>
            <a:rPr lang="zh-TW" altLang="en-US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rPr>
            <a:t>年增</a:t>
          </a:r>
          <a:r>
            <a:rPr lang="en-US" altLang="ja-JP" sz="18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rPr>
            <a:t>511</a:t>
          </a:r>
          <a:r>
            <a:rPr lang="en-US" altLang="ja-JP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rPr>
            <a:t>%</a:t>
          </a:r>
          <a:endParaRPr lang="ja-JP" altLang="en-US" sz="1800" b="1" dirty="0">
            <a:solidFill>
              <a:schemeClr val="bg1"/>
            </a:solidFill>
            <a:latin typeface="微軟正黑體" panose="020B0604030504040204" pitchFamily="34" charset="-120"/>
            <a:ea typeface="微軟正黑體" panose="020B0604030504040204" pitchFamily="34" charset="-120"/>
            <a:cs typeface="Arial" panose="020B0604020202020204" pitchFamily="34" charset="0"/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2018/11/19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5E8235A-BEC5-4EBC-904C-71F174C9819F}"/>
              </a:ext>
            </a:extLst>
          </p:cNvPr>
          <p:cNvGrpSpPr/>
          <p:nvPr/>
        </p:nvGrpSpPr>
        <p:grpSpPr>
          <a:xfrm>
            <a:off x="605498" y="401856"/>
            <a:ext cx="8695005" cy="6168107"/>
            <a:chOff x="605498" y="401856"/>
            <a:chExt cx="8695005" cy="6168107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798871" y="1446311"/>
              <a:ext cx="630825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本公司的巧克力商品「</a:t>
              </a:r>
              <a:r>
                <a:rPr kumimoji="1"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Black Spark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」儘管歷經長時間的苦戰，但終於從</a:t>
              </a:r>
              <a:r>
                <a:rPr kumimoji="1"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年前開始，以口耳相傳的方式贏得人氣，瞬間成為主力產品。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受歡迎的理由，除了</a:t>
              </a:r>
              <a:r>
                <a:rPr kumimoji="1"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</a:t>
              </a:r>
              <a:r>
                <a:rPr kumimoji="1"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32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日圓的便宜價格、</a:t>
              </a:r>
              <a:r>
                <a:rPr kumimoji="1" lang="en-US" altLang="ja-JP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120kcal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、便利商店通路販售等原因之外，運動員的發言、口耳相傳和網路宣傳也是主要的原因。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之後，當地商品企劃、女子喜歡的味覺開發、孩童用戰隊英雄聯盟，將順利使銷售量成長。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graphicFrame>
          <p:nvGraphicFramePr>
            <p:cNvPr id="14" name="グラフ 13">
              <a:extLst>
                <a:ext uri="{FF2B5EF4-FFF2-40B4-BE49-F238E27FC236}">
                  <a16:creationId xmlns:a16="http://schemas.microsoft.com/office/drawing/2014/main" id="{64C27FC9-BC58-41ED-8FE0-E69669AEDB3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7150086"/>
                </p:ext>
              </p:extLst>
            </p:nvPr>
          </p:nvGraphicFramePr>
          <p:xfrm>
            <a:off x="1379464" y="3009580"/>
            <a:ext cx="5340577" cy="356038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D620ED0-D361-48F5-A607-44342C1BCE14}"/>
                </a:ext>
              </a:extLst>
            </p:cNvPr>
            <p:cNvSpPr/>
            <p:nvPr/>
          </p:nvSpPr>
          <p:spPr>
            <a:xfrm>
              <a:off x="605498" y="401856"/>
              <a:ext cx="8695005" cy="8151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2CE3611C-9FF5-4891-87DA-739E22AF2753}"/>
                </a:ext>
              </a:extLst>
            </p:cNvPr>
            <p:cNvSpPr txBox="1"/>
            <p:nvPr/>
          </p:nvSpPr>
          <p:spPr>
            <a:xfrm>
              <a:off x="2679294" y="581255"/>
              <a:ext cx="45474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銷售實績和考察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2DD9A58-68EE-425B-849F-7AD97BE6C30C}"/>
                </a:ext>
              </a:extLst>
            </p:cNvPr>
            <p:cNvSpPr/>
            <p:nvPr/>
          </p:nvSpPr>
          <p:spPr>
            <a:xfrm>
              <a:off x="6720041" y="3269701"/>
              <a:ext cx="2173235" cy="13542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年前的</a:t>
              </a:r>
              <a:br>
                <a:rPr lang="en-US" altLang="ja-JP" sz="280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lang="ja-JP" altLang="en-US" sz="5400" b="1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５</a:t>
              </a:r>
              <a:r>
                <a:rPr lang="zh-TW" altLang="en-US" sz="5400" b="1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倍</a:t>
              </a:r>
              <a:r>
                <a:rPr lang="en-US" altLang="ja-JP" sz="5400" b="1" i="1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!</a:t>
              </a:r>
              <a:endParaRPr lang="ja-JP" altLang="en-US" sz="5400" b="1" i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1E42F1E9-282E-4D83-813F-D965A0D57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2185" y="3656114"/>
              <a:ext cx="3356517" cy="1564519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279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33F2DB31-1F2A-42C3-ABF3-4EB72EBC2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80476"/>
              </p:ext>
            </p:extLst>
          </p:nvPr>
        </p:nvGraphicFramePr>
        <p:xfrm>
          <a:off x="5388284" y="2194468"/>
          <a:ext cx="3912219" cy="365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304073">
                  <a:extLst>
                    <a:ext uri="{9D8B030D-6E8A-4147-A177-3AD203B41FA5}">
                      <a16:colId xmlns:a16="http://schemas.microsoft.com/office/drawing/2014/main" val="3016720118"/>
                    </a:ext>
                  </a:extLst>
                </a:gridCol>
                <a:gridCol w="1304073">
                  <a:extLst>
                    <a:ext uri="{9D8B030D-6E8A-4147-A177-3AD203B41FA5}">
                      <a16:colId xmlns:a16="http://schemas.microsoft.com/office/drawing/2014/main" val="1408118787"/>
                    </a:ext>
                  </a:extLst>
                </a:gridCol>
                <a:gridCol w="1304073">
                  <a:extLst>
                    <a:ext uri="{9D8B030D-6E8A-4147-A177-3AD203B41FA5}">
                      <a16:colId xmlns:a16="http://schemas.microsoft.com/office/drawing/2014/main" val="2635248953"/>
                    </a:ext>
                  </a:extLst>
                </a:gridCol>
              </a:tblGrid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年度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銷售個數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前年對比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456327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2010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1,347 </a:t>
                      </a:r>
                      <a:endParaRPr lang="en-US" altLang="ja-JP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273151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2011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1,466 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109%</a:t>
                      </a:r>
                      <a:endParaRPr lang="en-US" altLang="ja-JP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660019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2012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2,100 </a:t>
                      </a:r>
                      <a:endParaRPr lang="en-US" altLang="ja-JP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143%</a:t>
                      </a:r>
                      <a:endParaRPr lang="en-US" altLang="ja-JP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421795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2013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2,580 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123%</a:t>
                      </a:r>
                      <a:endParaRPr lang="en-US" altLang="ja-JP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09734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2014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3,347 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130%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494265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2015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3,669 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110%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160633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2016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8,550 </a:t>
                      </a:r>
                      <a:endParaRPr lang="en-US" altLang="ja-JP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233%</a:t>
                      </a:r>
                      <a:endParaRPr lang="en-US" altLang="ja-JP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940036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2017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13,334 </a:t>
                      </a:r>
                      <a:endParaRPr lang="en-US" altLang="ja-JP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156%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225330"/>
                  </a:ext>
                </a:extLst>
              </a:tr>
              <a:tr h="318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2018</a:t>
                      </a:r>
                      <a:r>
                        <a:rPr lang="zh-TW" altLang="en-US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endParaRPr lang="ja-JP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18,759 </a:t>
                      </a:r>
                      <a:endParaRPr lang="en-US" altLang="ja-JP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141%</a:t>
                      </a:r>
                      <a:endParaRPr lang="en-US" altLang="ja-JP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841659"/>
                  </a:ext>
                </a:extLst>
              </a:tr>
            </a:tbl>
          </a:graphicData>
        </a:graphic>
      </p:graphicFrame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491CEEA-3C56-4F4A-B67A-1220E199C32F}"/>
              </a:ext>
            </a:extLst>
          </p:cNvPr>
          <p:cNvGrpSpPr/>
          <p:nvPr/>
        </p:nvGrpSpPr>
        <p:grpSpPr>
          <a:xfrm>
            <a:off x="605497" y="401856"/>
            <a:ext cx="8768746" cy="5861327"/>
            <a:chOff x="605497" y="401856"/>
            <a:chExt cx="8768746" cy="5861327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22A9671-7280-4926-A475-3FF228450772}"/>
                </a:ext>
              </a:extLst>
            </p:cNvPr>
            <p:cNvSpPr/>
            <p:nvPr/>
          </p:nvSpPr>
          <p:spPr>
            <a:xfrm>
              <a:off x="7226708" y="5986184"/>
              <a:ext cx="214753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單位：千個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605497" y="1748191"/>
              <a:ext cx="4578353" cy="4093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本公司的巧克力商品「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Black Spark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」儘管歷經長時間的苦戰，但終於從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年前開始，以口耳相傳的方式贏得人氣，瞬間成為主力產品。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受歡迎的理由，除了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32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日圓的便宜價格、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120kcal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、便利商店通路販售等原因之外，運動員的發言、口耳相傳和網路宣傳也是主要的原因。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之後，當地商品企劃、女子喜歡的味覺開發、孩童用戰隊英雄聯盟，將順利使銷售量成長。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1B69100-29CC-448A-A5C2-D6465D6DBE68}"/>
                </a:ext>
              </a:extLst>
            </p:cNvPr>
            <p:cNvSpPr/>
            <p:nvPr/>
          </p:nvSpPr>
          <p:spPr>
            <a:xfrm>
              <a:off x="605498" y="401856"/>
              <a:ext cx="8695005" cy="8151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2679294" y="581255"/>
              <a:ext cx="45474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銷售實績和考察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929AEC6-BD6A-4EA9-9B80-C0F90697F7E2}"/>
                </a:ext>
              </a:extLst>
            </p:cNvPr>
            <p:cNvSpPr/>
            <p:nvPr/>
          </p:nvSpPr>
          <p:spPr>
            <a:xfrm>
              <a:off x="5388284" y="1758640"/>
              <a:ext cx="39122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 sz="1440" b="0" i="0" u="none" strike="noStrike" kern="1200" spc="0" baseline="0">
                  <a:solidFill>
                    <a:prstClr val="black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</a:t>
              </a:r>
              <a:r>
                <a:rPr kumimoji="1"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Black Spark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」銷售個數的演進</a:t>
              </a:r>
              <a:endParaRPr lang="ja-JP" altLang="zh-TW"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728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FF200CE-35D0-4AB7-BDAE-2D358ED327DD}"/>
              </a:ext>
            </a:extLst>
          </p:cNvPr>
          <p:cNvGrpSpPr/>
          <p:nvPr/>
        </p:nvGrpSpPr>
        <p:grpSpPr>
          <a:xfrm>
            <a:off x="605497" y="401856"/>
            <a:ext cx="8695006" cy="6359164"/>
            <a:chOff x="605497" y="401856"/>
            <a:chExt cx="8695006" cy="6359164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605497" y="1446311"/>
              <a:ext cx="869500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本公司的巧克力商品「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Black Spark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」儘管歷經長時間的苦戰，但終於從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年前開始，以口耳相傳的方式贏得人氣，瞬間成為主力產品。</a:t>
              </a:r>
            </a:p>
            <a:p>
              <a:pPr algn="just"/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受歡迎的理由，除了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32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日圓的便宜價格、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120kcal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、便利商店通路販售等原因之外，運動員的發言、口耳相傳和網路宣傳也是主要的原因。</a:t>
              </a:r>
            </a:p>
            <a:p>
              <a:pPr algn="just"/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之後，當地商品企劃、女子喜歡的味覺開發、孩童用戰隊英雄聯盟，將順利使銷售量成長。</a:t>
              </a:r>
              <a:endParaRPr kumimoji="1"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graphicFrame>
          <p:nvGraphicFramePr>
            <p:cNvPr id="14" name="グラフ 13">
              <a:extLst>
                <a:ext uri="{FF2B5EF4-FFF2-40B4-BE49-F238E27FC236}">
                  <a16:creationId xmlns:a16="http://schemas.microsoft.com/office/drawing/2014/main" id="{64C27FC9-BC58-41ED-8FE0-E69669AEDB3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82012937"/>
                </p:ext>
              </p:extLst>
            </p:nvPr>
          </p:nvGraphicFramePr>
          <p:xfrm>
            <a:off x="2282712" y="3200637"/>
            <a:ext cx="5340577" cy="356038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D620ED0-D361-48F5-A607-44342C1BCE14}"/>
                </a:ext>
              </a:extLst>
            </p:cNvPr>
            <p:cNvSpPr/>
            <p:nvPr/>
          </p:nvSpPr>
          <p:spPr>
            <a:xfrm>
              <a:off x="605498" y="401856"/>
              <a:ext cx="8695005" cy="8151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2CE3611C-9FF5-4891-87DA-739E22AF2753}"/>
                </a:ext>
              </a:extLst>
            </p:cNvPr>
            <p:cNvSpPr txBox="1"/>
            <p:nvPr/>
          </p:nvSpPr>
          <p:spPr>
            <a:xfrm>
              <a:off x="2679294" y="581255"/>
              <a:ext cx="45474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銷售實績和考察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09E49FF-10F7-4D39-A3D5-83FD41729FEC}"/>
              </a:ext>
            </a:extLst>
          </p:cNvPr>
          <p:cNvGrpSpPr/>
          <p:nvPr/>
        </p:nvGrpSpPr>
        <p:grpSpPr>
          <a:xfrm>
            <a:off x="605497" y="401856"/>
            <a:ext cx="8695006" cy="6359164"/>
            <a:chOff x="605497" y="401856"/>
            <a:chExt cx="8695006" cy="6359164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605497" y="1446311"/>
              <a:ext cx="869500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本公司的巧克力商品「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Black Spark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」儘管歷經長時間的苦戰，但終於從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年前開始，以口耳相傳的方式贏得人氣，瞬間成為主力產品。</a:t>
              </a:r>
            </a:p>
            <a:p>
              <a:pPr algn="just"/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受歡迎的理由，除了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32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日圓的便宜價格、</a:t>
              </a:r>
              <a:r>
                <a:rPr kumimoji="1"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120kcal</a:t>
              </a:r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、便利商店通路販售等原因之外，運動員的發言、口耳相傳和網路宣傳也是主要的原因。</a:t>
              </a:r>
            </a:p>
            <a:p>
              <a:pPr algn="just"/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之後，當地商品企劃、女子喜歡的味覺開發、孩童用戰隊英雄聯盟，將順利使銷售量成長。</a:t>
              </a:r>
              <a:endParaRPr kumimoji="1"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graphicFrame>
          <p:nvGraphicFramePr>
            <p:cNvPr id="14" name="グラフ 13">
              <a:extLst>
                <a:ext uri="{FF2B5EF4-FFF2-40B4-BE49-F238E27FC236}">
                  <a16:creationId xmlns:a16="http://schemas.microsoft.com/office/drawing/2014/main" id="{64C27FC9-BC58-41ED-8FE0-E69669AEDB3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46069399"/>
                </p:ext>
              </p:extLst>
            </p:nvPr>
          </p:nvGraphicFramePr>
          <p:xfrm>
            <a:off x="2363014" y="3307707"/>
            <a:ext cx="5179972" cy="34533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D620ED0-D361-48F5-A607-44342C1BCE14}"/>
                </a:ext>
              </a:extLst>
            </p:cNvPr>
            <p:cNvSpPr/>
            <p:nvPr/>
          </p:nvSpPr>
          <p:spPr>
            <a:xfrm>
              <a:off x="605498" y="401856"/>
              <a:ext cx="8695005" cy="8151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2CE3611C-9FF5-4891-87DA-739E22AF2753}"/>
                </a:ext>
              </a:extLst>
            </p:cNvPr>
            <p:cNvSpPr txBox="1"/>
            <p:nvPr/>
          </p:nvSpPr>
          <p:spPr>
            <a:xfrm>
              <a:off x="2679294" y="581255"/>
              <a:ext cx="45474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銷售實績和考察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9018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511</Words>
  <Application>Microsoft Office PowerPoint</Application>
  <PresentationFormat>A4 紙張 (210x297 公釐)</PresentationFormat>
  <Paragraphs>58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soukinsei soukinsei</cp:lastModifiedBy>
  <cp:revision>29</cp:revision>
  <dcterms:created xsi:type="dcterms:W3CDTF">2017-11-09T07:26:57Z</dcterms:created>
  <dcterms:modified xsi:type="dcterms:W3CDTF">2018-11-19T07:58:28Z</dcterms:modified>
</cp:coreProperties>
</file>