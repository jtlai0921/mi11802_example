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FA63BA7-946E-4BD7-AA98-63220D844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796179"/>
              </p:ext>
            </p:extLst>
          </p:nvPr>
        </p:nvGraphicFramePr>
        <p:xfrm>
          <a:off x="5084956" y="3934516"/>
          <a:ext cx="4176000" cy="233172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509224">
                  <a:extLst>
                    <a:ext uri="{9D8B030D-6E8A-4147-A177-3AD203B41FA5}">
                      <a16:colId xmlns:a16="http://schemas.microsoft.com/office/drawing/2014/main" val="3509769159"/>
                    </a:ext>
                  </a:extLst>
                </a:gridCol>
                <a:gridCol w="697538">
                  <a:extLst>
                    <a:ext uri="{9D8B030D-6E8A-4147-A177-3AD203B41FA5}">
                      <a16:colId xmlns:a16="http://schemas.microsoft.com/office/drawing/2014/main" val="3928055987"/>
                    </a:ext>
                  </a:extLst>
                </a:gridCol>
                <a:gridCol w="938481">
                  <a:extLst>
                    <a:ext uri="{9D8B030D-6E8A-4147-A177-3AD203B41FA5}">
                      <a16:colId xmlns:a16="http://schemas.microsoft.com/office/drawing/2014/main" val="3273540254"/>
                    </a:ext>
                  </a:extLst>
                </a:gridCol>
                <a:gridCol w="1030757">
                  <a:extLst>
                    <a:ext uri="{9D8B030D-6E8A-4147-A177-3AD203B41FA5}">
                      <a16:colId xmlns:a16="http://schemas.microsoft.com/office/drawing/2014/main" val="1769017569"/>
                    </a:ext>
                  </a:extLst>
                </a:gridCol>
              </a:tblGrid>
              <a:tr h="15460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要件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單價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工時（人日）</a:t>
                      </a:r>
                      <a:endParaRPr lang="en-US" altLang="zh-CN" sz="1100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金額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435185"/>
                  </a:ext>
                </a:extLst>
              </a:tr>
              <a:tr h="1546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要件定義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50,000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500,000</a:t>
                      </a:r>
                      <a:r>
                        <a:rPr lang="en-US" altLang="ja-JP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986085"/>
                  </a:ext>
                </a:extLst>
              </a:tr>
              <a:tr h="1546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Android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</a:t>
                      </a:r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開發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35,000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2,100,000 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856786"/>
                  </a:ext>
                </a:extLst>
              </a:tr>
              <a:tr h="15460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 err="1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OS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</a:t>
                      </a:r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開發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35,000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1,435,000 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78406"/>
                  </a:ext>
                </a:extLst>
              </a:tr>
              <a:tr h="1546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API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Stub</a:t>
                      </a:r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製作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100,000 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191355"/>
                  </a:ext>
                </a:extLst>
              </a:tr>
              <a:tr h="1546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發佈作業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40,000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80,000 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4254564"/>
                  </a:ext>
                </a:extLst>
              </a:tr>
              <a:tr h="154605"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小計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4,215,000</a:t>
                      </a:r>
                      <a:r>
                        <a:rPr lang="en-US" altLang="ja-JP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050160"/>
                  </a:ext>
                </a:extLst>
              </a:tr>
              <a:tr h="154605"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消費稅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337,200</a:t>
                      </a:r>
                      <a:r>
                        <a:rPr lang="en-US" altLang="ja-JP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78909146"/>
                  </a:ext>
                </a:extLst>
              </a:tr>
              <a:tr h="154605">
                <a:tc>
                  <a:txBody>
                    <a:bodyPr/>
                    <a:lstStyle/>
                    <a:p>
                      <a:pPr algn="l" fontAlgn="ctr"/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總計</a:t>
                      </a:r>
                      <a:endParaRPr lang="en-US" altLang="ja-JP" sz="11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¥</a:t>
                      </a:r>
                      <a:r>
                        <a:rPr lang="en-US" altLang="ja-JP" sz="1100" b="1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4,552,200 </a:t>
                      </a:r>
                      <a:endParaRPr lang="en-US" altLang="ja-JP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03349"/>
                  </a:ext>
                </a:extLst>
              </a:tr>
            </a:tbl>
          </a:graphicData>
        </a:graphic>
      </p:graphicFrame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7DB6554-5EA7-43AD-8315-DAAC75C4332C}"/>
              </a:ext>
            </a:extLst>
          </p:cNvPr>
          <p:cNvGrpSpPr/>
          <p:nvPr/>
        </p:nvGrpSpPr>
        <p:grpSpPr>
          <a:xfrm>
            <a:off x="0" y="0"/>
            <a:ext cx="9906000" cy="6265512"/>
            <a:chOff x="0" y="0"/>
            <a:chExt cx="9906000" cy="626551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0F1DE6E-E0D6-409E-A28A-3E4FFEA856FA}"/>
                </a:ext>
              </a:extLst>
            </p:cNvPr>
            <p:cNvSpPr/>
            <p:nvPr/>
          </p:nvSpPr>
          <p:spPr>
            <a:xfrm>
              <a:off x="0" y="0"/>
              <a:ext cx="9906000" cy="972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472626" y="250418"/>
              <a:ext cx="40722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開</a:t>
              </a:r>
              <a:r>
                <a:rPr kumimoji="1" lang="ja-JP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kumimoji="1" lang="zh-TW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發</a:t>
              </a:r>
              <a:r>
                <a:rPr kumimoji="1" lang="ja-JP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kumimoji="1" lang="zh-TW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概</a:t>
              </a:r>
              <a:r>
                <a:rPr kumimoji="1" lang="ja-JP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kumimoji="1" lang="zh-TW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要</a:t>
              </a:r>
              <a:endParaRPr kumimoji="1" lang="ja-JP" altLang="en-US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23E4295-D431-4222-B4D9-D55F6EB456A8}"/>
                </a:ext>
              </a:extLst>
            </p:cNvPr>
            <p:cNvSpPr txBox="1"/>
            <p:nvPr/>
          </p:nvSpPr>
          <p:spPr>
            <a:xfrm>
              <a:off x="5006056" y="3624390"/>
              <a:ext cx="36390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1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</a:t>
              </a:r>
              <a:r>
                <a:rPr lang="zh-TW" altLang="en-US" sz="11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開發費明細</a:t>
              </a:r>
              <a:endParaRPr lang="ja-JP" altLang="en-US" sz="11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8EAE68E7-E9F6-46ED-9EB7-AAB49A12DD9D}"/>
                </a:ext>
              </a:extLst>
            </p:cNvPr>
            <p:cNvSpPr txBox="1"/>
            <p:nvPr/>
          </p:nvSpPr>
          <p:spPr>
            <a:xfrm>
              <a:off x="5006056" y="1946912"/>
              <a:ext cx="4583433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defTabSz="981075">
                <a:spcAft>
                  <a:spcPts val="600"/>
                </a:spcAft>
              </a:pPr>
              <a:r>
                <a:rPr kumimoji="1" lang="en-US" altLang="ja-JP" sz="11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SNS</a:t>
              </a:r>
              <a:r>
                <a:rPr kumimoji="1" lang="zh-TW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名稱</a:t>
              </a:r>
              <a:r>
                <a:rPr kumimoji="1" lang="en-US" altLang="ja-JP" sz="11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zh-TW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國內利用者數</a:t>
              </a:r>
              <a:r>
                <a:rPr kumimoji="1" lang="en-US" altLang="ja-JP" sz="11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zh-TW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特徵</a:t>
              </a:r>
              <a:endParaRPr kumimoji="1" lang="en-US" altLang="ja-JP" sz="11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 defTabSz="981075">
                <a:spcAft>
                  <a:spcPts val="600"/>
                </a:spcAft>
              </a:pP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LINE</a:t>
              </a:r>
              <a:r>
                <a:rPr kumimoji="1" lang="en-US" altLang="ja-JP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7,000</a:t>
              </a:r>
              <a:r>
                <a:rPr kumimoji="1" lang="zh-TW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萬人</a:t>
              </a:r>
              <a:r>
                <a:rPr kumimoji="1" lang="en-US" altLang="ja-JP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zh-TW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遍及全年齡層的傳訊工具</a:t>
              </a:r>
              <a:endParaRPr kumimoji="1"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 defTabSz="981075">
                <a:spcAft>
                  <a:spcPts val="600"/>
                </a:spcAft>
              </a:pP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Twitter</a:t>
              </a:r>
              <a:r>
                <a:rPr kumimoji="1" lang="en-US" altLang="ja-JP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4,500</a:t>
              </a:r>
              <a:r>
                <a:rPr kumimoji="1" lang="zh-TW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萬人</a:t>
              </a:r>
              <a:r>
                <a:rPr kumimoji="1" lang="en-US" altLang="ja-JP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zh-TW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可依用途靈活運用，匿名性較高的</a:t>
              </a: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SNS</a:t>
              </a:r>
            </a:p>
            <a:p>
              <a:pPr algn="just" defTabSz="981075">
                <a:spcAft>
                  <a:spcPts val="600"/>
                </a:spcAft>
              </a:pP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Facebook</a:t>
              </a:r>
              <a:r>
                <a:rPr kumimoji="1" lang="en-US" altLang="ja-JP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2,800</a:t>
              </a:r>
              <a:r>
                <a:rPr kumimoji="1" lang="zh-TW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萬人</a:t>
              </a:r>
              <a:r>
                <a:rPr kumimoji="1" lang="en-US" altLang="ja-JP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zh-TW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公開個人資料，進行活動的</a:t>
              </a: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SNS</a:t>
              </a:r>
            </a:p>
            <a:p>
              <a:pPr algn="just" defTabSz="981075">
                <a:spcAft>
                  <a:spcPts val="600"/>
                </a:spcAft>
              </a:pP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Instagram</a:t>
              </a:r>
              <a:r>
                <a:rPr kumimoji="1" lang="en-US" altLang="ja-JP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2,000</a:t>
              </a:r>
              <a:r>
                <a:rPr kumimoji="1" lang="zh-TW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萬人</a:t>
              </a:r>
              <a:r>
                <a:rPr kumimoji="1" lang="en-US" altLang="ja-JP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20</a:t>
              </a:r>
              <a:r>
                <a:rPr kumimoji="1" lang="zh-TW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歲女性偏愛的照片</a:t>
              </a:r>
              <a:r>
                <a:rPr kumimoji="1" lang="en-US" altLang="ja-JP" sz="11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rPr>
                <a:t>SNS</a:t>
              </a:r>
              <a:endParaRPr kumimoji="1" lang="ja-JP" altLang="en-US" sz="11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35D483A8-BF0F-40FF-AC19-4C85E5CBE274}"/>
                </a:ext>
              </a:extLst>
            </p:cNvPr>
            <p:cNvSpPr/>
            <p:nvPr/>
          </p:nvSpPr>
          <p:spPr>
            <a:xfrm flipV="1">
              <a:off x="2004744" y="3551146"/>
              <a:ext cx="1008000" cy="369332"/>
            </a:xfrm>
            <a:prstGeom prst="triangle">
              <a:avLst/>
            </a:pr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" name="グループ化 15"/>
            <p:cNvGrpSpPr/>
            <p:nvPr/>
          </p:nvGrpSpPr>
          <p:grpSpPr>
            <a:xfrm>
              <a:off x="472626" y="1438228"/>
              <a:ext cx="4072236" cy="1601292"/>
              <a:chOff x="466478" y="1438228"/>
              <a:chExt cx="4072236" cy="1601292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06C4698-08D7-4A7F-9FFA-F16A07F36CB5}"/>
                  </a:ext>
                </a:extLst>
              </p:cNvPr>
              <p:cNvSpPr txBox="1"/>
              <p:nvPr/>
            </p:nvSpPr>
            <p:spPr>
              <a:xfrm>
                <a:off x="466478" y="1438228"/>
                <a:ext cx="407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400" b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以</a:t>
                </a:r>
                <a:r>
                  <a:rPr lang="en-US" altLang="ja-JP" sz="1400" b="1" dirty="0">
                    <a:ea typeface="微軟正黑體" panose="020B0604030504040204" pitchFamily="34" charset="-120"/>
                    <a:cs typeface="Arial" panose="020B0604020202020204" pitchFamily="34" charset="0"/>
                  </a:rPr>
                  <a:t>Facebook</a:t>
                </a:r>
                <a:r>
                  <a:rPr lang="zh-TW" altLang="en-US" sz="1400" b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為中心，展開宣傳活動</a:t>
                </a:r>
                <a:endParaRPr lang="ja-JP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BEA56FE4-EF69-4DBA-958A-7A408E28EA03}"/>
                  </a:ext>
                </a:extLst>
              </p:cNvPr>
              <p:cNvSpPr txBox="1"/>
              <p:nvPr/>
            </p:nvSpPr>
            <p:spPr>
              <a:xfrm>
                <a:off x="466478" y="1762247"/>
                <a:ext cx="4072236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ja-JP" sz="1100" dirty="0">
                    <a:ea typeface="微軟正黑體" panose="020B0604030504040204" pitchFamily="34" charset="-120"/>
                    <a:cs typeface="Arial" panose="020B0604020202020204" pitchFamily="34" charset="0"/>
                  </a:rPr>
                  <a:t>Facebook</a:t>
                </a:r>
                <a:r>
                  <a:rPr lang="zh-TW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是實名公開的</a:t>
                </a:r>
                <a:r>
                  <a:rPr lang="en-US" altLang="zh-TW" sz="1100" dirty="0">
                    <a:ea typeface="微軟正黑體" panose="020B0604030504040204" pitchFamily="34" charset="-120"/>
                    <a:cs typeface="Arial" panose="020B0604020202020204" pitchFamily="34" charset="0"/>
                  </a:rPr>
                  <a:t>SNS</a:t>
                </a:r>
                <a:r>
                  <a:rPr lang="zh-TW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，因此具有容易掌握目標族群的傾向。在用戶居高不下的另一方面，也有尋求「現實生活充實」的年輕活躍用戶，對於靠商品力來獲得粉絲的貴公司來說，應屬於市場比較容易開闢的領域。</a:t>
                </a:r>
                <a:endParaRPr lang="en-US" altLang="ja-JP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  <a:p>
                <a:pPr algn="just"/>
                <a:r>
                  <a:rPr lang="zh-TW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比起其他的</a:t>
                </a:r>
                <a:r>
                  <a:rPr lang="en-US" altLang="zh-TW" sz="1100" dirty="0">
                    <a:ea typeface="微軟正黑體" panose="020B0604030504040204" pitchFamily="34" charset="-120"/>
                    <a:cs typeface="Arial" panose="020B0604020202020204" pitchFamily="34" charset="0"/>
                  </a:rPr>
                  <a:t>SNS</a:t>
                </a:r>
                <a:r>
                  <a:rPr lang="zh-TW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，雖然使用者的發言次數和時間軸較少，但因為是採用實名發言，所以信賴性和確實性會比較高。確實的資訊較容易得到反應，同時也可望得到宣傳效果。</a:t>
                </a:r>
                <a:endParaRPr lang="ja-JP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グループ化 17"/>
            <p:cNvGrpSpPr/>
            <p:nvPr/>
          </p:nvGrpSpPr>
          <p:grpSpPr>
            <a:xfrm>
              <a:off x="472626" y="4093550"/>
              <a:ext cx="4072236" cy="747210"/>
              <a:chOff x="466478" y="4089702"/>
              <a:chExt cx="4072236" cy="747210"/>
            </a:xfrm>
          </p:grpSpPr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4DD463D-A610-4C17-8D89-8F4008D51FC7}"/>
                  </a:ext>
                </a:extLst>
              </p:cNvPr>
              <p:cNvSpPr txBox="1"/>
              <p:nvPr/>
            </p:nvSpPr>
            <p:spPr>
              <a:xfrm>
                <a:off x="466478" y="4406025"/>
                <a:ext cx="407223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TW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開發手機</a:t>
                </a:r>
                <a:r>
                  <a:rPr lang="en-US" altLang="zh-TW" sz="1100" dirty="0">
                    <a:ea typeface="微軟正黑體" panose="020B0604030504040204" pitchFamily="34" charset="-120"/>
                    <a:cs typeface="Arial" panose="020B0604020202020204" pitchFamily="34" charset="0"/>
                  </a:rPr>
                  <a:t>APP</a:t>
                </a:r>
                <a:r>
                  <a:rPr lang="zh-TW" altLang="en-US" sz="11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，有效運用社群網路行銷。以熱心的粉絲為主，充分運用口耳相傳，藉此獲得更多的潛在用戶。</a:t>
                </a:r>
                <a:endParaRPr lang="ja-JP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220EBEB-915A-4137-A8AC-A2A30537041F}"/>
                  </a:ext>
                </a:extLst>
              </p:cNvPr>
              <p:cNvSpPr txBox="1"/>
              <p:nvPr/>
            </p:nvSpPr>
            <p:spPr>
              <a:xfrm>
                <a:off x="466478" y="4089702"/>
                <a:ext cx="407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400" b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開發專用</a:t>
                </a:r>
                <a:r>
                  <a:rPr lang="en-US" altLang="zh-TW" sz="1400" b="1" dirty="0">
                    <a:ea typeface="微軟正黑體" panose="020B0604030504040204" pitchFamily="34" charset="-120"/>
                    <a:cs typeface="Arial" panose="020B0604020202020204" pitchFamily="34" charset="0"/>
                  </a:rPr>
                  <a:t>APP</a:t>
                </a:r>
                <a:r>
                  <a:rPr lang="zh-TW" altLang="en-US" sz="1400" b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，挖掘用戶</a:t>
                </a:r>
                <a:endParaRPr lang="ja-JP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" name="二等辺三角形 13">
              <a:extLst>
                <a:ext uri="{FF2B5EF4-FFF2-40B4-BE49-F238E27FC236}">
                  <a16:creationId xmlns:a16="http://schemas.microsoft.com/office/drawing/2014/main" id="{0C8EEF79-C402-4BB8-8FB0-3289C0D021C1}"/>
                </a:ext>
              </a:extLst>
            </p:cNvPr>
            <p:cNvSpPr/>
            <p:nvPr/>
          </p:nvSpPr>
          <p:spPr>
            <a:xfrm flipV="1">
              <a:off x="2004744" y="5183109"/>
              <a:ext cx="1008000" cy="369332"/>
            </a:xfrm>
            <a:prstGeom prst="triangle">
              <a:avLst/>
            </a:pr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" name="グループ化 18"/>
            <p:cNvGrpSpPr/>
            <p:nvPr/>
          </p:nvGrpSpPr>
          <p:grpSpPr>
            <a:xfrm>
              <a:off x="472626" y="5725512"/>
              <a:ext cx="4072237" cy="540000"/>
              <a:chOff x="466478" y="5725512"/>
              <a:chExt cx="4072237" cy="540000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6F0EAEB6-FBBB-4058-A145-AEBDCD1B965F}"/>
                  </a:ext>
                </a:extLst>
              </p:cNvPr>
              <p:cNvSpPr/>
              <p:nvPr/>
            </p:nvSpPr>
            <p:spPr>
              <a:xfrm>
                <a:off x="466478" y="5725512"/>
                <a:ext cx="4072237" cy="540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41DF5022-E29C-4DCF-9D5F-29DD641C3756}"/>
                  </a:ext>
                </a:extLst>
              </p:cNvPr>
              <p:cNvSpPr txBox="1"/>
              <p:nvPr/>
            </p:nvSpPr>
            <p:spPr>
              <a:xfrm>
                <a:off x="466478" y="5859373"/>
                <a:ext cx="407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400" b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超過</a:t>
                </a:r>
                <a:r>
                  <a:rPr lang="en-US" altLang="ja-JP" sz="1400" b="1" dirty="0">
                    <a:ea typeface="微軟正黑體" panose="020B0604030504040204" pitchFamily="34" charset="-120"/>
                    <a:cs typeface="Arial" panose="020B0604020202020204" pitchFamily="34" charset="0"/>
                  </a:rPr>
                  <a:t>2,800</a:t>
                </a:r>
                <a:r>
                  <a:rPr lang="zh-TW" altLang="en-US" sz="1400" b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萬人的</a:t>
                </a:r>
                <a:r>
                  <a:rPr lang="en-US" altLang="ja-JP" sz="1400" b="1" dirty="0">
                    <a:ea typeface="微軟正黑體" panose="020B0604030504040204" pitchFamily="34" charset="-120"/>
                    <a:cs typeface="Arial" panose="020B0604020202020204" pitchFamily="34" charset="0"/>
                  </a:rPr>
                  <a:t>450</a:t>
                </a:r>
                <a:r>
                  <a:rPr lang="zh-TW" altLang="en-US" sz="1400" b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萬日圓的投資</a:t>
                </a:r>
                <a:endParaRPr lang="ja-JP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グループ化 20"/>
            <p:cNvGrpSpPr/>
            <p:nvPr/>
          </p:nvGrpSpPr>
          <p:grpSpPr>
            <a:xfrm>
              <a:off x="6900855" y="362805"/>
              <a:ext cx="2518669" cy="360000"/>
              <a:chOff x="6748147" y="362805"/>
              <a:chExt cx="2518669" cy="360000"/>
            </a:xfrm>
          </p:grpSpPr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C103C57-42EE-415F-AF1A-69BE9317D501}"/>
                  </a:ext>
                </a:extLst>
              </p:cNvPr>
              <p:cNvSpPr txBox="1"/>
              <p:nvPr/>
            </p:nvSpPr>
            <p:spPr>
              <a:xfrm>
                <a:off x="6859810" y="414009"/>
                <a:ext cx="22953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1200" spc="-15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利用手機</a:t>
                </a:r>
                <a:r>
                  <a:rPr kumimoji="1" lang="en-US" altLang="zh-TW" sz="1200" spc="-150" dirty="0">
                    <a:solidFill>
                      <a:schemeClr val="bg1"/>
                    </a:solidFill>
                    <a:ea typeface="微軟正黑體" panose="020B0604030504040204" pitchFamily="34" charset="-120"/>
                    <a:cs typeface="Arial" panose="020B0604020202020204" pitchFamily="34" charset="0"/>
                  </a:rPr>
                  <a:t>APP</a:t>
                </a:r>
                <a:r>
                  <a:rPr kumimoji="1" lang="zh-TW" altLang="en-US" sz="1200" spc="-15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進行宣傳</a:t>
                </a:r>
                <a:endParaRPr kumimoji="1" lang="ja-JP" altLang="en-US" sz="1200" spc="-15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2" name="ブローチ 1">
                <a:extLst>
                  <a:ext uri="{FF2B5EF4-FFF2-40B4-BE49-F238E27FC236}">
                    <a16:creationId xmlns:a16="http://schemas.microsoft.com/office/drawing/2014/main" id="{26ED6EEB-F97D-4059-B8A2-43AC1A599C83}"/>
                  </a:ext>
                </a:extLst>
              </p:cNvPr>
              <p:cNvSpPr/>
              <p:nvPr/>
            </p:nvSpPr>
            <p:spPr>
              <a:xfrm>
                <a:off x="6748147" y="362805"/>
                <a:ext cx="2518669" cy="360000"/>
              </a:xfrm>
              <a:prstGeom prst="plaque">
                <a:avLst/>
              </a:prstGeom>
              <a:noFill/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759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4E3538-E6C0-47CF-A127-4FCAAA9C8052}"/>
              </a:ext>
            </a:extLst>
          </p:cNvPr>
          <p:cNvSpPr txBox="1"/>
          <p:nvPr/>
        </p:nvSpPr>
        <p:spPr>
          <a:xfrm>
            <a:off x="2664300" y="1405297"/>
            <a:ext cx="3639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ea typeface="微軟正黑體" panose="020B0604030504040204" pitchFamily="34" charset="-120"/>
                <a:cs typeface="Arial" panose="020B0604020202020204" pitchFamily="34" charset="0"/>
              </a:rPr>
              <a:t>APP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開發費明細</a:t>
            </a:r>
            <a:endParaRPr lang="ja-JP" altLang="en-US" sz="11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EED81FF-5D06-4930-B857-9D8238F8E58B}"/>
              </a:ext>
            </a:extLst>
          </p:cNvPr>
          <p:cNvSpPr txBox="1"/>
          <p:nvPr/>
        </p:nvSpPr>
        <p:spPr>
          <a:xfrm>
            <a:off x="2664299" y="1780817"/>
            <a:ext cx="453660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527175">
              <a:tabLst>
                <a:tab pos="1973263" algn="r"/>
                <a:tab pos="2687638" algn="ctr"/>
                <a:tab pos="4124325" algn="r"/>
              </a:tabLst>
            </a:pPr>
            <a:r>
              <a:rPr lang="zh-TW" altLang="en-US" sz="11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要件</a:t>
            </a:r>
            <a:r>
              <a:rPr lang="ja-JP" altLang="en-US" sz="11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zh-TW" altLang="en-US" sz="11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單價</a:t>
            </a:r>
            <a:r>
              <a:rPr lang="ja-JP" altLang="en-US" sz="11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zh-TW" altLang="en-US" sz="11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工時（人日）</a:t>
            </a:r>
            <a:r>
              <a:rPr lang="en-US" altLang="ja-JP" sz="11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zh-TW" altLang="en-US" sz="11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金額</a:t>
            </a:r>
            <a:endParaRPr lang="en-US" altLang="ja-JP" sz="1100" b="1" dirty="0">
              <a:solidFill>
                <a:schemeClr val="accent1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defTabSz="1527175">
              <a:tabLst>
                <a:tab pos="1973263" algn="r"/>
                <a:tab pos="2687638" algn="ctr"/>
                <a:tab pos="4124325" algn="r"/>
              </a:tabLst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要件定義</a:t>
            </a:r>
            <a:r>
              <a: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50,000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500,000</a:t>
            </a:r>
          </a:p>
          <a:p>
            <a:pPr defTabSz="1527175">
              <a:tabLst>
                <a:tab pos="1973263" algn="r"/>
                <a:tab pos="2687638" algn="ctr"/>
                <a:tab pos="4124325" algn="r"/>
              </a:tabLst>
            </a:pP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Android</a:t>
            </a:r>
            <a:r>
              <a:rPr lang="zh-TW" altLang="en-US" sz="1100" dirty="0"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100" dirty="0">
                <a:ea typeface="微軟正黑體" panose="020B0604030504040204" pitchFamily="34" charset="-120"/>
                <a:cs typeface="Arial" panose="020B0604020202020204" pitchFamily="34" charset="0"/>
              </a:rPr>
              <a:t>APP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開發</a:t>
            </a:r>
            <a:r>
              <a: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35,000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60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2,100,000</a:t>
            </a:r>
          </a:p>
          <a:p>
            <a:pPr defTabSz="1527175">
              <a:tabLst>
                <a:tab pos="1973263" algn="r"/>
                <a:tab pos="2687638" algn="ctr"/>
                <a:tab pos="4124325" algn="r"/>
              </a:tabLst>
            </a:pPr>
            <a:r>
              <a:rPr lang="en-US" altLang="ja-JP" sz="1100" dirty="0" err="1"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 OS</a:t>
            </a:r>
            <a:r>
              <a:rPr lang="zh-TW" altLang="en-US" sz="1100" dirty="0"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100" dirty="0">
                <a:ea typeface="微軟正黑體" panose="020B0604030504040204" pitchFamily="34" charset="-120"/>
                <a:cs typeface="Arial" panose="020B0604020202020204" pitchFamily="34" charset="0"/>
              </a:rPr>
              <a:t>APP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開發</a:t>
            </a:r>
            <a:r>
              <a: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35,000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41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1,435,000</a:t>
            </a:r>
          </a:p>
          <a:p>
            <a:pPr defTabSz="1527175">
              <a:tabLst>
                <a:tab pos="1973263" algn="r"/>
                <a:tab pos="2687638" algn="ctr"/>
                <a:tab pos="4124325" algn="r"/>
              </a:tabLst>
            </a:pP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API</a:t>
            </a:r>
            <a:r>
              <a:rPr lang="zh-TW" altLang="en-US" sz="1100" dirty="0"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100" dirty="0">
                <a:ea typeface="微軟正黑體" panose="020B0604030504040204" pitchFamily="34" charset="-120"/>
                <a:cs typeface="Arial" panose="020B0604020202020204" pitchFamily="34" charset="0"/>
              </a:rPr>
              <a:t>Stub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製作</a:t>
            </a:r>
            <a:r>
              <a: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20,000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100,000</a:t>
            </a:r>
          </a:p>
          <a:p>
            <a:pPr defTabSz="1527175">
              <a:tabLst>
                <a:tab pos="1973263" algn="r"/>
                <a:tab pos="2687638" algn="ctr"/>
                <a:tab pos="4124325" algn="r"/>
              </a:tabLst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發佈作業</a:t>
            </a:r>
            <a:r>
              <a: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40,000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80,000</a:t>
            </a:r>
          </a:p>
          <a:p>
            <a:pPr defTabSz="1527175">
              <a:tabLst>
                <a:tab pos="1973263" algn="r"/>
                <a:tab pos="2687638" algn="ctr"/>
                <a:tab pos="4124325" algn="r"/>
              </a:tabLst>
            </a:pP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	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小計</a:t>
            </a:r>
            <a:r>
              <a: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4,215,000</a:t>
            </a:r>
          </a:p>
          <a:p>
            <a:pPr defTabSz="1527175">
              <a:tabLst>
                <a:tab pos="1973263" algn="r"/>
                <a:tab pos="2687638" algn="ctr"/>
                <a:tab pos="4124325" algn="r"/>
              </a:tabLst>
            </a:pP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	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消費稅</a:t>
            </a:r>
            <a:r>
              <a: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337,200</a:t>
            </a:r>
          </a:p>
          <a:p>
            <a:pPr defTabSz="1527175">
              <a:tabLst>
                <a:tab pos="1973263" algn="r"/>
                <a:tab pos="2687638" algn="ctr"/>
                <a:tab pos="4124325" algn="r"/>
              </a:tabLst>
            </a:pP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	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總計</a:t>
            </a:r>
            <a:r>
              <a: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¥</a:t>
            </a:r>
            <a:r>
              <a:rPr lang="en-US" altLang="ja-JP" sz="1100" dirty="0">
                <a:ea typeface="微軟正黑體" panose="020B0604030504040204" pitchFamily="34" charset="-120"/>
                <a:cs typeface="Arial" panose="020B0604020202020204" pitchFamily="34" charset="0"/>
              </a:rPr>
              <a:t>4,552,200</a:t>
            </a:r>
          </a:p>
        </p:txBody>
      </p:sp>
    </p:spTree>
    <p:extLst>
      <p:ext uri="{BB962C8B-B14F-4D97-AF65-F5344CB8AC3E}">
        <p14:creationId xmlns:p14="http://schemas.microsoft.com/office/powerpoint/2010/main" val="4063180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スリップストリーム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782</TotalTime>
  <Words>225</Words>
  <Application>Microsoft Office PowerPoint</Application>
  <PresentationFormat>A4 紙張 (210x297 公釐)</PresentationFormat>
  <Paragraphs>54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ＭＳ ゴシック</vt:lpstr>
      <vt:lpstr>ＭＳ Ｐゴシック</vt:lpstr>
      <vt:lpstr>微軟正黑體</vt:lpstr>
      <vt:lpstr>Arial</vt:lpstr>
      <vt:lpstr>Arial Black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soukinsei soukinsei</cp:lastModifiedBy>
  <cp:revision>64</cp:revision>
  <dcterms:created xsi:type="dcterms:W3CDTF">2017-11-09T07:26:57Z</dcterms:created>
  <dcterms:modified xsi:type="dcterms:W3CDTF">2018-11-19T07:55:38Z</dcterms:modified>
</cp:coreProperties>
</file>