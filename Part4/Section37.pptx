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57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年齡別的比例</a:t>
            </a:r>
            <a:endParaRPr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defRPr>
          </a:pPr>
          <a:endParaRPr lang="zh-TW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比率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959-463B-B098-976BE2A79A7B}"/>
              </c:ext>
            </c:extLst>
          </c:dPt>
          <c:dPt>
            <c:idx val="1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959-463B-B098-976BE2A79A7B}"/>
              </c:ext>
            </c:extLst>
          </c:dPt>
          <c:dPt>
            <c:idx val="2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959-463B-B098-976BE2A79A7B}"/>
              </c:ext>
            </c:extLst>
          </c:dPt>
          <c:dPt>
            <c:idx val="3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959-463B-B098-976BE2A79A7B}"/>
              </c:ext>
            </c:extLst>
          </c:dPt>
          <c:dPt>
            <c:idx val="4"/>
            <c:bubble3D val="0"/>
            <c:spPr>
              <a:solidFill>
                <a:schemeClr val="accent6">
                  <a:tint val="54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959-463B-B098-976BE2A79A7B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lang="ja-JP" sz="18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defRPr>
                    </a:pPr>
                    <a:r>
                      <a:rPr lang="en-US" altLang="zh-TW" baseline="0"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20</a:t>
                    </a:r>
                    <a:r>
                      <a:rPr lang="zh-TW" altLang="en-US" baseline="0"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歲
</a:t>
                    </a:r>
                    <a:fld id="{E5970815-11F4-4D38-90A9-AE90AA339897}" type="VALUE">
                      <a:rPr lang="en-US" altLang="zh-TW" baseline="0"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pPr>
                        <a:defRPr lang="ja-JP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defRPr>
                      </a:pPr>
                      <a:t>[值]</a:t>
                    </a:fld>
                    <a:endParaRPr lang="zh-TW" altLang="en-US" baseline="0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ja-JP" sz="18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F959-463B-B098-976BE2A79A7B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lang="ja-JP" sz="18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defRPr>
                    </a:pPr>
                    <a:r>
                      <a:rPr lang="en-US" altLang="zh-TW"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30</a:t>
                    </a:r>
                    <a:r>
                      <a: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歲</a:t>
                    </a:r>
                    <a:r>
                      <a:rPr lang="zh-TW" altLang="en-US" baseline="0"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
</a:t>
                    </a:r>
                    <a:fld id="{E9DAE775-19D7-469A-82D6-941C475E0975}" type="VALUE">
                      <a:rPr lang="en-US" altLang="zh-TW" baseline="0"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pPr>
                        <a:defRPr lang="ja-JP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defRPr>
                      </a:pPr>
                      <a:t>[值]</a:t>
                    </a:fld>
                    <a:endParaRPr lang="zh-TW" altLang="en-US" baseline="0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ja-JP" sz="18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F959-463B-B098-976BE2A79A7B}"/>
                </c:ext>
              </c:extLst>
            </c:dLbl>
            <c:dLbl>
              <c:idx val="2"/>
              <c:layout>
                <c:manualLayout>
                  <c:x val="-0.1723182919442762"/>
                  <c:y val="7.6845466622844749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lang="ja-JP" sz="1800" b="0" i="0" u="none" strike="noStrike" kern="1200" baseline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defRPr>
                    </a:pPr>
                    <a:r>
                      <a:rPr lang="en-US" altLang="zh-TW"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40</a:t>
                    </a:r>
                    <a:r>
                      <a: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歲</a:t>
                    </a:r>
                    <a:r>
                      <a:rPr lang="zh-TW" altLang="en-US" baseline="0"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
</a:t>
                    </a:r>
                    <a:fld id="{3527B06C-8E45-4F89-B00D-E399CE9476DD}" type="VALUE">
                      <a:rPr lang="en-US" altLang="zh-TW" baseline="0"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pPr>
                        <a:defRPr lang="ja-JP" sz="180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defRPr>
                      </a:pPr>
                      <a:t>[值]</a:t>
                    </a:fld>
                    <a:endParaRPr lang="zh-TW" altLang="en-US" baseline="0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ja-JP" sz="1800" b="0" i="0" u="none" strike="noStrike" kern="1200" baseline="0">
                      <a:solidFill>
                        <a:schemeClr val="bg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F959-463B-B098-976BE2A79A7B}"/>
                </c:ext>
              </c:extLst>
            </c:dLbl>
            <c:dLbl>
              <c:idx val="3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lang="ja-JP" sz="1800" b="0" i="0" u="none" strike="noStrike" kern="1200" baseline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defRPr>
                    </a:pPr>
                    <a:r>
                      <a:rPr lang="en-US" altLang="zh-TW"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50</a:t>
                    </a:r>
                    <a:r>
                      <a: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歲</a:t>
                    </a:r>
                    <a:r>
                      <a:rPr lang="zh-TW" altLang="en-US" baseline="0"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
</a:t>
                    </a:r>
                    <a:fld id="{10354A06-2C91-412B-84E7-4CF376B11B0C}" type="VALUE">
                      <a:rPr lang="en-US" altLang="zh-TW" baseline="0"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pPr>
                        <a:defRPr lang="ja-JP" sz="180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defRPr>
                      </a:pPr>
                      <a:t>[值]</a:t>
                    </a:fld>
                    <a:endParaRPr lang="zh-TW" altLang="en-US" baseline="0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ja-JP" sz="1800" b="0" i="0" u="none" strike="noStrike" kern="1200" baseline="0">
                      <a:solidFill>
                        <a:schemeClr val="bg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F959-463B-B098-976BE2A79A7B}"/>
                </c:ext>
              </c:extLst>
            </c:dLbl>
            <c:dLbl>
              <c:idx val="4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lang="ja-JP" sz="18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defRPr>
                    </a:pPr>
                    <a:r>
                      <a:rPr lang="en-US" altLang="zh-TW"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60</a:t>
                    </a:r>
                    <a:r>
                      <a: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歲</a:t>
                    </a:r>
                    <a:r>
                      <a:rPr lang="zh-TW" altLang="en-US" baseline="0"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
</a:t>
                    </a:r>
                    <a:fld id="{E9717A1B-B4A1-408A-B35A-894E012106E6}" type="VALUE">
                      <a:rPr lang="en-US" altLang="zh-TW" baseline="0"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pPr>
                        <a:defRPr lang="ja-JP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defRPr>
                      </a:pPr>
                      <a:t>[值]</a:t>
                    </a:fld>
                    <a:endParaRPr lang="zh-TW" altLang="en-US" baseline="0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ja-JP" sz="18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F959-463B-B098-976BE2A79A7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ja-JP"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20代</c:v>
                </c:pt>
                <c:pt idx="1">
                  <c:v>30代</c:v>
                </c:pt>
                <c:pt idx="2">
                  <c:v>40代</c:v>
                </c:pt>
                <c:pt idx="3">
                  <c:v>50代</c:v>
                </c:pt>
                <c:pt idx="4">
                  <c:v>60代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7.0000000000000007E-2</c:v>
                </c:pt>
                <c:pt idx="1">
                  <c:v>0.17</c:v>
                </c:pt>
                <c:pt idx="2">
                  <c:v>0.38</c:v>
                </c:pt>
                <c:pt idx="3">
                  <c:v>0.25</c:v>
                </c:pt>
                <c:pt idx="4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98-4FF2-B118-224EE44066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4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9FC4FF9F-530A-485C-BF36-3E0B59F7C427}"/>
              </a:ext>
            </a:extLst>
          </p:cNvPr>
          <p:cNvGrpSpPr/>
          <p:nvPr/>
        </p:nvGrpSpPr>
        <p:grpSpPr>
          <a:xfrm>
            <a:off x="812999" y="452978"/>
            <a:ext cx="8280001" cy="6107892"/>
            <a:chOff x="812999" y="452978"/>
            <a:chExt cx="8280001" cy="6107892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1D536373-30F3-4106-997D-4CB68C6DB84F}"/>
                </a:ext>
              </a:extLst>
            </p:cNvPr>
            <p:cNvSpPr txBox="1"/>
            <p:nvPr/>
          </p:nvSpPr>
          <p:spPr>
            <a:xfrm>
              <a:off x="1534782" y="4385115"/>
              <a:ext cx="6836437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>
                <a:spcAft>
                  <a:spcPts val="0"/>
                </a:spcAft>
              </a:pPr>
              <a:r>
                <a:rPr lang="zh-TW" altLang="en-US" sz="18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這個數字是</a:t>
              </a:r>
              <a:r>
                <a:rPr lang="en-US" altLang="zh-TW" sz="18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2015</a:t>
              </a:r>
              <a:r>
                <a:rPr lang="zh-TW" altLang="en-US" sz="18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年度的生涯未婚率。由於晚婚化（較晚結婚）和非婚化（不打算結婚的人）的因素，估計這個數值將會進一步攀升許多。這個數值不光只有放棄結婚的人，同時也包含多數想結婚的人在內。「就算還不結婚也沒關係」有這種想法的人很多，這同時也是導致未婚率持續攀升的主因之一。未來的市場價值可說是相當的大。</a:t>
              </a:r>
              <a:endParaRPr lang="en-US" altLang="ja-JP" sz="1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60074821-EB00-4745-AAC9-6E8B207FF92D}"/>
                </a:ext>
              </a:extLst>
            </p:cNvPr>
            <p:cNvSpPr/>
            <p:nvPr/>
          </p:nvSpPr>
          <p:spPr>
            <a:xfrm>
              <a:off x="1641324" y="6330038"/>
              <a:ext cx="452530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出處：國立社會保障、人口問題研究所「人口統計資料集（</a:t>
              </a:r>
              <a:r>
                <a:rPr lang="en-US" altLang="zh-TW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2014</a:t>
              </a:r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）」</a:t>
              </a:r>
              <a:endParaRPr lang="ja-JP" altLang="en-US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0063370C-1228-48E2-881E-8C79DDBC9723}"/>
                </a:ext>
              </a:extLst>
            </p:cNvPr>
            <p:cNvGrpSpPr/>
            <p:nvPr/>
          </p:nvGrpSpPr>
          <p:grpSpPr>
            <a:xfrm>
              <a:off x="1316855" y="1339794"/>
              <a:ext cx="7272291" cy="2833192"/>
              <a:chOff x="1225984" y="1257701"/>
              <a:chExt cx="7272291" cy="2833192"/>
            </a:xfrm>
          </p:grpSpPr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027E064C-F492-4B33-B027-A8544B17DD41}"/>
                  </a:ext>
                </a:extLst>
              </p:cNvPr>
              <p:cNvSpPr txBox="1"/>
              <p:nvPr/>
            </p:nvSpPr>
            <p:spPr>
              <a:xfrm>
                <a:off x="2761609" y="1822507"/>
                <a:ext cx="142424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TW" altLang="en-US" sz="320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男性</a:t>
                </a:r>
                <a:endParaRPr kumimoji="1" lang="ja-JP" altLang="en-US" sz="32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5F6065D3-A5F1-4FF9-BB38-202673A438B9}"/>
                  </a:ext>
                </a:extLst>
              </p:cNvPr>
              <p:cNvSpPr txBox="1"/>
              <p:nvPr/>
            </p:nvSpPr>
            <p:spPr>
              <a:xfrm>
                <a:off x="6962650" y="1822507"/>
                <a:ext cx="142424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TW" altLang="en-US" sz="320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女性</a:t>
                </a:r>
                <a:endParaRPr kumimoji="1" lang="ja-JP" altLang="en-US" sz="32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E317E37A-692E-4E44-BDE6-494D40952FEC}"/>
                  </a:ext>
                </a:extLst>
              </p:cNvPr>
              <p:cNvSpPr txBox="1"/>
              <p:nvPr/>
            </p:nvSpPr>
            <p:spPr>
              <a:xfrm>
                <a:off x="1225984" y="2982897"/>
                <a:ext cx="307125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6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23.4</a:t>
                </a:r>
                <a:r>
                  <a:rPr kumimoji="1" lang="en-US" altLang="ja-JP" sz="4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%</a:t>
                </a:r>
                <a:endParaRPr kumimoji="1" lang="ja-JP" altLang="en-US" sz="4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70B52CC2-C146-4482-B50C-C2DF4530EA71}"/>
                  </a:ext>
                </a:extLst>
              </p:cNvPr>
              <p:cNvSpPr txBox="1"/>
              <p:nvPr/>
            </p:nvSpPr>
            <p:spPr>
              <a:xfrm>
                <a:off x="5427025" y="2982897"/>
                <a:ext cx="307125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6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14.1</a:t>
                </a:r>
                <a:r>
                  <a:rPr kumimoji="1" lang="en-US" altLang="ja-JP" sz="4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%</a:t>
                </a:r>
                <a:endParaRPr kumimoji="1" lang="ja-JP" altLang="en-US" sz="4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グラフィックス 10" descr="男性">
                <a:extLst>
                  <a:ext uri="{FF2B5EF4-FFF2-40B4-BE49-F238E27FC236}">
                    <a16:creationId xmlns:a16="http://schemas.microsoft.com/office/drawing/2014/main" id="{ED149A02-03C8-4445-A108-7A327016F8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50453" y="1257701"/>
                <a:ext cx="1714390" cy="1714388"/>
              </a:xfrm>
              <a:prstGeom prst="rect">
                <a:avLst/>
              </a:prstGeom>
            </p:spPr>
          </p:pic>
          <p:pic>
            <p:nvPicPr>
              <p:cNvPr id="13" name="グラフィックス 12" descr="女性">
                <a:extLst>
                  <a:ext uri="{FF2B5EF4-FFF2-40B4-BE49-F238E27FC236}">
                    <a16:creationId xmlns:a16="http://schemas.microsoft.com/office/drawing/2014/main" id="{5A0B0998-7D94-4035-A2C3-3F199A8FFB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720153" y="1257701"/>
                <a:ext cx="1714390" cy="1714388"/>
              </a:xfrm>
              <a:prstGeom prst="rect">
                <a:avLst/>
              </a:prstGeom>
            </p:spPr>
          </p:pic>
        </p:grp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C65237A9-64FE-4E05-87E6-921BD723CCC1}"/>
                </a:ext>
              </a:extLst>
            </p:cNvPr>
            <p:cNvSpPr/>
            <p:nvPr/>
          </p:nvSpPr>
          <p:spPr>
            <a:xfrm>
              <a:off x="812999" y="452978"/>
              <a:ext cx="2896241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Potential</a:t>
              </a:r>
              <a:r>
                <a:rPr lang="ja-JP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 </a:t>
              </a:r>
              <a:r>
                <a:rPr lang="en-US" altLang="ja-JP" sz="12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Market</a:t>
              </a:r>
              <a:endParaRPr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4518272B-AABC-4C19-8B20-9AD3B9D125B1}"/>
                </a:ext>
              </a:extLst>
            </p:cNvPr>
            <p:cNvSpPr/>
            <p:nvPr/>
          </p:nvSpPr>
          <p:spPr>
            <a:xfrm>
              <a:off x="812999" y="726411"/>
              <a:ext cx="2896241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潛在市場</a:t>
              </a:r>
              <a:endParaRPr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C9CF8760-43DA-4863-8F2E-54FC7058A980}"/>
                </a:ext>
              </a:extLst>
            </p:cNvPr>
            <p:cNvCxnSpPr/>
            <p:nvPr/>
          </p:nvCxnSpPr>
          <p:spPr>
            <a:xfrm>
              <a:off x="813000" y="718559"/>
              <a:ext cx="828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02842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0B9DC38-79D9-4160-9ADE-AB2597C3DEFE}"/>
              </a:ext>
            </a:extLst>
          </p:cNvPr>
          <p:cNvGrpSpPr/>
          <p:nvPr/>
        </p:nvGrpSpPr>
        <p:grpSpPr>
          <a:xfrm>
            <a:off x="0" y="-1"/>
            <a:ext cx="9906000" cy="6548395"/>
            <a:chOff x="0" y="-1"/>
            <a:chExt cx="9906000" cy="6548395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5FA1F737-7366-46E0-8214-778D041DA35F}"/>
                </a:ext>
              </a:extLst>
            </p:cNvPr>
            <p:cNvSpPr/>
            <p:nvPr/>
          </p:nvSpPr>
          <p:spPr>
            <a:xfrm>
              <a:off x="0" y="-1"/>
              <a:ext cx="9906000" cy="576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aphicFrame>
          <p:nvGraphicFramePr>
            <p:cNvPr id="10" name="グラフ 9">
              <a:extLst>
                <a:ext uri="{FF2B5EF4-FFF2-40B4-BE49-F238E27FC236}">
                  <a16:creationId xmlns:a16="http://schemas.microsoft.com/office/drawing/2014/main" id="{9EC28039-7D8E-42DE-8038-FADD3A10AC1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780788705"/>
                </p:ext>
              </p:extLst>
            </p:nvPr>
          </p:nvGraphicFramePr>
          <p:xfrm>
            <a:off x="970776" y="2145727"/>
            <a:ext cx="6604000" cy="440266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F6C944A4-58A3-4B10-97A2-6CBF78FE5370}"/>
                </a:ext>
              </a:extLst>
            </p:cNvPr>
            <p:cNvSpPr/>
            <p:nvPr/>
          </p:nvSpPr>
          <p:spPr>
            <a:xfrm>
              <a:off x="6466198" y="3205566"/>
              <a:ext cx="2217156" cy="16312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 sz="1862" b="0" i="0" u="none" strike="noStrike" kern="1200" spc="0" baseline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lt"/>
                  <a:ea typeface="+mn-ea"/>
                  <a:cs typeface="+mn-cs"/>
                </a:defRPr>
              </a:pPr>
              <a:r>
                <a:rPr lang="en-US" altLang="ja-JP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40</a:t>
              </a:r>
              <a:r>
                <a:rPr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歲和</a:t>
              </a:r>
              <a:r>
                <a:rPr lang="en-US" altLang="ja-JP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50</a:t>
              </a:r>
              <a:r>
                <a:rPr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歲總計</a:t>
              </a:r>
              <a:br>
                <a:rPr lang="en-US" altLang="ja-JP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</a:br>
              <a:r>
                <a:rPr lang="en-US" altLang="ja-JP" sz="8000" b="1" dirty="0"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63</a:t>
              </a:r>
              <a:r>
                <a:rPr lang="en-US" altLang="ja-JP" sz="4000" dirty="0"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%</a:t>
              </a:r>
              <a:endParaRPr lang="ja-JP" altLang="en-US" sz="4000" dirty="0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A3BA83FF-52F5-4B43-B326-D3C95F896740}"/>
                </a:ext>
              </a:extLst>
            </p:cNvPr>
            <p:cNvSpPr/>
            <p:nvPr/>
          </p:nvSpPr>
          <p:spPr>
            <a:xfrm>
              <a:off x="773428" y="987785"/>
              <a:ext cx="8359145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 sz="1862" b="0" i="0" u="none" strike="noStrike" kern="1200" spc="0" baseline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lt"/>
                  <a:ea typeface="+mn-ea"/>
                  <a:cs typeface="+mn-cs"/>
                </a:defRPr>
              </a:pPr>
              <a:r>
                <a:rPr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本公司的會員數當中，</a:t>
              </a:r>
              <a:r>
                <a:rPr lang="en-US" altLang="zh-TW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40</a:t>
              </a:r>
              <a:r>
                <a:rPr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歲以下的人占整體的</a:t>
              </a:r>
              <a:r>
                <a:rPr lang="en-US" altLang="zh-TW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6</a:t>
              </a:r>
              <a:r>
                <a:rPr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成，而年間超出</a:t>
              </a:r>
              <a:r>
                <a:rPr lang="en-US" altLang="zh-TW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10</a:t>
              </a:r>
              <a:r>
                <a:rPr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萬日圓的支出額則以</a:t>
              </a:r>
              <a:r>
                <a:rPr lang="en-US" altLang="zh-TW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40</a:t>
              </a:r>
              <a:r>
                <a:rPr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、</a:t>
              </a:r>
              <a:r>
                <a:rPr lang="en-US" altLang="zh-TW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50</a:t>
              </a:r>
              <a:r>
                <a:rPr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歲居多。</a:t>
              </a:r>
              <a:endParaRPr lang="ja-JP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6" name="四角形: 1 つの角を切り取る 5">
              <a:extLst>
                <a:ext uri="{FF2B5EF4-FFF2-40B4-BE49-F238E27FC236}">
                  <a16:creationId xmlns:a16="http://schemas.microsoft.com/office/drawing/2014/main" id="{073E741A-F302-4D7D-9AA0-5C330B0B0F82}"/>
                </a:ext>
              </a:extLst>
            </p:cNvPr>
            <p:cNvSpPr/>
            <p:nvPr/>
          </p:nvSpPr>
          <p:spPr>
            <a:xfrm>
              <a:off x="773428" y="150191"/>
              <a:ext cx="1017639" cy="432000"/>
            </a:xfrm>
            <a:prstGeom prst="snip1Rect">
              <a:avLst>
                <a:gd name="adj" fmla="val 3373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E3A414D9-8636-4BBC-AB7D-BD6B12F58A81}"/>
                </a:ext>
              </a:extLst>
            </p:cNvPr>
            <p:cNvSpPr/>
            <p:nvPr/>
          </p:nvSpPr>
          <p:spPr>
            <a:xfrm>
              <a:off x="865466" y="164938"/>
              <a:ext cx="83356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862" b="0" i="0" u="none" strike="noStrike" kern="1200" spc="0" baseline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lt"/>
                  <a:ea typeface="+mn-ea"/>
                  <a:cs typeface="+mn-cs"/>
                </a:defRPr>
              </a:pPr>
              <a:r>
                <a:rPr lang="en-US" altLang="ja-JP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DATA</a:t>
              </a:r>
              <a:endParaRPr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0594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4D2B4287-E08C-4C6C-BBC6-DA14338C1FDE}"/>
              </a:ext>
            </a:extLst>
          </p:cNvPr>
          <p:cNvGrpSpPr/>
          <p:nvPr/>
        </p:nvGrpSpPr>
        <p:grpSpPr>
          <a:xfrm>
            <a:off x="0" y="-1"/>
            <a:ext cx="9906000" cy="6573719"/>
            <a:chOff x="0" y="-1"/>
            <a:chExt cx="9906000" cy="6573719"/>
          </a:xfrm>
        </p:grpSpPr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B0464946-35E2-4320-87C7-F5A8607AA47B}"/>
                </a:ext>
              </a:extLst>
            </p:cNvPr>
            <p:cNvSpPr/>
            <p:nvPr/>
          </p:nvSpPr>
          <p:spPr>
            <a:xfrm>
              <a:off x="0" y="-1"/>
              <a:ext cx="9906000" cy="64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E4C3122F-01C6-403D-B1FF-F54BC035ADA8}"/>
                </a:ext>
              </a:extLst>
            </p:cNvPr>
            <p:cNvSpPr/>
            <p:nvPr/>
          </p:nvSpPr>
          <p:spPr>
            <a:xfrm>
              <a:off x="3121900" y="201813"/>
              <a:ext cx="366220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無客時間的集客專用</a:t>
              </a:r>
              <a:endParaRPr lang="ja-JP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81" name="楕円 80">
              <a:extLst>
                <a:ext uri="{FF2B5EF4-FFF2-40B4-BE49-F238E27FC236}">
                  <a16:creationId xmlns:a16="http://schemas.microsoft.com/office/drawing/2014/main" id="{CA8D9FD9-6B1F-42DC-8176-A4876FBE3E48}"/>
                </a:ext>
              </a:extLst>
            </p:cNvPr>
            <p:cNvSpPr/>
            <p:nvPr/>
          </p:nvSpPr>
          <p:spPr>
            <a:xfrm>
              <a:off x="900036" y="1641972"/>
              <a:ext cx="2319138" cy="2319138"/>
            </a:xfrm>
            <a:prstGeom prst="ellipse">
              <a:avLst/>
            </a:prstGeom>
            <a:solidFill>
              <a:srgbClr val="FFC000"/>
            </a:solidFill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楕円 81">
              <a:extLst>
                <a:ext uri="{FF2B5EF4-FFF2-40B4-BE49-F238E27FC236}">
                  <a16:creationId xmlns:a16="http://schemas.microsoft.com/office/drawing/2014/main" id="{B813F65D-2CEE-48E1-9AF4-81493BEAF332}"/>
                </a:ext>
              </a:extLst>
            </p:cNvPr>
            <p:cNvSpPr/>
            <p:nvPr/>
          </p:nvSpPr>
          <p:spPr>
            <a:xfrm>
              <a:off x="881235" y="4254580"/>
              <a:ext cx="2319138" cy="2319138"/>
            </a:xfrm>
            <a:prstGeom prst="ellipse">
              <a:avLst/>
            </a:prstGeom>
            <a:solidFill>
              <a:srgbClr val="FFC000"/>
            </a:solidFill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A026F032-6E82-42DB-91FF-7E2ABCDFB311}"/>
                </a:ext>
              </a:extLst>
            </p:cNvPr>
            <p:cNvSpPr/>
            <p:nvPr/>
          </p:nvSpPr>
          <p:spPr>
            <a:xfrm>
              <a:off x="5156711" y="897551"/>
              <a:ext cx="36622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快樂時光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ctr"/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平日限定</a:t>
              </a:r>
              <a:r>
                <a:rPr lang="en-US" altLang="ja-JP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13:00</a:t>
              </a:r>
              <a:r>
                <a:rPr lang="ja-JP" altLang="en-US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～</a:t>
              </a:r>
              <a:r>
                <a:rPr lang="en-US" altLang="ja-JP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18:00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3FA6AE0B-839F-42A5-80FF-7DC2E889B825}"/>
                </a:ext>
              </a:extLst>
            </p:cNvPr>
            <p:cNvSpPr/>
            <p:nvPr/>
          </p:nvSpPr>
          <p:spPr>
            <a:xfrm>
              <a:off x="910377" y="3087578"/>
              <a:ext cx="2230779" cy="6771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生啤酒</a:t>
              </a:r>
              <a:r>
                <a:rPr lang="en-US" altLang="ja-JP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380ml</a:t>
              </a:r>
              <a:endPara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ctr"/>
              <a:r>
                <a:rPr lang="zh-TW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一般稅外價格</a:t>
              </a:r>
              <a:r>
                <a:rPr lang="ja-JP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 </a:t>
              </a:r>
              <a:r>
                <a:rPr lang="en-US" altLang="ja-JP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400</a:t>
              </a:r>
              <a:r>
                <a:rPr lang="zh-TW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日圓</a:t>
              </a:r>
              <a:endPara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35C262E6-BA2C-487E-BDC0-734F035782B2}"/>
                </a:ext>
              </a:extLst>
            </p:cNvPr>
            <p:cNvSpPr/>
            <p:nvPr/>
          </p:nvSpPr>
          <p:spPr>
            <a:xfrm>
              <a:off x="488505" y="5856201"/>
              <a:ext cx="3006836" cy="6771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檸檬沙瓦</a:t>
              </a:r>
              <a:r>
                <a:rPr lang="ja-JP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／高球</a:t>
              </a:r>
              <a:endPara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ctr"/>
              <a:r>
                <a:rPr lang="zh-TW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一般稅外價格</a:t>
              </a:r>
              <a:r>
                <a:rPr lang="ja-JP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 </a:t>
              </a:r>
              <a:r>
                <a:rPr lang="en-US" altLang="ja-JP" sz="2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300</a:t>
              </a:r>
              <a:r>
                <a:rPr lang="zh-TW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日圓</a:t>
              </a:r>
              <a:endPara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2CBFB6B3-AC5A-46C0-BBB5-E788E10F9F2C}"/>
                </a:ext>
              </a:extLst>
            </p:cNvPr>
            <p:cNvSpPr/>
            <p:nvPr/>
          </p:nvSpPr>
          <p:spPr>
            <a:xfrm>
              <a:off x="4665601" y="2283777"/>
              <a:ext cx="209456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第</a:t>
              </a:r>
              <a:r>
                <a:rPr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</a:t>
              </a:r>
              <a:r>
                <a:rPr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杯免費</a:t>
              </a:r>
              <a:endParaRPr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64588A91-B9D5-464C-9918-65F4E4B84685}"/>
                </a:ext>
              </a:extLst>
            </p:cNvPr>
            <p:cNvSpPr/>
            <p:nvPr/>
          </p:nvSpPr>
          <p:spPr>
            <a:xfrm>
              <a:off x="1087087" y="895766"/>
              <a:ext cx="194503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平常時間</a:t>
              </a:r>
              <a:endParaRPr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B4FFD7AA-83A3-4CE7-BA46-8BC6B0D0D634}"/>
                </a:ext>
              </a:extLst>
            </p:cNvPr>
            <p:cNvSpPr/>
            <p:nvPr/>
          </p:nvSpPr>
          <p:spPr>
            <a:xfrm>
              <a:off x="4665281" y="2772124"/>
              <a:ext cx="2095200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48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0</a:t>
              </a:r>
              <a:r>
                <a:rPr lang="zh-TW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日圓</a:t>
              </a:r>
              <a:endParaRPr lang="ja-JP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55" name="矢印: 右 54">
              <a:extLst>
                <a:ext uri="{FF2B5EF4-FFF2-40B4-BE49-F238E27FC236}">
                  <a16:creationId xmlns:a16="http://schemas.microsoft.com/office/drawing/2014/main" id="{DD7FF7E8-2648-457D-889E-60729406688E}"/>
                </a:ext>
              </a:extLst>
            </p:cNvPr>
            <p:cNvSpPr/>
            <p:nvPr/>
          </p:nvSpPr>
          <p:spPr>
            <a:xfrm>
              <a:off x="3574609" y="2248785"/>
              <a:ext cx="641850" cy="1046677"/>
            </a:xfrm>
            <a:prstGeom prst="rightArrow">
              <a:avLst>
                <a:gd name="adj1" fmla="val 50000"/>
                <a:gd name="adj2" fmla="val 4833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楕円 65">
              <a:extLst>
                <a:ext uri="{FF2B5EF4-FFF2-40B4-BE49-F238E27FC236}">
                  <a16:creationId xmlns:a16="http://schemas.microsoft.com/office/drawing/2014/main" id="{4612FD50-82A1-4775-8C65-CBB99870C356}"/>
                </a:ext>
              </a:extLst>
            </p:cNvPr>
            <p:cNvSpPr/>
            <p:nvPr/>
          </p:nvSpPr>
          <p:spPr>
            <a:xfrm>
              <a:off x="4559293" y="1641972"/>
              <a:ext cx="2319138" cy="2319138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87645B54-F59E-402C-B5DE-EF114B23DC05}"/>
                </a:ext>
              </a:extLst>
            </p:cNvPr>
            <p:cNvSpPr/>
            <p:nvPr/>
          </p:nvSpPr>
          <p:spPr>
            <a:xfrm>
              <a:off x="7204665" y="2283777"/>
              <a:ext cx="209456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第</a:t>
              </a:r>
              <a:r>
                <a:rPr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</a:t>
              </a:r>
              <a:r>
                <a:rPr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杯起半價</a:t>
              </a:r>
              <a:endParaRPr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69" name="正方形/長方形 68">
              <a:extLst>
                <a:ext uri="{FF2B5EF4-FFF2-40B4-BE49-F238E27FC236}">
                  <a16:creationId xmlns:a16="http://schemas.microsoft.com/office/drawing/2014/main" id="{66872BEA-532D-41F2-970E-D2E48E973C01}"/>
                </a:ext>
              </a:extLst>
            </p:cNvPr>
            <p:cNvSpPr/>
            <p:nvPr/>
          </p:nvSpPr>
          <p:spPr>
            <a:xfrm>
              <a:off x="7204345" y="2772124"/>
              <a:ext cx="2095200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48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200</a:t>
              </a:r>
              <a:r>
                <a:rPr lang="zh-TW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日圓</a:t>
              </a:r>
              <a:endParaRPr lang="ja-JP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70" name="楕円 69">
              <a:extLst>
                <a:ext uri="{FF2B5EF4-FFF2-40B4-BE49-F238E27FC236}">
                  <a16:creationId xmlns:a16="http://schemas.microsoft.com/office/drawing/2014/main" id="{0989D46C-FE77-42C1-8F74-BA6F519C3E02}"/>
                </a:ext>
              </a:extLst>
            </p:cNvPr>
            <p:cNvSpPr/>
            <p:nvPr/>
          </p:nvSpPr>
          <p:spPr>
            <a:xfrm>
              <a:off x="7098357" y="1641972"/>
              <a:ext cx="2319138" cy="2319138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8343C547-2D96-4F8E-B621-82366F47AD6D}"/>
                </a:ext>
              </a:extLst>
            </p:cNvPr>
            <p:cNvSpPr/>
            <p:nvPr/>
          </p:nvSpPr>
          <p:spPr>
            <a:xfrm>
              <a:off x="4665601" y="4896385"/>
              <a:ext cx="209456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第</a:t>
              </a:r>
              <a:r>
                <a:rPr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</a:t>
              </a:r>
              <a:r>
                <a:rPr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杯免費</a:t>
              </a:r>
              <a:endParaRPr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897D5568-FEDE-4869-AC95-0474BCEEF03F}"/>
                </a:ext>
              </a:extLst>
            </p:cNvPr>
            <p:cNvSpPr/>
            <p:nvPr/>
          </p:nvSpPr>
          <p:spPr>
            <a:xfrm>
              <a:off x="4665281" y="5384732"/>
              <a:ext cx="2095200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48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0</a:t>
              </a:r>
              <a:r>
                <a:rPr lang="zh-TW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日圓</a:t>
              </a:r>
              <a:endParaRPr lang="ja-JP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73" name="矢印: 右 72">
              <a:extLst>
                <a:ext uri="{FF2B5EF4-FFF2-40B4-BE49-F238E27FC236}">
                  <a16:creationId xmlns:a16="http://schemas.microsoft.com/office/drawing/2014/main" id="{EF0927C5-BAE6-428C-AE2A-AFD28660D7C1}"/>
                </a:ext>
              </a:extLst>
            </p:cNvPr>
            <p:cNvSpPr/>
            <p:nvPr/>
          </p:nvSpPr>
          <p:spPr>
            <a:xfrm>
              <a:off x="3574609" y="4861393"/>
              <a:ext cx="641850" cy="1046677"/>
            </a:xfrm>
            <a:prstGeom prst="rightArrow">
              <a:avLst>
                <a:gd name="adj1" fmla="val 50000"/>
                <a:gd name="adj2" fmla="val 4833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楕円 73">
              <a:extLst>
                <a:ext uri="{FF2B5EF4-FFF2-40B4-BE49-F238E27FC236}">
                  <a16:creationId xmlns:a16="http://schemas.microsoft.com/office/drawing/2014/main" id="{C1AAA797-ACF9-4416-A816-EE8876332C6F}"/>
                </a:ext>
              </a:extLst>
            </p:cNvPr>
            <p:cNvSpPr/>
            <p:nvPr/>
          </p:nvSpPr>
          <p:spPr>
            <a:xfrm>
              <a:off x="4559293" y="4254580"/>
              <a:ext cx="2319138" cy="2319138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正方形/長方形 75">
              <a:extLst>
                <a:ext uri="{FF2B5EF4-FFF2-40B4-BE49-F238E27FC236}">
                  <a16:creationId xmlns:a16="http://schemas.microsoft.com/office/drawing/2014/main" id="{EFCE7631-3663-4B1F-9351-0DE7EDFF3168}"/>
                </a:ext>
              </a:extLst>
            </p:cNvPr>
            <p:cNvSpPr/>
            <p:nvPr/>
          </p:nvSpPr>
          <p:spPr>
            <a:xfrm>
              <a:off x="7204665" y="4896385"/>
              <a:ext cx="209456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第</a:t>
              </a:r>
              <a:r>
                <a:rPr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</a:t>
              </a:r>
              <a:r>
                <a:rPr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杯起半價</a:t>
              </a:r>
              <a:endParaRPr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77" name="正方形/長方形 76">
              <a:extLst>
                <a:ext uri="{FF2B5EF4-FFF2-40B4-BE49-F238E27FC236}">
                  <a16:creationId xmlns:a16="http://schemas.microsoft.com/office/drawing/2014/main" id="{E730457B-21B3-4553-B3C4-C33D1F5AD3B3}"/>
                </a:ext>
              </a:extLst>
            </p:cNvPr>
            <p:cNvSpPr/>
            <p:nvPr/>
          </p:nvSpPr>
          <p:spPr>
            <a:xfrm>
              <a:off x="7204345" y="5384732"/>
              <a:ext cx="2095200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48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150</a:t>
              </a:r>
              <a:r>
                <a:rPr lang="zh-TW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日圓</a:t>
              </a:r>
              <a:endParaRPr lang="ja-JP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78" name="楕円 77">
              <a:extLst>
                <a:ext uri="{FF2B5EF4-FFF2-40B4-BE49-F238E27FC236}">
                  <a16:creationId xmlns:a16="http://schemas.microsoft.com/office/drawing/2014/main" id="{C7A41C06-0CDF-4B6B-B474-A1B1E83B960F}"/>
                </a:ext>
              </a:extLst>
            </p:cNvPr>
            <p:cNvSpPr/>
            <p:nvPr/>
          </p:nvSpPr>
          <p:spPr>
            <a:xfrm>
              <a:off x="7098357" y="4254580"/>
              <a:ext cx="2319138" cy="2319138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9A092A21-A307-43DB-BB3E-B20D89D4F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8363" y="1656581"/>
              <a:ext cx="1086524" cy="1368000"/>
            </a:xfrm>
            <a:prstGeom prst="rect">
              <a:avLst/>
            </a:prstGeom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26C48D12-EC09-44EB-BEC2-1237DDD6E2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06635" y="4405931"/>
              <a:ext cx="645196" cy="1368000"/>
            </a:xfrm>
            <a:prstGeom prst="rect">
              <a:avLst/>
            </a:prstGeom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</p:pic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79239792-D0B8-4850-AA32-317A1E52F8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0241" y="4415463"/>
              <a:ext cx="1021657" cy="1368000"/>
            </a:xfrm>
            <a:prstGeom prst="rect">
              <a:avLst/>
            </a:prstGeom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527</TotalTime>
  <Words>247</Words>
  <Application>Microsoft Office PowerPoint</Application>
  <PresentationFormat>A4 紙張 (210x297 公釐)</PresentationFormat>
  <Paragraphs>33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0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Office テーマ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65</cp:revision>
  <dcterms:created xsi:type="dcterms:W3CDTF">2017-11-09T07:26:57Z</dcterms:created>
  <dcterms:modified xsi:type="dcterms:W3CDTF">2018-10-01T05:45:37Z</dcterms:modified>
</cp:coreProperties>
</file>