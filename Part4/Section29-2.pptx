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="" xmlns:a16="http://schemas.microsoft.com/office/drawing/2014/main" id="{B33FC93D-79E4-48BC-A660-F34619B35694}"/>
              </a:ext>
            </a:extLst>
          </p:cNvPr>
          <p:cNvGrpSpPr/>
          <p:nvPr/>
        </p:nvGrpSpPr>
        <p:grpSpPr>
          <a:xfrm>
            <a:off x="-7074" y="0"/>
            <a:ext cx="9913073" cy="6453905"/>
            <a:chOff x="-7074" y="0"/>
            <a:chExt cx="9913073" cy="6453905"/>
          </a:xfrm>
        </p:grpSpPr>
        <p:sp>
          <p:nvSpPr>
            <p:cNvPr id="2" name="正方形/長方形 1">
              <a:extLst>
                <a:ext uri="{FF2B5EF4-FFF2-40B4-BE49-F238E27FC236}">
                  <a16:creationId xmlns="" xmlns:a16="http://schemas.microsoft.com/office/drawing/2014/main" id="{8094436E-B099-4DE0-BC91-D6171AA7DA00}"/>
                </a:ext>
              </a:extLst>
            </p:cNvPr>
            <p:cNvSpPr/>
            <p:nvPr/>
          </p:nvSpPr>
          <p:spPr>
            <a:xfrm>
              <a:off x="1174955" y="1006260"/>
              <a:ext cx="7556090" cy="54476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雜誌廣告的曝光</a:t>
              </a:r>
              <a:r>
                <a:rPr lang="zh-TW" altLang="en-US" sz="3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策略</a:t>
              </a:r>
              <a:endParaRPr lang="ja-JP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以生活情報誌和熟齡族群雜誌為中心，在時尚雜誌以外的書面媒體刊登廣告。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除單純的廣告之外，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同時積極與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美食、智慧型手機、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潮流之類的其他業種時事報導合作。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3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名人形象策略</a:t>
              </a:r>
              <a:endParaRPr lang="ja-JP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使用喜歡牛仔的名人，展開全年在日常生活中穿著牛仔的形象廣告。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依各季節推出</a:t>
              </a:r>
              <a:r>
                <a:rPr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種電視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廣告，報紙廣告以各媒體</a:t>
              </a:r>
              <a:r>
                <a:rPr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24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次的基礎實施（特寫廣告另外制定）。</a:t>
              </a:r>
              <a:endParaRPr lang="en-US" altLang="ja-JP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lang="zh-TW" altLang="en-US" sz="3600" spc="-1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宣傳游擊</a:t>
              </a:r>
              <a:r>
                <a:rPr lang="zh-TW" altLang="en-US" sz="3600" spc="-1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策略</a:t>
              </a:r>
              <a:endParaRPr lang="ja-JP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對認知度較低，</a:t>
              </a:r>
              <a:r>
                <a:rPr lang="en-US" altLang="zh-TW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40</a:t>
              </a: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歲以上的對象，展開使商品和公司名稱滲透的各種宣傳。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528763" indent="-361950" algn="just">
                <a:buFont typeface="Wingdings" panose="05000000000000000000" pitchFamily="2" charset="2"/>
                <a:buChar char="l"/>
              </a:pPr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以時尚雜誌、潮流雜誌、文藝雜誌為中心，實施拉攏固定客群的積極策略。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="" xmlns:a16="http://schemas.microsoft.com/office/drawing/2014/main" id="{4B751B49-26C5-4FFF-AAB1-68DFB35356DE}"/>
                </a:ext>
              </a:extLst>
            </p:cNvPr>
            <p:cNvSpPr/>
            <p:nvPr/>
          </p:nvSpPr>
          <p:spPr>
            <a:xfrm>
              <a:off x="-7074" y="0"/>
              <a:ext cx="9913073" cy="535259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="" xmlns:a16="http://schemas.microsoft.com/office/drawing/2014/main" id="{BE3CA545-4CCB-4245-B90D-A51FCC2AA905}"/>
                </a:ext>
              </a:extLst>
            </p:cNvPr>
            <p:cNvSpPr/>
            <p:nvPr/>
          </p:nvSpPr>
          <p:spPr>
            <a:xfrm>
              <a:off x="468744" y="112387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分享企劃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="" xmlns:a16="http://schemas.microsoft.com/office/drawing/2014/main" id="{FBE772A3-CF18-461B-9DE4-E8F073342918}"/>
              </a:ext>
            </a:extLst>
          </p:cNvPr>
          <p:cNvGrpSpPr/>
          <p:nvPr/>
        </p:nvGrpSpPr>
        <p:grpSpPr>
          <a:xfrm>
            <a:off x="507581" y="269496"/>
            <a:ext cx="8890838" cy="6319008"/>
            <a:chOff x="507581" y="269496"/>
            <a:chExt cx="8890838" cy="6319008"/>
          </a:xfrm>
        </p:grpSpPr>
        <p:sp>
          <p:nvSpPr>
            <p:cNvPr id="8" name="正方形/長方形 7">
              <a:extLst>
                <a:ext uri="{FF2B5EF4-FFF2-40B4-BE49-F238E27FC236}">
                  <a16:creationId xmlns="" xmlns:a16="http://schemas.microsoft.com/office/drawing/2014/main" id="{399A1BB3-C753-4DC4-AD6D-5AFD8EDC2E7D}"/>
                </a:ext>
              </a:extLst>
            </p:cNvPr>
            <p:cNvSpPr/>
            <p:nvPr/>
          </p:nvSpPr>
          <p:spPr>
            <a:xfrm>
              <a:off x="507581" y="4572504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="" xmlns:a16="http://schemas.microsoft.com/office/drawing/2014/main" id="{CEA3AEF0-C650-4E12-9B8F-AC563AC2EFC5}"/>
                </a:ext>
              </a:extLst>
            </p:cNvPr>
            <p:cNvSpPr/>
            <p:nvPr/>
          </p:nvSpPr>
          <p:spPr>
            <a:xfrm>
              <a:off x="3531000" y="4572504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="" xmlns:a16="http://schemas.microsoft.com/office/drawing/2014/main" id="{0996E43F-62E5-4218-AA85-FE3AEEF0CD02}"/>
                </a:ext>
              </a:extLst>
            </p:cNvPr>
            <p:cNvSpPr/>
            <p:nvPr/>
          </p:nvSpPr>
          <p:spPr>
            <a:xfrm>
              <a:off x="6554419" y="4572504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="" xmlns:a16="http://schemas.microsoft.com/office/drawing/2014/main" id="{CEC3F30F-AE9A-4963-900A-57F1F5F717FC}"/>
                </a:ext>
              </a:extLst>
            </p:cNvPr>
            <p:cNvSpPr/>
            <p:nvPr/>
          </p:nvSpPr>
          <p:spPr>
            <a:xfrm>
              <a:off x="507581" y="2421000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="" xmlns:a16="http://schemas.microsoft.com/office/drawing/2014/main" id="{115E9A3B-B2BA-4219-A7FB-8E9020CD9A24}"/>
                </a:ext>
              </a:extLst>
            </p:cNvPr>
            <p:cNvSpPr/>
            <p:nvPr/>
          </p:nvSpPr>
          <p:spPr>
            <a:xfrm>
              <a:off x="6554419" y="2421000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="" xmlns:a16="http://schemas.microsoft.com/office/drawing/2014/main" id="{31C22144-4C4C-4EC9-9315-59FA9838F914}"/>
                </a:ext>
              </a:extLst>
            </p:cNvPr>
            <p:cNvSpPr/>
            <p:nvPr/>
          </p:nvSpPr>
          <p:spPr>
            <a:xfrm>
              <a:off x="507581" y="269496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="" xmlns:a16="http://schemas.microsoft.com/office/drawing/2014/main" id="{6CCFDC89-07F5-4526-8351-547336F2A6E1}"/>
                </a:ext>
              </a:extLst>
            </p:cNvPr>
            <p:cNvSpPr/>
            <p:nvPr/>
          </p:nvSpPr>
          <p:spPr>
            <a:xfrm>
              <a:off x="3531000" y="269496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="" xmlns:a16="http://schemas.microsoft.com/office/drawing/2014/main" id="{9D60E05A-33C4-4BE6-979C-4DD6F24C9E6A}"/>
                </a:ext>
              </a:extLst>
            </p:cNvPr>
            <p:cNvSpPr/>
            <p:nvPr/>
          </p:nvSpPr>
          <p:spPr>
            <a:xfrm>
              <a:off x="6554419" y="269496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="" xmlns:a16="http://schemas.microsoft.com/office/drawing/2014/main" id="{8D978969-2FC4-4466-B37B-742330C046C3}"/>
                </a:ext>
              </a:extLst>
            </p:cNvPr>
            <p:cNvSpPr/>
            <p:nvPr/>
          </p:nvSpPr>
          <p:spPr>
            <a:xfrm rot="900000">
              <a:off x="3531000" y="2421000"/>
              <a:ext cx="2844000" cy="201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="" xmlns:a16="http://schemas.microsoft.com/office/drawing/2014/main" id="{D478A8B0-74C9-4ECD-AA9B-497BCE0FC689}"/>
                </a:ext>
              </a:extLst>
            </p:cNvPr>
            <p:cNvSpPr/>
            <p:nvPr/>
          </p:nvSpPr>
          <p:spPr>
            <a:xfrm>
              <a:off x="1324286" y="1108219"/>
              <a:ext cx="12105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ja-JP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禮貌的措辭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="" xmlns:a16="http://schemas.microsoft.com/office/drawing/2014/main" id="{629C640B-F2DF-4594-A7B8-C97E7E773D8C}"/>
                </a:ext>
              </a:extLst>
            </p:cNvPr>
            <p:cNvSpPr/>
            <p:nvPr/>
          </p:nvSpPr>
          <p:spPr>
            <a:xfrm>
              <a:off x="4450302" y="1108219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禮儀端正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="" xmlns:a16="http://schemas.microsoft.com/office/drawing/2014/main" id="{D23F0354-62B5-41BD-9319-1B138F8D847F}"/>
                </a:ext>
              </a:extLst>
            </p:cNvPr>
            <p:cNvSpPr/>
            <p:nvPr/>
          </p:nvSpPr>
          <p:spPr>
            <a:xfrm>
              <a:off x="7566054" y="1108219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不多嘴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="" xmlns:a16="http://schemas.microsoft.com/office/drawing/2014/main" id="{588F88C1-6DB3-4CB0-9436-0D599ABA9688}"/>
                </a:ext>
              </a:extLst>
            </p:cNvPr>
            <p:cNvSpPr/>
            <p:nvPr/>
          </p:nvSpPr>
          <p:spPr>
            <a:xfrm>
              <a:off x="1426879" y="5411227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身形苗條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="" xmlns:a16="http://schemas.microsoft.com/office/drawing/2014/main" id="{A2B38208-2BAC-40C0-8687-AA4785FFC2CC}"/>
                </a:ext>
              </a:extLst>
            </p:cNvPr>
            <p:cNvSpPr/>
            <p:nvPr/>
          </p:nvSpPr>
          <p:spPr>
            <a:xfrm>
              <a:off x="4450302" y="5411227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穿著簡單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="" xmlns:a16="http://schemas.microsoft.com/office/drawing/2014/main" id="{B8A7350F-BF7C-4584-AF66-3982A5EE2BCD}"/>
                </a:ext>
              </a:extLst>
            </p:cNvPr>
            <p:cNvSpPr/>
            <p:nvPr/>
          </p:nvSpPr>
          <p:spPr>
            <a:xfrm>
              <a:off x="7268533" y="5411227"/>
              <a:ext cx="12105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寫一手好字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="" xmlns:a16="http://schemas.microsoft.com/office/drawing/2014/main" id="{360E41CB-23B6-4023-931B-60DD00774A5C}"/>
                </a:ext>
              </a:extLst>
            </p:cNvPr>
            <p:cNvSpPr/>
            <p:nvPr/>
          </p:nvSpPr>
          <p:spPr>
            <a:xfrm>
              <a:off x="1426878" y="3259723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伸展背脊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="" xmlns:a16="http://schemas.microsoft.com/office/drawing/2014/main" id="{923A6A02-87EC-4397-892F-2360AAA790BD}"/>
                </a:ext>
              </a:extLst>
            </p:cNvPr>
            <p:cNvSpPr/>
            <p:nvPr/>
          </p:nvSpPr>
          <p:spPr>
            <a:xfrm rot="900000">
              <a:off x="3937341" y="3259723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受人喜愛的女性特徵</a:t>
              </a:r>
              <a:endParaRPr lang="ja-JP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="" xmlns:a16="http://schemas.microsoft.com/office/drawing/2014/main" id="{D8F30817-4D7D-499E-A776-4E8D43C1986F}"/>
                </a:ext>
              </a:extLst>
            </p:cNvPr>
            <p:cNvSpPr/>
            <p:nvPr/>
          </p:nvSpPr>
          <p:spPr>
            <a:xfrm>
              <a:off x="7463458" y="3259723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美姿美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儀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240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="" xmlns:a16="http://schemas.microsoft.com/office/drawing/2014/main" id="{83815A62-CF85-445E-A26A-C5BEAC150F67}"/>
              </a:ext>
            </a:extLst>
          </p:cNvPr>
          <p:cNvGrpSpPr/>
          <p:nvPr/>
        </p:nvGrpSpPr>
        <p:grpSpPr>
          <a:xfrm>
            <a:off x="-7074" y="-1"/>
            <a:ext cx="9913073" cy="5010575"/>
            <a:chOff x="-7074" y="-1"/>
            <a:chExt cx="9913073" cy="5010575"/>
          </a:xfrm>
        </p:grpSpPr>
        <p:sp>
          <p:nvSpPr>
            <p:cNvPr id="3" name="正方形/長方形 2">
              <a:extLst>
                <a:ext uri="{FF2B5EF4-FFF2-40B4-BE49-F238E27FC236}">
                  <a16:creationId xmlns="" xmlns:a16="http://schemas.microsoft.com/office/drawing/2014/main" id="{4B751B49-26C5-4FFF-AAB1-68DFB35356DE}"/>
                </a:ext>
              </a:extLst>
            </p:cNvPr>
            <p:cNvSpPr/>
            <p:nvPr/>
          </p:nvSpPr>
          <p:spPr>
            <a:xfrm>
              <a:off x="-7074" y="-1"/>
              <a:ext cx="9913073" cy="684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="" xmlns:a16="http://schemas.microsoft.com/office/drawing/2014/main" id="{BE3CA545-4CCB-4245-B90D-A51FCC2AA905}"/>
                </a:ext>
              </a:extLst>
            </p:cNvPr>
            <p:cNvSpPr/>
            <p:nvPr/>
          </p:nvSpPr>
          <p:spPr>
            <a:xfrm>
              <a:off x="4245118" y="202218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16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組織改革企劃</a:t>
              </a:r>
              <a:endParaRPr lang="ja-JP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" name="正方形/長方形 1">
              <a:extLst>
                <a:ext uri="{FF2B5EF4-FFF2-40B4-BE49-F238E27FC236}">
                  <a16:creationId xmlns="" xmlns:a16="http://schemas.microsoft.com/office/drawing/2014/main" id="{8094436E-B099-4DE0-BC91-D6171AA7DA00}"/>
                </a:ext>
              </a:extLst>
            </p:cNvPr>
            <p:cNvSpPr/>
            <p:nvPr/>
          </p:nvSpPr>
          <p:spPr>
            <a:xfrm>
              <a:off x="3598606" y="1286478"/>
              <a:ext cx="5663381" cy="372409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設置重新檢視當前營業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體制之根本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，同時使各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營業部門擁有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的經營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資源得以有效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活用的部門「戰略解決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方案室」。這個「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戰略解決方案室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將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各營業部門的專業知識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，帶領各部門產生相互協調的效應。</a:t>
              </a:r>
              <a:endPara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1200"/>
                </a:spcAft>
              </a:pP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「戰略解決方案室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」將利用</a:t>
              </a:r>
              <a:r>
                <a:rPr lang="en-US" altLang="zh-TW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個營業部門的人才、資訊與技術知識，擬定最佳效果且顧客滿意度最大化的營業戰略，並且有計畫性的執行。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1200"/>
                </a:spcAft>
              </a:pP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具體來說，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就是分析硬體製造商的主力產品和特徵，並決定活用本公司技術力的最佳解決</a:t>
              </a: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方案之方向性。甚至，也會參與經營資源的活用與確保銷售的具體性政策。該室會定期、非定期的臨機應變舉辦會議，並執行戰略擬定與執行。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="" xmlns:a16="http://schemas.microsoft.com/office/drawing/2014/main" id="{E7B0121F-BD9A-4306-A0F6-7E98CF681712}"/>
                </a:ext>
              </a:extLst>
            </p:cNvPr>
            <p:cNvSpPr/>
            <p:nvPr/>
          </p:nvSpPr>
          <p:spPr>
            <a:xfrm>
              <a:off x="644013" y="1286478"/>
              <a:ext cx="234990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發配經營資源的</a:t>
              </a:r>
              <a:r>
                <a:rPr lang="en-US" altLang="ja-JP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lang="en-US" altLang="ja-JP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全新部屬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337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338</Words>
  <Application>Microsoft Office PowerPoint</Application>
  <PresentationFormat>A4 紙張 (210x297 公釐)</PresentationFormat>
  <Paragraphs>27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27</cp:revision>
  <dcterms:created xsi:type="dcterms:W3CDTF">2017-11-09T07:26:57Z</dcterms:created>
  <dcterms:modified xsi:type="dcterms:W3CDTF">2018-09-24T06:41:03Z</dcterms:modified>
</cp:coreProperties>
</file>