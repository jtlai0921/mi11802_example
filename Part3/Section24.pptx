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0" r:id="rId3"/>
    <p:sldId id="257" r:id="rId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13" d="100"/>
          <a:sy n="113" d="100"/>
        </p:scale>
        <p:origin x="124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422942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88826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401667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371447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783183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1370719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96343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591081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652104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408790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C278228-730F-428F-BDD8-7FD4DE5CF34A}" type="datetimeFigureOut">
              <a:rPr kumimoji="1" lang="ja-JP" altLang="en-US" smtClean="0"/>
              <a:t>2018/10/1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35486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278228-730F-428F-BDD8-7FD4DE5CF34A}" type="datetimeFigureOut">
              <a:rPr kumimoji="1" lang="ja-JP" altLang="en-US" smtClean="0"/>
              <a:t>2018/10/1</a:t>
            </a:fld>
            <a:endParaRPr kumimoji="1" lang="ja-JP"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096B3D-3B18-4A16-835B-BBB43F6FB6DF}" type="slidenum">
              <a:rPr kumimoji="1" lang="ja-JP" altLang="en-US" smtClean="0"/>
              <a:t>‹#›</a:t>
            </a:fld>
            <a:endParaRPr kumimoji="1" lang="ja-JP" altLang="en-US"/>
          </a:p>
        </p:txBody>
      </p:sp>
    </p:spTree>
    <p:extLst>
      <p:ext uri="{BB962C8B-B14F-4D97-AF65-F5344CB8AC3E}">
        <p14:creationId xmlns:p14="http://schemas.microsoft.com/office/powerpoint/2010/main" val="2726077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 xmlns:a16="http://schemas.microsoft.com/office/drawing/2014/main" id="{0FC87232-CCDA-46C6-AD79-7B27391DEC67}"/>
              </a:ext>
            </a:extLst>
          </p:cNvPr>
          <p:cNvGrpSpPr/>
          <p:nvPr/>
        </p:nvGrpSpPr>
        <p:grpSpPr>
          <a:xfrm>
            <a:off x="0" y="0"/>
            <a:ext cx="9906000" cy="6456117"/>
            <a:chOff x="0" y="0"/>
            <a:chExt cx="9906000" cy="6456117"/>
          </a:xfrm>
        </p:grpSpPr>
        <p:grpSp>
          <p:nvGrpSpPr>
            <p:cNvPr id="11" name="グループ化 10">
              <a:extLst>
                <a:ext uri="{FF2B5EF4-FFF2-40B4-BE49-F238E27FC236}">
                  <a16:creationId xmlns="" xmlns:a16="http://schemas.microsoft.com/office/drawing/2014/main" id="{859AC0A3-3FBB-4EEF-879C-720831F9C735}"/>
                </a:ext>
              </a:extLst>
            </p:cNvPr>
            <p:cNvGrpSpPr/>
            <p:nvPr/>
          </p:nvGrpSpPr>
          <p:grpSpPr>
            <a:xfrm>
              <a:off x="3393346" y="4255231"/>
              <a:ext cx="3298353" cy="2197528"/>
              <a:chOff x="3393346" y="4255231"/>
              <a:chExt cx="3298353" cy="2197528"/>
            </a:xfrm>
          </p:grpSpPr>
          <p:pic>
            <p:nvPicPr>
              <p:cNvPr id="6" name="図 5" descr="草, 空, 屋外, 野原 が含まれている画像&#10;&#10;非常に高い精度で生成された説明">
                <a:extLst>
                  <a:ext uri="{FF2B5EF4-FFF2-40B4-BE49-F238E27FC236}">
                    <a16:creationId xmlns="" xmlns:a16="http://schemas.microsoft.com/office/drawing/2014/main" id="{4E02E612-8B6A-4DC9-BBD6-3874EA7DE2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93346" y="4255231"/>
                <a:ext cx="3298353" cy="2197528"/>
              </a:xfrm>
              <a:prstGeom prst="rect">
                <a:avLst/>
              </a:prstGeom>
            </p:spPr>
          </p:pic>
          <p:pic>
            <p:nvPicPr>
              <p:cNvPr id="3" name="図 2">
                <a:extLst>
                  <a:ext uri="{FF2B5EF4-FFF2-40B4-BE49-F238E27FC236}">
                    <a16:creationId xmlns="" xmlns:a16="http://schemas.microsoft.com/office/drawing/2014/main" id="{C6F013FF-2A6C-4274-85F8-94C26083CF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9107" y="4284328"/>
                <a:ext cx="1570846" cy="1056099"/>
              </a:xfrm>
              <a:prstGeom prst="rect">
                <a:avLst/>
              </a:prstGeom>
            </p:spPr>
          </p:pic>
        </p:grpSp>
        <p:sp>
          <p:nvSpPr>
            <p:cNvPr id="13" name="テキスト ボックス 12">
              <a:extLst>
                <a:ext uri="{FF2B5EF4-FFF2-40B4-BE49-F238E27FC236}">
                  <a16:creationId xmlns="" xmlns:a16="http://schemas.microsoft.com/office/drawing/2014/main" id="{E0185A69-25E3-4C9F-99D1-E875183C9022}"/>
                </a:ext>
              </a:extLst>
            </p:cNvPr>
            <p:cNvSpPr txBox="1"/>
            <p:nvPr/>
          </p:nvSpPr>
          <p:spPr>
            <a:xfrm>
              <a:off x="792290" y="2179968"/>
              <a:ext cx="5347225" cy="1169551"/>
            </a:xfrm>
            <a:prstGeom prst="rect">
              <a:avLst/>
            </a:prstGeom>
            <a:noFill/>
          </p:spPr>
          <p:txBody>
            <a:bodyPr wrap="square" rtlCol="0">
              <a:spAutoFit/>
            </a:bodyPr>
            <a:lstStyle/>
            <a:p>
              <a:pPr algn="just"/>
              <a:r>
                <a:rPr kumimoji="1" lang="zh-TW" altLang="en-US" sz="1400" smtClean="0">
                  <a:latin typeface="微軟正黑體" panose="020B0604030504040204" pitchFamily="34" charset="-120"/>
                  <a:ea typeface="微軟正黑體" panose="020B0604030504040204" pitchFamily="34" charset="-120"/>
                </a:rPr>
                <a:t>高齡化和慢性化的人手不足、採收前的農作物蒙受竊盜損害等種種因素，導致農家「</a:t>
              </a:r>
              <a:r>
                <a:rPr lang="zh-TW" altLang="en-US" sz="1400">
                  <a:latin typeface="微軟正黑體" panose="020B0604030504040204" pitchFamily="34" charset="-120"/>
                  <a:ea typeface="微軟正黑體" panose="020B0604030504040204" pitchFamily="34" charset="-120"/>
                </a:rPr>
                <a:t>勞多功少</a:t>
              </a:r>
              <a:r>
                <a:rPr kumimoji="1" lang="zh-TW" altLang="en-US" sz="1400" smtClean="0">
                  <a:latin typeface="微軟正黑體" panose="020B0604030504040204" pitchFamily="34" charset="-120"/>
                  <a:ea typeface="微軟正黑體" panose="020B0604030504040204" pitchFamily="34" charset="-120"/>
                </a:rPr>
                <a:t>」的情況是不爭的事實。本公司利用無人機和</a:t>
              </a:r>
              <a:r>
                <a:rPr kumimoji="1" lang="en-US" altLang="zh-TW" sz="1400" smtClean="0">
                  <a:latin typeface="微軟正黑體" panose="020B0604030504040204" pitchFamily="34" charset="-120"/>
                  <a:ea typeface="微軟正黑體" panose="020B0604030504040204" pitchFamily="34" charset="-120"/>
                </a:rPr>
                <a:t>IT</a:t>
              </a:r>
              <a:r>
                <a:rPr kumimoji="1" lang="zh-TW" altLang="en-US" sz="1400">
                  <a:latin typeface="微軟正黑體" panose="020B0604030504040204" pitchFamily="34" charset="-120"/>
                  <a:ea typeface="微軟正黑體" panose="020B0604030504040204" pitchFamily="34" charset="-120"/>
                </a:rPr>
                <a:t>，開發提供活用資料的農家專用無人機系統。農家可透過內建的攝影機全天候監視</a:t>
              </a:r>
              <a:r>
                <a:rPr kumimoji="1" lang="zh-TW" altLang="en-US" sz="1400" smtClean="0">
                  <a:latin typeface="微軟正黑體" panose="020B0604030504040204" pitchFamily="34" charset="-120"/>
                  <a:ea typeface="微軟正黑體" panose="020B0604030504040204" pitchFamily="34" charset="-120"/>
                </a:rPr>
                <a:t>農作物生長及農場的情況，可望提高生產性。</a:t>
              </a:r>
              <a:endParaRPr kumimoji="1" lang="ja-JP" altLang="en-US" sz="1400" dirty="0">
                <a:latin typeface="微軟正黑體" panose="020B0604030504040204" pitchFamily="34" charset="-120"/>
                <a:ea typeface="微軟正黑體" panose="020B0604030504040204" pitchFamily="34" charset="-120"/>
              </a:endParaRPr>
            </a:p>
          </p:txBody>
        </p:sp>
        <p:sp>
          <p:nvSpPr>
            <p:cNvPr id="16" name="1 つの角を切り取った四角形 4">
              <a:extLst>
                <a:ext uri="{FF2B5EF4-FFF2-40B4-BE49-F238E27FC236}">
                  <a16:creationId xmlns="" xmlns:a16="http://schemas.microsoft.com/office/drawing/2014/main" id="{2E922AB4-8640-46D5-9229-4A486C7A7A3A}"/>
                </a:ext>
              </a:extLst>
            </p:cNvPr>
            <p:cNvSpPr/>
            <p:nvPr/>
          </p:nvSpPr>
          <p:spPr>
            <a:xfrm>
              <a:off x="0" y="0"/>
              <a:ext cx="9906000" cy="992459"/>
            </a:xfrm>
            <a:prstGeom prst="rect">
              <a:avLst/>
            </a:prstGeom>
            <a:solidFill>
              <a:srgbClr val="008000"/>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 name="正方形/長方形 3">
              <a:extLst>
                <a:ext uri="{FF2B5EF4-FFF2-40B4-BE49-F238E27FC236}">
                  <a16:creationId xmlns="" xmlns:a16="http://schemas.microsoft.com/office/drawing/2014/main" id="{79559120-0DE8-4BD0-84E0-CDA6BD78D79E}"/>
                </a:ext>
              </a:extLst>
            </p:cNvPr>
            <p:cNvSpPr/>
            <p:nvPr/>
          </p:nvSpPr>
          <p:spPr>
            <a:xfrm>
              <a:off x="792291" y="1284174"/>
              <a:ext cx="4759797" cy="830997"/>
            </a:xfrm>
            <a:prstGeom prst="rect">
              <a:avLst/>
            </a:prstGeom>
          </p:spPr>
          <p:txBody>
            <a:bodyPr wrap="square">
              <a:spAutoFit/>
            </a:bodyPr>
            <a:lstStyle/>
            <a:p>
              <a:r>
                <a:rPr kumimoji="1" lang="zh-TW" altLang="en-US" sz="2400" b="1" smtClean="0">
                  <a:latin typeface="微軟正黑體" panose="020B0604030504040204" pitchFamily="34" charset="-120"/>
                  <a:ea typeface="微軟正黑體" panose="020B0604030504040204" pitchFamily="34" charset="-120"/>
                </a:rPr>
                <a:t>用無人機自動</a:t>
              </a:r>
              <a:r>
                <a:rPr kumimoji="1" lang="zh-TW" altLang="en-US" sz="2400" b="1" smtClean="0">
                  <a:latin typeface="微軟正黑體" panose="020B0604030504040204" pitchFamily="34" charset="-120"/>
                  <a:ea typeface="微軟正黑體" panose="020B0604030504040204" pitchFamily="34" charset="-120"/>
                </a:rPr>
                <a:t>監視農作物</a:t>
              </a:r>
              <a:r>
                <a:rPr kumimoji="1" lang="zh-TW" altLang="en-US" sz="2400" b="1" smtClean="0">
                  <a:latin typeface="微軟正黑體" panose="020B0604030504040204" pitchFamily="34" charset="-120"/>
                  <a:ea typeface="微軟正黑體" panose="020B0604030504040204" pitchFamily="34" charset="-120"/>
                </a:rPr>
                <a:t>的生長、預防犯罪！</a:t>
              </a:r>
              <a:endParaRPr kumimoji="1" lang="ja-JP" altLang="en-US" sz="2400" b="1" dirty="0">
                <a:latin typeface="微軟正黑體" panose="020B0604030504040204" pitchFamily="34" charset="-120"/>
                <a:ea typeface="微軟正黑體" panose="020B0604030504040204" pitchFamily="34" charset="-120"/>
              </a:endParaRPr>
            </a:p>
          </p:txBody>
        </p:sp>
        <p:sp>
          <p:nvSpPr>
            <p:cNvPr id="18" name="テキスト ボックス 17">
              <a:extLst>
                <a:ext uri="{FF2B5EF4-FFF2-40B4-BE49-F238E27FC236}">
                  <a16:creationId xmlns="" xmlns:a16="http://schemas.microsoft.com/office/drawing/2014/main" id="{A80133E6-9504-43C8-A845-A6588A31EC41}"/>
                </a:ext>
              </a:extLst>
            </p:cNvPr>
            <p:cNvSpPr txBox="1"/>
            <p:nvPr/>
          </p:nvSpPr>
          <p:spPr>
            <a:xfrm>
              <a:off x="792291" y="391634"/>
              <a:ext cx="6773632" cy="461665"/>
            </a:xfrm>
            <a:prstGeom prst="rect">
              <a:avLst/>
            </a:prstGeom>
            <a:noFill/>
          </p:spPr>
          <p:txBody>
            <a:bodyPr wrap="square" rtlCol="0">
              <a:spAutoFit/>
            </a:bodyPr>
            <a:lstStyle/>
            <a:p>
              <a:r>
                <a:rPr kumimoji="1" lang="zh-TW" altLang="en-US" sz="2400" b="1" smtClean="0">
                  <a:solidFill>
                    <a:schemeClr val="bg1"/>
                  </a:solidFill>
                  <a:latin typeface="微軟正黑體" panose="020B0604030504040204" pitchFamily="34" charset="-120"/>
                  <a:ea typeface="微軟正黑體" panose="020B0604030504040204" pitchFamily="34" charset="-120"/>
                </a:rPr>
                <a:t>農家專用無人機系統的開發與販售</a:t>
              </a:r>
              <a:endParaRPr kumimoji="1" lang="ja-JP" altLang="en-US" sz="2400" b="1" dirty="0">
                <a:solidFill>
                  <a:schemeClr val="bg1"/>
                </a:solidFill>
                <a:latin typeface="微軟正黑體" panose="020B0604030504040204" pitchFamily="34" charset="-120"/>
                <a:ea typeface="微軟正黑體" panose="020B0604030504040204" pitchFamily="34" charset="-120"/>
              </a:endParaRPr>
            </a:p>
          </p:txBody>
        </p:sp>
        <p:sp>
          <p:nvSpPr>
            <p:cNvPr id="23" name="正方形/長方形 22">
              <a:extLst>
                <a:ext uri="{FF2B5EF4-FFF2-40B4-BE49-F238E27FC236}">
                  <a16:creationId xmlns="" xmlns:a16="http://schemas.microsoft.com/office/drawing/2014/main" id="{1E03E34D-B1B3-4CB7-9571-04C5F247DE99}"/>
                </a:ext>
              </a:extLst>
            </p:cNvPr>
            <p:cNvSpPr/>
            <p:nvPr/>
          </p:nvSpPr>
          <p:spPr>
            <a:xfrm>
              <a:off x="3692077" y="3671930"/>
              <a:ext cx="2700892" cy="369332"/>
            </a:xfrm>
            <a:prstGeom prst="rect">
              <a:avLst/>
            </a:prstGeom>
          </p:spPr>
          <p:txBody>
            <a:bodyPr wrap="square">
              <a:spAutoFit/>
            </a:bodyPr>
            <a:lstStyle/>
            <a:p>
              <a:pPr algn="ctr"/>
              <a:r>
                <a:rPr lang="zh-TW" altLang="en-US" b="1" smtClean="0">
                  <a:solidFill>
                    <a:srgbClr val="006600"/>
                  </a:solidFill>
                  <a:latin typeface="微軟正黑體" panose="020B0604030504040204" pitchFamily="34" charset="-120"/>
                  <a:ea typeface="微軟正黑體" panose="020B0604030504040204" pitchFamily="34" charset="-120"/>
                </a:rPr>
                <a:t>農田「可視化」</a:t>
              </a:r>
              <a:endParaRPr lang="ja-JP" altLang="en-US" b="1" dirty="0">
                <a:solidFill>
                  <a:srgbClr val="006600"/>
                </a:solidFill>
                <a:latin typeface="微軟正黑體" panose="020B0604030504040204" pitchFamily="34" charset="-120"/>
                <a:ea typeface="微軟正黑體" panose="020B0604030504040204" pitchFamily="34" charset="-120"/>
              </a:endParaRPr>
            </a:p>
          </p:txBody>
        </p:sp>
        <p:sp>
          <p:nvSpPr>
            <p:cNvPr id="27" name="正方形/長方形 26">
              <a:extLst>
                <a:ext uri="{FF2B5EF4-FFF2-40B4-BE49-F238E27FC236}">
                  <a16:creationId xmlns="" xmlns:a16="http://schemas.microsoft.com/office/drawing/2014/main" id="{D82269DD-B141-4E0A-9391-458F3F077040}"/>
                </a:ext>
              </a:extLst>
            </p:cNvPr>
            <p:cNvSpPr/>
            <p:nvPr/>
          </p:nvSpPr>
          <p:spPr>
            <a:xfrm>
              <a:off x="2750571" y="4771908"/>
              <a:ext cx="2100209" cy="400110"/>
            </a:xfrm>
            <a:prstGeom prst="rect">
              <a:avLst/>
            </a:prstGeom>
          </p:spPr>
          <p:txBody>
            <a:bodyPr wrap="square">
              <a:spAutoFit/>
            </a:bodyPr>
            <a:lstStyle/>
            <a:p>
              <a:endParaRPr kumimoji="1" lang="en-US" altLang="ja-JP" sz="1000" dirty="0">
                <a:solidFill>
                  <a:prstClr val="black"/>
                </a:solidFill>
                <a:latin typeface="+mn-ea"/>
              </a:endParaRPr>
            </a:p>
            <a:p>
              <a:endParaRPr kumimoji="1" lang="en-US" altLang="ja-JP" sz="1000" dirty="0">
                <a:solidFill>
                  <a:prstClr val="black"/>
                </a:solidFill>
                <a:latin typeface="+mn-ea"/>
              </a:endParaRPr>
            </a:p>
          </p:txBody>
        </p:sp>
        <p:grpSp>
          <p:nvGrpSpPr>
            <p:cNvPr id="77" name="グループ化 76">
              <a:extLst>
                <a:ext uri="{FF2B5EF4-FFF2-40B4-BE49-F238E27FC236}">
                  <a16:creationId xmlns="" xmlns:a16="http://schemas.microsoft.com/office/drawing/2014/main" id="{6C119348-4D23-40EE-88EB-3D48BCF36D0B}"/>
                </a:ext>
              </a:extLst>
            </p:cNvPr>
            <p:cNvGrpSpPr/>
            <p:nvPr/>
          </p:nvGrpSpPr>
          <p:grpSpPr>
            <a:xfrm>
              <a:off x="892098" y="3599224"/>
              <a:ext cx="2242995" cy="537744"/>
              <a:chOff x="892098" y="3599224"/>
              <a:chExt cx="2242995" cy="537744"/>
            </a:xfrm>
          </p:grpSpPr>
          <p:sp>
            <p:nvSpPr>
              <p:cNvPr id="28" name="正方形/長方形 27">
                <a:extLst>
                  <a:ext uri="{FF2B5EF4-FFF2-40B4-BE49-F238E27FC236}">
                    <a16:creationId xmlns="" xmlns:a16="http://schemas.microsoft.com/office/drawing/2014/main" id="{E71F8D85-B252-4EDA-95F7-50BAC82595BF}"/>
                  </a:ext>
                </a:extLst>
              </p:cNvPr>
              <p:cNvSpPr/>
              <p:nvPr/>
            </p:nvSpPr>
            <p:spPr>
              <a:xfrm>
                <a:off x="892098" y="3599224"/>
                <a:ext cx="71838" cy="537744"/>
              </a:xfrm>
              <a:prstGeom prst="rect">
                <a:avLst/>
              </a:prstGeom>
              <a:solidFill>
                <a:schemeClr val="accent2"/>
              </a:solidFill>
              <a:ln w="9525" cap="sq">
                <a:solidFill>
                  <a:schemeClr val="accent3">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9" name="正方形/長方形 28">
                <a:extLst>
                  <a:ext uri="{FF2B5EF4-FFF2-40B4-BE49-F238E27FC236}">
                    <a16:creationId xmlns="" xmlns:a16="http://schemas.microsoft.com/office/drawing/2014/main" id="{0705F0D2-F438-4CCC-8BD4-E4D0CBA8D749}"/>
                  </a:ext>
                </a:extLst>
              </p:cNvPr>
              <p:cNvSpPr/>
              <p:nvPr/>
            </p:nvSpPr>
            <p:spPr>
              <a:xfrm>
                <a:off x="963935" y="3599224"/>
                <a:ext cx="2100209" cy="537744"/>
              </a:xfrm>
              <a:prstGeom prst="rect">
                <a:avLst/>
              </a:prstGeom>
              <a:noFill/>
              <a:ln w="9525"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0" name="正方形/長方形 29">
                <a:extLst>
                  <a:ext uri="{FF2B5EF4-FFF2-40B4-BE49-F238E27FC236}">
                    <a16:creationId xmlns="" xmlns:a16="http://schemas.microsoft.com/office/drawing/2014/main" id="{8F3B65F1-33EA-4571-9501-416835FF8E0E}"/>
                  </a:ext>
                </a:extLst>
              </p:cNvPr>
              <p:cNvSpPr/>
              <p:nvPr/>
            </p:nvSpPr>
            <p:spPr>
              <a:xfrm>
                <a:off x="975093" y="3682649"/>
                <a:ext cx="2160000" cy="400110"/>
              </a:xfrm>
              <a:prstGeom prst="rect">
                <a:avLst/>
              </a:prstGeom>
            </p:spPr>
            <p:txBody>
              <a:bodyPr wrap="square">
                <a:spAutoFit/>
              </a:bodyPr>
              <a:lstStyle/>
              <a:p>
                <a:r>
                  <a:rPr kumimoji="1" lang="zh-TW" altLang="en-US" sz="1000">
                    <a:solidFill>
                      <a:prstClr val="black"/>
                    </a:solidFill>
                    <a:latin typeface="微軟正黑體" panose="020B0604030504040204" pitchFamily="34" charset="-120"/>
                    <a:ea typeface="微軟正黑體" panose="020B0604030504040204" pitchFamily="34" charset="-120"/>
                  </a:rPr>
                  <a:t>從</a:t>
                </a:r>
                <a:r>
                  <a:rPr kumimoji="1" lang="zh-TW" altLang="en-US" sz="1000" smtClean="0">
                    <a:solidFill>
                      <a:prstClr val="black"/>
                    </a:solidFill>
                    <a:latin typeface="微軟正黑體" panose="020B0604030504040204" pitchFamily="34" charset="-120"/>
                    <a:ea typeface="微軟正黑體" panose="020B0604030504040204" pitchFamily="34" charset="-120"/>
                  </a:rPr>
                  <a:t>空中以自動導航進行農田</a:t>
                </a:r>
                <a:r>
                  <a:rPr kumimoji="1" lang="zh-TW" altLang="en-US" sz="1000">
                    <a:solidFill>
                      <a:prstClr val="black"/>
                    </a:solidFill>
                    <a:latin typeface="微軟正黑體" panose="020B0604030504040204" pitchFamily="34" charset="-120"/>
                    <a:ea typeface="微軟正黑體" panose="020B0604030504040204" pitchFamily="34" charset="-120"/>
                  </a:rPr>
                  <a:t>的正確圖像感</a:t>
                </a:r>
                <a:r>
                  <a:rPr kumimoji="1" lang="zh-TW" altLang="en-US" sz="1000" smtClean="0">
                    <a:solidFill>
                      <a:prstClr val="black"/>
                    </a:solidFill>
                    <a:latin typeface="微軟正黑體" panose="020B0604030504040204" pitchFamily="34" charset="-120"/>
                    <a:ea typeface="微軟正黑體" panose="020B0604030504040204" pitchFamily="34" charset="-120"/>
                  </a:rPr>
                  <a:t>測</a:t>
                </a:r>
                <a:endParaRPr lang="ja-JP" altLang="en-US" sz="1000" dirty="0">
                  <a:latin typeface="微軟正黑體" panose="020B0604030504040204" pitchFamily="34" charset="-120"/>
                  <a:ea typeface="微軟正黑體" panose="020B0604030504040204" pitchFamily="34" charset="-120"/>
                </a:endParaRPr>
              </a:p>
            </p:txBody>
          </p:sp>
        </p:grpSp>
        <p:grpSp>
          <p:nvGrpSpPr>
            <p:cNvPr id="76" name="グループ化 75">
              <a:extLst>
                <a:ext uri="{FF2B5EF4-FFF2-40B4-BE49-F238E27FC236}">
                  <a16:creationId xmlns="" xmlns:a16="http://schemas.microsoft.com/office/drawing/2014/main" id="{3D7A5459-9E52-462F-BEDE-CB21CE339A4F}"/>
                </a:ext>
              </a:extLst>
            </p:cNvPr>
            <p:cNvGrpSpPr/>
            <p:nvPr/>
          </p:nvGrpSpPr>
          <p:grpSpPr>
            <a:xfrm>
              <a:off x="892098" y="4366265"/>
              <a:ext cx="2242995" cy="537744"/>
              <a:chOff x="892098" y="4366265"/>
              <a:chExt cx="2242995" cy="537744"/>
            </a:xfrm>
          </p:grpSpPr>
          <p:sp>
            <p:nvSpPr>
              <p:cNvPr id="31" name="正方形/長方形 30">
                <a:extLst>
                  <a:ext uri="{FF2B5EF4-FFF2-40B4-BE49-F238E27FC236}">
                    <a16:creationId xmlns="" xmlns:a16="http://schemas.microsoft.com/office/drawing/2014/main" id="{DFFB328C-A143-4FC6-B5B9-52B1CC899590}"/>
                  </a:ext>
                </a:extLst>
              </p:cNvPr>
              <p:cNvSpPr/>
              <p:nvPr/>
            </p:nvSpPr>
            <p:spPr>
              <a:xfrm>
                <a:off x="892098" y="4366265"/>
                <a:ext cx="71838" cy="537744"/>
              </a:xfrm>
              <a:prstGeom prst="rect">
                <a:avLst/>
              </a:prstGeom>
              <a:solidFill>
                <a:schemeClr val="accent2"/>
              </a:solidFill>
              <a:ln w="9525" cap="sq">
                <a:solidFill>
                  <a:schemeClr val="accent3">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2" name="正方形/長方形 31">
                <a:extLst>
                  <a:ext uri="{FF2B5EF4-FFF2-40B4-BE49-F238E27FC236}">
                    <a16:creationId xmlns="" xmlns:a16="http://schemas.microsoft.com/office/drawing/2014/main" id="{F03CB42A-CA67-44F4-8D97-1B284613B3CC}"/>
                  </a:ext>
                </a:extLst>
              </p:cNvPr>
              <p:cNvSpPr/>
              <p:nvPr/>
            </p:nvSpPr>
            <p:spPr>
              <a:xfrm>
                <a:off x="963935" y="4366265"/>
                <a:ext cx="2100209" cy="537744"/>
              </a:xfrm>
              <a:prstGeom prst="rect">
                <a:avLst/>
              </a:prstGeom>
              <a:noFill/>
              <a:ln w="9525"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3" name="正方形/長方形 32">
                <a:extLst>
                  <a:ext uri="{FF2B5EF4-FFF2-40B4-BE49-F238E27FC236}">
                    <a16:creationId xmlns="" xmlns:a16="http://schemas.microsoft.com/office/drawing/2014/main" id="{88A2432B-CA87-4590-A70F-228080827296}"/>
                  </a:ext>
                </a:extLst>
              </p:cNvPr>
              <p:cNvSpPr/>
              <p:nvPr/>
            </p:nvSpPr>
            <p:spPr>
              <a:xfrm>
                <a:off x="975093" y="4449690"/>
                <a:ext cx="2160000" cy="400110"/>
              </a:xfrm>
              <a:prstGeom prst="rect">
                <a:avLst/>
              </a:prstGeom>
            </p:spPr>
            <p:txBody>
              <a:bodyPr wrap="square">
                <a:spAutoFit/>
              </a:bodyPr>
              <a:lstStyle/>
              <a:p>
                <a:r>
                  <a:rPr kumimoji="1" lang="zh-TW" altLang="en-US" sz="1000" smtClean="0">
                    <a:solidFill>
                      <a:prstClr val="black"/>
                    </a:solidFill>
                    <a:latin typeface="微軟正黑體" panose="020B0604030504040204" pitchFamily="34" charset="-120"/>
                    <a:ea typeface="微軟正黑體" panose="020B0604030504040204" pitchFamily="34" charset="-120"/>
                  </a:rPr>
                  <a:t>觀察生長變化，預測養護、病蟲害預防、出貨時期</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grpSp>
          <p:nvGrpSpPr>
            <p:cNvPr id="75" name="グループ化 74">
              <a:extLst>
                <a:ext uri="{FF2B5EF4-FFF2-40B4-BE49-F238E27FC236}">
                  <a16:creationId xmlns="" xmlns:a16="http://schemas.microsoft.com/office/drawing/2014/main" id="{C40E9741-A276-42BA-AD88-9183D6AA5325}"/>
                </a:ext>
              </a:extLst>
            </p:cNvPr>
            <p:cNvGrpSpPr/>
            <p:nvPr/>
          </p:nvGrpSpPr>
          <p:grpSpPr>
            <a:xfrm>
              <a:off x="892098" y="5151332"/>
              <a:ext cx="2242995" cy="537744"/>
              <a:chOff x="892098" y="5151332"/>
              <a:chExt cx="2242995" cy="537744"/>
            </a:xfrm>
          </p:grpSpPr>
          <p:sp>
            <p:nvSpPr>
              <p:cNvPr id="34" name="正方形/長方形 33">
                <a:extLst>
                  <a:ext uri="{FF2B5EF4-FFF2-40B4-BE49-F238E27FC236}">
                    <a16:creationId xmlns="" xmlns:a16="http://schemas.microsoft.com/office/drawing/2014/main" id="{3ABC30C4-0066-441F-B721-4AE8F3408725}"/>
                  </a:ext>
                </a:extLst>
              </p:cNvPr>
              <p:cNvSpPr/>
              <p:nvPr/>
            </p:nvSpPr>
            <p:spPr>
              <a:xfrm>
                <a:off x="892098" y="5151332"/>
                <a:ext cx="71838" cy="537744"/>
              </a:xfrm>
              <a:prstGeom prst="rect">
                <a:avLst/>
              </a:prstGeom>
              <a:solidFill>
                <a:schemeClr val="accent2"/>
              </a:solidFill>
              <a:ln w="9525" cap="sq">
                <a:solidFill>
                  <a:schemeClr val="accent3">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5" name="正方形/長方形 34">
                <a:extLst>
                  <a:ext uri="{FF2B5EF4-FFF2-40B4-BE49-F238E27FC236}">
                    <a16:creationId xmlns="" xmlns:a16="http://schemas.microsoft.com/office/drawing/2014/main" id="{9D4DA845-7087-4591-9838-66219A1EE6B3}"/>
                  </a:ext>
                </a:extLst>
              </p:cNvPr>
              <p:cNvSpPr/>
              <p:nvPr/>
            </p:nvSpPr>
            <p:spPr>
              <a:xfrm>
                <a:off x="963935" y="5151332"/>
                <a:ext cx="2100209" cy="537744"/>
              </a:xfrm>
              <a:prstGeom prst="rect">
                <a:avLst/>
              </a:prstGeom>
              <a:noFill/>
              <a:ln w="9525"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6" name="正方形/長方形 35">
                <a:extLst>
                  <a:ext uri="{FF2B5EF4-FFF2-40B4-BE49-F238E27FC236}">
                    <a16:creationId xmlns="" xmlns:a16="http://schemas.microsoft.com/office/drawing/2014/main" id="{253CD451-B4BA-460C-927F-33F5C534E771}"/>
                  </a:ext>
                </a:extLst>
              </p:cNvPr>
              <p:cNvSpPr/>
              <p:nvPr/>
            </p:nvSpPr>
            <p:spPr>
              <a:xfrm>
                <a:off x="975093" y="5234757"/>
                <a:ext cx="2160000" cy="400110"/>
              </a:xfrm>
              <a:prstGeom prst="rect">
                <a:avLst/>
              </a:prstGeom>
            </p:spPr>
            <p:txBody>
              <a:bodyPr wrap="square">
                <a:spAutoFit/>
              </a:bodyPr>
              <a:lstStyle/>
              <a:p>
                <a:r>
                  <a:rPr kumimoji="1" lang="zh-TW" altLang="en-US" sz="1000" smtClean="0">
                    <a:solidFill>
                      <a:prstClr val="black"/>
                    </a:solidFill>
                    <a:latin typeface="微軟正黑體" panose="020B0604030504040204" pitchFamily="34" charset="-120"/>
                    <a:ea typeface="微軟正黑體" panose="020B0604030504040204" pitchFamily="34" charset="-120"/>
                  </a:rPr>
                  <a:t>處理無人機送出的資料，儲存於雲端</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grpSp>
          <p:nvGrpSpPr>
            <p:cNvPr id="74" name="グループ化 73">
              <a:extLst>
                <a:ext uri="{FF2B5EF4-FFF2-40B4-BE49-F238E27FC236}">
                  <a16:creationId xmlns="" xmlns:a16="http://schemas.microsoft.com/office/drawing/2014/main" id="{3716607E-29FF-4E83-A769-366C4E3BEB03}"/>
                </a:ext>
              </a:extLst>
            </p:cNvPr>
            <p:cNvGrpSpPr/>
            <p:nvPr/>
          </p:nvGrpSpPr>
          <p:grpSpPr>
            <a:xfrm>
              <a:off x="892098" y="5918373"/>
              <a:ext cx="2242995" cy="537744"/>
              <a:chOff x="892098" y="5918373"/>
              <a:chExt cx="2242995" cy="537744"/>
            </a:xfrm>
          </p:grpSpPr>
          <p:sp>
            <p:nvSpPr>
              <p:cNvPr id="37" name="正方形/長方形 36">
                <a:extLst>
                  <a:ext uri="{FF2B5EF4-FFF2-40B4-BE49-F238E27FC236}">
                    <a16:creationId xmlns="" xmlns:a16="http://schemas.microsoft.com/office/drawing/2014/main" id="{8868BE30-0A76-489D-BEB3-0E80D17B74C9}"/>
                  </a:ext>
                </a:extLst>
              </p:cNvPr>
              <p:cNvSpPr/>
              <p:nvPr/>
            </p:nvSpPr>
            <p:spPr>
              <a:xfrm>
                <a:off x="892098" y="5918373"/>
                <a:ext cx="71838" cy="537744"/>
              </a:xfrm>
              <a:prstGeom prst="rect">
                <a:avLst/>
              </a:prstGeom>
              <a:solidFill>
                <a:schemeClr val="accent2"/>
              </a:solidFill>
              <a:ln w="9525" cap="sq">
                <a:solidFill>
                  <a:schemeClr val="accent3">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8" name="正方形/長方形 37">
                <a:extLst>
                  <a:ext uri="{FF2B5EF4-FFF2-40B4-BE49-F238E27FC236}">
                    <a16:creationId xmlns="" xmlns:a16="http://schemas.microsoft.com/office/drawing/2014/main" id="{406F5F4B-4FF1-4E03-B5D6-10FD7E9094C1}"/>
                  </a:ext>
                </a:extLst>
              </p:cNvPr>
              <p:cNvSpPr/>
              <p:nvPr/>
            </p:nvSpPr>
            <p:spPr>
              <a:xfrm>
                <a:off x="963935" y="5918373"/>
                <a:ext cx="2100209" cy="537744"/>
              </a:xfrm>
              <a:prstGeom prst="rect">
                <a:avLst/>
              </a:prstGeom>
              <a:noFill/>
              <a:ln w="9525" cap="sq">
                <a:solidFill>
                  <a:schemeClr val="accent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9" name="正方形/長方形 38">
                <a:extLst>
                  <a:ext uri="{FF2B5EF4-FFF2-40B4-BE49-F238E27FC236}">
                    <a16:creationId xmlns="" xmlns:a16="http://schemas.microsoft.com/office/drawing/2014/main" id="{F08E930A-AD19-4818-A916-797EEAAA4BFC}"/>
                  </a:ext>
                </a:extLst>
              </p:cNvPr>
              <p:cNvSpPr/>
              <p:nvPr/>
            </p:nvSpPr>
            <p:spPr>
              <a:xfrm>
                <a:off x="975093" y="6001798"/>
                <a:ext cx="2160000" cy="400110"/>
              </a:xfrm>
              <a:prstGeom prst="rect">
                <a:avLst/>
              </a:prstGeom>
            </p:spPr>
            <p:txBody>
              <a:bodyPr wrap="square">
                <a:spAutoFit/>
              </a:bodyPr>
              <a:lstStyle/>
              <a:p>
                <a:r>
                  <a:rPr kumimoji="1" lang="zh-TW" altLang="en-US" sz="1000" smtClean="0">
                    <a:solidFill>
                      <a:prstClr val="black"/>
                    </a:solidFill>
                    <a:latin typeface="微軟正黑體" panose="020B0604030504040204" pitchFamily="34" charset="-120"/>
                    <a:ea typeface="微軟正黑體" panose="020B0604030504040204" pitchFamily="34" charset="-120"/>
                  </a:rPr>
                  <a:t>發現可疑人物或車輛，夜間以</a:t>
                </a:r>
                <a:r>
                  <a:rPr kumimoji="1" lang="en-US" altLang="zh-TW" sz="1000" smtClean="0">
                    <a:solidFill>
                      <a:prstClr val="black"/>
                    </a:solidFill>
                    <a:latin typeface="微軟正黑體" panose="020B0604030504040204" pitchFamily="34" charset="-120"/>
                    <a:ea typeface="微軟正黑體" panose="020B0604030504040204" pitchFamily="34" charset="-120"/>
                  </a:rPr>
                  <a:t>LED</a:t>
                </a:r>
                <a:r>
                  <a:rPr kumimoji="1" lang="zh-TW" altLang="en-US" sz="1000" smtClean="0">
                    <a:solidFill>
                      <a:prstClr val="black"/>
                    </a:solidFill>
                    <a:latin typeface="微軟正黑體" panose="020B0604030504040204" pitchFamily="34" charset="-120"/>
                    <a:ea typeface="微軟正黑體" panose="020B0604030504040204" pitchFamily="34" charset="-120"/>
                  </a:rPr>
                  <a:t>燈進行拍攝</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grpSp>
          <p:nvGrpSpPr>
            <p:cNvPr id="81" name="グループ化 80">
              <a:extLst>
                <a:ext uri="{FF2B5EF4-FFF2-40B4-BE49-F238E27FC236}">
                  <a16:creationId xmlns="" xmlns:a16="http://schemas.microsoft.com/office/drawing/2014/main" id="{8DCACF96-A954-4F8D-AFAA-A52E135C7806}"/>
                </a:ext>
              </a:extLst>
            </p:cNvPr>
            <p:cNvGrpSpPr/>
            <p:nvPr/>
          </p:nvGrpSpPr>
          <p:grpSpPr>
            <a:xfrm>
              <a:off x="7155000" y="2858722"/>
              <a:ext cx="2242995" cy="537744"/>
              <a:chOff x="7155000" y="2858722"/>
              <a:chExt cx="2242995" cy="537744"/>
            </a:xfrm>
          </p:grpSpPr>
          <p:sp>
            <p:nvSpPr>
              <p:cNvPr id="41" name="正方形/長方形 40">
                <a:extLst>
                  <a:ext uri="{FF2B5EF4-FFF2-40B4-BE49-F238E27FC236}">
                    <a16:creationId xmlns="" xmlns:a16="http://schemas.microsoft.com/office/drawing/2014/main" id="{52647816-58DF-4710-9BD0-F170C0C73490}"/>
                  </a:ext>
                </a:extLst>
              </p:cNvPr>
              <p:cNvSpPr/>
              <p:nvPr/>
            </p:nvSpPr>
            <p:spPr>
              <a:xfrm>
                <a:off x="7155000" y="2858722"/>
                <a:ext cx="71838" cy="537744"/>
              </a:xfrm>
              <a:prstGeom prst="rect">
                <a:avLst/>
              </a:prstGeom>
              <a:solidFill>
                <a:schemeClr val="accent6"/>
              </a:solid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sp>
            <p:nvSpPr>
              <p:cNvPr id="42" name="正方形/長方形 41">
                <a:extLst>
                  <a:ext uri="{FF2B5EF4-FFF2-40B4-BE49-F238E27FC236}">
                    <a16:creationId xmlns="" xmlns:a16="http://schemas.microsoft.com/office/drawing/2014/main" id="{1E80200D-373B-4E55-9E82-42D8F58A262F}"/>
                  </a:ext>
                </a:extLst>
              </p:cNvPr>
              <p:cNvSpPr/>
              <p:nvPr/>
            </p:nvSpPr>
            <p:spPr>
              <a:xfrm>
                <a:off x="7226837" y="2858722"/>
                <a:ext cx="2100209" cy="537744"/>
              </a:xfrm>
              <a:prstGeom prst="rect">
                <a:avLst/>
              </a:prstGeom>
              <a:noFill/>
              <a:ln w="9525" cap="sq">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3" name="正方形/長方形 42">
                <a:extLst>
                  <a:ext uri="{FF2B5EF4-FFF2-40B4-BE49-F238E27FC236}">
                    <a16:creationId xmlns="" xmlns:a16="http://schemas.microsoft.com/office/drawing/2014/main" id="{34BA0F18-66C1-4253-BC7C-42255ECAABF9}"/>
                  </a:ext>
                </a:extLst>
              </p:cNvPr>
              <p:cNvSpPr/>
              <p:nvPr/>
            </p:nvSpPr>
            <p:spPr>
              <a:xfrm>
                <a:off x="7237995" y="2942147"/>
                <a:ext cx="2160000" cy="400110"/>
              </a:xfrm>
              <a:prstGeom prst="rect">
                <a:avLst/>
              </a:prstGeom>
            </p:spPr>
            <p:txBody>
              <a:bodyPr wrap="square">
                <a:spAutoFit/>
              </a:bodyPr>
              <a:lstStyle/>
              <a:p>
                <a:r>
                  <a:rPr kumimoji="1" lang="zh-TW" altLang="en-US" sz="1000" smtClean="0">
                    <a:latin typeface="微軟正黑體" panose="020B0604030504040204" pitchFamily="34" charset="-120"/>
                    <a:ea typeface="微軟正黑體" panose="020B0604030504040204" pitchFamily="34" charset="-120"/>
                  </a:rPr>
                  <a:t>把農作物的生長狀況數值化，以淺顯易懂的影像提供給生產者</a:t>
                </a:r>
                <a:endParaRPr lang="ja-JP" altLang="en-US" sz="1000" dirty="0">
                  <a:latin typeface="微軟正黑體" panose="020B0604030504040204" pitchFamily="34" charset="-120"/>
                  <a:ea typeface="微軟正黑體" panose="020B0604030504040204" pitchFamily="34" charset="-120"/>
                </a:endParaRPr>
              </a:p>
            </p:txBody>
          </p:sp>
        </p:grpSp>
        <p:grpSp>
          <p:nvGrpSpPr>
            <p:cNvPr id="80" name="グループ化 79">
              <a:extLst>
                <a:ext uri="{FF2B5EF4-FFF2-40B4-BE49-F238E27FC236}">
                  <a16:creationId xmlns="" xmlns:a16="http://schemas.microsoft.com/office/drawing/2014/main" id="{BE4B139B-C290-4B6E-A32B-5F062C475687}"/>
                </a:ext>
              </a:extLst>
            </p:cNvPr>
            <p:cNvGrpSpPr/>
            <p:nvPr/>
          </p:nvGrpSpPr>
          <p:grpSpPr>
            <a:xfrm>
              <a:off x="7155000" y="3623635"/>
              <a:ext cx="2242995" cy="537744"/>
              <a:chOff x="7155000" y="3625763"/>
              <a:chExt cx="2242995" cy="537744"/>
            </a:xfrm>
          </p:grpSpPr>
          <p:sp>
            <p:nvSpPr>
              <p:cNvPr id="44" name="正方形/長方形 43">
                <a:extLst>
                  <a:ext uri="{FF2B5EF4-FFF2-40B4-BE49-F238E27FC236}">
                    <a16:creationId xmlns="" xmlns:a16="http://schemas.microsoft.com/office/drawing/2014/main" id="{ED9E90CA-594A-427D-8C34-36198D779E27}"/>
                  </a:ext>
                </a:extLst>
              </p:cNvPr>
              <p:cNvSpPr/>
              <p:nvPr/>
            </p:nvSpPr>
            <p:spPr>
              <a:xfrm>
                <a:off x="7155000" y="3625763"/>
                <a:ext cx="71838" cy="537744"/>
              </a:xfrm>
              <a:prstGeom prst="rect">
                <a:avLst/>
              </a:prstGeom>
              <a:solidFill>
                <a:schemeClr val="accent6"/>
              </a:solid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5" name="正方形/長方形 44">
                <a:extLst>
                  <a:ext uri="{FF2B5EF4-FFF2-40B4-BE49-F238E27FC236}">
                    <a16:creationId xmlns="" xmlns:a16="http://schemas.microsoft.com/office/drawing/2014/main" id="{0DDF9A6C-8635-477C-BDD5-90192EC79067}"/>
                  </a:ext>
                </a:extLst>
              </p:cNvPr>
              <p:cNvSpPr/>
              <p:nvPr/>
            </p:nvSpPr>
            <p:spPr>
              <a:xfrm>
                <a:off x="7226837" y="3625763"/>
                <a:ext cx="2100209" cy="537744"/>
              </a:xfrm>
              <a:prstGeom prst="rect">
                <a:avLst/>
              </a:prstGeom>
              <a:noFill/>
              <a:ln w="9525" cap="sq">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6" name="正方形/長方形 45">
                <a:extLst>
                  <a:ext uri="{FF2B5EF4-FFF2-40B4-BE49-F238E27FC236}">
                    <a16:creationId xmlns="" xmlns:a16="http://schemas.microsoft.com/office/drawing/2014/main" id="{92920BF4-12D9-47E1-898D-1749CC92C3F3}"/>
                  </a:ext>
                </a:extLst>
              </p:cNvPr>
              <p:cNvSpPr/>
              <p:nvPr/>
            </p:nvSpPr>
            <p:spPr>
              <a:xfrm>
                <a:off x="7237995" y="3709188"/>
                <a:ext cx="2160000" cy="400110"/>
              </a:xfrm>
              <a:prstGeom prst="rect">
                <a:avLst/>
              </a:prstGeom>
            </p:spPr>
            <p:txBody>
              <a:bodyPr wrap="square">
                <a:spAutoFit/>
              </a:bodyPr>
              <a:lstStyle/>
              <a:p>
                <a:r>
                  <a:rPr kumimoji="1" lang="zh-TW" altLang="en-US" sz="1000" smtClean="0">
                    <a:latin typeface="微軟正黑體" panose="020B0604030504040204" pitchFamily="34" charset="-120"/>
                    <a:ea typeface="微軟正黑體" panose="020B0604030504040204" pitchFamily="34" charset="-120"/>
                  </a:rPr>
                  <a:t>可顯示並分析過去的資料，更快速的擬定今後的對策</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grpSp>
          <p:nvGrpSpPr>
            <p:cNvPr id="79" name="グループ化 78">
              <a:extLst>
                <a:ext uri="{FF2B5EF4-FFF2-40B4-BE49-F238E27FC236}">
                  <a16:creationId xmlns="" xmlns:a16="http://schemas.microsoft.com/office/drawing/2014/main" id="{EA6CEB7D-4950-495A-A035-9BC4CC029B91}"/>
                </a:ext>
              </a:extLst>
            </p:cNvPr>
            <p:cNvGrpSpPr/>
            <p:nvPr/>
          </p:nvGrpSpPr>
          <p:grpSpPr>
            <a:xfrm>
              <a:off x="7155000" y="4388548"/>
              <a:ext cx="2242995" cy="537744"/>
              <a:chOff x="7155000" y="4410830"/>
              <a:chExt cx="2242995" cy="537744"/>
            </a:xfrm>
          </p:grpSpPr>
          <p:sp>
            <p:nvSpPr>
              <p:cNvPr id="47" name="正方形/長方形 46">
                <a:extLst>
                  <a:ext uri="{FF2B5EF4-FFF2-40B4-BE49-F238E27FC236}">
                    <a16:creationId xmlns="" xmlns:a16="http://schemas.microsoft.com/office/drawing/2014/main" id="{463E041B-7BDF-4389-8206-6992FEAF9CF4}"/>
                  </a:ext>
                </a:extLst>
              </p:cNvPr>
              <p:cNvSpPr/>
              <p:nvPr/>
            </p:nvSpPr>
            <p:spPr>
              <a:xfrm>
                <a:off x="7155000" y="4410830"/>
                <a:ext cx="71838" cy="537744"/>
              </a:xfrm>
              <a:prstGeom prst="rect">
                <a:avLst/>
              </a:prstGeom>
              <a:solidFill>
                <a:schemeClr val="accent6"/>
              </a:solid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8" name="正方形/長方形 47">
                <a:extLst>
                  <a:ext uri="{FF2B5EF4-FFF2-40B4-BE49-F238E27FC236}">
                    <a16:creationId xmlns="" xmlns:a16="http://schemas.microsoft.com/office/drawing/2014/main" id="{0274F824-F6F3-484F-A466-C7A427F07E99}"/>
                  </a:ext>
                </a:extLst>
              </p:cNvPr>
              <p:cNvSpPr/>
              <p:nvPr/>
            </p:nvSpPr>
            <p:spPr>
              <a:xfrm>
                <a:off x="7226837" y="4410830"/>
                <a:ext cx="2100209" cy="537744"/>
              </a:xfrm>
              <a:prstGeom prst="rect">
                <a:avLst/>
              </a:prstGeom>
              <a:noFill/>
              <a:ln w="9525" cap="sq">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9" name="正方形/長方形 48">
                <a:extLst>
                  <a:ext uri="{FF2B5EF4-FFF2-40B4-BE49-F238E27FC236}">
                    <a16:creationId xmlns="" xmlns:a16="http://schemas.microsoft.com/office/drawing/2014/main" id="{720EA34C-993A-4416-91F2-F12F1E319739}"/>
                  </a:ext>
                </a:extLst>
              </p:cNvPr>
              <p:cNvSpPr/>
              <p:nvPr/>
            </p:nvSpPr>
            <p:spPr>
              <a:xfrm>
                <a:off x="7237995" y="4494255"/>
                <a:ext cx="2160000" cy="400110"/>
              </a:xfrm>
              <a:prstGeom prst="rect">
                <a:avLst/>
              </a:prstGeom>
            </p:spPr>
            <p:txBody>
              <a:bodyPr wrap="square">
                <a:spAutoFit/>
              </a:bodyPr>
              <a:lstStyle/>
              <a:p>
                <a:r>
                  <a:rPr kumimoji="1" lang="zh-TW" altLang="en-US" sz="1000" smtClean="0">
                    <a:latin typeface="微軟正黑體" panose="020B0604030504040204" pitchFamily="34" charset="-120"/>
                    <a:ea typeface="微軟正黑體" panose="020B0604030504040204" pitchFamily="34" charset="-120"/>
                  </a:rPr>
                  <a:t>以自動導航進行夜間監控，無須親臨現場，即可掌握真實狀況</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grpSp>
          <p:nvGrpSpPr>
            <p:cNvPr id="78" name="グループ化 77">
              <a:extLst>
                <a:ext uri="{FF2B5EF4-FFF2-40B4-BE49-F238E27FC236}">
                  <a16:creationId xmlns="" xmlns:a16="http://schemas.microsoft.com/office/drawing/2014/main" id="{7352865E-2B24-486C-A4E2-5C83033620A8}"/>
                </a:ext>
              </a:extLst>
            </p:cNvPr>
            <p:cNvGrpSpPr/>
            <p:nvPr/>
          </p:nvGrpSpPr>
          <p:grpSpPr>
            <a:xfrm>
              <a:off x="7155000" y="5153461"/>
              <a:ext cx="2242995" cy="537744"/>
              <a:chOff x="7155000" y="5177871"/>
              <a:chExt cx="2242995" cy="537744"/>
            </a:xfrm>
          </p:grpSpPr>
          <p:sp>
            <p:nvSpPr>
              <p:cNvPr id="50" name="正方形/長方形 49">
                <a:extLst>
                  <a:ext uri="{FF2B5EF4-FFF2-40B4-BE49-F238E27FC236}">
                    <a16:creationId xmlns="" xmlns:a16="http://schemas.microsoft.com/office/drawing/2014/main" id="{840394F0-C07C-4C0D-8A6F-8B9F3EB6B21D}"/>
                  </a:ext>
                </a:extLst>
              </p:cNvPr>
              <p:cNvSpPr/>
              <p:nvPr/>
            </p:nvSpPr>
            <p:spPr>
              <a:xfrm>
                <a:off x="7155000" y="5177871"/>
                <a:ext cx="71838" cy="537744"/>
              </a:xfrm>
              <a:prstGeom prst="rect">
                <a:avLst/>
              </a:prstGeom>
              <a:solidFill>
                <a:srgbClr val="008000"/>
              </a:solid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1" name="正方形/長方形 50">
                <a:extLst>
                  <a:ext uri="{FF2B5EF4-FFF2-40B4-BE49-F238E27FC236}">
                    <a16:creationId xmlns="" xmlns:a16="http://schemas.microsoft.com/office/drawing/2014/main" id="{BC625AD7-D67C-4CA1-B591-E47BFC13AE55}"/>
                  </a:ext>
                </a:extLst>
              </p:cNvPr>
              <p:cNvSpPr/>
              <p:nvPr/>
            </p:nvSpPr>
            <p:spPr>
              <a:xfrm>
                <a:off x="7226837" y="5177871"/>
                <a:ext cx="2100209" cy="537744"/>
              </a:xfrm>
              <a:prstGeom prst="rect">
                <a:avLst/>
              </a:prstGeom>
              <a:no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2" name="正方形/長方形 51">
                <a:extLst>
                  <a:ext uri="{FF2B5EF4-FFF2-40B4-BE49-F238E27FC236}">
                    <a16:creationId xmlns="" xmlns:a16="http://schemas.microsoft.com/office/drawing/2014/main" id="{C7DB4E3F-6AFD-4028-A437-4E3D9D5D04DC}"/>
                  </a:ext>
                </a:extLst>
              </p:cNvPr>
              <p:cNvSpPr/>
              <p:nvPr/>
            </p:nvSpPr>
            <p:spPr>
              <a:xfrm>
                <a:off x="7237995" y="5261296"/>
                <a:ext cx="2160000" cy="400110"/>
              </a:xfrm>
              <a:prstGeom prst="rect">
                <a:avLst/>
              </a:prstGeom>
            </p:spPr>
            <p:txBody>
              <a:bodyPr wrap="square">
                <a:spAutoFit/>
              </a:bodyPr>
              <a:lstStyle/>
              <a:p>
                <a:r>
                  <a:rPr kumimoji="1" lang="en-US" altLang="ja-JP" sz="1000" smtClean="0">
                    <a:latin typeface="微軟正黑體" panose="020B0604030504040204" pitchFamily="34" charset="-120"/>
                    <a:ea typeface="微軟正黑體" panose="020B0604030504040204" pitchFamily="34" charset="-120"/>
                  </a:rPr>
                  <a:t>2019</a:t>
                </a:r>
                <a:r>
                  <a:rPr kumimoji="1" lang="zh-TW" altLang="en-US" sz="1000" smtClean="0">
                    <a:latin typeface="微軟正黑體" panose="020B0604030504040204" pitchFamily="34" charset="-120"/>
                    <a:ea typeface="微軟正黑體" panose="020B0604030504040204" pitchFamily="34" charset="-120"/>
                  </a:rPr>
                  <a:t>年度開始從甲信越地區開始提供服務</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grpSp>
          <p:nvGrpSpPr>
            <p:cNvPr id="60" name="グループ化 59">
              <a:extLst>
                <a:ext uri="{FF2B5EF4-FFF2-40B4-BE49-F238E27FC236}">
                  <a16:creationId xmlns="" xmlns:a16="http://schemas.microsoft.com/office/drawing/2014/main" id="{E9C3E0F4-865A-4320-A58D-79A63FB49B95}"/>
                </a:ext>
              </a:extLst>
            </p:cNvPr>
            <p:cNvGrpSpPr/>
            <p:nvPr/>
          </p:nvGrpSpPr>
          <p:grpSpPr>
            <a:xfrm>
              <a:off x="7163294" y="5918373"/>
              <a:ext cx="2242995" cy="537744"/>
              <a:chOff x="7163294" y="5918373"/>
              <a:chExt cx="2242995" cy="537744"/>
            </a:xfrm>
          </p:grpSpPr>
          <p:sp>
            <p:nvSpPr>
              <p:cNvPr id="57" name="正方形/長方形 56">
                <a:extLst>
                  <a:ext uri="{FF2B5EF4-FFF2-40B4-BE49-F238E27FC236}">
                    <a16:creationId xmlns="" xmlns:a16="http://schemas.microsoft.com/office/drawing/2014/main" id="{615DFB80-5E7A-476A-91B2-CB54DE789719}"/>
                  </a:ext>
                </a:extLst>
              </p:cNvPr>
              <p:cNvSpPr/>
              <p:nvPr/>
            </p:nvSpPr>
            <p:spPr>
              <a:xfrm>
                <a:off x="7163294" y="5918373"/>
                <a:ext cx="71838" cy="537744"/>
              </a:xfrm>
              <a:prstGeom prst="rect">
                <a:avLst/>
              </a:prstGeom>
              <a:solidFill>
                <a:srgbClr val="008000"/>
              </a:solid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8" name="正方形/長方形 57">
                <a:extLst>
                  <a:ext uri="{FF2B5EF4-FFF2-40B4-BE49-F238E27FC236}">
                    <a16:creationId xmlns="" xmlns:a16="http://schemas.microsoft.com/office/drawing/2014/main" id="{50108CA9-70B2-4FD5-A99F-9AC1128B5762}"/>
                  </a:ext>
                </a:extLst>
              </p:cNvPr>
              <p:cNvSpPr/>
              <p:nvPr/>
            </p:nvSpPr>
            <p:spPr>
              <a:xfrm>
                <a:off x="7235131" y="5918373"/>
                <a:ext cx="2100209" cy="537744"/>
              </a:xfrm>
              <a:prstGeom prst="rect">
                <a:avLst/>
              </a:prstGeom>
              <a:noFill/>
              <a:ln w="9525" cap="sq">
                <a:solidFill>
                  <a:srgbClr val="008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9" name="正方形/長方形 58">
                <a:extLst>
                  <a:ext uri="{FF2B5EF4-FFF2-40B4-BE49-F238E27FC236}">
                    <a16:creationId xmlns="" xmlns:a16="http://schemas.microsoft.com/office/drawing/2014/main" id="{D35EA15A-218C-4EC1-A49C-0C3B3C09901D}"/>
                  </a:ext>
                </a:extLst>
              </p:cNvPr>
              <p:cNvSpPr/>
              <p:nvPr/>
            </p:nvSpPr>
            <p:spPr>
              <a:xfrm>
                <a:off x="7246289" y="6001798"/>
                <a:ext cx="2160000" cy="400110"/>
              </a:xfrm>
              <a:prstGeom prst="rect">
                <a:avLst/>
              </a:prstGeom>
            </p:spPr>
            <p:txBody>
              <a:bodyPr wrap="square">
                <a:spAutoFit/>
              </a:bodyPr>
              <a:lstStyle/>
              <a:p>
                <a:r>
                  <a:rPr kumimoji="1" lang="zh-TW" altLang="en-US" sz="1000" smtClean="0">
                    <a:latin typeface="微軟正黑體" panose="020B0604030504040204" pitchFamily="34" charset="-120"/>
                    <a:ea typeface="微軟正黑體" panose="020B0604030504040204" pitchFamily="34" charset="-120"/>
                  </a:rPr>
                  <a:t>每套系統預定價格為</a:t>
                </a:r>
                <a:r>
                  <a:rPr kumimoji="1" lang="en-US" altLang="zh-TW" sz="1000" smtClean="0">
                    <a:latin typeface="微軟正黑體" panose="020B0604030504040204" pitchFamily="34" charset="-120"/>
                    <a:ea typeface="微軟正黑體" panose="020B0604030504040204" pitchFamily="34" charset="-120"/>
                  </a:rPr>
                  <a:t>50</a:t>
                </a:r>
                <a:r>
                  <a:rPr kumimoji="1" lang="zh-TW" altLang="en-US" sz="1000" smtClean="0">
                    <a:latin typeface="微軟正黑體" panose="020B0604030504040204" pitchFamily="34" charset="-120"/>
                    <a:ea typeface="微軟正黑體" panose="020B0604030504040204" pitchFamily="34" charset="-120"/>
                  </a:rPr>
                  <a:t>～</a:t>
                </a:r>
                <a:r>
                  <a:rPr kumimoji="1" lang="en-US" altLang="zh-TW" sz="1000" smtClean="0">
                    <a:latin typeface="微軟正黑體" panose="020B0604030504040204" pitchFamily="34" charset="-120"/>
                    <a:ea typeface="微軟正黑體" panose="020B0604030504040204" pitchFamily="34" charset="-120"/>
                  </a:rPr>
                  <a:t>100</a:t>
                </a:r>
                <a:r>
                  <a:rPr kumimoji="1" lang="zh-TW" altLang="en-US" sz="1000" smtClean="0">
                    <a:latin typeface="微軟正黑體" panose="020B0604030504040204" pitchFamily="34" charset="-120"/>
                    <a:ea typeface="微軟正黑體" panose="020B0604030504040204" pitchFamily="34" charset="-120"/>
                  </a:rPr>
                  <a:t>萬日圓（有選配）</a:t>
                </a:r>
                <a:endParaRPr kumimoji="1" lang="en-US" altLang="ja-JP" sz="1000" dirty="0">
                  <a:solidFill>
                    <a:prstClr val="black"/>
                  </a:solidFill>
                  <a:latin typeface="微軟正黑體" panose="020B0604030504040204" pitchFamily="34" charset="-120"/>
                  <a:ea typeface="微軟正黑體" panose="020B0604030504040204" pitchFamily="34" charset="-120"/>
                </a:endParaRPr>
              </a:p>
            </p:txBody>
          </p:sp>
        </p:grpSp>
        <p:cxnSp>
          <p:nvCxnSpPr>
            <p:cNvPr id="83" name="直線コネクタ 82">
              <a:extLst>
                <a:ext uri="{FF2B5EF4-FFF2-40B4-BE49-F238E27FC236}">
                  <a16:creationId xmlns="" xmlns:a16="http://schemas.microsoft.com/office/drawing/2014/main" id="{8501E674-5924-4A79-A1A8-FF34BBB3A759}"/>
                </a:ext>
              </a:extLst>
            </p:cNvPr>
            <p:cNvCxnSpPr>
              <a:cxnSpLocks/>
            </p:cNvCxnSpPr>
            <p:nvPr/>
          </p:nvCxnSpPr>
          <p:spPr>
            <a:xfrm>
              <a:off x="3248025" y="4528902"/>
              <a:ext cx="659641" cy="622430"/>
            </a:xfrm>
            <a:prstGeom prst="line">
              <a:avLst/>
            </a:prstGeom>
            <a:ln w="76200" cap="rnd">
              <a:solidFill>
                <a:schemeClr val="accent2"/>
              </a:solidFill>
              <a:prstDash val="sysDot"/>
              <a:round/>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 xmlns:a16="http://schemas.microsoft.com/office/drawing/2014/main" id="{226BFC81-3FB3-4FCD-BEB6-0BD1A35052BC}"/>
                </a:ext>
              </a:extLst>
            </p:cNvPr>
            <p:cNvCxnSpPr>
              <a:cxnSpLocks/>
            </p:cNvCxnSpPr>
            <p:nvPr/>
          </p:nvCxnSpPr>
          <p:spPr>
            <a:xfrm flipV="1">
              <a:off x="6392969" y="3457962"/>
              <a:ext cx="580415" cy="991728"/>
            </a:xfrm>
            <a:prstGeom prst="line">
              <a:avLst/>
            </a:prstGeom>
            <a:ln w="76200" cap="rnd">
              <a:solidFill>
                <a:schemeClr val="accent6"/>
              </a:solidFill>
              <a:prstDash val="sysDot"/>
              <a:roun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 xmlns:a16="http://schemas.microsoft.com/office/drawing/2014/main" id="{B489BF35-41BF-4F92-A58F-8F8427D0DA58}"/>
                </a:ext>
              </a:extLst>
            </p:cNvPr>
            <p:cNvCxnSpPr>
              <a:cxnSpLocks/>
            </p:cNvCxnSpPr>
            <p:nvPr/>
          </p:nvCxnSpPr>
          <p:spPr>
            <a:xfrm flipV="1">
              <a:off x="6167827" y="5436941"/>
              <a:ext cx="792848" cy="120622"/>
            </a:xfrm>
            <a:prstGeom prst="line">
              <a:avLst/>
            </a:prstGeom>
            <a:ln w="76200" cap="rnd">
              <a:solidFill>
                <a:srgbClr val="008000"/>
              </a:soli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5521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a:extLst>
              <a:ext uri="{FF2B5EF4-FFF2-40B4-BE49-F238E27FC236}">
                <a16:creationId xmlns="" xmlns:a16="http://schemas.microsoft.com/office/drawing/2014/main" id="{E1E297E8-7B86-468C-AD79-C71B9B2814D6}"/>
              </a:ext>
            </a:extLst>
          </p:cNvPr>
          <p:cNvGrpSpPr/>
          <p:nvPr/>
        </p:nvGrpSpPr>
        <p:grpSpPr>
          <a:xfrm>
            <a:off x="0" y="0"/>
            <a:ext cx="9906000" cy="6498478"/>
            <a:chOff x="0" y="0"/>
            <a:chExt cx="9906000" cy="6498478"/>
          </a:xfrm>
        </p:grpSpPr>
        <p:sp>
          <p:nvSpPr>
            <p:cNvPr id="4" name="1 つの角を切り取った四角形 4">
              <a:extLst>
                <a:ext uri="{FF2B5EF4-FFF2-40B4-BE49-F238E27FC236}">
                  <a16:creationId xmlns="" xmlns:a16="http://schemas.microsoft.com/office/drawing/2014/main" id="{880287B8-4C96-4A60-98DC-EAA3BE45DBCB}"/>
                </a:ext>
              </a:extLst>
            </p:cNvPr>
            <p:cNvSpPr/>
            <p:nvPr/>
          </p:nvSpPr>
          <p:spPr>
            <a:xfrm>
              <a:off x="0" y="0"/>
              <a:ext cx="9906000" cy="992459"/>
            </a:xfrm>
            <a:prstGeom prst="rect">
              <a:avLst/>
            </a:prstGeom>
            <a:solidFill>
              <a:srgbClr val="008000"/>
            </a:solidFill>
            <a:ln w="190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0" name="テキスト ボックス 9">
              <a:extLst>
                <a:ext uri="{FF2B5EF4-FFF2-40B4-BE49-F238E27FC236}">
                  <a16:creationId xmlns="" xmlns:a16="http://schemas.microsoft.com/office/drawing/2014/main" id="{1E94A2A7-6C1F-4EC0-A9FE-72CB9FC6A66B}"/>
                </a:ext>
              </a:extLst>
            </p:cNvPr>
            <p:cNvSpPr txBox="1"/>
            <p:nvPr/>
          </p:nvSpPr>
          <p:spPr>
            <a:xfrm>
              <a:off x="792291" y="391634"/>
              <a:ext cx="6773632" cy="461665"/>
            </a:xfrm>
            <a:prstGeom prst="rect">
              <a:avLst/>
            </a:prstGeom>
            <a:noFill/>
          </p:spPr>
          <p:txBody>
            <a:bodyPr wrap="square" rtlCol="0">
              <a:spAutoFit/>
            </a:bodyPr>
            <a:lstStyle/>
            <a:p>
              <a:r>
                <a:rPr kumimoji="1" lang="zh-TW" altLang="en-US" sz="2400" b="1">
                  <a:solidFill>
                    <a:schemeClr val="bg1"/>
                  </a:solidFill>
                  <a:latin typeface="微軟正黑體" panose="020B0604030504040204" pitchFamily="34" charset="-120"/>
                  <a:ea typeface="微軟正黑體" panose="020B0604030504040204" pitchFamily="34" charset="-120"/>
                </a:rPr>
                <a:t>農家專用無人機系統的開發與</a:t>
              </a:r>
              <a:r>
                <a:rPr kumimoji="1" lang="zh-TW" altLang="en-US" sz="2400" b="1" smtClean="0">
                  <a:solidFill>
                    <a:schemeClr val="bg1"/>
                  </a:solidFill>
                  <a:latin typeface="微軟正黑體" panose="020B0604030504040204" pitchFamily="34" charset="-120"/>
                  <a:ea typeface="微軟正黑體" panose="020B0604030504040204" pitchFamily="34" charset="-120"/>
                </a:rPr>
                <a:t>販售</a:t>
              </a:r>
              <a:endParaRPr kumimoji="1" lang="ja-JP" altLang="en-US" sz="2400" b="1" dirty="0">
                <a:solidFill>
                  <a:schemeClr val="bg1"/>
                </a:solidFill>
                <a:latin typeface="微軟正黑體" panose="020B0604030504040204" pitchFamily="34" charset="-120"/>
                <a:ea typeface="微軟正黑體" panose="020B0604030504040204" pitchFamily="34" charset="-120"/>
              </a:endParaRPr>
            </a:p>
          </p:txBody>
        </p:sp>
        <p:sp>
          <p:nvSpPr>
            <p:cNvPr id="13" name="テキスト ボックス 12">
              <a:extLst>
                <a:ext uri="{FF2B5EF4-FFF2-40B4-BE49-F238E27FC236}">
                  <a16:creationId xmlns="" xmlns:a16="http://schemas.microsoft.com/office/drawing/2014/main" id="{E0185A69-25E3-4C9F-99D1-E875183C9022}"/>
                </a:ext>
              </a:extLst>
            </p:cNvPr>
            <p:cNvSpPr txBox="1"/>
            <p:nvPr/>
          </p:nvSpPr>
          <p:spPr>
            <a:xfrm>
              <a:off x="792291" y="1235499"/>
              <a:ext cx="5921824" cy="5262979"/>
            </a:xfrm>
            <a:prstGeom prst="rect">
              <a:avLst/>
            </a:prstGeom>
            <a:noFill/>
          </p:spPr>
          <p:txBody>
            <a:bodyPr wrap="square" rtlCol="0">
              <a:spAutoFit/>
            </a:bodyPr>
            <a:lstStyle/>
            <a:p>
              <a:pPr algn="just"/>
              <a:r>
                <a:rPr kumimoji="1" lang="en-US" altLang="ja-JP" sz="1200" b="1" dirty="0">
                  <a:latin typeface="微軟正黑體" panose="020B0604030504040204" pitchFamily="34" charset="-120"/>
                  <a:ea typeface="微軟正黑體" panose="020B0604030504040204" pitchFamily="34" charset="-120"/>
                </a:rPr>
                <a:t>1</a:t>
              </a:r>
              <a:r>
                <a:rPr kumimoji="1" lang="en-US" altLang="ja-JP" sz="1200" b="1">
                  <a:latin typeface="微軟正黑體" panose="020B0604030504040204" pitchFamily="34" charset="-120"/>
                  <a:ea typeface="微軟正黑體" panose="020B0604030504040204" pitchFamily="34" charset="-120"/>
                </a:rPr>
                <a:t>. </a:t>
              </a:r>
              <a:r>
                <a:rPr kumimoji="1" lang="zh-TW" altLang="en-US" sz="1200" b="1">
                  <a:latin typeface="微軟正黑體" panose="020B0604030504040204" pitchFamily="34" charset="-120"/>
                  <a:ea typeface="微軟正黑體" panose="020B0604030504040204" pitchFamily="34" charset="-120"/>
                </a:rPr>
                <a:t>現況</a:t>
              </a:r>
              <a:endParaRPr kumimoji="1" lang="ja-JP" altLang="en-US" sz="1200" b="1"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高齡化與慢性化的人手不足</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採收前的農作物或設備品的竊盜損害</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生產性較低的勞動集約性產業</a:t>
              </a:r>
              <a:endParaRPr kumimoji="1" lang="en-US" altLang="ja-JP" sz="1200" dirty="0">
                <a:latin typeface="微軟正黑體" panose="020B0604030504040204" pitchFamily="34" charset="-120"/>
                <a:ea typeface="微軟正黑體" panose="020B0604030504040204" pitchFamily="34" charset="-120"/>
              </a:endParaRPr>
            </a:p>
            <a:p>
              <a:pPr algn="just"/>
              <a:endParaRPr kumimoji="1" lang="ja-JP" altLang="en-US" sz="1200" dirty="0">
                <a:latin typeface="微軟正黑體" panose="020B0604030504040204" pitchFamily="34" charset="-120"/>
                <a:ea typeface="微軟正黑體" panose="020B0604030504040204" pitchFamily="34" charset="-120"/>
              </a:endParaRPr>
            </a:p>
            <a:p>
              <a:pPr algn="just"/>
              <a:r>
                <a:rPr kumimoji="1" lang="en-US" altLang="ja-JP" sz="1200" b="1" dirty="0">
                  <a:latin typeface="微軟正黑體" panose="020B0604030504040204" pitchFamily="34" charset="-120"/>
                  <a:ea typeface="微軟正黑體" panose="020B0604030504040204" pitchFamily="34" charset="-120"/>
                </a:rPr>
                <a:t>2</a:t>
              </a:r>
              <a:r>
                <a:rPr kumimoji="1" lang="en-US" altLang="ja-JP" sz="1200" b="1">
                  <a:latin typeface="微軟正黑體" panose="020B0604030504040204" pitchFamily="34" charset="-120"/>
                  <a:ea typeface="微軟正黑體" panose="020B0604030504040204" pitchFamily="34" charset="-120"/>
                </a:rPr>
                <a:t>.</a:t>
              </a:r>
              <a:r>
                <a:rPr kumimoji="1" lang="ja-JP" altLang="en-US" sz="1200" b="1">
                  <a:latin typeface="微軟正黑體" panose="020B0604030504040204" pitchFamily="34" charset="-120"/>
                  <a:ea typeface="微軟正黑體" panose="020B0604030504040204" pitchFamily="34" charset="-120"/>
                </a:rPr>
                <a:t> </a:t>
              </a:r>
              <a:r>
                <a:rPr kumimoji="1" lang="zh-TW" altLang="en-US" sz="1200" b="1" smtClean="0">
                  <a:latin typeface="微軟正黑體" panose="020B0604030504040204" pitchFamily="34" charset="-120"/>
                  <a:ea typeface="微軟正黑體" panose="020B0604030504040204" pitchFamily="34" charset="-120"/>
                </a:rPr>
                <a:t>目標</a:t>
              </a:r>
              <a:endParaRPr kumimoji="1" lang="ja-JP" altLang="en-US" sz="1200" b="1"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正確掌握生長狀況</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確實的採收行程</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活用資料以提高採收量</a:t>
              </a:r>
              <a:endParaRPr kumimoji="1" lang="ja-JP" altLang="en-US" sz="1200" dirty="0">
                <a:latin typeface="微軟正黑體" panose="020B0604030504040204" pitchFamily="34" charset="-120"/>
                <a:ea typeface="微軟正黑體" panose="020B0604030504040204" pitchFamily="34" charset="-120"/>
              </a:endParaRPr>
            </a:p>
            <a:p>
              <a:pPr algn="just"/>
              <a:endParaRPr kumimoji="1" lang="ja-JP" altLang="en-US" sz="1200" dirty="0">
                <a:latin typeface="微軟正黑體" panose="020B0604030504040204" pitchFamily="34" charset="-120"/>
                <a:ea typeface="微軟正黑體" panose="020B0604030504040204" pitchFamily="34" charset="-120"/>
              </a:endParaRPr>
            </a:p>
            <a:p>
              <a:pPr algn="just"/>
              <a:r>
                <a:rPr kumimoji="1" lang="en-US" altLang="ja-JP" sz="1200" b="1" dirty="0">
                  <a:latin typeface="微軟正黑體" panose="020B0604030504040204" pitchFamily="34" charset="-120"/>
                  <a:ea typeface="微軟正黑體" panose="020B0604030504040204" pitchFamily="34" charset="-120"/>
                </a:rPr>
                <a:t>3</a:t>
              </a:r>
              <a:r>
                <a:rPr kumimoji="1" lang="en-US" altLang="ja-JP" sz="1200" b="1">
                  <a:latin typeface="微軟正黑體" panose="020B0604030504040204" pitchFamily="34" charset="-120"/>
                  <a:ea typeface="微軟正黑體" panose="020B0604030504040204" pitchFamily="34" charset="-120"/>
                </a:rPr>
                <a:t>. </a:t>
              </a:r>
              <a:r>
                <a:rPr kumimoji="1" lang="zh-TW" altLang="en-US" sz="1200" b="1" smtClean="0">
                  <a:latin typeface="微軟正黑體" panose="020B0604030504040204" pitchFamily="34" charset="-120"/>
                  <a:ea typeface="微軟正黑體" panose="020B0604030504040204" pitchFamily="34" charset="-120"/>
                </a:rPr>
                <a:t>內</a:t>
              </a:r>
              <a:r>
                <a:rPr kumimoji="1" lang="zh-TW" altLang="en-US" sz="1200" b="1">
                  <a:latin typeface="微軟正黑體" panose="020B0604030504040204" pitchFamily="34" charset="-120"/>
                  <a:ea typeface="微軟正黑體" panose="020B0604030504040204" pitchFamily="34" charset="-120"/>
                </a:rPr>
                <a:t>容</a:t>
              </a:r>
              <a:endParaRPr kumimoji="1" lang="ja-JP" altLang="en-US" sz="1200" b="1"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使用無人機，開發監視農作物的小型通信機器。</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可</a:t>
              </a:r>
              <a:r>
                <a:rPr kumimoji="1" lang="zh-TW" altLang="en-US" sz="1200">
                  <a:latin typeface="微軟正黑體" panose="020B0604030504040204" pitchFamily="34" charset="-120"/>
                  <a:ea typeface="微軟正黑體" panose="020B0604030504040204" pitchFamily="34" charset="-120"/>
                </a:rPr>
                <a:t>利用</a:t>
              </a:r>
              <a:r>
                <a:rPr kumimoji="1" lang="zh-TW" altLang="en-US" sz="1200" smtClean="0">
                  <a:latin typeface="微軟正黑體" panose="020B0604030504040204" pitchFamily="34" charset="-120"/>
                  <a:ea typeface="微軟正黑體" panose="020B0604030504040204" pitchFamily="34" charset="-120"/>
                </a:rPr>
                <a:t>內建攝影機監視農作物的生長狀況與農場。</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a:latin typeface="微軟正黑體" panose="020B0604030504040204" pitchFamily="34" charset="-120"/>
                  <a:ea typeface="微軟正黑體" panose="020B0604030504040204" pitchFamily="34" charset="-120"/>
                </a:rPr>
                <a:t>實現從空中以自動導航進行農田的正確圖像感</a:t>
              </a:r>
              <a:r>
                <a:rPr kumimoji="1" lang="zh-TW" altLang="en-US" sz="1200" smtClean="0">
                  <a:latin typeface="微軟正黑體" panose="020B0604030504040204" pitchFamily="34" charset="-120"/>
                  <a:ea typeface="微軟正黑體" panose="020B0604030504040204" pitchFamily="34" charset="-120"/>
                </a:rPr>
                <a:t>測。</a:t>
              </a:r>
              <a:endParaRPr kumimoji="1" lang="en-US" altLang="ja-JP" sz="1200" smtClean="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可觀察生長的變化，預測養護、病蟲害預防、出貨時期。</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處理無人機送出的資料，儲存於雲端。</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發現可疑人物或車輛，夜間以</a:t>
              </a:r>
              <a:r>
                <a:rPr kumimoji="1" lang="en-US" altLang="zh-TW" sz="1200" smtClean="0">
                  <a:latin typeface="微軟正黑體" panose="020B0604030504040204" pitchFamily="34" charset="-120"/>
                  <a:ea typeface="微軟正黑體" panose="020B0604030504040204" pitchFamily="34" charset="-120"/>
                </a:rPr>
                <a:t>LED</a:t>
              </a:r>
              <a:r>
                <a:rPr kumimoji="1" lang="zh-TW" altLang="en-US" sz="1200">
                  <a:latin typeface="微軟正黑體" panose="020B0604030504040204" pitchFamily="34" charset="-120"/>
                  <a:ea typeface="微軟正黑體" panose="020B0604030504040204" pitchFamily="34" charset="-120"/>
                </a:rPr>
                <a:t>燈進行彩色</a:t>
              </a:r>
              <a:r>
                <a:rPr kumimoji="1" lang="zh-TW" altLang="en-US" sz="1200" smtClean="0">
                  <a:latin typeface="微軟正黑體" panose="020B0604030504040204" pitchFamily="34" charset="-120"/>
                  <a:ea typeface="微軟正黑體" panose="020B0604030504040204" pitchFamily="34" charset="-120"/>
                </a:rPr>
                <a:t>攝影。</a:t>
              </a:r>
              <a:endParaRPr kumimoji="1" lang="en-US" altLang="ja-JP" sz="1200" dirty="0">
                <a:latin typeface="微軟正黑體" panose="020B0604030504040204" pitchFamily="34" charset="-120"/>
                <a:ea typeface="微軟正黑體" panose="020B0604030504040204" pitchFamily="34" charset="-120"/>
              </a:endParaRPr>
            </a:p>
            <a:p>
              <a:pPr algn="just"/>
              <a:endParaRPr kumimoji="1" lang="ja-JP" altLang="en-US" sz="1200" dirty="0">
                <a:latin typeface="微軟正黑體" panose="020B0604030504040204" pitchFamily="34" charset="-120"/>
                <a:ea typeface="微軟正黑體" panose="020B0604030504040204" pitchFamily="34" charset="-120"/>
              </a:endParaRPr>
            </a:p>
            <a:p>
              <a:pPr algn="just"/>
              <a:r>
                <a:rPr kumimoji="1" lang="en-US" altLang="ja-JP" sz="1200" b="1" dirty="0">
                  <a:latin typeface="微軟正黑體" panose="020B0604030504040204" pitchFamily="34" charset="-120"/>
                  <a:ea typeface="微軟正黑體" panose="020B0604030504040204" pitchFamily="34" charset="-120"/>
                </a:rPr>
                <a:t>4</a:t>
              </a:r>
              <a:r>
                <a:rPr kumimoji="1" lang="en-US" altLang="ja-JP" sz="1200" b="1">
                  <a:latin typeface="微軟正黑體" panose="020B0604030504040204" pitchFamily="34" charset="-120"/>
                  <a:ea typeface="微軟正黑體" panose="020B0604030504040204" pitchFamily="34" charset="-120"/>
                </a:rPr>
                <a:t>. </a:t>
              </a:r>
              <a:r>
                <a:rPr kumimoji="1" lang="zh-TW" altLang="en-US" sz="1200" b="1" smtClean="0">
                  <a:latin typeface="微軟正黑體" panose="020B0604030504040204" pitchFamily="34" charset="-120"/>
                  <a:ea typeface="微軟正黑體" panose="020B0604030504040204" pitchFamily="34" charset="-120"/>
                </a:rPr>
                <a:t>優點</a:t>
              </a:r>
              <a:endParaRPr kumimoji="1" lang="ja-JP" altLang="en-US" sz="1200" b="1"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把農作物的生長狀況數值化，以淺顯易懂的影像提供給生產者。</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可顯示、分析過去的資料，並適當且快速地進行今後的對策。</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a:latin typeface="微軟正黑體" panose="020B0604030504040204" pitchFamily="34" charset="-120"/>
                  <a:ea typeface="微軟正黑體" panose="020B0604030504040204" pitchFamily="34" charset="-120"/>
                </a:rPr>
                <a:t>以自動導航進行夜間監控，無須親臨現場，即可掌握真實</a:t>
              </a:r>
              <a:r>
                <a:rPr kumimoji="1" lang="zh-TW" altLang="en-US" sz="1200" smtClean="0">
                  <a:latin typeface="微軟正黑體" panose="020B0604030504040204" pitchFamily="34" charset="-120"/>
                  <a:ea typeface="微軟正黑體" panose="020B0604030504040204" pitchFamily="34" charset="-120"/>
                </a:rPr>
                <a:t>狀況。</a:t>
              </a:r>
              <a:endParaRPr kumimoji="1" lang="en-US" altLang="ja-JP" sz="1200">
                <a:solidFill>
                  <a:prstClr val="black"/>
                </a:solidFill>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可早一步察覺農作物和土壤的異變，採取預防意外的對策。</a:t>
              </a:r>
              <a:endParaRPr kumimoji="1" lang="en-US" altLang="ja-JP" sz="1200" dirty="0">
                <a:latin typeface="微軟正黑體" panose="020B0604030504040204" pitchFamily="34" charset="-120"/>
                <a:ea typeface="微軟正黑體" panose="020B0604030504040204" pitchFamily="34" charset="-120"/>
              </a:endParaRPr>
            </a:p>
            <a:p>
              <a:pPr algn="just"/>
              <a:endParaRPr kumimoji="1" lang="ja-JP" altLang="en-US" sz="1200" dirty="0">
                <a:latin typeface="微軟正黑體" panose="020B0604030504040204" pitchFamily="34" charset="-120"/>
                <a:ea typeface="微軟正黑體" panose="020B0604030504040204" pitchFamily="34" charset="-120"/>
              </a:endParaRPr>
            </a:p>
            <a:p>
              <a:pPr algn="just"/>
              <a:r>
                <a:rPr kumimoji="1" lang="en-US" altLang="ja-JP" sz="1200" b="1" dirty="0">
                  <a:latin typeface="微軟正黑體" panose="020B0604030504040204" pitchFamily="34" charset="-120"/>
                  <a:ea typeface="微軟正黑體" panose="020B0604030504040204" pitchFamily="34" charset="-120"/>
                </a:rPr>
                <a:t>5</a:t>
              </a:r>
              <a:r>
                <a:rPr kumimoji="1" lang="en-US" altLang="ja-JP" sz="1200" b="1">
                  <a:latin typeface="微軟正黑體" panose="020B0604030504040204" pitchFamily="34" charset="-120"/>
                  <a:ea typeface="微軟正黑體" panose="020B0604030504040204" pitchFamily="34" charset="-120"/>
                </a:rPr>
                <a:t>. </a:t>
              </a:r>
              <a:r>
                <a:rPr kumimoji="1" lang="zh-TW" altLang="en-US" sz="1200" b="1" smtClean="0">
                  <a:latin typeface="微軟正黑體" panose="020B0604030504040204" pitchFamily="34" charset="-120"/>
                  <a:ea typeface="微軟正黑體" panose="020B0604030504040204" pitchFamily="34" charset="-120"/>
                </a:rPr>
                <a:t>計畫</a:t>
              </a:r>
              <a:endParaRPr kumimoji="1" lang="ja-JP" altLang="en-US" sz="1200" b="1"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a:latin typeface="微軟正黑體" panose="020B0604030504040204" pitchFamily="34" charset="-120"/>
                  <a:ea typeface="微軟正黑體" panose="020B0604030504040204" pitchFamily="34" charset="-120"/>
                </a:rPr>
                <a:t>從</a:t>
              </a:r>
              <a:r>
                <a:rPr kumimoji="1" lang="en-US" altLang="ja-JP" sz="1200" smtClean="0">
                  <a:latin typeface="微軟正黑體" panose="020B0604030504040204" pitchFamily="34" charset="-120"/>
                  <a:ea typeface="微軟正黑體" panose="020B0604030504040204" pitchFamily="34" charset="-120"/>
                </a:rPr>
                <a:t>2019</a:t>
              </a:r>
              <a:r>
                <a:rPr kumimoji="1" lang="zh-TW" altLang="en-US" sz="1200" smtClean="0">
                  <a:latin typeface="微軟正黑體" panose="020B0604030504040204" pitchFamily="34" charset="-120"/>
                  <a:ea typeface="微軟正黑體" panose="020B0604030504040204" pitchFamily="34" charset="-120"/>
                </a:rPr>
                <a:t>年度開始從甲信越地區開始提供服務。</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每</a:t>
              </a:r>
              <a:r>
                <a:rPr kumimoji="1" lang="zh-TW" altLang="en-US" sz="1200">
                  <a:latin typeface="微軟正黑體" panose="020B0604030504040204" pitchFamily="34" charset="-120"/>
                  <a:ea typeface="微軟正黑體" panose="020B0604030504040204" pitchFamily="34" charset="-120"/>
                </a:rPr>
                <a:t>套系統預定價格為</a:t>
              </a:r>
              <a:r>
                <a:rPr kumimoji="1" lang="en-US" altLang="zh-TW" sz="1200">
                  <a:latin typeface="微軟正黑體" panose="020B0604030504040204" pitchFamily="34" charset="-120"/>
                  <a:ea typeface="微軟正黑體" panose="020B0604030504040204" pitchFamily="34" charset="-120"/>
                </a:rPr>
                <a:t>50</a:t>
              </a:r>
              <a:r>
                <a:rPr kumimoji="1" lang="zh-TW" altLang="en-US" sz="1200">
                  <a:latin typeface="微軟正黑體" panose="020B0604030504040204" pitchFamily="34" charset="-120"/>
                  <a:ea typeface="微軟正黑體" panose="020B0604030504040204" pitchFamily="34" charset="-120"/>
                </a:rPr>
                <a:t>～</a:t>
              </a:r>
              <a:r>
                <a:rPr kumimoji="1" lang="en-US" altLang="zh-TW" sz="1200">
                  <a:latin typeface="微軟正黑體" panose="020B0604030504040204" pitchFamily="34" charset="-120"/>
                  <a:ea typeface="微軟正黑體" panose="020B0604030504040204" pitchFamily="34" charset="-120"/>
                </a:rPr>
                <a:t>100</a:t>
              </a:r>
              <a:r>
                <a:rPr kumimoji="1" lang="zh-TW" altLang="en-US" sz="1200">
                  <a:latin typeface="微軟正黑體" panose="020B0604030504040204" pitchFamily="34" charset="-120"/>
                  <a:ea typeface="微軟正黑體" panose="020B0604030504040204" pitchFamily="34" charset="-120"/>
                </a:rPr>
                <a:t>萬日圓</a:t>
              </a:r>
              <a:r>
                <a:rPr kumimoji="1" lang="zh-TW" altLang="en-US" sz="1200" smtClean="0">
                  <a:latin typeface="微軟正黑體" panose="020B0604030504040204" pitchFamily="34" charset="-120"/>
                  <a:ea typeface="微軟正黑體" panose="020B0604030504040204" pitchFamily="34" charset="-120"/>
                </a:rPr>
                <a:t>（稅外）。</a:t>
              </a:r>
              <a:endParaRPr kumimoji="1" lang="en-US" altLang="ja-JP" sz="1200">
                <a:solidFill>
                  <a:prstClr val="black"/>
                </a:solidFill>
                <a:latin typeface="微軟正黑體" panose="020B0604030504040204" pitchFamily="34" charset="-120"/>
                <a:ea typeface="微軟正黑體" panose="020B0604030504040204" pitchFamily="34" charset="-120"/>
              </a:endParaRPr>
            </a:p>
            <a:p>
              <a:pPr marL="171450" indent="-171450" algn="just">
                <a:buFont typeface="Arial" panose="020B0604020202020204" pitchFamily="34" charset="0"/>
                <a:buChar char="•"/>
              </a:pPr>
              <a:r>
                <a:rPr kumimoji="1" lang="zh-TW" altLang="en-US" sz="1200" smtClean="0">
                  <a:latin typeface="微軟正黑體" panose="020B0604030504040204" pitchFamily="34" charset="-120"/>
                  <a:ea typeface="微軟正黑體" panose="020B0604030504040204" pitchFamily="34" charset="-120"/>
                </a:rPr>
                <a:t>亦備有多種選配系統。</a:t>
              </a:r>
              <a:endParaRPr kumimoji="1" lang="en-US" altLang="ja-JP" sz="1200" dirty="0">
                <a:latin typeface="微軟正黑體" panose="020B0604030504040204" pitchFamily="34" charset="-120"/>
                <a:ea typeface="微軟正黑體" panose="020B0604030504040204" pitchFamily="34" charset="-120"/>
              </a:endParaRPr>
            </a:p>
          </p:txBody>
        </p:sp>
        <p:grpSp>
          <p:nvGrpSpPr>
            <p:cNvPr id="7" name="グループ化 6">
              <a:extLst>
                <a:ext uri="{FF2B5EF4-FFF2-40B4-BE49-F238E27FC236}">
                  <a16:creationId xmlns="" xmlns:a16="http://schemas.microsoft.com/office/drawing/2014/main" id="{11FAC7C5-74CC-4482-A97D-2400333E71E1}"/>
                </a:ext>
              </a:extLst>
            </p:cNvPr>
            <p:cNvGrpSpPr/>
            <p:nvPr/>
          </p:nvGrpSpPr>
          <p:grpSpPr>
            <a:xfrm>
              <a:off x="6284262" y="4268838"/>
              <a:ext cx="3298353" cy="2197528"/>
              <a:chOff x="3393346" y="4255231"/>
              <a:chExt cx="3298353" cy="2197528"/>
            </a:xfrm>
          </p:grpSpPr>
          <p:pic>
            <p:nvPicPr>
              <p:cNvPr id="8" name="図 7" descr="草, 空, 屋外, 野原 が含まれている画像&#10;&#10;非常に高い精度で生成された説明">
                <a:extLst>
                  <a:ext uri="{FF2B5EF4-FFF2-40B4-BE49-F238E27FC236}">
                    <a16:creationId xmlns="" xmlns:a16="http://schemas.microsoft.com/office/drawing/2014/main" id="{347C547F-A8D1-4659-9600-FD449362F3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93346" y="4255231"/>
                <a:ext cx="3298353" cy="2197528"/>
              </a:xfrm>
              <a:prstGeom prst="rect">
                <a:avLst/>
              </a:prstGeom>
            </p:spPr>
          </p:pic>
          <p:pic>
            <p:nvPicPr>
              <p:cNvPr id="9" name="図 8">
                <a:extLst>
                  <a:ext uri="{FF2B5EF4-FFF2-40B4-BE49-F238E27FC236}">
                    <a16:creationId xmlns="" xmlns:a16="http://schemas.microsoft.com/office/drawing/2014/main" id="{8D43A460-44A0-438E-96D1-893B33A6BD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9107" y="4284328"/>
                <a:ext cx="1570846" cy="1056099"/>
              </a:xfrm>
              <a:prstGeom prst="rect">
                <a:avLst/>
              </a:prstGeom>
            </p:spPr>
          </p:pic>
        </p:grpSp>
      </p:grpSp>
    </p:spTree>
    <p:extLst>
      <p:ext uri="{BB962C8B-B14F-4D97-AF65-F5344CB8AC3E}">
        <p14:creationId xmlns:p14="http://schemas.microsoft.com/office/powerpoint/2010/main" val="166094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 xmlns:a16="http://schemas.microsoft.com/office/drawing/2014/main" id="{62EB94E9-AD14-478D-A55B-A864A3D7AE74}"/>
              </a:ext>
            </a:extLst>
          </p:cNvPr>
          <p:cNvGrpSpPr/>
          <p:nvPr/>
        </p:nvGrpSpPr>
        <p:grpSpPr>
          <a:xfrm>
            <a:off x="199414" y="-89210"/>
            <a:ext cx="9506114" cy="7036420"/>
            <a:chOff x="199414" y="-89210"/>
            <a:chExt cx="9506114" cy="7036420"/>
          </a:xfrm>
        </p:grpSpPr>
        <p:sp>
          <p:nvSpPr>
            <p:cNvPr id="32" name="正方形/長方形 31">
              <a:extLst>
                <a:ext uri="{FF2B5EF4-FFF2-40B4-BE49-F238E27FC236}">
                  <a16:creationId xmlns="" xmlns:a16="http://schemas.microsoft.com/office/drawing/2014/main" id="{0492764F-CD0B-4C44-AB3D-C6F26454AF85}"/>
                </a:ext>
              </a:extLst>
            </p:cNvPr>
            <p:cNvSpPr/>
            <p:nvPr/>
          </p:nvSpPr>
          <p:spPr>
            <a:xfrm>
              <a:off x="199414" y="2659692"/>
              <a:ext cx="9505056" cy="4287518"/>
            </a:xfrm>
            <a:prstGeom prst="rect">
              <a:avLst/>
            </a:prstGeom>
            <a:solidFill>
              <a:schemeClr val="accent5">
                <a:lumMod val="40000"/>
                <a:lumOff val="60000"/>
              </a:schemeClr>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5" name="正方形/長方形 34">
              <a:extLst>
                <a:ext uri="{FF2B5EF4-FFF2-40B4-BE49-F238E27FC236}">
                  <a16:creationId xmlns="" xmlns:a16="http://schemas.microsoft.com/office/drawing/2014/main" id="{A1DEED1A-9C4A-43C5-A769-928F43A04571}"/>
                </a:ext>
              </a:extLst>
            </p:cNvPr>
            <p:cNvSpPr/>
            <p:nvPr/>
          </p:nvSpPr>
          <p:spPr>
            <a:xfrm>
              <a:off x="200472" y="-89210"/>
              <a:ext cx="9505056" cy="837903"/>
            </a:xfrm>
            <a:prstGeom prst="rect">
              <a:avLst/>
            </a:prstGeom>
            <a:solidFill>
              <a:schemeClr val="accent1">
                <a:lumMod val="75000"/>
              </a:schemeClr>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6" name="テキスト ボックス 35">
              <a:extLst>
                <a:ext uri="{FF2B5EF4-FFF2-40B4-BE49-F238E27FC236}">
                  <a16:creationId xmlns="" xmlns:a16="http://schemas.microsoft.com/office/drawing/2014/main" id="{C20CCB73-A4AD-43E9-ACE3-F5DB8455B8D3}"/>
                </a:ext>
              </a:extLst>
            </p:cNvPr>
            <p:cNvSpPr txBox="1"/>
            <p:nvPr/>
          </p:nvSpPr>
          <p:spPr>
            <a:xfrm>
              <a:off x="806605" y="163140"/>
              <a:ext cx="8292790" cy="461665"/>
            </a:xfrm>
            <a:prstGeom prst="rect">
              <a:avLst/>
            </a:prstGeom>
            <a:noFill/>
          </p:spPr>
          <p:txBody>
            <a:bodyPr wrap="square" rtlCol="0">
              <a:spAutoFit/>
            </a:bodyPr>
            <a:lstStyle/>
            <a:p>
              <a:pPr algn="ctr"/>
              <a:r>
                <a:rPr kumimoji="1" lang="zh-TW" altLang="en-US" sz="2400" b="1" smtClean="0">
                  <a:solidFill>
                    <a:schemeClr val="bg1"/>
                  </a:solidFill>
                  <a:latin typeface="微軟正黑體" panose="020B0604030504040204" pitchFamily="34" charset="-120"/>
                  <a:ea typeface="微軟正黑體" panose="020B0604030504040204" pitchFamily="34" charset="-120"/>
                </a:rPr>
                <a:t>利用無人機自動監視農作物的生長狀況並預防犯罪</a:t>
              </a:r>
              <a:endParaRPr kumimoji="1" lang="ja-JP" altLang="en-US" sz="2400" b="1" dirty="0">
                <a:solidFill>
                  <a:schemeClr val="bg1"/>
                </a:solidFill>
                <a:latin typeface="微軟正黑體" panose="020B0604030504040204" pitchFamily="34" charset="-120"/>
                <a:ea typeface="微軟正黑體" panose="020B0604030504040204" pitchFamily="34" charset="-120"/>
              </a:endParaRPr>
            </a:p>
          </p:txBody>
        </p:sp>
        <p:sp>
          <p:nvSpPr>
            <p:cNvPr id="44" name="正方形/長方形 43">
              <a:extLst>
                <a:ext uri="{FF2B5EF4-FFF2-40B4-BE49-F238E27FC236}">
                  <a16:creationId xmlns="" xmlns:a16="http://schemas.microsoft.com/office/drawing/2014/main" id="{E7D125F0-DAA8-435A-B2A4-985DA61A9658}"/>
                </a:ext>
              </a:extLst>
            </p:cNvPr>
            <p:cNvSpPr/>
            <p:nvPr/>
          </p:nvSpPr>
          <p:spPr>
            <a:xfrm>
              <a:off x="200472" y="1180693"/>
              <a:ext cx="4752528" cy="1478999"/>
            </a:xfrm>
            <a:prstGeom prst="rect">
              <a:avLst/>
            </a:prstGeom>
            <a:no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5" name="テキスト ボックス 44">
              <a:extLst>
                <a:ext uri="{FF2B5EF4-FFF2-40B4-BE49-F238E27FC236}">
                  <a16:creationId xmlns="" xmlns:a16="http://schemas.microsoft.com/office/drawing/2014/main" id="{79CC299A-2114-433F-92EA-CE2EEA256627}"/>
                </a:ext>
              </a:extLst>
            </p:cNvPr>
            <p:cNvSpPr txBox="1"/>
            <p:nvPr/>
          </p:nvSpPr>
          <p:spPr>
            <a:xfrm>
              <a:off x="525716" y="1415323"/>
              <a:ext cx="4102040" cy="830997"/>
            </a:xfrm>
            <a:prstGeom prst="rect">
              <a:avLst/>
            </a:prstGeom>
            <a:noFill/>
          </p:spPr>
          <p:txBody>
            <a:bodyPr wrap="square" rtlCol="0">
              <a:spAutoFit/>
            </a:bodyPr>
            <a:lstStyle/>
            <a:p>
              <a:pPr algn="just"/>
              <a:r>
                <a:rPr kumimoji="1" lang="zh-TW" altLang="en-US" sz="1200" smtClean="0">
                  <a:latin typeface="微軟正黑體" panose="020B0604030504040204" pitchFamily="34" charset="-120"/>
                  <a:ea typeface="微軟正黑體" panose="020B0604030504040204" pitchFamily="34" charset="-120"/>
                </a:rPr>
                <a:t>高齡化和慢性化人手不足等因素，導致無法隨時掌握農作物的生育狀況。只要活用最先進的無人機和儲存的資料，便可提高採收量。揮別「勞多功少」的農業，轉變成生產性更高的產業。</a:t>
              </a:r>
              <a:endParaRPr kumimoji="1" lang="ja-JP" altLang="en-US" sz="1200" dirty="0">
                <a:latin typeface="微軟正黑體" panose="020B0604030504040204" pitchFamily="34" charset="-120"/>
                <a:ea typeface="微軟正黑體" panose="020B0604030504040204" pitchFamily="34" charset="-120"/>
              </a:endParaRPr>
            </a:p>
          </p:txBody>
        </p:sp>
        <p:sp>
          <p:nvSpPr>
            <p:cNvPr id="46" name="正方形/長方形 45">
              <a:extLst>
                <a:ext uri="{FF2B5EF4-FFF2-40B4-BE49-F238E27FC236}">
                  <a16:creationId xmlns="" xmlns:a16="http://schemas.microsoft.com/office/drawing/2014/main" id="{DDBAE52A-75DE-45CC-B5F3-FA6E5DCD8028}"/>
                </a:ext>
              </a:extLst>
            </p:cNvPr>
            <p:cNvSpPr/>
            <p:nvPr/>
          </p:nvSpPr>
          <p:spPr>
            <a:xfrm>
              <a:off x="200472" y="748693"/>
              <a:ext cx="666528" cy="432000"/>
            </a:xfrm>
            <a:prstGeom prst="rect">
              <a:avLst/>
            </a:prstGeom>
            <a:solidFill>
              <a:schemeClr val="accent5">
                <a:lumMod val="40000"/>
                <a:lumOff val="60000"/>
              </a:schemeClr>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7" name="正方形/長方形 46">
              <a:extLst>
                <a:ext uri="{FF2B5EF4-FFF2-40B4-BE49-F238E27FC236}">
                  <a16:creationId xmlns="" xmlns:a16="http://schemas.microsoft.com/office/drawing/2014/main" id="{A6969A8E-A724-4576-A18C-7B9B7334EFB3}"/>
                </a:ext>
              </a:extLst>
            </p:cNvPr>
            <p:cNvSpPr/>
            <p:nvPr/>
          </p:nvSpPr>
          <p:spPr>
            <a:xfrm>
              <a:off x="200472" y="748693"/>
              <a:ext cx="4752528" cy="432000"/>
            </a:xfrm>
            <a:prstGeom prst="rect">
              <a:avLst/>
            </a:prstGeom>
            <a:no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8" name="テキスト ボックス 47">
              <a:extLst>
                <a:ext uri="{FF2B5EF4-FFF2-40B4-BE49-F238E27FC236}">
                  <a16:creationId xmlns="" xmlns:a16="http://schemas.microsoft.com/office/drawing/2014/main" id="{80C16448-4005-47EB-8AB7-2A01B6EAE0E8}"/>
                </a:ext>
              </a:extLst>
            </p:cNvPr>
            <p:cNvSpPr txBox="1"/>
            <p:nvPr/>
          </p:nvSpPr>
          <p:spPr>
            <a:xfrm>
              <a:off x="1028564" y="810804"/>
              <a:ext cx="3096344" cy="338554"/>
            </a:xfrm>
            <a:prstGeom prst="rect">
              <a:avLst/>
            </a:prstGeom>
            <a:noFill/>
          </p:spPr>
          <p:txBody>
            <a:bodyPr wrap="square" rtlCol="0">
              <a:spAutoFit/>
            </a:bodyPr>
            <a:lstStyle/>
            <a:p>
              <a:pPr algn="ctr"/>
              <a:r>
                <a:rPr kumimoji="1" lang="zh-TW" altLang="en-US" sz="1600" smtClean="0">
                  <a:latin typeface="微軟正黑體" panose="020B0604030504040204" pitchFamily="34" charset="-120"/>
                  <a:ea typeface="微軟正黑體" panose="020B0604030504040204" pitchFamily="34" charset="-120"/>
                </a:rPr>
                <a:t>轉變成知識集約型的農業</a:t>
              </a:r>
              <a:endParaRPr kumimoji="1" lang="ja-JP" altLang="en-US" sz="1600" dirty="0">
                <a:latin typeface="微軟正黑體" panose="020B0604030504040204" pitchFamily="34" charset="-120"/>
                <a:ea typeface="微軟正黑體" panose="020B0604030504040204" pitchFamily="34" charset="-120"/>
              </a:endParaRPr>
            </a:p>
          </p:txBody>
        </p:sp>
        <p:sp>
          <p:nvSpPr>
            <p:cNvPr id="49" name="正方形/長方形 48">
              <a:extLst>
                <a:ext uri="{FF2B5EF4-FFF2-40B4-BE49-F238E27FC236}">
                  <a16:creationId xmlns="" xmlns:a16="http://schemas.microsoft.com/office/drawing/2014/main" id="{B96F3357-21F7-4F9B-9A69-37B6FDC0E488}"/>
                </a:ext>
              </a:extLst>
            </p:cNvPr>
            <p:cNvSpPr/>
            <p:nvPr/>
          </p:nvSpPr>
          <p:spPr>
            <a:xfrm>
              <a:off x="4953000" y="1180693"/>
              <a:ext cx="4752528" cy="1478999"/>
            </a:xfrm>
            <a:prstGeom prst="rect">
              <a:avLst/>
            </a:prstGeom>
            <a:no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0" name="テキスト ボックス 49">
              <a:extLst>
                <a:ext uri="{FF2B5EF4-FFF2-40B4-BE49-F238E27FC236}">
                  <a16:creationId xmlns="" xmlns:a16="http://schemas.microsoft.com/office/drawing/2014/main" id="{AAE21F63-23A6-4BAC-A746-33D727655099}"/>
                </a:ext>
              </a:extLst>
            </p:cNvPr>
            <p:cNvSpPr txBox="1"/>
            <p:nvPr/>
          </p:nvSpPr>
          <p:spPr>
            <a:xfrm>
              <a:off x="5278244" y="1415323"/>
              <a:ext cx="4102040" cy="830997"/>
            </a:xfrm>
            <a:prstGeom prst="rect">
              <a:avLst/>
            </a:prstGeom>
            <a:noFill/>
          </p:spPr>
          <p:txBody>
            <a:bodyPr wrap="square" rtlCol="0">
              <a:spAutoFit/>
            </a:bodyPr>
            <a:lstStyle/>
            <a:p>
              <a:pPr algn="just"/>
              <a:r>
                <a:rPr lang="zh-TW" altLang="en-US" sz="1200" smtClean="0">
                  <a:latin typeface="微軟正黑體" panose="020B0604030504040204" pitchFamily="34" charset="-120"/>
                  <a:ea typeface="微軟正黑體" panose="020B0604030504040204" pitchFamily="34" charset="-120"/>
                </a:rPr>
                <a:t>使用無人機開發監視農作物的小型通信機器。這是一套實現以自動導航從空中拍攝農田的正確影像感測的高性能開放原始碼機器。可透過內建的攝影機監視農作用的生長狀況，同時自動監控農場、拍攝可疑人物。</a:t>
              </a:r>
              <a:endParaRPr kumimoji="1" lang="en-US" altLang="ja-JP" sz="1200" dirty="0">
                <a:latin typeface="微軟正黑體" panose="020B0604030504040204" pitchFamily="34" charset="-120"/>
                <a:ea typeface="微軟正黑體" panose="020B0604030504040204" pitchFamily="34" charset="-120"/>
              </a:endParaRPr>
            </a:p>
          </p:txBody>
        </p:sp>
        <p:sp>
          <p:nvSpPr>
            <p:cNvPr id="52" name="正方形/長方形 51">
              <a:extLst>
                <a:ext uri="{FF2B5EF4-FFF2-40B4-BE49-F238E27FC236}">
                  <a16:creationId xmlns="" xmlns:a16="http://schemas.microsoft.com/office/drawing/2014/main" id="{DFA47936-41FC-4EAB-9C23-15EB50CDC5DA}"/>
                </a:ext>
              </a:extLst>
            </p:cNvPr>
            <p:cNvSpPr/>
            <p:nvPr/>
          </p:nvSpPr>
          <p:spPr>
            <a:xfrm>
              <a:off x="4953000" y="748693"/>
              <a:ext cx="4752528" cy="432000"/>
            </a:xfrm>
            <a:prstGeom prst="rect">
              <a:avLst/>
            </a:prstGeom>
            <a:no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3" name="テキスト ボックス 52">
              <a:extLst>
                <a:ext uri="{FF2B5EF4-FFF2-40B4-BE49-F238E27FC236}">
                  <a16:creationId xmlns="" xmlns:a16="http://schemas.microsoft.com/office/drawing/2014/main" id="{8A239069-5D56-4167-92B9-B0E7895F45E4}"/>
                </a:ext>
              </a:extLst>
            </p:cNvPr>
            <p:cNvSpPr txBox="1"/>
            <p:nvPr/>
          </p:nvSpPr>
          <p:spPr>
            <a:xfrm>
              <a:off x="5781092" y="810804"/>
              <a:ext cx="3096344" cy="338554"/>
            </a:xfrm>
            <a:prstGeom prst="rect">
              <a:avLst/>
            </a:prstGeom>
            <a:noFill/>
          </p:spPr>
          <p:txBody>
            <a:bodyPr wrap="square" rtlCol="0">
              <a:spAutoFit/>
            </a:bodyPr>
            <a:lstStyle/>
            <a:p>
              <a:pPr algn="ctr"/>
              <a:r>
                <a:rPr kumimoji="1" lang="zh-TW" altLang="en-US" sz="1600" smtClean="0">
                  <a:latin typeface="微軟正黑體" panose="020B0604030504040204" pitchFamily="34" charset="-120"/>
                  <a:ea typeface="微軟正黑體" panose="020B0604030504040204" pitchFamily="34" charset="-120"/>
                </a:rPr>
                <a:t>運用無人機和</a:t>
              </a:r>
              <a:r>
                <a:rPr kumimoji="1" lang="en-US" altLang="zh-TW" sz="1600" smtClean="0">
                  <a:latin typeface="微軟正黑體" panose="020B0604030504040204" pitchFamily="34" charset="-120"/>
                  <a:ea typeface="微軟正黑體" panose="020B0604030504040204" pitchFamily="34" charset="-120"/>
                </a:rPr>
                <a:t>IT</a:t>
              </a:r>
              <a:endParaRPr kumimoji="1" lang="ja-JP" altLang="en-US" sz="1600" dirty="0">
                <a:latin typeface="微軟正黑體" panose="020B0604030504040204" pitchFamily="34" charset="-120"/>
                <a:ea typeface="微軟正黑體" panose="020B0604030504040204" pitchFamily="34" charset="-120"/>
              </a:endParaRPr>
            </a:p>
          </p:txBody>
        </p:sp>
        <p:sp>
          <p:nvSpPr>
            <p:cNvPr id="55" name="正方形/長方形 54">
              <a:extLst>
                <a:ext uri="{FF2B5EF4-FFF2-40B4-BE49-F238E27FC236}">
                  <a16:creationId xmlns="" xmlns:a16="http://schemas.microsoft.com/office/drawing/2014/main" id="{DF06B2A7-5070-460F-8649-5B3479C87C15}"/>
                </a:ext>
              </a:extLst>
            </p:cNvPr>
            <p:cNvSpPr/>
            <p:nvPr/>
          </p:nvSpPr>
          <p:spPr>
            <a:xfrm>
              <a:off x="865942" y="2659693"/>
              <a:ext cx="8172000" cy="993302"/>
            </a:xfrm>
            <a:prstGeom prst="rect">
              <a:avLst/>
            </a:prstGeom>
            <a:solidFill>
              <a:schemeClr val="bg1"/>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9" name="二等辺三角形 58">
              <a:extLst>
                <a:ext uri="{FF2B5EF4-FFF2-40B4-BE49-F238E27FC236}">
                  <a16:creationId xmlns="" xmlns:a16="http://schemas.microsoft.com/office/drawing/2014/main" id="{4E992118-9ABC-47C3-A675-2B9FE42AE6CF}"/>
                </a:ext>
              </a:extLst>
            </p:cNvPr>
            <p:cNvSpPr/>
            <p:nvPr/>
          </p:nvSpPr>
          <p:spPr>
            <a:xfrm flipV="1">
              <a:off x="865942" y="2659907"/>
              <a:ext cx="8172000" cy="419048"/>
            </a:xfrm>
            <a:prstGeom prst="triangle">
              <a:avLst/>
            </a:prstGeom>
            <a:solidFill>
              <a:schemeClr val="accent2">
                <a:lumMod val="75000"/>
              </a:schemeClr>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7" name="正方形/長方形 56">
              <a:extLst>
                <a:ext uri="{FF2B5EF4-FFF2-40B4-BE49-F238E27FC236}">
                  <a16:creationId xmlns="" xmlns:a16="http://schemas.microsoft.com/office/drawing/2014/main" id="{980848B8-7B48-4228-BE65-019C98E6FFE2}"/>
                </a:ext>
              </a:extLst>
            </p:cNvPr>
            <p:cNvSpPr/>
            <p:nvPr/>
          </p:nvSpPr>
          <p:spPr>
            <a:xfrm>
              <a:off x="865942" y="3652994"/>
              <a:ext cx="8172000" cy="3294215"/>
            </a:xfrm>
            <a:prstGeom prst="rect">
              <a:avLst/>
            </a:prstGeom>
            <a:solidFill>
              <a:schemeClr val="bg1"/>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37" name="正方形/長方形 36">
              <a:extLst>
                <a:ext uri="{FF2B5EF4-FFF2-40B4-BE49-F238E27FC236}">
                  <a16:creationId xmlns="" xmlns:a16="http://schemas.microsoft.com/office/drawing/2014/main" id="{C6523414-0212-4D68-9C20-1630EA827BFA}"/>
                </a:ext>
              </a:extLst>
            </p:cNvPr>
            <p:cNvSpPr/>
            <p:nvPr/>
          </p:nvSpPr>
          <p:spPr>
            <a:xfrm>
              <a:off x="3013488" y="3167476"/>
              <a:ext cx="3876908" cy="461665"/>
            </a:xfrm>
            <a:prstGeom prst="rect">
              <a:avLst/>
            </a:prstGeom>
            <a:noFill/>
          </p:spPr>
          <p:txBody>
            <a:bodyPr wrap="square">
              <a:spAutoFit/>
            </a:bodyPr>
            <a:lstStyle/>
            <a:p>
              <a:pPr algn="ctr"/>
              <a:r>
                <a:rPr lang="zh-TW" altLang="en-US" sz="2400" b="1" spc="-150">
                  <a:latin typeface="微軟正黑體" panose="020B0604030504040204" pitchFamily="34" charset="-120"/>
                  <a:ea typeface="微軟正黑體" panose="020B0604030504040204" pitchFamily="34" charset="-120"/>
                </a:rPr>
                <a:t>農田「可視化」</a:t>
              </a:r>
            </a:p>
          </p:txBody>
        </p:sp>
        <p:sp>
          <p:nvSpPr>
            <p:cNvPr id="23" name="正方形/長方形 22">
              <a:extLst>
                <a:ext uri="{FF2B5EF4-FFF2-40B4-BE49-F238E27FC236}">
                  <a16:creationId xmlns="" xmlns:a16="http://schemas.microsoft.com/office/drawing/2014/main" id="{D365C862-53C9-4165-B021-0480B35D5CFA}"/>
                </a:ext>
              </a:extLst>
            </p:cNvPr>
            <p:cNvSpPr/>
            <p:nvPr/>
          </p:nvSpPr>
          <p:spPr>
            <a:xfrm>
              <a:off x="4951942" y="748693"/>
              <a:ext cx="666528" cy="432000"/>
            </a:xfrm>
            <a:prstGeom prst="rect">
              <a:avLst/>
            </a:prstGeom>
            <a:solidFill>
              <a:schemeClr val="accent5">
                <a:lumMod val="40000"/>
                <a:lumOff val="60000"/>
              </a:schemeClr>
            </a:solid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矢印: 五方向 1">
              <a:extLst>
                <a:ext uri="{FF2B5EF4-FFF2-40B4-BE49-F238E27FC236}">
                  <a16:creationId xmlns="" xmlns:a16="http://schemas.microsoft.com/office/drawing/2014/main" id="{E8EF5A6A-E4F3-4C98-AF1F-0BBE7A3F67C2}"/>
                </a:ext>
              </a:extLst>
            </p:cNvPr>
            <p:cNvSpPr/>
            <p:nvPr/>
          </p:nvSpPr>
          <p:spPr>
            <a:xfrm>
              <a:off x="3068543" y="3652992"/>
              <a:ext cx="3710340" cy="3294216"/>
            </a:xfrm>
            <a:prstGeom prst="homePlate">
              <a:avLst>
                <a:gd name="adj" fmla="val 9717"/>
              </a:avLst>
            </a:prstGeom>
            <a:blipFill>
              <a:blip r:embed="rId2"/>
              <a:srcRect/>
              <a:stretch>
                <a:fillRect l="-16630" r="-16630"/>
              </a:stretch>
            </a:blipFill>
            <a:ln w="28575"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4" name="テキスト ボックス 53">
              <a:extLst>
                <a:ext uri="{FF2B5EF4-FFF2-40B4-BE49-F238E27FC236}">
                  <a16:creationId xmlns="" xmlns:a16="http://schemas.microsoft.com/office/drawing/2014/main" id="{69126FFD-C143-4C3E-A940-D369258AB2AC}"/>
                </a:ext>
              </a:extLst>
            </p:cNvPr>
            <p:cNvSpPr txBox="1"/>
            <p:nvPr/>
          </p:nvSpPr>
          <p:spPr>
            <a:xfrm>
              <a:off x="935887" y="3811850"/>
              <a:ext cx="2066516" cy="2400657"/>
            </a:xfrm>
            <a:prstGeom prst="rect">
              <a:avLst/>
            </a:prstGeom>
            <a:noFill/>
          </p:spPr>
          <p:txBody>
            <a:bodyPr wrap="square" rtlCol="0">
              <a:spAutoFit/>
            </a:bodyPr>
            <a:lstStyle/>
            <a:p>
              <a:pPr marL="171450" indent="-171450" algn="just">
                <a:spcAft>
                  <a:spcPts val="1200"/>
                </a:spcAft>
                <a:buFont typeface="Wingdings" panose="05000000000000000000" pitchFamily="2" charset="2"/>
                <a:buChar char="l"/>
              </a:pPr>
              <a:r>
                <a:rPr kumimoji="1" lang="zh-TW" altLang="en-US" sz="1200" smtClean="0">
                  <a:latin typeface="微軟正黑體" panose="020B0604030504040204" pitchFamily="34" charset="-120"/>
                  <a:ea typeface="微軟正黑體" panose="020B0604030504040204" pitchFamily="34" charset="-120"/>
                </a:rPr>
                <a:t>可</a:t>
              </a:r>
              <a:r>
                <a:rPr kumimoji="1" lang="zh-TW" altLang="en-US" sz="1200">
                  <a:latin typeface="微軟正黑體" panose="020B0604030504040204" pitchFamily="34" charset="-120"/>
                  <a:ea typeface="微軟正黑體" panose="020B0604030504040204" pitchFamily="34" charset="-120"/>
                </a:rPr>
                <a:t>觀察生長的變化，預測養護、病蟲害預防、出貨時期</a:t>
              </a:r>
              <a:r>
                <a:rPr kumimoji="1" lang="ja-JP" altLang="en-US" sz="1200" smtClean="0">
                  <a:latin typeface="微軟正黑體" panose="020B0604030504040204" pitchFamily="34" charset="-120"/>
                  <a:ea typeface="微軟正黑體" panose="020B0604030504040204" pitchFamily="34" charset="-120"/>
                </a:rPr>
                <a:t>。</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spcAft>
                  <a:spcPts val="1200"/>
                </a:spcAft>
                <a:buFont typeface="Wingdings" panose="05000000000000000000" pitchFamily="2" charset="2"/>
                <a:buChar char="l"/>
              </a:pPr>
              <a:r>
                <a:rPr kumimoji="1" lang="zh-TW" altLang="en-US" sz="1200" smtClean="0">
                  <a:latin typeface="微軟正黑體" panose="020B0604030504040204" pitchFamily="34" charset="-120"/>
                  <a:ea typeface="微軟正黑體" panose="020B0604030504040204" pitchFamily="34" charset="-120"/>
                </a:rPr>
                <a:t>處理</a:t>
              </a:r>
              <a:r>
                <a:rPr kumimoji="1" lang="zh-TW" altLang="en-US" sz="1200">
                  <a:latin typeface="微軟正黑體" panose="020B0604030504040204" pitchFamily="34" charset="-120"/>
                  <a:ea typeface="微軟正黑體" panose="020B0604030504040204" pitchFamily="34" charset="-120"/>
                </a:rPr>
                <a:t>無人機送出的資料，儲存於雲端</a:t>
              </a:r>
              <a:r>
                <a:rPr kumimoji="1" lang="ja-JP" altLang="en-US" sz="1200" smtClean="0">
                  <a:latin typeface="微軟正黑體" panose="020B0604030504040204" pitchFamily="34" charset="-120"/>
                  <a:ea typeface="微軟正黑體" panose="020B0604030504040204" pitchFamily="34" charset="-120"/>
                </a:rPr>
                <a:t>。</a:t>
              </a:r>
              <a:endParaRPr kumimoji="1" lang="ja-JP" altLang="en-US" sz="1200" dirty="0">
                <a:latin typeface="微軟正黑體" panose="020B0604030504040204" pitchFamily="34" charset="-120"/>
                <a:ea typeface="微軟正黑體" panose="020B0604030504040204" pitchFamily="34" charset="-120"/>
              </a:endParaRPr>
            </a:p>
            <a:p>
              <a:pPr marL="171450" indent="-171450" algn="just">
                <a:spcAft>
                  <a:spcPts val="1200"/>
                </a:spcAft>
                <a:buFont typeface="Wingdings" panose="05000000000000000000" pitchFamily="2" charset="2"/>
                <a:buChar char="l"/>
              </a:pPr>
              <a:r>
                <a:rPr kumimoji="1" lang="zh-TW" altLang="en-US" sz="1200" smtClean="0">
                  <a:latin typeface="微軟正黑體" panose="020B0604030504040204" pitchFamily="34" charset="-120"/>
                  <a:ea typeface="微軟正黑體" panose="020B0604030504040204" pitchFamily="34" charset="-120"/>
                </a:rPr>
                <a:t>發現</a:t>
              </a:r>
              <a:r>
                <a:rPr kumimoji="1" lang="zh-TW" altLang="en-US" sz="1200">
                  <a:latin typeface="微軟正黑體" panose="020B0604030504040204" pitchFamily="34" charset="-120"/>
                  <a:ea typeface="微軟正黑體" panose="020B0604030504040204" pitchFamily="34" charset="-120"/>
                </a:rPr>
                <a:t>可疑人物或車輛，夜間以</a:t>
              </a:r>
              <a:r>
                <a:rPr kumimoji="1" lang="en-US" altLang="zh-TW" sz="1200">
                  <a:latin typeface="微軟正黑體" panose="020B0604030504040204" pitchFamily="34" charset="-120"/>
                  <a:ea typeface="微軟正黑體" panose="020B0604030504040204" pitchFamily="34" charset="-120"/>
                </a:rPr>
                <a:t>LED</a:t>
              </a:r>
              <a:r>
                <a:rPr kumimoji="1" lang="zh-TW" altLang="en-US" sz="1200">
                  <a:latin typeface="微軟正黑體" panose="020B0604030504040204" pitchFamily="34" charset="-120"/>
                  <a:ea typeface="微軟正黑體" panose="020B0604030504040204" pitchFamily="34" charset="-120"/>
                </a:rPr>
                <a:t>燈進行彩色攝影</a:t>
              </a:r>
              <a:r>
                <a:rPr kumimoji="1" lang="ja-JP" altLang="en-US" sz="1200" smtClean="0">
                  <a:latin typeface="微軟正黑體" panose="020B0604030504040204" pitchFamily="34" charset="-120"/>
                  <a:ea typeface="微軟正黑體" panose="020B0604030504040204" pitchFamily="34" charset="-120"/>
                </a:rPr>
                <a:t>。</a:t>
              </a:r>
              <a:endParaRPr kumimoji="1" lang="en-US" altLang="ja-JP" sz="1200" dirty="0">
                <a:latin typeface="微軟正黑體" panose="020B0604030504040204" pitchFamily="34" charset="-120"/>
                <a:ea typeface="微軟正黑體" panose="020B0604030504040204" pitchFamily="34" charset="-120"/>
              </a:endParaRPr>
            </a:p>
            <a:p>
              <a:pPr marL="171450" indent="-171450" algn="just">
                <a:spcAft>
                  <a:spcPts val="1200"/>
                </a:spcAft>
                <a:buFont typeface="Wingdings" panose="05000000000000000000" pitchFamily="2" charset="2"/>
                <a:buChar char="l"/>
              </a:pPr>
              <a:r>
                <a:rPr kumimoji="1" lang="zh-TW" altLang="en-US" sz="1200" smtClean="0">
                  <a:latin typeface="微軟正黑體" panose="020B0604030504040204" pitchFamily="34" charset="-120"/>
                  <a:ea typeface="微軟正黑體" panose="020B0604030504040204" pitchFamily="34" charset="-120"/>
                </a:rPr>
                <a:t>把</a:t>
              </a:r>
              <a:r>
                <a:rPr kumimoji="1" lang="zh-TW" altLang="en-US" sz="1200">
                  <a:latin typeface="微軟正黑體" panose="020B0604030504040204" pitchFamily="34" charset="-120"/>
                  <a:ea typeface="微軟正黑體" panose="020B0604030504040204" pitchFamily="34" charset="-120"/>
                </a:rPr>
                <a:t>農作物的生長狀況數值化，以淺顯易懂的影像提供給生產者</a:t>
              </a:r>
              <a:r>
                <a:rPr kumimoji="1" lang="ja-JP" altLang="en-US" sz="1200" smtClean="0">
                  <a:latin typeface="微軟正黑體" panose="020B0604030504040204" pitchFamily="34" charset="-120"/>
                  <a:ea typeface="微軟正黑體" panose="020B0604030504040204" pitchFamily="34" charset="-120"/>
                </a:rPr>
                <a:t>。</a:t>
              </a:r>
              <a:endParaRPr kumimoji="1" lang="en-US" altLang="ja-JP" sz="1200" dirty="0">
                <a:latin typeface="微軟正黑體" panose="020B0604030504040204" pitchFamily="34" charset="-120"/>
                <a:ea typeface="微軟正黑體" panose="020B0604030504040204" pitchFamily="34" charset="-120"/>
              </a:endParaRPr>
            </a:p>
          </p:txBody>
        </p:sp>
        <p:sp>
          <p:nvSpPr>
            <p:cNvPr id="25" name="テキスト ボックス 24">
              <a:extLst>
                <a:ext uri="{FF2B5EF4-FFF2-40B4-BE49-F238E27FC236}">
                  <a16:creationId xmlns="" xmlns:a16="http://schemas.microsoft.com/office/drawing/2014/main" id="{EA680B16-5BFB-4C9B-83E5-D6455F8A0875}"/>
                </a:ext>
              </a:extLst>
            </p:cNvPr>
            <p:cNvSpPr txBox="1"/>
            <p:nvPr/>
          </p:nvSpPr>
          <p:spPr>
            <a:xfrm>
              <a:off x="6778883" y="3910670"/>
              <a:ext cx="2125090" cy="646331"/>
            </a:xfrm>
            <a:prstGeom prst="rect">
              <a:avLst/>
            </a:prstGeom>
            <a:noFill/>
          </p:spPr>
          <p:txBody>
            <a:bodyPr wrap="square" rtlCol="0">
              <a:spAutoFit/>
            </a:bodyPr>
            <a:lstStyle/>
            <a:p>
              <a:pPr algn="just"/>
              <a:r>
                <a:rPr kumimoji="1" lang="zh-TW" altLang="en-US" sz="1200" smtClean="0">
                  <a:latin typeface="微軟正黑體" panose="020B0604030504040204" pitchFamily="34" charset="-120"/>
                  <a:ea typeface="微軟正黑體" panose="020B0604030504040204" pitchFamily="34" charset="-120"/>
                </a:rPr>
                <a:t>以更淺顯易懂的影像資料，把數值化的稻米等生長狀況提供給生產者。</a:t>
              </a:r>
              <a:endParaRPr kumimoji="1" lang="ja-JP" altLang="en-US" sz="1200" dirty="0">
                <a:latin typeface="微軟正黑體" panose="020B0604030504040204" pitchFamily="34" charset="-120"/>
                <a:ea typeface="微軟正黑體" panose="020B0604030504040204" pitchFamily="34" charset="-120"/>
              </a:endParaRPr>
            </a:p>
          </p:txBody>
        </p:sp>
        <p:sp>
          <p:nvSpPr>
            <p:cNvPr id="3" name="二等辺三角形 2">
              <a:extLst>
                <a:ext uri="{FF2B5EF4-FFF2-40B4-BE49-F238E27FC236}">
                  <a16:creationId xmlns="" xmlns:a16="http://schemas.microsoft.com/office/drawing/2014/main" id="{32FCE436-B062-4A5F-8494-BF184D9605C9}"/>
                </a:ext>
              </a:extLst>
            </p:cNvPr>
            <p:cNvSpPr/>
            <p:nvPr/>
          </p:nvSpPr>
          <p:spPr>
            <a:xfrm flipV="1">
              <a:off x="7385043" y="4716712"/>
              <a:ext cx="914400" cy="360000"/>
            </a:xfrm>
            <a:prstGeom prs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 xmlns:a16="http://schemas.microsoft.com/office/drawing/2014/main" id="{1E02A2CD-D1F0-436E-BF84-7D0E80968CDA}"/>
                </a:ext>
              </a:extLst>
            </p:cNvPr>
            <p:cNvSpPr/>
            <p:nvPr/>
          </p:nvSpPr>
          <p:spPr>
            <a:xfrm>
              <a:off x="6892659" y="5255687"/>
              <a:ext cx="1966014" cy="397992"/>
            </a:xfrm>
            <a:prstGeom prst="rect">
              <a:avLst/>
            </a:prstGeom>
            <a:solidFill>
              <a:schemeClr val="accent2">
                <a:lumMod val="60000"/>
                <a:lumOff val="4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9" name="正方形/長方形 38">
              <a:extLst>
                <a:ext uri="{FF2B5EF4-FFF2-40B4-BE49-F238E27FC236}">
                  <a16:creationId xmlns="" xmlns:a16="http://schemas.microsoft.com/office/drawing/2014/main" id="{C3996A04-054D-4BC6-AE7D-FFC1B85CA6E4}"/>
                </a:ext>
              </a:extLst>
            </p:cNvPr>
            <p:cNvSpPr/>
            <p:nvPr/>
          </p:nvSpPr>
          <p:spPr>
            <a:xfrm>
              <a:off x="6892659" y="5765127"/>
              <a:ext cx="1966014" cy="397992"/>
            </a:xfrm>
            <a:prstGeom prst="rect">
              <a:avLst/>
            </a:prstGeom>
            <a:solidFill>
              <a:schemeClr val="accent2">
                <a:lumMod val="60000"/>
                <a:lumOff val="4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1" name="正方形/長方形 40">
              <a:extLst>
                <a:ext uri="{FF2B5EF4-FFF2-40B4-BE49-F238E27FC236}">
                  <a16:creationId xmlns="" xmlns:a16="http://schemas.microsoft.com/office/drawing/2014/main" id="{F8FBC572-6C22-4A78-B412-C08015677124}"/>
                </a:ext>
              </a:extLst>
            </p:cNvPr>
            <p:cNvSpPr/>
            <p:nvPr/>
          </p:nvSpPr>
          <p:spPr>
            <a:xfrm>
              <a:off x="6892659" y="6274566"/>
              <a:ext cx="1966014" cy="397992"/>
            </a:xfrm>
            <a:prstGeom prst="rect">
              <a:avLst/>
            </a:prstGeom>
            <a:solidFill>
              <a:schemeClr val="accent2">
                <a:lumMod val="60000"/>
                <a:lumOff val="40000"/>
              </a:schemeClr>
            </a:solidFill>
            <a:ln w="952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8" name="テキスト ボックス 57">
              <a:extLst>
                <a:ext uri="{FF2B5EF4-FFF2-40B4-BE49-F238E27FC236}">
                  <a16:creationId xmlns="" xmlns:a16="http://schemas.microsoft.com/office/drawing/2014/main" id="{3DCC0934-EFDB-43FF-803F-3096AB480AD5}"/>
                </a:ext>
              </a:extLst>
            </p:cNvPr>
            <p:cNvSpPr txBox="1"/>
            <p:nvPr/>
          </p:nvSpPr>
          <p:spPr>
            <a:xfrm>
              <a:off x="6865614" y="5340155"/>
              <a:ext cx="2021908" cy="261610"/>
            </a:xfrm>
            <a:prstGeom prst="rect">
              <a:avLst/>
            </a:prstGeom>
            <a:noFill/>
          </p:spPr>
          <p:txBody>
            <a:bodyPr wrap="square" rtlCol="0">
              <a:spAutoFit/>
            </a:bodyPr>
            <a:lstStyle/>
            <a:p>
              <a:pPr algn="ctr"/>
              <a:r>
                <a:rPr kumimoji="1" lang="zh-TW" altLang="en-US" sz="1100" smtClean="0">
                  <a:latin typeface="微軟正黑體" panose="020B0604030504040204" pitchFamily="34" charset="-120"/>
                  <a:ea typeface="微軟正黑體" panose="020B0604030504040204" pitchFamily="34" charset="-120"/>
                </a:rPr>
                <a:t>正確掌握生長狀況</a:t>
              </a:r>
              <a:endParaRPr kumimoji="1" lang="en-US" altLang="ja-JP" sz="1100" dirty="0">
                <a:latin typeface="微軟正黑體" panose="020B0604030504040204" pitchFamily="34" charset="-120"/>
                <a:ea typeface="微軟正黑體" panose="020B0604030504040204" pitchFamily="34" charset="-120"/>
              </a:endParaRPr>
            </a:p>
          </p:txBody>
        </p:sp>
        <p:sp>
          <p:nvSpPr>
            <p:cNvPr id="38" name="テキスト ボックス 37">
              <a:extLst>
                <a:ext uri="{FF2B5EF4-FFF2-40B4-BE49-F238E27FC236}">
                  <a16:creationId xmlns="" xmlns:a16="http://schemas.microsoft.com/office/drawing/2014/main" id="{42B2F908-7BCD-403E-AD2E-16D0A12753A0}"/>
                </a:ext>
              </a:extLst>
            </p:cNvPr>
            <p:cNvSpPr txBox="1"/>
            <p:nvPr/>
          </p:nvSpPr>
          <p:spPr>
            <a:xfrm>
              <a:off x="6832160" y="5845715"/>
              <a:ext cx="2088816" cy="261610"/>
            </a:xfrm>
            <a:prstGeom prst="rect">
              <a:avLst/>
            </a:prstGeom>
            <a:noFill/>
          </p:spPr>
          <p:txBody>
            <a:bodyPr wrap="square" rtlCol="0">
              <a:spAutoFit/>
            </a:bodyPr>
            <a:lstStyle/>
            <a:p>
              <a:pPr algn="ctr"/>
              <a:r>
                <a:rPr kumimoji="1" lang="zh-TW" altLang="en-US" sz="1100" smtClean="0">
                  <a:latin typeface="微軟正黑體" panose="020B0604030504040204" pitchFamily="34" charset="-120"/>
                  <a:ea typeface="微軟正黑體" panose="020B0604030504040204" pitchFamily="34" charset="-120"/>
                </a:rPr>
                <a:t>確實的採收行程</a:t>
              </a:r>
              <a:endParaRPr kumimoji="1" lang="en-US" altLang="ja-JP" sz="1100" dirty="0">
                <a:latin typeface="微軟正黑體" panose="020B0604030504040204" pitchFamily="34" charset="-120"/>
                <a:ea typeface="微軟正黑體" panose="020B0604030504040204" pitchFamily="34" charset="-120"/>
              </a:endParaRPr>
            </a:p>
          </p:txBody>
        </p:sp>
        <p:sp>
          <p:nvSpPr>
            <p:cNvPr id="40" name="テキスト ボックス 39">
              <a:extLst>
                <a:ext uri="{FF2B5EF4-FFF2-40B4-BE49-F238E27FC236}">
                  <a16:creationId xmlns="" xmlns:a16="http://schemas.microsoft.com/office/drawing/2014/main" id="{57291C7B-C7AB-4BD2-B8CE-ABE7D75F0B36}"/>
                </a:ext>
              </a:extLst>
            </p:cNvPr>
            <p:cNvSpPr txBox="1"/>
            <p:nvPr/>
          </p:nvSpPr>
          <p:spPr>
            <a:xfrm>
              <a:off x="6832160" y="6347245"/>
              <a:ext cx="2088816" cy="261610"/>
            </a:xfrm>
            <a:prstGeom prst="rect">
              <a:avLst/>
            </a:prstGeom>
            <a:noFill/>
          </p:spPr>
          <p:txBody>
            <a:bodyPr wrap="square" rtlCol="0">
              <a:spAutoFit/>
            </a:bodyPr>
            <a:lstStyle/>
            <a:p>
              <a:pPr algn="ctr"/>
              <a:r>
                <a:rPr kumimoji="1" lang="zh-TW" altLang="en-US" sz="1100" smtClean="0">
                  <a:latin typeface="微軟正黑體" panose="020B0604030504040204" pitchFamily="34" charset="-120"/>
                  <a:ea typeface="微軟正黑體" panose="020B0604030504040204" pitchFamily="34" charset="-120"/>
                </a:rPr>
                <a:t>用資料活用提高採收量</a:t>
              </a:r>
              <a:endParaRPr kumimoji="1" lang="en-US" altLang="ja-JP" sz="1100" dirty="0">
                <a:latin typeface="微軟正黑體" panose="020B0604030504040204" pitchFamily="34" charset="-120"/>
                <a:ea typeface="微軟正黑體" panose="020B0604030504040204" pitchFamily="34" charset="-120"/>
              </a:endParaRPr>
            </a:p>
          </p:txBody>
        </p:sp>
        <p:pic>
          <p:nvPicPr>
            <p:cNvPr id="43" name="図 42">
              <a:extLst>
                <a:ext uri="{FF2B5EF4-FFF2-40B4-BE49-F238E27FC236}">
                  <a16:creationId xmlns="" xmlns:a16="http://schemas.microsoft.com/office/drawing/2014/main" id="{27D266F1-A7E1-4BB5-BC6B-87122AC908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49306" y="4075895"/>
              <a:ext cx="1570846" cy="1056099"/>
            </a:xfrm>
            <a:prstGeom prst="rect">
              <a:avLst/>
            </a:prstGeom>
          </p:spPr>
        </p:pic>
      </p:grpSp>
    </p:spTree>
    <p:extLst>
      <p:ext uri="{BB962C8B-B14F-4D97-AF65-F5344CB8AC3E}">
        <p14:creationId xmlns:p14="http://schemas.microsoft.com/office/powerpoint/2010/main" val="2877328751"/>
      </p:ext>
    </p:extLst>
  </p:cSld>
  <p:clrMapOvr>
    <a:masterClrMapping/>
  </p:clrMapOvr>
</p:sld>
</file>

<file path=ppt/theme/theme1.xml><?xml version="1.0" encoding="utf-8"?>
<a:theme xmlns:a="http://schemas.openxmlformats.org/drawingml/2006/main" name="Office テーマ">
  <a:themeElements>
    <a:clrScheme name="緑">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465</TotalTime>
  <Words>700</Words>
  <Application>Microsoft Office PowerPoint</Application>
  <PresentationFormat>A4 紙張 (210x297 公釐)</PresentationFormat>
  <Paragraphs>56</Paragraphs>
  <Slides>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vt:i4>
      </vt:variant>
    </vt:vector>
  </HeadingPairs>
  <TitlesOfParts>
    <vt:vector size="11" baseType="lpstr">
      <vt:lpstr>游ゴシック</vt:lpstr>
      <vt:lpstr>游ゴシック Light</vt:lpstr>
      <vt:lpstr>微軟正黑體</vt:lpstr>
      <vt:lpstr>Arial</vt:lpstr>
      <vt:lpstr>Calibri</vt:lpstr>
      <vt:lpstr>Calibri Light</vt:lpstr>
      <vt:lpstr>Wingdings</vt:lpstr>
      <vt:lpstr>Office テーマ</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渡辺克之</dc:creator>
  <cp:lastModifiedBy>Windows 使用者</cp:lastModifiedBy>
  <cp:revision>65</cp:revision>
  <dcterms:created xsi:type="dcterms:W3CDTF">2017-11-09T07:26:57Z</dcterms:created>
  <dcterms:modified xsi:type="dcterms:W3CDTF">2018-10-01T01:30:17Z</dcterms:modified>
</cp:coreProperties>
</file>