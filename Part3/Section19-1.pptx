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="" xmlns:a16="http://schemas.microsoft.com/office/drawing/2014/main" id="{84504517-64D4-4D8D-99A6-A83CD9C32C84}"/>
              </a:ext>
            </a:extLst>
          </p:cNvPr>
          <p:cNvGrpSpPr/>
          <p:nvPr/>
        </p:nvGrpSpPr>
        <p:grpSpPr>
          <a:xfrm>
            <a:off x="0" y="0"/>
            <a:ext cx="9905999" cy="6572533"/>
            <a:chOff x="0" y="0"/>
            <a:chExt cx="9905999" cy="6572533"/>
          </a:xfrm>
        </p:grpSpPr>
        <p:sp>
          <p:nvSpPr>
            <p:cNvPr id="12" name="正方形/長方形 11">
              <a:extLst>
                <a:ext uri="{FF2B5EF4-FFF2-40B4-BE49-F238E27FC236}">
                  <a16:creationId xmlns="" xmlns:a16="http://schemas.microsoft.com/office/drawing/2014/main" id="{1E3B26B1-FFEB-479A-89DE-C878040C6B87}"/>
                </a:ext>
              </a:extLst>
            </p:cNvPr>
            <p:cNvSpPr/>
            <p:nvPr/>
          </p:nvSpPr>
          <p:spPr>
            <a:xfrm>
              <a:off x="1066432" y="2190134"/>
              <a:ext cx="7773137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並非廉價商品才暢銷。</a:t>
              </a:r>
              <a:endParaRPr lang="en-US" altLang="ja-JP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以嗜好為中心的購買行動。</a:t>
              </a:r>
              <a:endParaRPr lang="en-US" altLang="ja-JP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回購變得更重要。</a:t>
              </a:r>
              <a:endParaRPr lang="en-US" altLang="ja-JP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必須有促使常客來店消費的措施。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="" xmlns:a16="http://schemas.microsoft.com/office/drawing/2014/main" id="{952827FA-48AA-4FE8-B386-3F940FF4EDCB}"/>
                </a:ext>
              </a:extLst>
            </p:cNvPr>
            <p:cNvSpPr/>
            <p:nvPr/>
          </p:nvSpPr>
          <p:spPr>
            <a:xfrm>
              <a:off x="0" y="0"/>
              <a:ext cx="9905999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="" xmlns:a16="http://schemas.microsoft.com/office/drawing/2014/main" id="{346A9D8F-7DD8-4773-A17B-CEF551E05F76}"/>
                </a:ext>
              </a:extLst>
            </p:cNvPr>
            <p:cNvSpPr/>
            <p:nvPr/>
          </p:nvSpPr>
          <p:spPr>
            <a:xfrm>
              <a:off x="8452624" y="6110868"/>
              <a:ext cx="8687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ja-JP" sz="2400" dirty="0">
                  <a:latin typeface="Arial" panose="020B0604020202020204" pitchFamily="34" charset="0"/>
                  <a:ea typeface="游ゴシック" panose="020B0400000000000000" pitchFamily="50" charset="-128"/>
                  <a:cs typeface="Arial" panose="020B0604020202020204" pitchFamily="34" charset="0"/>
                </a:rPr>
                <a:t>1</a:t>
              </a:r>
              <a:endParaRPr lang="ja-JP" altLang="en-US" sz="2400" dirty="0"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="" xmlns:a16="http://schemas.microsoft.com/office/drawing/2014/main" id="{5CA1B971-7113-4EC8-8B5C-DE4499E185E0}"/>
                </a:ext>
              </a:extLst>
            </p:cNvPr>
            <p:cNvSpPr/>
            <p:nvPr/>
          </p:nvSpPr>
          <p:spPr>
            <a:xfrm>
              <a:off x="6253316" y="573009"/>
              <a:ext cx="306801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1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大數據備貨改善企劃書</a:t>
              </a:r>
              <a:endParaRPr lang="ja-JP" altLang="en-US" sz="11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="" xmlns:a16="http://schemas.microsoft.com/office/drawing/2014/main" id="{6E0C0A77-A4D7-4F3B-892F-F36AF0B5262E}"/>
                </a:ext>
              </a:extLst>
            </p:cNvPr>
            <p:cNvSpPr/>
            <p:nvPr/>
          </p:nvSpPr>
          <p:spPr>
            <a:xfrm>
              <a:off x="1919167" y="411427"/>
              <a:ext cx="492141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零售的現況</a:t>
              </a:r>
              <a:endParaRPr lang="en-US" altLang="ja-JP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="" xmlns:a16="http://schemas.microsoft.com/office/drawing/2014/main" id="{C102C98B-AD14-4B7A-9E5D-B775A629D354}"/>
                </a:ext>
              </a:extLst>
            </p:cNvPr>
            <p:cNvSpPr/>
            <p:nvPr/>
          </p:nvSpPr>
          <p:spPr>
            <a:xfrm>
              <a:off x="1066432" y="270000"/>
              <a:ext cx="7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44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endParaRPr kumimoji="1" lang="ja-JP" altLang="en-US" sz="44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8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E0F37A3A-3B69-4BF2-8112-34FFBD1DBB19}"/>
              </a:ext>
            </a:extLst>
          </p:cNvPr>
          <p:cNvGrpSpPr/>
          <p:nvPr/>
        </p:nvGrpSpPr>
        <p:grpSpPr>
          <a:xfrm>
            <a:off x="0" y="0"/>
            <a:ext cx="9905999" cy="6572533"/>
            <a:chOff x="0" y="0"/>
            <a:chExt cx="9905999" cy="6572533"/>
          </a:xfrm>
        </p:grpSpPr>
        <p:sp>
          <p:nvSpPr>
            <p:cNvPr id="12" name="正方形/長方形 11">
              <a:extLst>
                <a:ext uri="{FF2B5EF4-FFF2-40B4-BE49-F238E27FC236}">
                  <a16:creationId xmlns="" xmlns:a16="http://schemas.microsoft.com/office/drawing/2014/main" id="{1E3B26B1-FFEB-479A-89DE-C878040C6B87}"/>
                </a:ext>
              </a:extLst>
            </p:cNvPr>
            <p:cNvSpPr/>
            <p:nvPr/>
          </p:nvSpPr>
          <p:spPr>
            <a:xfrm>
              <a:off x="1066432" y="2190134"/>
              <a:ext cx="7773137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確實找出高回購率的商品。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詳細掌握消費者的購買傾向。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依需要預測備齊正確的商品。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謀求店內商品陳列的最佳化。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0AF927DC-7B58-447F-A333-623FB34C7A86}"/>
                </a:ext>
              </a:extLst>
            </p:cNvPr>
            <p:cNvSpPr/>
            <p:nvPr/>
          </p:nvSpPr>
          <p:spPr>
            <a:xfrm>
              <a:off x="0" y="0"/>
              <a:ext cx="9905999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="" xmlns:a16="http://schemas.microsoft.com/office/drawing/2014/main" id="{6A72D4C1-CFED-486D-A071-CB8C11C63706}"/>
                </a:ext>
              </a:extLst>
            </p:cNvPr>
            <p:cNvSpPr/>
            <p:nvPr/>
          </p:nvSpPr>
          <p:spPr>
            <a:xfrm>
              <a:off x="8452624" y="6110868"/>
              <a:ext cx="8687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ja-JP" sz="2400" dirty="0">
                  <a:latin typeface="Arial" panose="020B0604020202020204" pitchFamily="34" charset="0"/>
                  <a:ea typeface="游ゴシック" panose="020B0400000000000000" pitchFamily="50" charset="-128"/>
                  <a:cs typeface="Arial" panose="020B0604020202020204" pitchFamily="34" charset="0"/>
                </a:rPr>
                <a:t>2</a:t>
              </a:r>
              <a:endParaRPr lang="ja-JP" altLang="en-US" sz="2400" dirty="0"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="" xmlns:a16="http://schemas.microsoft.com/office/drawing/2014/main" id="{8B0C2D13-8407-4708-9C7D-DDC2A9759E8D}"/>
                </a:ext>
              </a:extLst>
            </p:cNvPr>
            <p:cNvSpPr/>
            <p:nvPr/>
          </p:nvSpPr>
          <p:spPr>
            <a:xfrm>
              <a:off x="6253316" y="573009"/>
              <a:ext cx="306801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1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大</a:t>
              </a:r>
              <a:r>
                <a:rPr lang="zh-TW" altLang="en-US" sz="11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數據備貨改善</a:t>
              </a:r>
              <a:r>
                <a:rPr lang="zh-TW" altLang="en-US" sz="11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企劃書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="" xmlns:a16="http://schemas.microsoft.com/office/drawing/2014/main" id="{6DCB98A5-E5A5-4DF5-9C9E-56D19307E2EE}"/>
                </a:ext>
              </a:extLst>
            </p:cNvPr>
            <p:cNvSpPr/>
            <p:nvPr/>
          </p:nvSpPr>
          <p:spPr>
            <a:xfrm>
              <a:off x="1919167" y="411427"/>
              <a:ext cx="492141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今後的目標</a:t>
              </a:r>
              <a:endParaRPr lang="en-US" altLang="ja-JP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1479EE15-DDA6-48E6-B506-8A1445F69EF6}"/>
                </a:ext>
              </a:extLst>
            </p:cNvPr>
            <p:cNvSpPr/>
            <p:nvPr/>
          </p:nvSpPr>
          <p:spPr>
            <a:xfrm>
              <a:off x="1066432" y="270000"/>
              <a:ext cx="7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44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endParaRPr kumimoji="1" lang="ja-JP" altLang="en-US" sz="44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799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D98BD8BD-BA6D-4CD2-A843-ED0633E91709}"/>
              </a:ext>
            </a:extLst>
          </p:cNvPr>
          <p:cNvGrpSpPr/>
          <p:nvPr/>
        </p:nvGrpSpPr>
        <p:grpSpPr>
          <a:xfrm>
            <a:off x="0" y="0"/>
            <a:ext cx="9905999" cy="6572533"/>
            <a:chOff x="0" y="0"/>
            <a:chExt cx="9905999" cy="6572533"/>
          </a:xfrm>
        </p:grpSpPr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24904F8C-BB53-4D7F-AAEE-6ED08B3923AD}"/>
                </a:ext>
              </a:extLst>
            </p:cNvPr>
            <p:cNvSpPr/>
            <p:nvPr/>
          </p:nvSpPr>
          <p:spPr>
            <a:xfrm>
              <a:off x="0" y="0"/>
              <a:ext cx="9905999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="" xmlns:a16="http://schemas.microsoft.com/office/drawing/2014/main" id="{673EC31E-4926-4498-BA18-4033F075EB39}"/>
                </a:ext>
              </a:extLst>
            </p:cNvPr>
            <p:cNvSpPr/>
            <p:nvPr/>
          </p:nvSpPr>
          <p:spPr>
            <a:xfrm>
              <a:off x="8452624" y="6110868"/>
              <a:ext cx="86871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ja-JP" sz="2400" dirty="0">
                  <a:latin typeface="Arial" panose="020B0604020202020204" pitchFamily="34" charset="0"/>
                  <a:ea typeface="游ゴシック" panose="020B0400000000000000" pitchFamily="50" charset="-128"/>
                  <a:cs typeface="Arial" panose="020B0604020202020204" pitchFamily="34" charset="0"/>
                </a:rPr>
                <a:t>3</a:t>
              </a:r>
              <a:endParaRPr lang="ja-JP" altLang="en-US" sz="2400" dirty="0"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="" xmlns:a16="http://schemas.microsoft.com/office/drawing/2014/main" id="{1E3B26B1-FFEB-479A-89DE-C878040C6B87}"/>
                </a:ext>
              </a:extLst>
            </p:cNvPr>
            <p:cNvSpPr/>
            <p:nvPr/>
          </p:nvSpPr>
          <p:spPr>
            <a:xfrm>
              <a:off x="1066432" y="1720707"/>
              <a:ext cx="7773137" cy="47089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14350" indent="-514350" algn="just">
                <a:lnSpc>
                  <a:spcPts val="3600"/>
                </a:lnSpc>
                <a:buFont typeface="+mj-lt"/>
                <a:buAutoNum type="arabicPeriod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資訊的種類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紅利卡的利用履歷（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POS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）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en-US" altLang="ja-JP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SNS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的貼文和推文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ts val="3600"/>
                </a:lnSpc>
                <a:buFont typeface="+mj-lt"/>
                <a:buAutoNum type="arabicPeriod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數據分析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回歸分析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聚</a:t>
              </a:r>
              <a:r>
                <a:rPr lang="ja-JP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類分析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因子分析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 algn="just">
                <a:lnSpc>
                  <a:spcPts val="3600"/>
                </a:lnSpc>
                <a:buFont typeface="+mj-lt"/>
                <a:buAutoNum type="arabicPeriod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數據活用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依需要預測的商品備貨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800100" lvl="1" indent="-342900" algn="just">
                <a:lnSpc>
                  <a:spcPts val="3600"/>
                </a:lnSpc>
                <a:buFont typeface="Wingdings" panose="05000000000000000000" pitchFamily="2" charset="2"/>
                <a:buChar char="ü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店內商品陳列的最佳化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="" xmlns:a16="http://schemas.microsoft.com/office/drawing/2014/main" id="{6F465256-63A6-42B7-A99B-1C73C8A2DB36}"/>
                </a:ext>
              </a:extLst>
            </p:cNvPr>
            <p:cNvSpPr/>
            <p:nvPr/>
          </p:nvSpPr>
          <p:spPr>
            <a:xfrm>
              <a:off x="6253316" y="573009"/>
              <a:ext cx="306801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1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大數據備貨改善企劃書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BB36C7C5-60FD-4295-8655-87D488C39D0B}"/>
                </a:ext>
              </a:extLst>
            </p:cNvPr>
            <p:cNvSpPr/>
            <p:nvPr/>
          </p:nvSpPr>
          <p:spPr>
            <a:xfrm>
              <a:off x="1919167" y="411427"/>
              <a:ext cx="492141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數據活用程序</a:t>
              </a:r>
              <a:endParaRPr lang="en-US" altLang="ja-JP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="" xmlns:a16="http://schemas.microsoft.com/office/drawing/2014/main" id="{765DB164-1134-4BA9-9425-2A2F9994FAC8}"/>
                </a:ext>
              </a:extLst>
            </p:cNvPr>
            <p:cNvSpPr/>
            <p:nvPr/>
          </p:nvSpPr>
          <p:spPr>
            <a:xfrm>
              <a:off x="1066432" y="270000"/>
              <a:ext cx="7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mpd="sng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4400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endParaRPr kumimoji="1" lang="ja-JP" altLang="en-US" sz="44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908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</TotalTime>
  <Words>140</Words>
  <Application>Microsoft Office PowerPoint</Application>
  <PresentationFormat>A4 紙張 (210x297 公釐)</PresentationFormat>
  <Paragraphs>30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28</cp:revision>
  <dcterms:created xsi:type="dcterms:W3CDTF">2017-11-09T07:26:57Z</dcterms:created>
  <dcterms:modified xsi:type="dcterms:W3CDTF">2018-09-22T10:08:19Z</dcterms:modified>
</cp:coreProperties>
</file>