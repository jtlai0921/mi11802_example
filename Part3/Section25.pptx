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3" r:id="rId3"/>
    <p:sldId id="261" r:id="rId4"/>
    <p:sldId id="260" r:id="rId5"/>
    <p:sldId id="259" r:id="rId6"/>
    <p:sldId id="262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4428E52-F97C-448A-9514-27CE32DD25B5}"/>
              </a:ext>
            </a:extLst>
          </p:cNvPr>
          <p:cNvGrpSpPr/>
          <p:nvPr/>
        </p:nvGrpSpPr>
        <p:grpSpPr>
          <a:xfrm>
            <a:off x="1676398" y="759110"/>
            <a:ext cx="6731620" cy="5592073"/>
            <a:chOff x="1676398" y="759110"/>
            <a:chExt cx="6731620" cy="5592073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3074949" y="4627634"/>
              <a:ext cx="3756102" cy="1723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不管去哪裡都可以買到相同的商品。所謂的大量生產品可說是價格實惠且令人安心的商品，但是，滿意度卻不高。相形之下，充滿獨創感，且「不太容易買得到」的商品則有逐年受到重視的傾向。</a:t>
              </a:r>
              <a:endPara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>
                <a:spcAft>
                  <a:spcPts val="1200"/>
                </a:spcAft>
              </a:pPr>
              <a:r>
                <a:rPr kumimoji="1"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為了對流行敏銳、喜歡時尚的女性朋友們，我們製作了專用的網站。這是個與全國各地專售藝術品或工藝品的個人商店合作，把創意十足的手工商品匯集在一起的購物網站。</a:t>
              </a:r>
              <a:endPara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A752F6A5-BFEC-4438-BFE1-12975B317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4200" y="2099050"/>
              <a:ext cx="3657600" cy="2436876"/>
            </a:xfrm>
            <a:prstGeom prst="rect">
              <a:avLst/>
            </a:prstGeom>
          </p:spPr>
        </p:pic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CF657B6-9397-4583-A53E-8CE33C1A1581}"/>
                </a:ext>
              </a:extLst>
            </p:cNvPr>
            <p:cNvSpPr/>
            <p:nvPr/>
          </p:nvSpPr>
          <p:spPr>
            <a:xfrm>
              <a:off x="1676398" y="759110"/>
              <a:ext cx="6731620" cy="1248232"/>
            </a:xfrm>
            <a:prstGeom prst="rect">
              <a:avLst/>
            </a:prstGeom>
          </p:spPr>
          <p:txBody>
            <a:bodyPr wrap="square">
              <a:prstTxWarp prst="textCanUp">
                <a:avLst>
                  <a:gd name="adj" fmla="val 84821"/>
                </a:avLst>
              </a:prstTxWarp>
              <a:spAutoFit/>
            </a:bodyPr>
            <a:lstStyle/>
            <a:p>
              <a:pPr algn="ctr"/>
              <a:r>
                <a:rPr kumimoji="1" lang="zh-TW" altLang="en-US" sz="3200" b="1" spc="-30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只屬於妳的一套。</a:t>
              </a:r>
              <a:endParaRPr lang="ja-JP" altLang="en-US" sz="3200" b="1" spc="-3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234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27E064C-F492-4B33-B027-A8544B17DD41}"/>
              </a:ext>
            </a:extLst>
          </p:cNvPr>
          <p:cNvSpPr txBox="1"/>
          <p:nvPr/>
        </p:nvSpPr>
        <p:spPr>
          <a:xfrm>
            <a:off x="3074949" y="4627634"/>
            <a:ext cx="375610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不管去哪裡都可以買到相同的商品。所謂的大量生產品可說是價格實惠且令人安心的商品，但是，滿意度卻不高。相形之下，充滿獨創感，且「不太容易買得到」的商品則有逐年受到重視的傾向</a:t>
            </a:r>
            <a:r>
              <a:rPr kumimoji="1" lang="ja-JP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kumimoji="1" lang="en-US" altLang="ja-JP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1200"/>
              </a:spcAft>
            </a:pP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為了對流行敏銳、喜歡時尚的女性朋友們，我們製作了專用的網站。這是個與全國各地專售藝術品或工藝品的個人商店合作，把創意十足的手工商品匯集在一起的購物網站。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752F6A5-BFEC-4438-BFE1-12975B3172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099050"/>
            <a:ext cx="3657600" cy="2436876"/>
          </a:xfrm>
          <a:prstGeom prst="rect">
            <a:avLst/>
          </a:prstGeom>
          <a:effectLst>
            <a:outerShdw blurRad="50800" dist="635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64" y="567963"/>
            <a:ext cx="8126672" cy="19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57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42D860-4138-49E5-B031-86E110077A52}"/>
              </a:ext>
            </a:extLst>
          </p:cNvPr>
          <p:cNvSpPr txBox="1"/>
          <p:nvPr/>
        </p:nvSpPr>
        <p:spPr>
          <a:xfrm>
            <a:off x="1665249" y="2967335"/>
            <a:ext cx="6575502" cy="923330"/>
          </a:xfrm>
          <a:prstGeom prst="rect">
            <a:avLst/>
          </a:prstGeom>
          <a:noFill/>
        </p:spPr>
        <p:txBody>
          <a:bodyPr wrap="square" rtlCol="0">
            <a:prstTxWarp prst="textWave2">
              <a:avLst/>
            </a:prstTxWarp>
            <a:spAutoFit/>
          </a:bodyPr>
          <a:lstStyle/>
          <a:p>
            <a:pPr algn="ctr">
              <a:spcAft>
                <a:spcPts val="1200"/>
              </a:spcAft>
            </a:pPr>
            <a:r>
              <a:rPr kumimoji="1" lang="zh-TW" altLang="en-US" sz="5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勝算就在於</a:t>
            </a:r>
            <a:r>
              <a:rPr kumimoji="1" lang="en-US" altLang="zh-TW" sz="5400" b="1">
                <a:solidFill>
                  <a:srgbClr val="C00000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IG</a:t>
            </a:r>
            <a:r>
              <a:rPr kumimoji="1" lang="zh-TW" altLang="en-US" sz="5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</a:t>
            </a:r>
            <a:endParaRPr kumimoji="1" lang="ja-JP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5FCB1E-E91C-42F9-9195-09DB9728CD39}"/>
              </a:ext>
            </a:extLst>
          </p:cNvPr>
          <p:cNvSpPr txBox="1"/>
          <p:nvPr/>
        </p:nvSpPr>
        <p:spPr>
          <a:xfrm>
            <a:off x="1352999" y="334415"/>
            <a:ext cx="8103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微軟正黑體、</a:t>
            </a:r>
            <a:r>
              <a:rPr kumimoji="1" lang="en-US" altLang="ja-JP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54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Pt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、粗體</a:t>
            </a:r>
            <a:r>
              <a: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→</a:t>
            </a:r>
            <a:r>
              <a:rPr kumimoji="1" lang="ja-JP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變形（波浪</a:t>
            </a:r>
            <a:r>
              <a:rPr kumimoji="1"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）、光暈（</a:t>
            </a:r>
            <a:r>
              <a:rPr kumimoji="1" lang="en-US" altLang="ja-JP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11pt</a:t>
            </a:r>
            <a:r>
              <a:rPr kumimoji="1" lang="ja-JP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；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橙色、強調色</a:t>
            </a:r>
            <a:r>
              <a:rPr kumimoji="1"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ja-JP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8877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23" y="3429000"/>
            <a:ext cx="8737200" cy="2325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B2AC51-3BB0-446A-AE22-A4EDC24ADF31}"/>
              </a:ext>
            </a:extLst>
          </p:cNvPr>
          <p:cNvSpPr txBox="1"/>
          <p:nvPr/>
        </p:nvSpPr>
        <p:spPr>
          <a:xfrm>
            <a:off x="2233233" y="1757967"/>
            <a:ext cx="5439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kumimoji="1" lang="en-US" altLang="ja-JP" sz="5400" b="1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kumimoji="1" lang="zh-TW" altLang="en-US" sz="54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的迅速發展</a:t>
            </a:r>
            <a:endParaRPr kumimoji="1" lang="ja-JP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661EA0-6F08-477D-B6EE-59F147DEF4F0}"/>
              </a:ext>
            </a:extLst>
          </p:cNvPr>
          <p:cNvSpPr txBox="1"/>
          <p:nvPr/>
        </p:nvSpPr>
        <p:spPr>
          <a:xfrm>
            <a:off x="1352999" y="334415"/>
            <a:ext cx="6776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kumimoji="1" lang="zh-TW" altLang="en-US" sz="1200">
                <a:latin typeface="游ゴシック" panose="020B0400000000000000" pitchFamily="50" charset="-128"/>
                <a:ea typeface="游ゴシック" panose="020B0400000000000000" pitchFamily="50" charset="-128"/>
              </a:rPr>
              <a:t>微軟正黑體、</a:t>
            </a:r>
            <a:r>
              <a:rPr kumimoji="1" lang="en-US" altLang="ja-JP" sz="1200">
                <a:latin typeface="游ゴシック" panose="020B0400000000000000" pitchFamily="50" charset="-128"/>
                <a:ea typeface="游ゴシック" panose="020B0400000000000000" pitchFamily="50" charset="-128"/>
              </a:rPr>
              <a:t>Arial</a:t>
            </a:r>
            <a:r>
              <a:rPr kumimoji="1" lang="ja-JP" altLang="en-US" sz="120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、</a:t>
            </a:r>
            <a:r>
              <a:rPr kumimoji="1" lang="en-US" altLang="ja-JP" sz="1200">
                <a:latin typeface="游ゴシック" panose="020B0400000000000000" pitchFamily="50" charset="-128"/>
                <a:ea typeface="游ゴシック" panose="020B0400000000000000" pitchFamily="50" charset="-128"/>
              </a:rPr>
              <a:t>54</a:t>
            </a:r>
            <a:r>
              <a:rPr kumimoji="1" lang="zh-TW" altLang="en-US" sz="1200"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kumimoji="1" lang="en-US" altLang="zh-TW" sz="1200">
                <a:latin typeface="游ゴシック" panose="020B0400000000000000" pitchFamily="50" charset="-128"/>
                <a:ea typeface="游ゴシック" panose="020B0400000000000000" pitchFamily="50" charset="-128"/>
              </a:rPr>
              <a:t>Pt</a:t>
            </a:r>
            <a:r>
              <a: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　→</a:t>
            </a:r>
            <a:r>
              <a:rPr kumimoji="1" lang="ja-JP" altLang="en-US" sz="1200">
                <a:latin typeface="游ゴシック" panose="020B0400000000000000" pitchFamily="50" charset="-128"/>
                <a:ea typeface="游ゴシック" panose="020B0400000000000000" pitchFamily="50" charset="-128"/>
              </a:rPr>
              <a:t>　</a:t>
            </a:r>
            <a:r>
              <a:rPr kumimoji="1" lang="zh-TW" altLang="en-US" sz="1200">
                <a:latin typeface="游ゴシック" panose="020B0400000000000000" pitchFamily="50" charset="-128"/>
                <a:ea typeface="游ゴシック" panose="020B0400000000000000" pitchFamily="50" charset="-128"/>
              </a:rPr>
              <a:t>儲存成圖片</a:t>
            </a:r>
            <a:r>
              <a: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　→</a:t>
            </a:r>
            <a:r>
              <a:rPr kumimoji="1" lang="ja-JP" altLang="en-US" sz="1200">
                <a:latin typeface="游ゴシック" panose="020B0400000000000000" pitchFamily="50" charset="-128"/>
                <a:ea typeface="游ゴシック" panose="020B0400000000000000" pitchFamily="50" charset="-128"/>
              </a:rPr>
              <a:t>　</a:t>
            </a:r>
            <a:r>
              <a:rPr kumimoji="1" lang="zh-TW" altLang="en-US" sz="1200">
                <a:latin typeface="游ゴシック" panose="020B0400000000000000" pitchFamily="50" charset="-128"/>
                <a:ea typeface="游ゴシック" panose="020B0400000000000000" pitchFamily="50" charset="-128"/>
              </a:rPr>
              <a:t>圖片樣式（旋轉、白）</a:t>
            </a:r>
            <a:endParaRPr kumimoji="1" lang="ja-JP" altLang="en-US" sz="1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17107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032B38-C701-492F-AE37-4B3EE53B4BAB}"/>
              </a:ext>
            </a:extLst>
          </p:cNvPr>
          <p:cNvSpPr txBox="1"/>
          <p:nvPr/>
        </p:nvSpPr>
        <p:spPr>
          <a:xfrm>
            <a:off x="1899424" y="2967335"/>
            <a:ext cx="6107152" cy="923330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>
            <a:defPPr>
              <a:defRPr lang="en-US"/>
            </a:defPPr>
            <a:lvl1pPr algn="ctr">
              <a:spcAft>
                <a:spcPts val="1200"/>
              </a:spcAft>
              <a:defRPr kumimoji="1" sz="32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lang="en-US" altLang="ja-JP" sz="5400" b="1">
                <a:effectLst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2018</a:t>
            </a:r>
            <a:r>
              <a:rPr lang="ja-JP" altLang="en-US" sz="5400" b="1">
                <a:effectLst>
                  <a:reflection blurRad="6350" stA="55000" endA="300" endPos="45500" dir="5400000" sy="-100000" algn="bl" rotWithShape="0"/>
                </a:effectLst>
              </a:rPr>
              <a:t>年</a:t>
            </a:r>
            <a:r>
              <a:rPr lang="zh-TW" altLang="en-US" sz="5400" b="1">
                <a:effectLst>
                  <a:reflection blurRad="6350" stA="55000" endA="300" endPos="45500" dir="5400000" sy="-100000" algn="bl" rotWithShape="0"/>
                </a:effectLst>
              </a:rPr>
              <a:t>的</a:t>
            </a:r>
            <a:r>
              <a:rPr lang="zh-TW" altLang="en-US" sz="5400" b="1">
                <a:solidFill>
                  <a:srgbClr val="C00000"/>
                </a:solidFill>
                <a:effectLst>
                  <a:reflection blurRad="6350" stA="55000" endA="300" endPos="45500" dir="5400000" sy="-100000" algn="bl" rotWithShape="0"/>
                </a:effectLst>
              </a:rPr>
              <a:t>最新</a:t>
            </a:r>
            <a:r>
              <a:rPr lang="zh-TW" altLang="en-US" sz="5400" b="1">
                <a:effectLst>
                  <a:reflection blurRad="6350" stA="55000" endA="300" endPos="45500" dir="5400000" sy="-100000" algn="bl" rotWithShape="0"/>
                </a:effectLst>
              </a:rPr>
              <a:t>資訊</a:t>
            </a:r>
            <a:endParaRPr lang="ja-JP" altLang="en-US" sz="5400" b="1" dirty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D90C6F-59BE-41D6-BA41-7A57DDE3998C}"/>
              </a:ext>
            </a:extLst>
          </p:cNvPr>
          <p:cNvSpPr txBox="1"/>
          <p:nvPr/>
        </p:nvSpPr>
        <p:spPr>
          <a:xfrm>
            <a:off x="1352999" y="334415"/>
            <a:ext cx="6776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微軟正黑體</a:t>
            </a:r>
            <a:r>
              <a:rPr kumimoji="1" lang="ja-JP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kumimoji="1"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Arial</a:t>
            </a:r>
            <a:r>
              <a:rPr kumimoji="1" lang="ja-JP" altLang="en-US" sz="120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kumimoji="1" lang="en-US" altLang="ja-JP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54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Pt</a:t>
            </a:r>
            <a:r>
              <a:rPr kumimoji="1" lang="ja-JP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粗體</a:t>
            </a:r>
            <a:r>
              <a: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→</a:t>
            </a:r>
            <a:r>
              <a:rPr kumimoji="1" lang="ja-JP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變形（矩形）</a:t>
            </a:r>
            <a:r>
              <a:rPr kumimoji="1" lang="ja-JP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反射：（緊密反射，相連）</a:t>
            </a:r>
            <a:endParaRPr kumimoji="1" lang="ja-JP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1804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B2AC51-3BB0-446A-AE22-A4EDC24ADF31}"/>
              </a:ext>
            </a:extLst>
          </p:cNvPr>
          <p:cNvSpPr txBox="1"/>
          <p:nvPr/>
        </p:nvSpPr>
        <p:spPr>
          <a:xfrm>
            <a:off x="1927123" y="1757967"/>
            <a:ext cx="6051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kumimoji="1" lang="zh-TW" altLang="en-US" sz="5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漲價時代的衝擊</a:t>
            </a:r>
            <a:endParaRPr kumimoji="1" lang="ja-JP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DBFBFEE-8487-49EC-9B2B-D43CC1687B29}"/>
              </a:ext>
            </a:extLst>
          </p:cNvPr>
          <p:cNvSpPr txBox="1"/>
          <p:nvPr/>
        </p:nvSpPr>
        <p:spPr>
          <a:xfrm>
            <a:off x="1352999" y="334415"/>
            <a:ext cx="70978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微軟正黑體、粗體、</a:t>
            </a:r>
            <a:r>
              <a:rPr kumimoji="1" lang="en-US" altLang="ja-JP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54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Pt</a:t>
            </a:r>
            <a:r>
              <a:rPr kumimoji="1" lang="ja-JP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　→　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儲存成圖片</a:t>
            </a:r>
            <a:r>
              <a: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→</a:t>
            </a:r>
            <a:r>
              <a:rPr kumimoji="1" lang="ja-JP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kumimoji="1"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</a:rPr>
              <a:t>美術效果（線條繪圖）、色彩（紅）</a:t>
            </a:r>
            <a:endParaRPr kumimoji="1" lang="ja-JP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157" y="3827850"/>
            <a:ext cx="10645785" cy="255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7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454</TotalTime>
  <Words>273</Words>
  <Application>Microsoft Office PowerPoint</Application>
  <PresentationFormat>A4 紙張 (210x297 公釐)</PresentationFormat>
  <Paragraphs>13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6" baseType="lpstr">
      <vt:lpstr>ＭＳ ゴシック</vt:lpstr>
      <vt:lpstr>游ゴシック</vt:lpstr>
      <vt:lpstr>游ゴシック Light</vt:lpstr>
      <vt:lpstr>微軟正黑體</vt:lpstr>
      <vt:lpstr>新細明體</vt:lpstr>
      <vt:lpstr>Arial</vt:lpstr>
      <vt:lpstr>Calibri</vt:lpstr>
      <vt:lpstr>Calibri Light</vt:lpstr>
      <vt:lpstr>Times New Roman</vt:lpstr>
      <vt:lpstr>Office テーマ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51</cp:revision>
  <dcterms:created xsi:type="dcterms:W3CDTF">2017-11-09T07:26:57Z</dcterms:created>
  <dcterms:modified xsi:type="dcterms:W3CDTF">2018-11-07T14:54:49Z</dcterms:modified>
</cp:coreProperties>
</file>