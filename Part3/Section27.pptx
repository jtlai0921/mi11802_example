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2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="" xmlns:a16="http://schemas.microsoft.com/office/drawing/2014/main" id="{A3156794-C49E-4032-AFC0-ACEE6A615122}"/>
              </a:ext>
            </a:extLst>
          </p:cNvPr>
          <p:cNvGrpSpPr/>
          <p:nvPr/>
        </p:nvGrpSpPr>
        <p:grpSpPr>
          <a:xfrm>
            <a:off x="0" y="-8468"/>
            <a:ext cx="9905651" cy="6880868"/>
            <a:chOff x="0" y="-8468"/>
            <a:chExt cx="9905651" cy="6880868"/>
          </a:xfrm>
        </p:grpSpPr>
        <p:sp>
          <p:nvSpPr>
            <p:cNvPr id="15" name="四角形: 角を丸くする 14">
              <a:extLst>
                <a:ext uri="{FF2B5EF4-FFF2-40B4-BE49-F238E27FC236}">
                  <a16:creationId xmlns="" xmlns:a16="http://schemas.microsoft.com/office/drawing/2014/main" id="{915AE0C2-0DEA-4842-90EF-C70E33E61F02}"/>
                </a:ext>
              </a:extLst>
            </p:cNvPr>
            <p:cNvSpPr/>
            <p:nvPr/>
          </p:nvSpPr>
          <p:spPr>
            <a:xfrm>
              <a:off x="2713463" y="5308675"/>
              <a:ext cx="4479074" cy="612000"/>
            </a:xfrm>
            <a:prstGeom prst="round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="" xmlns:a16="http://schemas.microsoft.com/office/drawing/2014/main" id="{C694FCD3-27E4-473D-BE5F-1F6B1F16F159}"/>
                </a:ext>
              </a:extLst>
            </p:cNvPr>
            <p:cNvSpPr/>
            <p:nvPr/>
          </p:nvSpPr>
          <p:spPr>
            <a:xfrm>
              <a:off x="349" y="0"/>
              <a:ext cx="3568391" cy="6872400"/>
            </a:xfrm>
            <a:custGeom>
              <a:avLst/>
              <a:gdLst>
                <a:gd name="connsiteX0" fmla="*/ 0 w 3568391"/>
                <a:gd name="connsiteY0" fmla="*/ 0 h 6872400"/>
                <a:gd name="connsiteX1" fmla="*/ 3568391 w 3568391"/>
                <a:gd name="connsiteY1" fmla="*/ 0 h 6872400"/>
                <a:gd name="connsiteX2" fmla="*/ 3568391 w 3568391"/>
                <a:gd name="connsiteY2" fmla="*/ 3879 h 6872400"/>
                <a:gd name="connsiteX3" fmla="*/ 3544941 w 3568391"/>
                <a:gd name="connsiteY3" fmla="*/ 4472 h 6872400"/>
                <a:gd name="connsiteX4" fmla="*/ 285402 w 3568391"/>
                <a:gd name="connsiteY4" fmla="*/ 3436374 h 6872400"/>
                <a:gd name="connsiteX5" fmla="*/ 3544941 w 3568391"/>
                <a:gd name="connsiteY5" fmla="*/ 6868277 h 6872400"/>
                <a:gd name="connsiteX6" fmla="*/ 3568391 w 3568391"/>
                <a:gd name="connsiteY6" fmla="*/ 6868870 h 6872400"/>
                <a:gd name="connsiteX7" fmla="*/ 3568391 w 3568391"/>
                <a:gd name="connsiteY7" fmla="*/ 6872400 h 6872400"/>
                <a:gd name="connsiteX8" fmla="*/ 0 w 3568391"/>
                <a:gd name="connsiteY8" fmla="*/ 6872400 h 687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8391" h="6872400">
                  <a:moveTo>
                    <a:pt x="0" y="0"/>
                  </a:moveTo>
                  <a:lnTo>
                    <a:pt x="3568391" y="0"/>
                  </a:lnTo>
                  <a:lnTo>
                    <a:pt x="3568391" y="3879"/>
                  </a:lnTo>
                  <a:lnTo>
                    <a:pt x="3544941" y="4472"/>
                  </a:lnTo>
                  <a:cubicBezTo>
                    <a:pt x="1729264" y="96508"/>
                    <a:pt x="285402" y="1597825"/>
                    <a:pt x="285402" y="3436374"/>
                  </a:cubicBezTo>
                  <a:cubicBezTo>
                    <a:pt x="285402" y="5274923"/>
                    <a:pt x="1729264" y="6776240"/>
                    <a:pt x="3544941" y="6868277"/>
                  </a:cubicBezTo>
                  <a:lnTo>
                    <a:pt x="3568391" y="6868870"/>
                  </a:lnTo>
                  <a:lnTo>
                    <a:pt x="3568391" y="6872400"/>
                  </a:lnTo>
                  <a:lnTo>
                    <a:pt x="0" y="687240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="" xmlns:a16="http://schemas.microsoft.com/office/drawing/2014/main" id="{3E4E8825-1B03-43B1-8377-FDAFBDDF3E4F}"/>
                </a:ext>
              </a:extLst>
            </p:cNvPr>
            <p:cNvSpPr txBox="1"/>
            <p:nvPr/>
          </p:nvSpPr>
          <p:spPr>
            <a:xfrm>
              <a:off x="2713463" y="2030129"/>
              <a:ext cx="44790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消費者的嗜好多元</a:t>
              </a:r>
              <a:endParaRPr kumimoji="1" lang="en-US" altLang="ja-JP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ctr"/>
              <a:r>
                <a:rPr kumimoji="1"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逐漸與日本酒疏</a:t>
              </a:r>
              <a:r>
                <a:rPr kumimoji="1" lang="zh-TW" altLang="en-US" sz="2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離</a:t>
              </a:r>
              <a:endParaRPr kumimoji="1" lang="en-US" altLang="ja-JP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="" xmlns:a16="http://schemas.microsoft.com/office/drawing/2014/main" id="{CCF510A9-6E0C-4D1F-9274-778196D0A442}"/>
                </a:ext>
              </a:extLst>
            </p:cNvPr>
            <p:cNvSpPr txBox="1"/>
            <p:nvPr/>
          </p:nvSpPr>
          <p:spPr>
            <a:xfrm>
              <a:off x="1884556" y="3953287"/>
              <a:ext cx="613688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清酒釀造需要「水」、「米」、「氣候」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保留歷史悠久的清酒釀造廠和專業知識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導入一流的經營和鉅額資本、</a:t>
              </a:r>
              <a:r>
                <a:rPr kumimoji="1" lang="en-US" altLang="zh-TW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IT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，使其復活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="" xmlns:a16="http://schemas.microsoft.com/office/drawing/2014/main" id="{C9CD19B8-882E-48C3-8622-567B8B29185B}"/>
                </a:ext>
              </a:extLst>
            </p:cNvPr>
            <p:cNvSpPr/>
            <p:nvPr/>
          </p:nvSpPr>
          <p:spPr>
            <a:xfrm>
              <a:off x="2829000" y="5436922"/>
              <a:ext cx="42480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以最先進技術和經營力使釀造業重生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矢印: 下 13">
              <a:extLst>
                <a:ext uri="{FF2B5EF4-FFF2-40B4-BE49-F238E27FC236}">
                  <a16:creationId xmlns="" xmlns:a16="http://schemas.microsoft.com/office/drawing/2014/main" id="{E813B688-547A-43DC-8B9A-D61C142B0608}"/>
                </a:ext>
              </a:extLst>
            </p:cNvPr>
            <p:cNvSpPr/>
            <p:nvPr/>
          </p:nvSpPr>
          <p:spPr>
            <a:xfrm>
              <a:off x="4542840" y="3166454"/>
              <a:ext cx="820321" cy="481504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="" xmlns:a16="http://schemas.microsoft.com/office/drawing/2014/main" id="{8B778B9E-92F6-4FB7-A2ED-CB05F317809E}"/>
                </a:ext>
              </a:extLst>
            </p:cNvPr>
            <p:cNvSpPr txBox="1"/>
            <p:nvPr/>
          </p:nvSpPr>
          <p:spPr>
            <a:xfrm>
              <a:off x="3121742" y="698839"/>
              <a:ext cx="36625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現</a:t>
              </a:r>
              <a:r>
                <a:rPr kumimoji="1" lang="zh-TW" altLang="en-US" sz="3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況</a:t>
              </a:r>
              <a:r>
                <a:rPr kumimoji="1"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和重生的觀點</a:t>
              </a:r>
              <a:endParaRPr kumimoji="1"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="" xmlns:a16="http://schemas.microsoft.com/office/drawing/2014/main" id="{47217EF2-E335-4AC2-8C6F-BEF168D7220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68725"/>
              <a:ext cx="6660000" cy="0"/>
            </a:xfrm>
            <a:prstGeom prst="line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22" name="図 21">
              <a:extLst>
                <a:ext uri="{FF2B5EF4-FFF2-40B4-BE49-F238E27FC236}">
                  <a16:creationId xmlns="" xmlns:a16="http://schemas.microsoft.com/office/drawing/2014/main" id="{63BC752E-C08F-4AD7-9901-FE97708BC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8668" y="-8468"/>
              <a:ext cx="1916983" cy="12771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="" xmlns:a16="http://schemas.microsoft.com/office/drawing/2014/main" id="{A1CF04CB-217C-4BFF-8D47-9A9F49E2F1A8}"/>
              </a:ext>
            </a:extLst>
          </p:cNvPr>
          <p:cNvGrpSpPr/>
          <p:nvPr/>
        </p:nvGrpSpPr>
        <p:grpSpPr>
          <a:xfrm>
            <a:off x="0" y="-8468"/>
            <a:ext cx="9905651" cy="6880868"/>
            <a:chOff x="0" y="-8468"/>
            <a:chExt cx="9905651" cy="6880868"/>
          </a:xfrm>
        </p:grpSpPr>
        <p:sp>
          <p:nvSpPr>
            <p:cNvPr id="15" name="四角形: 角を丸くする 14">
              <a:extLst>
                <a:ext uri="{FF2B5EF4-FFF2-40B4-BE49-F238E27FC236}">
                  <a16:creationId xmlns="" xmlns:a16="http://schemas.microsoft.com/office/drawing/2014/main" id="{915AE0C2-0DEA-4842-90EF-C70E33E61F02}"/>
                </a:ext>
              </a:extLst>
            </p:cNvPr>
            <p:cNvSpPr/>
            <p:nvPr/>
          </p:nvSpPr>
          <p:spPr>
            <a:xfrm>
              <a:off x="3063000" y="5238077"/>
              <a:ext cx="3780000" cy="559830"/>
            </a:xfrm>
            <a:prstGeom prst="round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="" xmlns:a16="http://schemas.microsoft.com/office/drawing/2014/main" id="{C694FCD3-27E4-473D-BE5F-1F6B1F16F159}"/>
                </a:ext>
              </a:extLst>
            </p:cNvPr>
            <p:cNvSpPr/>
            <p:nvPr/>
          </p:nvSpPr>
          <p:spPr>
            <a:xfrm>
              <a:off x="349" y="0"/>
              <a:ext cx="3568391" cy="6872400"/>
            </a:xfrm>
            <a:custGeom>
              <a:avLst/>
              <a:gdLst>
                <a:gd name="connsiteX0" fmla="*/ 0 w 3568391"/>
                <a:gd name="connsiteY0" fmla="*/ 0 h 6872400"/>
                <a:gd name="connsiteX1" fmla="*/ 3568391 w 3568391"/>
                <a:gd name="connsiteY1" fmla="*/ 0 h 6872400"/>
                <a:gd name="connsiteX2" fmla="*/ 3568391 w 3568391"/>
                <a:gd name="connsiteY2" fmla="*/ 3879 h 6872400"/>
                <a:gd name="connsiteX3" fmla="*/ 3544941 w 3568391"/>
                <a:gd name="connsiteY3" fmla="*/ 4472 h 6872400"/>
                <a:gd name="connsiteX4" fmla="*/ 285402 w 3568391"/>
                <a:gd name="connsiteY4" fmla="*/ 3436374 h 6872400"/>
                <a:gd name="connsiteX5" fmla="*/ 3544941 w 3568391"/>
                <a:gd name="connsiteY5" fmla="*/ 6868277 h 6872400"/>
                <a:gd name="connsiteX6" fmla="*/ 3568391 w 3568391"/>
                <a:gd name="connsiteY6" fmla="*/ 6868870 h 6872400"/>
                <a:gd name="connsiteX7" fmla="*/ 3568391 w 3568391"/>
                <a:gd name="connsiteY7" fmla="*/ 6872400 h 6872400"/>
                <a:gd name="connsiteX8" fmla="*/ 0 w 3568391"/>
                <a:gd name="connsiteY8" fmla="*/ 6872400 h 687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8391" h="6872400">
                  <a:moveTo>
                    <a:pt x="0" y="0"/>
                  </a:moveTo>
                  <a:lnTo>
                    <a:pt x="3568391" y="0"/>
                  </a:lnTo>
                  <a:lnTo>
                    <a:pt x="3568391" y="3879"/>
                  </a:lnTo>
                  <a:lnTo>
                    <a:pt x="3544941" y="4472"/>
                  </a:lnTo>
                  <a:cubicBezTo>
                    <a:pt x="1729264" y="96508"/>
                    <a:pt x="285402" y="1597825"/>
                    <a:pt x="285402" y="3436374"/>
                  </a:cubicBezTo>
                  <a:cubicBezTo>
                    <a:pt x="285402" y="5274923"/>
                    <a:pt x="1729264" y="6776240"/>
                    <a:pt x="3544941" y="6868277"/>
                  </a:cubicBezTo>
                  <a:lnTo>
                    <a:pt x="3568391" y="6868870"/>
                  </a:lnTo>
                  <a:lnTo>
                    <a:pt x="3568391" y="6872400"/>
                  </a:lnTo>
                  <a:lnTo>
                    <a:pt x="0" y="687240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="" xmlns:a16="http://schemas.microsoft.com/office/drawing/2014/main" id="{3E4E8825-1B03-43B1-8377-FDAFBDDF3E4F}"/>
                </a:ext>
              </a:extLst>
            </p:cNvPr>
            <p:cNvSpPr txBox="1"/>
            <p:nvPr/>
          </p:nvSpPr>
          <p:spPr>
            <a:xfrm>
              <a:off x="820994" y="1982453"/>
              <a:ext cx="826401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本地區過去曾有超過</a:t>
              </a:r>
              <a:r>
                <a:rPr kumimoji="1" lang="en-US" altLang="zh-TW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200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家的釀造酒廠。可是，消費者的多元嗜好，使日本酒的消費量減少許多，現今其數量降低至</a:t>
              </a:r>
              <a:r>
                <a:rPr kumimoji="1" lang="en-US" altLang="zh-TW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40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家左右。另一方面，日本各地也開始製造起葡萄酒。在低酒精含量全盛的時代，古老形象和氣氛的排斥感，也是促使年輕族群遠離酒類的因素，尤其在年輕族群之間，對於日本酒更是排斥。努力滿足消費者的需求，可說是時代趨勢，同時也是業界必須反省的事實。</a:t>
              </a:r>
              <a:endPara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="" xmlns:a16="http://schemas.microsoft.com/office/drawing/2014/main" id="{CCF510A9-6E0C-4D1F-9274-778196D0A442}"/>
                </a:ext>
              </a:extLst>
            </p:cNvPr>
            <p:cNvSpPr txBox="1"/>
            <p:nvPr/>
          </p:nvSpPr>
          <p:spPr>
            <a:xfrm>
              <a:off x="820994" y="4033184"/>
              <a:ext cx="826401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kumimoji="1" sz="14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反過來看，正因為市場委靡，對全新挑戰的人來說更是有利。本地區是「水」、「米」和「氣候」三個條件同時兼具的絕佳地區。不僅有歷史悠久的釀造酒廠，同時更有專業知識的傳承。只要導入超一流的經營和鉅額的資本、</a:t>
              </a:r>
              <a:r>
                <a:rPr lang="en-US" altLang="zh-TW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IT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，應該就可以讓傳統的釀造業復活。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="" xmlns:a16="http://schemas.microsoft.com/office/drawing/2014/main" id="{C9CD19B8-882E-48C3-8622-567B8B29185B}"/>
                </a:ext>
              </a:extLst>
            </p:cNvPr>
            <p:cNvSpPr/>
            <p:nvPr/>
          </p:nvSpPr>
          <p:spPr>
            <a:xfrm>
              <a:off x="3027000" y="5355628"/>
              <a:ext cx="38520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以最先進技術和經營力使釀造業重</a:t>
              </a:r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生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矢印: 下 13">
              <a:extLst>
                <a:ext uri="{FF2B5EF4-FFF2-40B4-BE49-F238E27FC236}">
                  <a16:creationId xmlns="" xmlns:a16="http://schemas.microsoft.com/office/drawing/2014/main" id="{E813B688-547A-43DC-8B9A-D61C142B0608}"/>
                </a:ext>
              </a:extLst>
            </p:cNvPr>
            <p:cNvSpPr/>
            <p:nvPr/>
          </p:nvSpPr>
          <p:spPr>
            <a:xfrm>
              <a:off x="4542840" y="3351842"/>
              <a:ext cx="820321" cy="481504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="" xmlns:a16="http://schemas.microsoft.com/office/drawing/2014/main" id="{634969F6-59AC-446D-8873-011F39D6C79C}"/>
                </a:ext>
              </a:extLst>
            </p:cNvPr>
            <p:cNvSpPr txBox="1"/>
            <p:nvPr/>
          </p:nvSpPr>
          <p:spPr>
            <a:xfrm>
              <a:off x="3121742" y="698839"/>
              <a:ext cx="36625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現況和重生的觀點</a:t>
              </a:r>
              <a:endParaRPr kumimoji="1"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="" xmlns:a16="http://schemas.microsoft.com/office/drawing/2014/main" id="{D13E4282-1CAD-4A56-9E3D-FB4DD07A312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68725"/>
              <a:ext cx="6660000" cy="0"/>
            </a:xfrm>
            <a:prstGeom prst="line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9" name="図 18">
              <a:extLst>
                <a:ext uri="{FF2B5EF4-FFF2-40B4-BE49-F238E27FC236}">
                  <a16:creationId xmlns="" xmlns:a16="http://schemas.microsoft.com/office/drawing/2014/main" id="{2E3ABBB2-9DFD-4AE9-8F6F-6F0213004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8668" y="-8468"/>
              <a:ext cx="1916983" cy="12771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5464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="" xmlns:a16="http://schemas.microsoft.com/office/drawing/2014/main" id="{ED224240-F933-4145-BB2B-E9DCA2F9B947}"/>
              </a:ext>
            </a:extLst>
          </p:cNvPr>
          <p:cNvGrpSpPr/>
          <p:nvPr/>
        </p:nvGrpSpPr>
        <p:grpSpPr>
          <a:xfrm>
            <a:off x="0" y="-8468"/>
            <a:ext cx="9905651" cy="6880868"/>
            <a:chOff x="0" y="-8468"/>
            <a:chExt cx="9905651" cy="6880868"/>
          </a:xfrm>
        </p:grpSpPr>
        <p:sp>
          <p:nvSpPr>
            <p:cNvPr id="6" name="フリーフォーム: 図形 5">
              <a:extLst>
                <a:ext uri="{FF2B5EF4-FFF2-40B4-BE49-F238E27FC236}">
                  <a16:creationId xmlns="" xmlns:a16="http://schemas.microsoft.com/office/drawing/2014/main" id="{C694FCD3-27E4-473D-BE5F-1F6B1F16F159}"/>
                </a:ext>
              </a:extLst>
            </p:cNvPr>
            <p:cNvSpPr/>
            <p:nvPr/>
          </p:nvSpPr>
          <p:spPr>
            <a:xfrm>
              <a:off x="349" y="0"/>
              <a:ext cx="3568391" cy="6872400"/>
            </a:xfrm>
            <a:custGeom>
              <a:avLst/>
              <a:gdLst>
                <a:gd name="connsiteX0" fmla="*/ 0 w 3568391"/>
                <a:gd name="connsiteY0" fmla="*/ 0 h 6872400"/>
                <a:gd name="connsiteX1" fmla="*/ 3568391 w 3568391"/>
                <a:gd name="connsiteY1" fmla="*/ 0 h 6872400"/>
                <a:gd name="connsiteX2" fmla="*/ 3568391 w 3568391"/>
                <a:gd name="connsiteY2" fmla="*/ 3879 h 6872400"/>
                <a:gd name="connsiteX3" fmla="*/ 3544941 w 3568391"/>
                <a:gd name="connsiteY3" fmla="*/ 4472 h 6872400"/>
                <a:gd name="connsiteX4" fmla="*/ 285402 w 3568391"/>
                <a:gd name="connsiteY4" fmla="*/ 3436374 h 6872400"/>
                <a:gd name="connsiteX5" fmla="*/ 3544941 w 3568391"/>
                <a:gd name="connsiteY5" fmla="*/ 6868277 h 6872400"/>
                <a:gd name="connsiteX6" fmla="*/ 3568391 w 3568391"/>
                <a:gd name="connsiteY6" fmla="*/ 6868870 h 6872400"/>
                <a:gd name="connsiteX7" fmla="*/ 3568391 w 3568391"/>
                <a:gd name="connsiteY7" fmla="*/ 6872400 h 6872400"/>
                <a:gd name="connsiteX8" fmla="*/ 0 w 3568391"/>
                <a:gd name="connsiteY8" fmla="*/ 6872400 h 687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8391" h="6872400">
                  <a:moveTo>
                    <a:pt x="0" y="0"/>
                  </a:moveTo>
                  <a:lnTo>
                    <a:pt x="3568391" y="0"/>
                  </a:lnTo>
                  <a:lnTo>
                    <a:pt x="3568391" y="3879"/>
                  </a:lnTo>
                  <a:lnTo>
                    <a:pt x="3544941" y="4472"/>
                  </a:lnTo>
                  <a:cubicBezTo>
                    <a:pt x="1729264" y="96508"/>
                    <a:pt x="285402" y="1597825"/>
                    <a:pt x="285402" y="3436374"/>
                  </a:cubicBezTo>
                  <a:cubicBezTo>
                    <a:pt x="285402" y="5274923"/>
                    <a:pt x="1729264" y="6776240"/>
                    <a:pt x="3544941" y="6868277"/>
                  </a:cubicBezTo>
                  <a:lnTo>
                    <a:pt x="3568391" y="6868870"/>
                  </a:lnTo>
                  <a:lnTo>
                    <a:pt x="3568391" y="6872400"/>
                  </a:lnTo>
                  <a:lnTo>
                    <a:pt x="0" y="687240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="" xmlns:a16="http://schemas.microsoft.com/office/drawing/2014/main" id="{3E4E8825-1B03-43B1-8377-FDAFBDDF3E4F}"/>
                </a:ext>
              </a:extLst>
            </p:cNvPr>
            <p:cNvSpPr txBox="1"/>
            <p:nvPr/>
          </p:nvSpPr>
          <p:spPr>
            <a:xfrm>
              <a:off x="1508809" y="2030129"/>
              <a:ext cx="751720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日本酒的美好</a:t>
              </a:r>
              <a:endParaRPr kumimoji="1" lang="en-US" altLang="zh-TW" sz="280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ctr"/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沒有傳達給品味多樣的現代青年</a:t>
              </a:r>
              <a:endParaRPr kumimoji="1" lang="en-US" altLang="ja-JP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="" xmlns:a16="http://schemas.microsoft.com/office/drawing/2014/main" id="{CCF510A9-6E0C-4D1F-9274-778196D0A442}"/>
                </a:ext>
              </a:extLst>
            </p:cNvPr>
            <p:cNvSpPr txBox="1"/>
            <p:nvPr/>
          </p:nvSpPr>
          <p:spPr>
            <a:xfrm>
              <a:off x="1508809" y="4235820"/>
              <a:ext cx="7517204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本地區具備釀酒所需</a:t>
              </a:r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的三大條件</a:t>
              </a:r>
              <a:endParaRPr kumimoji="1" lang="en-US" altLang="zh-TW" sz="280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「</a:t>
              </a:r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水」、「米」、「氣候</a:t>
              </a:r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」。</a:t>
              </a:r>
              <a:r>
                <a:rPr kumimoji="1" lang="en-US" altLang="ja-JP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/>
              </a:r>
              <a:br>
                <a:rPr kumimoji="1" lang="en-US" altLang="ja-JP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靠最先進技術和經營力便可使釀造業重生。</a:t>
              </a:r>
              <a:endParaRPr kumimoji="1"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="" xmlns:a16="http://schemas.microsoft.com/office/drawing/2014/main" id="{8B778B9E-92F6-4FB7-A2ED-CB05F317809E}"/>
                </a:ext>
              </a:extLst>
            </p:cNvPr>
            <p:cNvSpPr txBox="1"/>
            <p:nvPr/>
          </p:nvSpPr>
          <p:spPr>
            <a:xfrm>
              <a:off x="3121742" y="698839"/>
              <a:ext cx="36625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3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現況和重生的觀點</a:t>
              </a:r>
              <a:endParaRPr kumimoji="1"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="" xmlns:a16="http://schemas.microsoft.com/office/drawing/2014/main" id="{47217EF2-E335-4AC2-8C6F-BEF168D7220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68725"/>
              <a:ext cx="6660000" cy="0"/>
            </a:xfrm>
            <a:prstGeom prst="line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22" name="図 21">
              <a:extLst>
                <a:ext uri="{FF2B5EF4-FFF2-40B4-BE49-F238E27FC236}">
                  <a16:creationId xmlns="" xmlns:a16="http://schemas.microsoft.com/office/drawing/2014/main" id="{63BC752E-C08F-4AD7-9901-FE97708BC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8668" y="-8468"/>
              <a:ext cx="1916983" cy="1277190"/>
            </a:xfrm>
            <a:prstGeom prst="rect">
              <a:avLst/>
            </a:prstGeom>
          </p:spPr>
        </p:pic>
        <p:sp>
          <p:nvSpPr>
            <p:cNvPr id="11" name="矢印: 下 10">
              <a:extLst>
                <a:ext uri="{FF2B5EF4-FFF2-40B4-BE49-F238E27FC236}">
                  <a16:creationId xmlns="" xmlns:a16="http://schemas.microsoft.com/office/drawing/2014/main" id="{4C06B030-6165-4877-9D75-E7FC70F1FF79}"/>
                </a:ext>
              </a:extLst>
            </p:cNvPr>
            <p:cNvSpPr/>
            <p:nvPr/>
          </p:nvSpPr>
          <p:spPr>
            <a:xfrm>
              <a:off x="4857251" y="3369276"/>
              <a:ext cx="820321" cy="481504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414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422</TotalTime>
  <Words>308</Words>
  <Application>Microsoft Office PowerPoint</Application>
  <PresentationFormat>A4 紙張 (210x297 公釐)</PresentationFormat>
  <Paragraphs>16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Wingdings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55</cp:revision>
  <dcterms:created xsi:type="dcterms:W3CDTF">2017-11-09T07:26:57Z</dcterms:created>
  <dcterms:modified xsi:type="dcterms:W3CDTF">2018-10-01T01:38:33Z</dcterms:modified>
</cp:coreProperties>
</file>