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60" r:id="rId4"/>
    <p:sldId id="259" r:id="rId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xmlns="" id="{2C2D0675-E42B-4AB0-81DA-BF45B9BC24AF}"/>
              </a:ext>
            </a:extLst>
          </p:cNvPr>
          <p:cNvGrpSpPr/>
          <p:nvPr/>
        </p:nvGrpSpPr>
        <p:grpSpPr>
          <a:xfrm>
            <a:off x="0" y="649612"/>
            <a:ext cx="9906000" cy="4097640"/>
            <a:chOff x="0" y="649612"/>
            <a:chExt cx="9906000" cy="4097640"/>
          </a:xfrm>
        </p:grpSpPr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xmlns="" id="{027E064C-F492-4B33-B027-A8544B17DD41}"/>
                </a:ext>
              </a:extLst>
            </p:cNvPr>
            <p:cNvSpPr txBox="1"/>
            <p:nvPr/>
          </p:nvSpPr>
          <p:spPr>
            <a:xfrm>
              <a:off x="1034224" y="2199625"/>
              <a:ext cx="662018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獲得更多「讚」</a:t>
              </a:r>
              <a:endParaRPr lang="en-US" altLang="ja-JP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r>
                <a:rPr lang="zh-TW" altLang="en-US" sz="2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展開僅限女性的即時對戰</a:t>
              </a: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！</a:t>
              </a:r>
              <a:endParaRPr lang="ja-JP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xmlns="" id="{1E3DB8DF-EB91-46F2-9E69-360B19CA9B41}"/>
                </a:ext>
              </a:extLst>
            </p:cNvPr>
            <p:cNvSpPr txBox="1"/>
            <p:nvPr/>
          </p:nvSpPr>
          <p:spPr>
            <a:xfrm>
              <a:off x="1034225" y="3286319"/>
              <a:ext cx="6074498" cy="1460933"/>
            </a:xfrm>
            <a:prstGeom prst="rect">
              <a:avLst/>
            </a:prstGeom>
            <a:noFill/>
          </p:spPr>
          <p:txBody>
            <a:bodyPr wrap="square" rtlCol="0">
              <a:prstTxWarp prst="textPlain">
                <a:avLst/>
              </a:prstTxWarp>
              <a:spAutoFit/>
            </a:bodyPr>
            <a:lstStyle>
              <a:defPPr>
                <a:defRPr lang="en-US"/>
              </a:defPPr>
              <a:lvl1pPr>
                <a:defRPr sz="2000"/>
              </a:lvl1pPr>
            </a:lstStyle>
            <a:p>
              <a:r>
                <a:rPr lang="en-US" altLang="zh-TW" sz="4800" b="1" spc="-300" smtClean="0">
                  <a:solidFill>
                    <a:schemeClr val="accent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IG</a:t>
              </a:r>
              <a:r>
                <a:rPr lang="zh-TW" altLang="en-US" sz="4800" b="1" spc="-300" smtClean="0">
                  <a:solidFill>
                    <a:schemeClr val="accent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馬拉松</a:t>
              </a:r>
              <a:endParaRPr lang="en-US" altLang="ja-JP" sz="4800" b="1" spc="-30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xmlns="" id="{09FCEF09-53B3-4454-A15A-BFA9A836460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833624"/>
              <a:ext cx="9906000" cy="0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xmlns="" id="{B2667300-A089-417C-A55C-6106228972FD}"/>
                </a:ext>
              </a:extLst>
            </p:cNvPr>
            <p:cNvSpPr/>
            <p:nvPr/>
          </p:nvSpPr>
          <p:spPr>
            <a:xfrm>
              <a:off x="1034223" y="649612"/>
              <a:ext cx="1607575" cy="36802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>
              <a:solidFill>
                <a:schemeClr val="accent1">
                  <a:lumMod val="5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xmlns="" id="{94085CF9-C935-4A9A-854C-1CE8A13C1F1B}"/>
                </a:ext>
              </a:extLst>
            </p:cNvPr>
            <p:cNvSpPr txBox="1"/>
            <p:nvPr/>
          </p:nvSpPr>
          <p:spPr>
            <a:xfrm>
              <a:off x="1116257" y="692435"/>
              <a:ext cx="14435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企劃重點</a:t>
              </a:r>
              <a:endParaRPr lang="ja-JP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xmlns="" id="{4ACBB9FD-0B9C-4D6C-BF2E-774370372365}"/>
              </a:ext>
            </a:extLst>
          </p:cNvPr>
          <p:cNvGrpSpPr/>
          <p:nvPr/>
        </p:nvGrpSpPr>
        <p:grpSpPr>
          <a:xfrm>
            <a:off x="0" y="649612"/>
            <a:ext cx="9906000" cy="4148615"/>
            <a:chOff x="0" y="649612"/>
            <a:chExt cx="9906000" cy="4148615"/>
          </a:xfrm>
        </p:grpSpPr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xmlns="" id="{14E6CED6-A708-4230-9E69-72C16B221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833624"/>
              <a:ext cx="9906000" cy="0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xmlns="" id="{027E064C-F492-4B33-B027-A8544B17DD41}"/>
                </a:ext>
              </a:extLst>
            </p:cNvPr>
            <p:cNvSpPr txBox="1"/>
            <p:nvPr/>
          </p:nvSpPr>
          <p:spPr>
            <a:xfrm>
              <a:off x="1034223" y="1381907"/>
              <a:ext cx="7830997" cy="3416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女高中生的</a:t>
              </a:r>
              <a:r>
                <a:rPr lang="en-US" altLang="zh-TW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IG</a:t>
              </a: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影像信仰永無止盡。他們尋找「</a:t>
              </a:r>
              <a:r>
                <a:rPr lang="en-US" altLang="zh-TW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IG</a:t>
              </a: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拍攝」場景和物品的旺盛行動力仍持續攀升中。根據意識</a:t>
              </a: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調查後發現</a:t>
              </a: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，</a:t>
              </a:r>
              <a:r>
                <a:rPr lang="en-US" altLang="zh-TW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10</a:t>
              </a: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～</a:t>
              </a:r>
              <a:r>
                <a:rPr lang="en-US" altLang="zh-TW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20</a:t>
              </a: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歲的女性，絕大多數</a:t>
              </a: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都會透過</a:t>
              </a:r>
              <a:r>
                <a:rPr lang="en-US" altLang="zh-TW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Instagram</a:t>
              </a: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來尋找</a:t>
              </a:r>
              <a:r>
                <a:rPr lang="zh-TW" altLang="en-US" sz="2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時尚和流行的</a:t>
              </a: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物品，這</a:t>
              </a: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是她們收集</a:t>
              </a: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時尚資訊</a:t>
              </a:r>
              <a:r>
                <a:rPr lang="zh-TW" altLang="en-US" sz="2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的</a:t>
              </a: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方法。</a:t>
              </a:r>
              <a:endParaRPr lang="en-US" altLang="zh-TW" sz="240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algn="just"/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這次的企劃重點</a:t>
              </a: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是女性</a:t>
              </a: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用戶之間的即時對戰</a:t>
              </a: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。只要在</a:t>
              </a:r>
              <a:r>
                <a:rPr lang="ja-JP" altLang="en-US" sz="2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42.</a:t>
              </a:r>
              <a:r>
                <a:rPr lang="ja-JP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195</a:t>
              </a: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小時內贏得最多「讚</a:t>
              </a: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」，即可獲勝</a:t>
              </a: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。招募全國各地的女子高中生，展開</a:t>
              </a:r>
              <a:r>
                <a:rPr lang="en-US" altLang="zh-TW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300</a:t>
              </a:r>
              <a:r>
                <a:rPr lang="zh-TW" altLang="en-US" sz="2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人的淘汰賽。獲勝者將進入決賽，以對戰</a:t>
              </a: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形式戰勝對手以贏得最終勝利。冠軍除可獲得</a:t>
              </a:r>
              <a:r>
                <a:rPr lang="en-US" altLang="zh-TW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50</a:t>
              </a: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萬日圓的獎金之外，還將獲得雜誌連載</a:t>
              </a:r>
              <a:r>
                <a:rPr lang="en-US" altLang="zh-TW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年的</a:t>
              </a:r>
              <a:r>
                <a:rPr lang="zh-TW" altLang="en-US" sz="2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獎賞</a:t>
              </a: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。</a:t>
              </a:r>
              <a:endParaRPr lang="ja-JP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xmlns="" id="{86A4D3BE-97EC-4001-BCFE-BC91578758EB}"/>
                </a:ext>
              </a:extLst>
            </p:cNvPr>
            <p:cNvSpPr/>
            <p:nvPr/>
          </p:nvSpPr>
          <p:spPr>
            <a:xfrm>
              <a:off x="1034223" y="649612"/>
              <a:ext cx="1607575" cy="36802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>
              <a:solidFill>
                <a:schemeClr val="accent1">
                  <a:lumMod val="5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xmlns="" id="{E0786EE5-200C-4E26-B940-766E99B7B63B}"/>
                </a:ext>
              </a:extLst>
            </p:cNvPr>
            <p:cNvSpPr txBox="1"/>
            <p:nvPr/>
          </p:nvSpPr>
          <p:spPr>
            <a:xfrm>
              <a:off x="1116257" y="692435"/>
              <a:ext cx="14435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企劃重點</a:t>
              </a:r>
              <a:endParaRPr lang="ja-JP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29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xmlns="" id="{5BED54C8-29E7-4F3F-AED1-4A35D23374E9}"/>
              </a:ext>
            </a:extLst>
          </p:cNvPr>
          <p:cNvGrpSpPr/>
          <p:nvPr/>
        </p:nvGrpSpPr>
        <p:grpSpPr>
          <a:xfrm>
            <a:off x="0" y="-25700"/>
            <a:ext cx="9145581" cy="6883700"/>
            <a:chOff x="0" y="-25700"/>
            <a:chExt cx="9145581" cy="6883700"/>
          </a:xfrm>
        </p:grpSpPr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xmlns="" id="{33F94E87-85E6-41A0-A8F3-1A5DAE871EFE}"/>
                </a:ext>
              </a:extLst>
            </p:cNvPr>
            <p:cNvSpPr/>
            <p:nvPr/>
          </p:nvSpPr>
          <p:spPr>
            <a:xfrm>
              <a:off x="0" y="-25700"/>
              <a:ext cx="3583858" cy="68837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>
              <a:solidFill>
                <a:schemeClr val="accent1">
                  <a:lumMod val="5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xmlns="" id="{027E064C-F492-4B33-B027-A8544B17DD41}"/>
                </a:ext>
              </a:extLst>
            </p:cNvPr>
            <p:cNvSpPr txBox="1"/>
            <p:nvPr/>
          </p:nvSpPr>
          <p:spPr>
            <a:xfrm>
              <a:off x="3678624" y="2566742"/>
              <a:ext cx="546695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獲得更多「讚」</a:t>
              </a:r>
            </a:p>
            <a:p>
              <a:r>
                <a:rPr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展開僅限女性的即時對戰</a:t>
              </a:r>
              <a:r>
                <a:rPr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！</a:t>
              </a:r>
              <a:endPara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xmlns="" id="{1E3DB8DF-EB91-46F2-9E69-360B19CA9B41}"/>
                </a:ext>
              </a:extLst>
            </p:cNvPr>
            <p:cNvSpPr txBox="1"/>
            <p:nvPr/>
          </p:nvSpPr>
          <p:spPr>
            <a:xfrm>
              <a:off x="3678625" y="3460262"/>
              <a:ext cx="546695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/>
              </a:lvl1pPr>
            </a:lstStyle>
            <a:p>
              <a:r>
                <a:rPr lang="en-US" altLang="zh-TW" sz="4800" b="1" spc="-300" smtClean="0">
                  <a:solidFill>
                    <a:schemeClr val="accent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IG</a:t>
              </a:r>
              <a:r>
                <a:rPr lang="zh-TW" altLang="en-US" sz="4800" b="1" spc="-300" smtClean="0">
                  <a:solidFill>
                    <a:schemeClr val="accent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馬拉松</a:t>
              </a:r>
              <a:endParaRPr lang="en-US" altLang="ja-JP" sz="4800" b="1" spc="-30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xmlns="" id="{297FCA8C-4863-4A61-86C0-C9C6D9B4CC04}"/>
                </a:ext>
              </a:extLst>
            </p:cNvPr>
            <p:cNvSpPr txBox="1"/>
            <p:nvPr/>
          </p:nvSpPr>
          <p:spPr>
            <a:xfrm>
              <a:off x="760419" y="3228945"/>
              <a:ext cx="20630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00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企劃重點</a:t>
              </a:r>
              <a:endParaRPr lang="ja-JP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1288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xmlns="" id="{0B87BBF8-09A9-478D-B045-31206B2918BB}"/>
              </a:ext>
            </a:extLst>
          </p:cNvPr>
          <p:cNvGrpSpPr/>
          <p:nvPr/>
        </p:nvGrpSpPr>
        <p:grpSpPr>
          <a:xfrm>
            <a:off x="0" y="649612"/>
            <a:ext cx="9906000" cy="4610037"/>
            <a:chOff x="0" y="649612"/>
            <a:chExt cx="9906000" cy="4610037"/>
          </a:xfrm>
        </p:grpSpPr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xmlns="" id="{37FE1A1C-04F5-4992-82D2-277B5AF8F32C}"/>
                </a:ext>
              </a:extLst>
            </p:cNvPr>
            <p:cNvGrpSpPr/>
            <p:nvPr/>
          </p:nvGrpSpPr>
          <p:grpSpPr>
            <a:xfrm>
              <a:off x="1034223" y="2458882"/>
              <a:ext cx="8602490" cy="2800767"/>
              <a:chOff x="1034223" y="2458882"/>
              <a:chExt cx="8602490" cy="2800767"/>
            </a:xfrm>
          </p:grpSpPr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xmlns="" id="{027E064C-F492-4B33-B027-A8544B17DD41}"/>
                  </a:ext>
                </a:extLst>
              </p:cNvPr>
              <p:cNvSpPr txBox="1"/>
              <p:nvPr/>
            </p:nvSpPr>
            <p:spPr>
              <a:xfrm>
                <a:off x="4997244" y="2458882"/>
                <a:ext cx="4639469" cy="2800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b="1" spc="-300" smtClean="0">
                    <a:solidFill>
                      <a:schemeClr val="accent1">
                        <a:lumMod val="5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IG</a:t>
                </a:r>
                <a:r>
                  <a:rPr lang="zh-TW" altLang="en-US" sz="3600" b="1" spc="-300" smtClean="0">
                    <a:solidFill>
                      <a:schemeClr val="accent1">
                        <a:lumMod val="5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馬拉松</a:t>
                </a:r>
                <a:endParaRPr lang="ja-JP" altLang="en-US" sz="3600" b="1" spc="-300" dirty="0">
                  <a:solidFill>
                    <a:schemeClr val="accent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endParaRPr>
              </a:p>
              <a:p>
                <a:endParaRPr lang="en-US" altLang="ja-JP" sz="20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endParaRPr>
              </a:p>
              <a:p>
                <a:r>
                  <a:rPr lang="zh-TW" altLang="en-US" sz="2000" smtClean="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展開在</a:t>
                </a:r>
                <a:r>
                  <a:rPr lang="en-US" altLang="ja-JP" sz="2000" smtClean="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42.195</a:t>
                </a:r>
                <a:r>
                  <a:rPr lang="zh-TW" altLang="en-US" sz="2000" smtClean="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小時內</a:t>
                </a:r>
                <a:endParaRPr lang="en-US" altLang="ja-JP" sz="20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endParaRPr>
              </a:p>
              <a:p>
                <a:r>
                  <a:rPr lang="zh-TW" altLang="en-US" sz="2000" smtClean="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獲得最多「</a:t>
                </a:r>
                <a:r>
                  <a:rPr lang="zh-TW" altLang="en-US" sz="200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讚</a:t>
                </a:r>
                <a:r>
                  <a:rPr lang="zh-TW" altLang="en-US" sz="2000" smtClean="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」</a:t>
                </a:r>
                <a:endParaRPr lang="en-US" altLang="ja-JP" sz="20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endParaRPr>
              </a:p>
              <a:p>
                <a:r>
                  <a:rPr lang="zh-TW" altLang="en-US" sz="200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僅限女性的即時對</a:t>
                </a:r>
                <a:r>
                  <a:rPr lang="zh-TW" altLang="en-US" sz="2000" smtClean="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戰！</a:t>
                </a:r>
                <a:endParaRPr lang="en-US" altLang="ja-JP" sz="20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endParaRPr>
              </a:p>
              <a:p>
                <a:endParaRPr lang="en-US" altLang="ja-JP" sz="20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endParaRPr>
              </a:p>
              <a:p>
                <a:r>
                  <a:rPr lang="zh-TW" altLang="en-US" sz="2000" smtClean="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優勝獎金</a:t>
                </a:r>
                <a:r>
                  <a:rPr lang="en-US" altLang="zh-TW" sz="2000" smtClean="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50</a:t>
                </a:r>
                <a:r>
                  <a:rPr lang="zh-TW" altLang="en-US" sz="2000" smtClean="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萬日圓</a:t>
                </a:r>
                <a:endParaRPr lang="en-US" altLang="ja-JP" sz="20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endParaRPr>
              </a:p>
              <a:p>
                <a:r>
                  <a:rPr lang="zh-TW" altLang="en-US" sz="200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雜誌連載</a:t>
                </a:r>
                <a:r>
                  <a:rPr lang="en-US" altLang="zh-TW" sz="200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1</a:t>
                </a:r>
                <a:r>
                  <a:rPr lang="zh-TW" altLang="en-US" sz="200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年的獎賞</a:t>
                </a:r>
                <a:endParaRPr lang="ja-JP" altLang="en-US" sz="20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3" name="図 12">
                <a:extLst>
                  <a:ext uri="{FF2B5EF4-FFF2-40B4-BE49-F238E27FC236}">
                    <a16:creationId xmlns:a16="http://schemas.microsoft.com/office/drawing/2014/main" xmlns="" id="{B3F09691-A8D0-4BE7-AB01-9F70DA6546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21330267">
                <a:off x="1034223" y="2579272"/>
                <a:ext cx="3657600" cy="2436876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88900" cap="sq">
                <a:solidFill>
                  <a:srgbClr val="FFFFFF"/>
                </a:solidFill>
                <a:miter lim="800000"/>
              </a:ln>
              <a:effectLst>
                <a:outerShdw blurRad="55000" dist="18000" dir="54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twoPt" dir="t">
                  <a:rot lat="0" lon="0" rev="7200000"/>
                </a:lightRig>
              </a:scene3d>
              <a:sp3d>
                <a:bevelT w="25400" h="19050"/>
                <a:contourClr>
                  <a:srgbClr val="FFFFFF"/>
                </a:contourClr>
              </a:sp3d>
            </p:spPr>
          </p:pic>
        </p:grp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xmlns="" id="{F295CC11-409E-493C-8E39-4FD86CB3C8A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833624"/>
              <a:ext cx="9906000" cy="0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xmlns="" id="{CC6F456F-DDF6-4895-97CD-CC8524B067A2}"/>
                </a:ext>
              </a:extLst>
            </p:cNvPr>
            <p:cNvSpPr/>
            <p:nvPr/>
          </p:nvSpPr>
          <p:spPr>
            <a:xfrm>
              <a:off x="1034223" y="649612"/>
              <a:ext cx="1607575" cy="36802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>
              <a:solidFill>
                <a:schemeClr val="accent1">
                  <a:lumMod val="5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xmlns="" id="{262E9FE5-9FA1-4044-9763-AFD159BC6452}"/>
                </a:ext>
              </a:extLst>
            </p:cNvPr>
            <p:cNvSpPr txBox="1"/>
            <p:nvPr/>
          </p:nvSpPr>
          <p:spPr>
            <a:xfrm>
              <a:off x="1116257" y="692435"/>
              <a:ext cx="14435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企劃重點</a:t>
              </a:r>
              <a:endParaRPr lang="ja-JP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7543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205</TotalTime>
  <Words>218</Words>
  <Application>Microsoft Office PowerPoint</Application>
  <PresentationFormat>A4 紙張 (210x297 公釐)</PresentationFormat>
  <Paragraphs>20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2" baseType="lpstr">
      <vt:lpstr>游ゴシック</vt:lpstr>
      <vt:lpstr>游ゴシック Light</vt:lpstr>
      <vt:lpstr>微軟正黑體</vt:lpstr>
      <vt:lpstr>Arial</vt:lpstr>
      <vt:lpstr>Calibri</vt:lpstr>
      <vt:lpstr>Calibri Light</vt:lpstr>
      <vt:lpstr>Times New Roman</vt:lpstr>
      <vt:lpstr>Office テーマ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Windows 使用者</cp:lastModifiedBy>
  <cp:revision>23</cp:revision>
  <dcterms:created xsi:type="dcterms:W3CDTF">2017-11-09T07:26:57Z</dcterms:created>
  <dcterms:modified xsi:type="dcterms:W3CDTF">2018-10-01T00:47:24Z</dcterms:modified>
</cp:coreProperties>
</file>