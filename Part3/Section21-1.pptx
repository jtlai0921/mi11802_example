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グループ化 26">
            <a:extLst>
              <a:ext uri="{FF2B5EF4-FFF2-40B4-BE49-F238E27FC236}">
                <a16:creationId xmlns="" xmlns:a16="http://schemas.microsoft.com/office/drawing/2014/main" id="{50FF8308-B46F-4306-B94B-DAB38CF39190}"/>
              </a:ext>
            </a:extLst>
          </p:cNvPr>
          <p:cNvGrpSpPr/>
          <p:nvPr/>
        </p:nvGrpSpPr>
        <p:grpSpPr>
          <a:xfrm>
            <a:off x="631646" y="475373"/>
            <a:ext cx="8642708" cy="5733096"/>
            <a:chOff x="631646" y="475373"/>
            <a:chExt cx="8642708" cy="5733096"/>
          </a:xfrm>
        </p:grpSpPr>
        <p:grpSp>
          <p:nvGrpSpPr>
            <p:cNvPr id="20" name="グループ化 19">
              <a:extLst>
                <a:ext uri="{FF2B5EF4-FFF2-40B4-BE49-F238E27FC236}">
                  <a16:creationId xmlns="" xmlns:a16="http://schemas.microsoft.com/office/drawing/2014/main" id="{3912CDF0-81F6-4A43-BB25-1C3AB67C0E43}"/>
                </a:ext>
              </a:extLst>
            </p:cNvPr>
            <p:cNvGrpSpPr/>
            <p:nvPr/>
          </p:nvGrpSpPr>
          <p:grpSpPr>
            <a:xfrm>
              <a:off x="631646" y="2195067"/>
              <a:ext cx="3845876" cy="972000"/>
              <a:chOff x="906038" y="2195067"/>
              <a:chExt cx="3845876" cy="972000"/>
            </a:xfrm>
          </p:grpSpPr>
          <p:sp>
            <p:nvSpPr>
              <p:cNvPr id="2" name="正方形/長方形 1">
                <a:extLst>
                  <a:ext uri="{FF2B5EF4-FFF2-40B4-BE49-F238E27FC236}">
                    <a16:creationId xmlns="" xmlns:a16="http://schemas.microsoft.com/office/drawing/2014/main" id="{D3D0102C-925E-4096-85BD-69984A62D2EE}"/>
                  </a:ext>
                </a:extLst>
              </p:cNvPr>
              <p:cNvSpPr/>
              <p:nvPr/>
            </p:nvSpPr>
            <p:spPr>
              <a:xfrm>
                <a:off x="906038" y="2195067"/>
                <a:ext cx="3845876" cy="972000"/>
              </a:xfrm>
              <a:prstGeom prst="rect">
                <a:avLst/>
              </a:prstGeom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" name="テキスト ボックス 2">
                <a:extLst>
                  <a:ext uri="{FF2B5EF4-FFF2-40B4-BE49-F238E27FC236}">
                    <a16:creationId xmlns="" xmlns:a16="http://schemas.microsoft.com/office/drawing/2014/main" id="{1D536373-30F3-4106-997D-4CB68C6DB84F}"/>
                  </a:ext>
                </a:extLst>
              </p:cNvPr>
              <p:cNvSpPr txBox="1"/>
              <p:nvPr/>
            </p:nvSpPr>
            <p:spPr>
              <a:xfrm>
                <a:off x="906038" y="2357902"/>
                <a:ext cx="38458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60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概念</a:t>
                </a:r>
                <a:endParaRPr kumimoji="1" lang="ja-JP" altLang="en-US" sz="36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" name="正方形/長方形 9">
              <a:extLst>
                <a:ext uri="{FF2B5EF4-FFF2-40B4-BE49-F238E27FC236}">
                  <a16:creationId xmlns="" xmlns:a16="http://schemas.microsoft.com/office/drawing/2014/main" id="{F698C8F7-123C-4556-82CD-8842EFA209F9}"/>
                </a:ext>
              </a:extLst>
            </p:cNvPr>
            <p:cNvSpPr/>
            <p:nvPr/>
          </p:nvSpPr>
          <p:spPr>
            <a:xfrm>
              <a:off x="631646" y="475373"/>
              <a:ext cx="460024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ja-JP" altLang="en-US" sz="320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品牌</a:t>
              </a:r>
              <a:r>
                <a:rPr lang="ja-JP" altLang="en-US" sz="32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戰略</a:t>
              </a:r>
              <a:endParaRPr lang="ja-JP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="" xmlns:a16="http://schemas.microsoft.com/office/drawing/2014/main" id="{763B7592-B3E3-4469-AB45-771313F55584}"/>
                </a:ext>
              </a:extLst>
            </p:cNvPr>
            <p:cNvGrpSpPr/>
            <p:nvPr/>
          </p:nvGrpSpPr>
          <p:grpSpPr>
            <a:xfrm>
              <a:off x="631646" y="3715768"/>
              <a:ext cx="3845876" cy="972000"/>
              <a:chOff x="906038" y="3648861"/>
              <a:chExt cx="3845876" cy="972000"/>
            </a:xfrm>
          </p:grpSpPr>
          <p:sp>
            <p:nvSpPr>
              <p:cNvPr id="16" name="正方形/長方形 15">
                <a:extLst>
                  <a:ext uri="{FF2B5EF4-FFF2-40B4-BE49-F238E27FC236}">
                    <a16:creationId xmlns="" xmlns:a16="http://schemas.microsoft.com/office/drawing/2014/main" id="{DC8ED533-EB59-4F4A-82D8-4D5A22E39DD2}"/>
                  </a:ext>
                </a:extLst>
              </p:cNvPr>
              <p:cNvSpPr/>
              <p:nvPr/>
            </p:nvSpPr>
            <p:spPr>
              <a:xfrm>
                <a:off x="906038" y="3648861"/>
                <a:ext cx="3845876" cy="972000"/>
              </a:xfrm>
              <a:prstGeom prst="rect">
                <a:avLst/>
              </a:prstGeom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テキスト ボックス 10">
                <a:extLst>
                  <a:ext uri="{FF2B5EF4-FFF2-40B4-BE49-F238E27FC236}">
                    <a16:creationId xmlns="" xmlns:a16="http://schemas.microsoft.com/office/drawing/2014/main" id="{E6E4EC90-B4C1-4470-B86B-0C53E6C7AE9A}"/>
                  </a:ext>
                </a:extLst>
              </p:cNvPr>
              <p:cNvSpPr txBox="1"/>
              <p:nvPr/>
            </p:nvSpPr>
            <p:spPr>
              <a:xfrm>
                <a:off x="906038" y="3811696"/>
                <a:ext cx="38458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360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目標</a:t>
                </a:r>
                <a:endParaRPr kumimoji="1" lang="ja-JP" altLang="en-US" sz="36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="" xmlns:a16="http://schemas.microsoft.com/office/drawing/2014/main" id="{04C76511-8218-4FB3-917A-A3BF74634300}"/>
                </a:ext>
              </a:extLst>
            </p:cNvPr>
            <p:cNvGrpSpPr/>
            <p:nvPr/>
          </p:nvGrpSpPr>
          <p:grpSpPr>
            <a:xfrm>
              <a:off x="631646" y="5236469"/>
              <a:ext cx="3845876" cy="972000"/>
              <a:chOff x="906038" y="5236469"/>
              <a:chExt cx="3845876" cy="972000"/>
            </a:xfrm>
          </p:grpSpPr>
          <p:sp>
            <p:nvSpPr>
              <p:cNvPr id="19" name="正方形/長方形 18">
                <a:extLst>
                  <a:ext uri="{FF2B5EF4-FFF2-40B4-BE49-F238E27FC236}">
                    <a16:creationId xmlns="" xmlns:a16="http://schemas.microsoft.com/office/drawing/2014/main" id="{BBBCD344-CD03-453F-94F2-4EF24D780565}"/>
                  </a:ext>
                </a:extLst>
              </p:cNvPr>
              <p:cNvSpPr/>
              <p:nvPr/>
            </p:nvSpPr>
            <p:spPr>
              <a:xfrm>
                <a:off x="906038" y="5236469"/>
                <a:ext cx="3845876" cy="972000"/>
              </a:xfrm>
              <a:prstGeom prst="rect">
                <a:avLst/>
              </a:prstGeom>
              <a:ln>
                <a:noFill/>
              </a:ln>
              <a:effectLst>
                <a:outerShdw blurRad="76200" dir="18900000" sy="23000" kx="-1200000" algn="b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テキスト ボックス 12">
                <a:extLst>
                  <a:ext uri="{FF2B5EF4-FFF2-40B4-BE49-F238E27FC236}">
                    <a16:creationId xmlns="" xmlns:a16="http://schemas.microsoft.com/office/drawing/2014/main" id="{514E08DA-E3C8-41AD-905C-AD3D1ABF669A}"/>
                  </a:ext>
                </a:extLst>
              </p:cNvPr>
              <p:cNvSpPr txBox="1"/>
              <p:nvPr/>
            </p:nvSpPr>
            <p:spPr>
              <a:xfrm>
                <a:off x="906038" y="5399304"/>
                <a:ext cx="38458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3600" smtClean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Times New Roman" panose="02020603050405020304" pitchFamily="18" charset="0"/>
                  </a:rPr>
                  <a:t>定位</a:t>
                </a:r>
                <a:endParaRPr kumimoji="1" lang="ja-JP" altLang="en-US" sz="3600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" name="正方形/長方形 8">
              <a:extLst>
                <a:ext uri="{FF2B5EF4-FFF2-40B4-BE49-F238E27FC236}">
                  <a16:creationId xmlns="" xmlns:a16="http://schemas.microsoft.com/office/drawing/2014/main" id="{FBD95A05-0B17-4E86-8FEB-1BA7E2D6AC2F}"/>
                </a:ext>
              </a:extLst>
            </p:cNvPr>
            <p:cNvSpPr/>
            <p:nvPr/>
          </p:nvSpPr>
          <p:spPr>
            <a:xfrm>
              <a:off x="4998327" y="2277447"/>
              <a:ext cx="4276027" cy="37856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spcAft>
                  <a:spcPts val="1800"/>
                </a:spcAft>
              </a:pPr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品牌化是，在既有的市場中建構獨創性，並取得特定階層的價值。</a:t>
              </a:r>
              <a:endParaRPr lang="en-US" altLang="zh-TW" sz="20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>
                <a:spcAft>
                  <a:spcPts val="1800"/>
                </a:spcAft>
              </a:pPr>
              <a:endParaRPr lang="en-US" altLang="ja-JP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>
                <a:spcAft>
                  <a:spcPts val="1800"/>
                </a:spcAft>
              </a:pPr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創業距今</a:t>
              </a:r>
              <a:r>
                <a:rPr lang="en-US" altLang="zh-TW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50</a:t>
              </a:r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年。商品認知滲透的本公司的品牌化是讓企業或人感受到價值的戰略，符合年輕消費者的感性。</a:t>
              </a:r>
              <a:endParaRPr lang="en-US" altLang="zh-TW" sz="20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>
                <a:spcAft>
                  <a:spcPts val="1800"/>
                </a:spcAft>
              </a:pPr>
              <a:endParaRPr lang="en-US" altLang="zh-TW" sz="2000" smtClean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algn="just">
                <a:spcAft>
                  <a:spcPts val="1800"/>
                </a:spcAft>
              </a:pPr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尤其以留意</a:t>
              </a:r>
              <a:r>
                <a:rPr lang="en-US" altLang="zh-TW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SNS</a:t>
              </a:r>
              <a:r>
                <a:rPr lang="zh-TW" altLang="en-US" sz="2000" smtClean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的訴求方法推動市場行銷，以市場占有率的擴大為目標。</a:t>
              </a:r>
              <a:endParaRPr lang="ja-JP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="" xmlns:a16="http://schemas.microsoft.com/office/drawing/2014/main" id="{7C82BFBA-9113-4A9F-9CC1-2876AAB817E0}"/>
                </a:ext>
              </a:extLst>
            </p:cNvPr>
            <p:cNvSpPr/>
            <p:nvPr/>
          </p:nvSpPr>
          <p:spPr>
            <a:xfrm>
              <a:off x="631646" y="1037846"/>
              <a:ext cx="340798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16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Times New Roman" panose="02020603050405020304" pitchFamily="18" charset="0"/>
                </a:rPr>
                <a:t>Branding strategy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22" name="直線コネクタ 21">
              <a:extLst>
                <a:ext uri="{FF2B5EF4-FFF2-40B4-BE49-F238E27FC236}">
                  <a16:creationId xmlns="" xmlns:a16="http://schemas.microsoft.com/office/drawing/2014/main" id="{67AE32E0-CC0C-4A63-ACA5-39E865FAB93B}"/>
                </a:ext>
              </a:extLst>
            </p:cNvPr>
            <p:cNvCxnSpPr>
              <a:cxnSpLocks/>
            </p:cNvCxnSpPr>
            <p:nvPr/>
          </p:nvCxnSpPr>
          <p:spPr>
            <a:xfrm>
              <a:off x="631646" y="1015544"/>
              <a:ext cx="8604000" cy="0"/>
            </a:xfrm>
            <a:prstGeom prst="line">
              <a:avLst/>
            </a:prstGeom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赤味がかったオレンジ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78</Words>
  <Application>Microsoft Office PowerPoint</Application>
  <PresentationFormat>A4 紙張 (210x297 公釐)</PresentationFormat>
  <Paragraphs>10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Times New Roman</vt:lpstr>
      <vt:lpstr>Office テーマ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22</cp:revision>
  <dcterms:created xsi:type="dcterms:W3CDTF">2017-11-09T07:26:57Z</dcterms:created>
  <dcterms:modified xsi:type="dcterms:W3CDTF">2018-09-22T10:13:02Z</dcterms:modified>
</cp:coreProperties>
</file>