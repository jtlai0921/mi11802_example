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60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600" b="0" i="0" u="none" strike="noStrike" kern="1200" baseline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pPr>
            <a:r>
              <a:rPr lang="en-US" altLang="zh-TW" sz="1800" b="0" i="0" baseline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RPA</a:t>
            </a:r>
            <a:r>
              <a:rPr lang="zh-TW" altLang="zh-TW" sz="1800" b="0" i="0" baseline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的國內市場規模</a:t>
            </a:r>
            <a:endParaRPr lang="zh-TW" altLang="zh-TW" sz="16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600" b="0" i="0" u="none" strike="noStrike" kern="1200" baseline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金額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8</c:v>
                </c:pt>
                <c:pt idx="2">
                  <c:v>20</c:v>
                </c:pt>
                <c:pt idx="3">
                  <c:v>44</c:v>
                </c:pt>
                <c:pt idx="4">
                  <c:v>60</c:v>
                </c:pt>
                <c:pt idx="5">
                  <c:v>72</c:v>
                </c:pt>
                <c:pt idx="6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08-4D9D-8E46-DA30FFC70A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-1593277536"/>
        <c:axId val="-1593276992"/>
      </c:barChart>
      <c:catAx>
        <c:axId val="-1593277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1593276992"/>
        <c:crosses val="autoZero"/>
        <c:auto val="1"/>
        <c:lblAlgn val="ctr"/>
        <c:lblOffset val="100"/>
        <c:noMultiLvlLbl val="0"/>
      </c:catAx>
      <c:valAx>
        <c:axId val="-159327699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-1593277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2128" b="1" i="0" u="none" strike="noStrike" kern="1200" baseline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pPr>
            <a:r>
              <a:rPr lang="en-US" altLang="zh-TW"/>
              <a:t>RPA</a:t>
            </a:r>
            <a:r>
              <a:rPr lang="zh-TW" altLang="en-US"/>
              <a:t>的國內市場規模</a:t>
            </a:r>
            <a:endParaRPr lang="ja-JP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2128" b="1" i="0" u="none" strike="noStrike" kern="1200" baseline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金額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97" b="0" i="0" u="none" strike="noStrike" kern="1200" baseline="0">
                    <a:solidFill>
                      <a:schemeClr val="tx1"/>
                    </a:solidFill>
                    <a:latin typeface="ＭＳ Ｐゴシック" panose="020B0600070205080204" pitchFamily="50" charset="-128"/>
                    <a:ea typeface="ＭＳ Ｐゴシック" panose="020B0600070205080204" pitchFamily="50" charset="-128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8</c:v>
                </c:pt>
                <c:pt idx="2">
                  <c:v>20</c:v>
                </c:pt>
                <c:pt idx="3">
                  <c:v>44</c:v>
                </c:pt>
                <c:pt idx="4">
                  <c:v>60</c:v>
                </c:pt>
                <c:pt idx="5">
                  <c:v>72</c:v>
                </c:pt>
                <c:pt idx="6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08-4D9D-8E46-DA30FFC70A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-1593275360"/>
        <c:axId val="-1593273728"/>
      </c:barChart>
      <c:catAx>
        <c:axId val="-15932753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pPr>
            <a:endParaRPr lang="zh-TW"/>
          </a:p>
        </c:txPr>
        <c:crossAx val="-1593273728"/>
        <c:crosses val="autoZero"/>
        <c:auto val="1"/>
        <c:lblAlgn val="ctr"/>
        <c:lblOffset val="100"/>
        <c:noMultiLvlLbl val="0"/>
      </c:catAx>
      <c:valAx>
        <c:axId val="-159327372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-1593275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2128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游明朝" panose="02020400000000000000" pitchFamily="18" charset="-128"/>
                <a:cs typeface="Arial" panose="020B0604020202020204" pitchFamily="34" charset="0"/>
              </a:defRPr>
            </a:pPr>
            <a:r>
              <a:rPr lang="en-US" altLang="zh-TW" baseline="0" dirty="0">
                <a:latin typeface="Times New Roman" panose="02020603050405020304" pitchFamily="18" charset="0"/>
                <a:ea typeface="游明朝" panose="02020400000000000000" pitchFamily="18" charset="-128"/>
              </a:rPr>
              <a:t>RPA</a:t>
            </a:r>
            <a:r>
              <a:rPr lang="zh-TW" altLang="en-US" baseline="0" dirty="0">
                <a:latin typeface="新細明體" panose="02020500000000000000" pitchFamily="18" charset="-120"/>
                <a:ea typeface="新細明體" panose="02020500000000000000" pitchFamily="18" charset="-120"/>
              </a:rPr>
              <a:t>的國內市場規模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2128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游明朝" panose="02020400000000000000" pitchFamily="18" charset="-128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金額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fld id="{1DED0CCE-0407-4DBF-93D0-8DA00D55F6CA}" type="VALUE">
                      <a:rPr lang="en-US" altLang="zh-TW" baseline="0">
                        <a:ea typeface="新細明體" panose="02020500000000000000" pitchFamily="18" charset="-120"/>
                      </a:rPr>
                      <a:pPr/>
                      <a:t>[值]</a:t>
                    </a:fld>
                    <a:endParaRPr lang="zh-TW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62F5-4C83-A3E4-63ABCD68D0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97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8</c:v>
                </c:pt>
                <c:pt idx="2">
                  <c:v>20</c:v>
                </c:pt>
                <c:pt idx="3">
                  <c:v>44</c:v>
                </c:pt>
                <c:pt idx="4">
                  <c:v>60</c:v>
                </c:pt>
                <c:pt idx="5">
                  <c:v>72</c:v>
                </c:pt>
                <c:pt idx="6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08-4D9D-8E46-DA30FFC70A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-1593269376"/>
        <c:axId val="-1593272640"/>
      </c:barChart>
      <c:catAx>
        <c:axId val="-1593269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defRPr>
            </a:pPr>
            <a:endParaRPr lang="zh-TW"/>
          </a:p>
        </c:txPr>
        <c:crossAx val="-1593272640"/>
        <c:crosses val="autoZero"/>
        <c:auto val="1"/>
        <c:lblAlgn val="ctr"/>
        <c:lblOffset val="100"/>
        <c:noMultiLvlLbl val="0"/>
      </c:catAx>
      <c:valAx>
        <c:axId val="-159327264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-1593269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ea typeface="ＭＳ Ｐ明朝" panose="02020600040205080304" pitchFamily="18" charset="-128"/>
          <a:cs typeface="Arial" panose="020B0604020202020204" pitchFamily="34" charset="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29D91AC-1CE1-4747-B972-975BE1B03B53}"/>
              </a:ext>
            </a:extLst>
          </p:cNvPr>
          <p:cNvGrpSpPr/>
          <p:nvPr/>
        </p:nvGrpSpPr>
        <p:grpSpPr>
          <a:xfrm>
            <a:off x="1137000" y="368258"/>
            <a:ext cx="7632000" cy="6289558"/>
            <a:chOff x="1137000" y="368258"/>
            <a:chExt cx="7632000" cy="6289558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337188" y="1181526"/>
              <a:ext cx="723162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把電腦制式業務自動化的</a:t>
              </a:r>
              <a:r>
                <a:rPr kumimoji="1"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RPA</a:t>
              </a:r>
              <a:r>
                <a:rPr kumimoji="1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（</a:t>
              </a:r>
              <a:r>
                <a:rPr kumimoji="1" lang="en-US" altLang="ja-JP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Robotic Process Automation</a:t>
              </a:r>
              <a:r>
                <a:rPr kumimoji="1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）的國內市場規模，預測將在</a:t>
              </a:r>
              <a:r>
                <a:rPr kumimoji="1"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2021</a:t>
              </a:r>
              <a:r>
                <a:rPr kumimoji="1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年度達到</a:t>
              </a:r>
              <a:r>
                <a:rPr kumimoji="1"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82</a:t>
              </a:r>
              <a:r>
                <a:rPr kumimoji="1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億日圓。因勞動人口減少與勞動方式的改革、</a:t>
              </a:r>
              <a:r>
                <a:rPr kumimoji="1"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AI</a:t>
              </a:r>
              <a:r>
                <a:rPr kumimoji="1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的有效運用逐漸受到重視，各種不同的業種與業態紛紛考慮導入</a:t>
              </a:r>
              <a:r>
                <a:rPr kumimoji="1"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RPA</a:t>
              </a:r>
              <a:r>
                <a:rPr kumimoji="1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。如果率先導入</a:t>
              </a:r>
              <a:r>
                <a:rPr kumimoji="1"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RPA</a:t>
              </a:r>
              <a:r>
                <a:rPr kumimoji="1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的企業，因此收到成效並廣為人知，同時與</a:t>
              </a:r>
              <a:r>
                <a:rPr kumimoji="1"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AI</a:t>
              </a:r>
              <a:r>
                <a:rPr kumimoji="1"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系統合作的話，企業導入的動機就會更加高漲。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aphicFrame>
          <p:nvGraphicFramePr>
            <p:cNvPr id="6" name="グラフ 5">
              <a:extLst>
                <a:ext uri="{FF2B5EF4-FFF2-40B4-BE49-F238E27FC236}">
                  <a16:creationId xmlns:a16="http://schemas.microsoft.com/office/drawing/2014/main" id="{889355A4-E0EE-47A1-9CC1-BCADA4D7795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3369578"/>
                </p:ext>
              </p:extLst>
            </p:nvPr>
          </p:nvGraphicFramePr>
          <p:xfrm>
            <a:off x="2241755" y="2774329"/>
            <a:ext cx="5422490" cy="361499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7016FBF-4382-4B93-A066-C35535F2072A}"/>
                </a:ext>
              </a:extLst>
            </p:cNvPr>
            <p:cNvCxnSpPr>
              <a:cxnSpLocks/>
            </p:cNvCxnSpPr>
            <p:nvPr/>
          </p:nvCxnSpPr>
          <p:spPr>
            <a:xfrm>
              <a:off x="4019107" y="6519317"/>
              <a:ext cx="328546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AF28889B-E1C2-4C33-929F-F7C34556847B}"/>
                </a:ext>
              </a:extLst>
            </p:cNvPr>
            <p:cNvSpPr/>
            <p:nvPr/>
          </p:nvSpPr>
          <p:spPr>
            <a:xfrm>
              <a:off x="5310962" y="6380817"/>
              <a:ext cx="70174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預測值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9F924175-4CF1-425B-B44B-9A63E7F8497F}"/>
                </a:ext>
              </a:extLst>
            </p:cNvPr>
            <p:cNvSpPr/>
            <p:nvPr/>
          </p:nvSpPr>
          <p:spPr>
            <a:xfrm>
              <a:off x="2241755" y="3662656"/>
              <a:ext cx="267725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單位：億日圓</a:t>
              </a:r>
              <a:endParaRPr lang="en-US" altLang="ja-JP" sz="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出處：</a:t>
              </a:r>
              <a:r>
                <a:rPr lang="en-US" altLang="ja-JP" sz="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ITR</a:t>
              </a:r>
              <a:r>
                <a:rPr lang="zh-TW" altLang="en-US" sz="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</a:t>
              </a:r>
              <a:r>
                <a:rPr lang="en-US" altLang="ja-JP" sz="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ITR Market View</a:t>
              </a:r>
              <a:r>
                <a:rPr lang="ja-JP" altLang="en-US" sz="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</a:t>
              </a:r>
              <a:r>
                <a:rPr lang="en-US" altLang="ja-JP" sz="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AI/RPA</a:t>
              </a:r>
              <a:r>
                <a:rPr lang="zh-TW" altLang="en-US" sz="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市場</a:t>
              </a:r>
              <a:r>
                <a:rPr lang="en-US" altLang="zh-TW" sz="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2017</a:t>
              </a:r>
              <a:r>
                <a:rPr lang="zh-TW" altLang="en-US" sz="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</a:t>
              </a:r>
              <a:endParaRPr lang="ja-JP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A1A1250C-684C-4186-84F5-9F9B4D786297}"/>
                </a:ext>
              </a:extLst>
            </p:cNvPr>
            <p:cNvSpPr/>
            <p:nvPr/>
          </p:nvSpPr>
          <p:spPr>
            <a:xfrm>
              <a:off x="1137000" y="1105245"/>
              <a:ext cx="7632000" cy="1476000"/>
            </a:xfrm>
            <a:prstGeom prst="round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7ABFE2B-545C-46F5-84F1-1879FFB413F4}"/>
                </a:ext>
              </a:extLst>
            </p:cNvPr>
            <p:cNvSpPr txBox="1"/>
            <p:nvPr/>
          </p:nvSpPr>
          <p:spPr>
            <a:xfrm>
              <a:off x="1787913" y="368258"/>
              <a:ext cx="63301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3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RPA</a:t>
              </a:r>
              <a:r>
                <a:rPr kumimoji="1" lang="zh-TW" altLang="en-US" sz="3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市場正在擴大</a:t>
              </a:r>
              <a:endParaRPr kumimoji="1"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807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C153BA8-804E-48AD-9CBF-0F4F5F2524AC}"/>
              </a:ext>
            </a:extLst>
          </p:cNvPr>
          <p:cNvGrpSpPr/>
          <p:nvPr/>
        </p:nvGrpSpPr>
        <p:grpSpPr>
          <a:xfrm>
            <a:off x="1137000" y="368258"/>
            <a:ext cx="7632000" cy="6289558"/>
            <a:chOff x="1137000" y="368258"/>
            <a:chExt cx="7632000" cy="6289558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337188" y="1181526"/>
              <a:ext cx="723162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把電腦制式業務自動化的</a:t>
              </a:r>
              <a:r>
                <a:rPr kumimoji="1" lang="en-US" altLang="zh-TW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RPA</a:t>
              </a:r>
              <a:r>
                <a:rPr kumimoji="1" lang="zh-TW" altLang="en-US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（</a:t>
              </a:r>
              <a:r>
                <a:rPr kumimoji="1" lang="en-US" altLang="zh-TW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Robotic Process Automation</a:t>
              </a:r>
              <a:r>
                <a:rPr kumimoji="1" lang="zh-TW" altLang="en-US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）的國內市場規模，預測將在</a:t>
              </a:r>
              <a:r>
                <a:rPr kumimoji="1" lang="en-US" altLang="zh-TW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2021</a:t>
              </a:r>
              <a:r>
                <a:rPr kumimoji="1" lang="zh-TW" altLang="en-US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年度達到</a:t>
              </a:r>
              <a:r>
                <a:rPr kumimoji="1" lang="en-US" altLang="zh-TW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82</a:t>
              </a:r>
              <a:r>
                <a:rPr kumimoji="1" lang="zh-TW" altLang="en-US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億日圓。因勞動人口減少與勞動方式的改革、</a:t>
              </a:r>
              <a:r>
                <a:rPr kumimoji="1" lang="en-US" altLang="zh-TW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AI</a:t>
              </a:r>
              <a:r>
                <a:rPr kumimoji="1" lang="zh-TW" altLang="en-US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的有效運用逐漸受到重視，各種不同的業種與業態紛紛考慮導入</a:t>
              </a:r>
              <a:r>
                <a:rPr kumimoji="1" lang="en-US" altLang="zh-TW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RPA</a:t>
              </a:r>
              <a:r>
                <a:rPr kumimoji="1" lang="zh-TW" altLang="en-US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。如果率先導入</a:t>
              </a:r>
              <a:r>
                <a:rPr kumimoji="1" lang="en-US" altLang="zh-TW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RPA</a:t>
              </a:r>
              <a:r>
                <a:rPr kumimoji="1" lang="zh-TW" altLang="en-US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的企業，因此收到成效並廣為人知，同時與</a:t>
              </a:r>
              <a:r>
                <a:rPr kumimoji="1" lang="en-US" altLang="zh-TW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AI</a:t>
              </a:r>
              <a:r>
                <a:rPr kumimoji="1" lang="zh-TW" altLang="en-US" sz="16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系統合作的話，企業導入的動機就會更加高漲。</a:t>
              </a:r>
              <a:endParaRPr kumimoji="1"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  <p:graphicFrame>
          <p:nvGraphicFramePr>
            <p:cNvPr id="6" name="グラフ 5">
              <a:extLst>
                <a:ext uri="{FF2B5EF4-FFF2-40B4-BE49-F238E27FC236}">
                  <a16:creationId xmlns:a16="http://schemas.microsoft.com/office/drawing/2014/main" id="{889355A4-E0EE-47A1-9CC1-BCADA4D7795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6109194"/>
                </p:ext>
              </p:extLst>
            </p:nvPr>
          </p:nvGraphicFramePr>
          <p:xfrm>
            <a:off x="2241755" y="2774329"/>
            <a:ext cx="5422490" cy="361499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7016FBF-4382-4B93-A066-C35535F2072A}"/>
                </a:ext>
              </a:extLst>
            </p:cNvPr>
            <p:cNvCxnSpPr>
              <a:cxnSpLocks/>
            </p:cNvCxnSpPr>
            <p:nvPr/>
          </p:nvCxnSpPr>
          <p:spPr>
            <a:xfrm>
              <a:off x="4019107" y="6519317"/>
              <a:ext cx="328546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AF28889B-E1C2-4C33-929F-F7C34556847B}"/>
                </a:ext>
              </a:extLst>
            </p:cNvPr>
            <p:cNvSpPr/>
            <p:nvPr/>
          </p:nvSpPr>
          <p:spPr>
            <a:xfrm>
              <a:off x="5310962" y="6380817"/>
              <a:ext cx="70174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2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預測值</a:t>
              </a:r>
              <a:endParaRPr lang="ja-JP" altLang="en-US" sz="1200" dirty="0"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9F924175-4CF1-425B-B44B-9A63E7F8497F}"/>
                </a:ext>
              </a:extLst>
            </p:cNvPr>
            <p:cNvSpPr/>
            <p:nvPr/>
          </p:nvSpPr>
          <p:spPr>
            <a:xfrm>
              <a:off x="2241755" y="3745780"/>
              <a:ext cx="267725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ja-JP" altLang="en-US" sz="8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單位：億日圓</a:t>
              </a:r>
            </a:p>
            <a:p>
              <a:r>
                <a:rPr lang="ja-JP" altLang="en-US" sz="8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出處：</a:t>
              </a:r>
              <a:r>
                <a:rPr lang="en-US" altLang="ja-JP" sz="8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ITR</a:t>
              </a:r>
              <a:r>
                <a:rPr lang="ja-JP" altLang="en-US" sz="8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「</a:t>
              </a:r>
              <a:r>
                <a:rPr lang="en-US" altLang="ja-JP" sz="8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ITR Market View</a:t>
              </a:r>
              <a:r>
                <a:rPr lang="ja-JP" altLang="en-US" sz="8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：</a:t>
              </a:r>
              <a:r>
                <a:rPr lang="en-US" altLang="ja-JP" sz="8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AI/RPA</a:t>
              </a:r>
              <a:r>
                <a:rPr lang="ja-JP" altLang="en-US" sz="8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市場</a:t>
              </a:r>
              <a:r>
                <a:rPr lang="en-US" altLang="ja-JP" sz="8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2017</a:t>
              </a:r>
              <a:r>
                <a:rPr lang="ja-JP" altLang="en-US" sz="800" dirty="0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」</a:t>
              </a:r>
            </a:p>
          </p:txBody>
        </p:sp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A1A1250C-684C-4186-84F5-9F9B4D786297}"/>
                </a:ext>
              </a:extLst>
            </p:cNvPr>
            <p:cNvSpPr/>
            <p:nvPr/>
          </p:nvSpPr>
          <p:spPr>
            <a:xfrm>
              <a:off x="1137000" y="1105245"/>
              <a:ext cx="7632000" cy="1476000"/>
            </a:xfrm>
            <a:prstGeom prst="round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7ABFE2B-545C-46F5-84F1-1879FFB413F4}"/>
                </a:ext>
              </a:extLst>
            </p:cNvPr>
            <p:cNvSpPr txBox="1"/>
            <p:nvPr/>
          </p:nvSpPr>
          <p:spPr>
            <a:xfrm>
              <a:off x="1787913" y="368258"/>
              <a:ext cx="63301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3200" dirty="0">
                  <a:latin typeface="HGP創英角ｺﾞｼｯｸUB" panose="020B0900000000000000" pitchFamily="50" charset="-128"/>
                  <a:ea typeface="HGP創英角ｺﾞｼｯｸUB" panose="020B0900000000000000" pitchFamily="50" charset="-128"/>
                </a:rPr>
                <a:t>RPA</a:t>
              </a:r>
              <a:r>
                <a:rPr kumimoji="1" lang="zh-TW" altLang="en-US" sz="3200" dirty="0">
                  <a:latin typeface="HGP創英角ｺﾞｼｯｸUB" panose="020B0900000000000000" pitchFamily="50" charset="-128"/>
                  <a:ea typeface="HGP創英角ｺﾞｼｯｸUB" panose="020B0900000000000000" pitchFamily="50" charset="-128"/>
                </a:rPr>
                <a:t>市場正在擴大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213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F0EDE523-BFFB-4CB6-8E0B-5DD06FAF2FD3}"/>
              </a:ext>
            </a:extLst>
          </p:cNvPr>
          <p:cNvGrpSpPr/>
          <p:nvPr/>
        </p:nvGrpSpPr>
        <p:grpSpPr>
          <a:xfrm>
            <a:off x="1137000" y="368258"/>
            <a:ext cx="7632000" cy="6289558"/>
            <a:chOff x="1137000" y="368258"/>
            <a:chExt cx="7632000" cy="6289558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315844" y="1181526"/>
              <a:ext cx="725296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把電腦制式業務自動化的</a:t>
              </a:r>
              <a:r>
                <a:rPr kumimoji="1" lang="en-US" altLang="zh-TW" sz="16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RPA</a:t>
              </a:r>
              <a:r>
                <a:rPr kumimoji="1" lang="zh-TW" altLang="en-US" sz="16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（</a:t>
              </a:r>
              <a:r>
                <a:rPr kumimoji="1" lang="en-US" altLang="zh-TW" sz="16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Robotic Process Automation</a:t>
              </a:r>
              <a:r>
                <a:rPr kumimoji="1" lang="zh-TW" altLang="en-US" sz="16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）</a:t>
              </a:r>
              <a:r>
                <a:rPr kumimoji="1" lang="zh-TW" altLang="en-US" sz="16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的國內市場規模，預測將在</a:t>
              </a:r>
              <a:r>
                <a:rPr kumimoji="1" lang="en-US" altLang="zh-TW" sz="16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2021</a:t>
              </a:r>
              <a:r>
                <a:rPr kumimoji="1" lang="zh-TW" altLang="en-US" sz="16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年度達到</a:t>
              </a:r>
              <a:r>
                <a:rPr kumimoji="1" lang="en-US" altLang="zh-TW" sz="16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82</a:t>
              </a:r>
              <a:r>
                <a:rPr kumimoji="1" lang="zh-TW" altLang="en-US" sz="16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億日圓。因勞動人口減少與勞動方式的改革、</a:t>
              </a:r>
              <a:r>
                <a:rPr kumimoji="1" lang="en-US" altLang="zh-TW" sz="16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AI</a:t>
              </a:r>
              <a:r>
                <a:rPr kumimoji="1" lang="zh-TW" altLang="en-US" sz="16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的有效運用逐漸受到重視，各種不同的業種與業態紛紛考慮導入</a:t>
              </a:r>
              <a:r>
                <a:rPr kumimoji="1" lang="en-US" altLang="zh-TW" sz="16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RPA</a:t>
              </a:r>
              <a:r>
                <a:rPr kumimoji="1" lang="zh-TW" altLang="en-US" sz="16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。如果率先導入</a:t>
              </a:r>
              <a:r>
                <a:rPr kumimoji="1" lang="en-US" altLang="zh-TW" sz="16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RPA</a:t>
              </a:r>
              <a:r>
                <a:rPr kumimoji="1" lang="zh-TW" altLang="en-US" sz="16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的企業，因此收到成效並廣為人知，同時與</a:t>
              </a:r>
              <a:r>
                <a:rPr kumimoji="1" lang="en-US" altLang="zh-TW" sz="16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AI</a:t>
              </a:r>
              <a:r>
                <a:rPr kumimoji="1" lang="zh-TW" altLang="en-US" sz="16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系統合作的話，企業導入的動機就會更加高漲。</a:t>
              </a:r>
              <a:endParaRPr kumimoji="1" lang="en-US" altLang="ja-JP" sz="1600" dirty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グラフ 5">
              <a:extLst>
                <a:ext uri="{FF2B5EF4-FFF2-40B4-BE49-F238E27FC236}">
                  <a16:creationId xmlns:a16="http://schemas.microsoft.com/office/drawing/2014/main" id="{889355A4-E0EE-47A1-9CC1-BCADA4D7795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65759538"/>
                </p:ext>
              </p:extLst>
            </p:nvPr>
          </p:nvGraphicFramePr>
          <p:xfrm>
            <a:off x="2241755" y="2774329"/>
            <a:ext cx="5422490" cy="361499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7016FBF-4382-4B93-A066-C35535F2072A}"/>
                </a:ext>
              </a:extLst>
            </p:cNvPr>
            <p:cNvCxnSpPr>
              <a:cxnSpLocks/>
            </p:cNvCxnSpPr>
            <p:nvPr/>
          </p:nvCxnSpPr>
          <p:spPr>
            <a:xfrm>
              <a:off x="4019107" y="6519317"/>
              <a:ext cx="3285460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AF28889B-E1C2-4C33-929F-F7C34556847B}"/>
                </a:ext>
              </a:extLst>
            </p:cNvPr>
            <p:cNvSpPr/>
            <p:nvPr/>
          </p:nvSpPr>
          <p:spPr>
            <a:xfrm>
              <a:off x="5310962" y="6380817"/>
              <a:ext cx="70174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2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預測值</a:t>
              </a:r>
              <a:endParaRPr lang="ja-JP" altLang="en-US" sz="1200" dirty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9F924175-4CF1-425B-B44B-9A63E7F8497F}"/>
                </a:ext>
              </a:extLst>
            </p:cNvPr>
            <p:cNvSpPr/>
            <p:nvPr/>
          </p:nvSpPr>
          <p:spPr>
            <a:xfrm>
              <a:off x="2241755" y="3634948"/>
              <a:ext cx="267725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ja-JP" altLang="en-US" sz="8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單位：億日圓</a:t>
              </a:r>
            </a:p>
            <a:p>
              <a:r>
                <a:rPr lang="ja-JP" altLang="en-US" sz="8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出處：</a:t>
              </a:r>
              <a:r>
                <a:rPr lang="en-US" altLang="ja-JP" sz="8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ITR</a:t>
              </a:r>
              <a:r>
                <a:rPr lang="ja-JP" altLang="en-US" sz="8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「</a:t>
              </a:r>
              <a:r>
                <a:rPr lang="en-US" altLang="ja-JP" sz="8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ITR Market View</a:t>
              </a:r>
              <a:r>
                <a:rPr lang="ja-JP" altLang="en-US" sz="8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：</a:t>
              </a:r>
              <a:r>
                <a:rPr lang="en-US" altLang="ja-JP" sz="8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AI/RPA</a:t>
              </a:r>
              <a:r>
                <a:rPr lang="ja-JP" altLang="en-US" sz="8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市場</a:t>
              </a:r>
              <a:r>
                <a:rPr lang="en-US" altLang="ja-JP" sz="800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2017</a:t>
              </a:r>
              <a:r>
                <a:rPr lang="ja-JP" altLang="en-US" sz="800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」</a:t>
              </a:r>
            </a:p>
          </p:txBody>
        </p:sp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A1A1250C-684C-4186-84F5-9F9B4D786297}"/>
                </a:ext>
              </a:extLst>
            </p:cNvPr>
            <p:cNvSpPr/>
            <p:nvPr/>
          </p:nvSpPr>
          <p:spPr>
            <a:xfrm>
              <a:off x="1137000" y="1105245"/>
              <a:ext cx="7632000" cy="1476000"/>
            </a:xfrm>
            <a:prstGeom prst="round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游明朝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7ABFE2B-545C-46F5-84F1-1879FFB413F4}"/>
                </a:ext>
              </a:extLst>
            </p:cNvPr>
            <p:cNvSpPr txBox="1"/>
            <p:nvPr/>
          </p:nvSpPr>
          <p:spPr>
            <a:xfrm>
              <a:off x="1787913" y="368258"/>
              <a:ext cx="63301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3200" b="1" dirty="0">
                  <a:latin typeface="Times New Roman" panose="02020603050405020304" pitchFamily="18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RPA</a:t>
              </a:r>
              <a:r>
                <a:rPr kumimoji="1" lang="zh-TW" altLang="en-US" sz="3200" b="1" dirty="0">
                  <a:latin typeface="新細明體" panose="02020500000000000000" pitchFamily="18" charset="-120"/>
                  <a:ea typeface="新細明體" panose="02020500000000000000" pitchFamily="18" charset="-120"/>
                  <a:cs typeface="Times New Roman" panose="02020603050405020304" pitchFamily="18" charset="0"/>
                </a:rPr>
                <a:t>市場正在擴大</a:t>
              </a:r>
              <a:endParaRPr kumimoji="1" lang="ja-JP" altLang="en-US" sz="3200" b="1" dirty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208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訂 1">
      <a:majorFont>
        <a:latin typeface="Segoe UI"/>
        <a:ea typeface="微軟正黑體"/>
        <a:cs typeface=""/>
      </a:majorFont>
      <a:minorFont>
        <a:latin typeface="Segoe UI"/>
        <a:ea typeface="微軟正黑體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427</TotalTime>
  <Words>355</Words>
  <Application>Microsoft Office PowerPoint</Application>
  <PresentationFormat>A4 紙張 (210x297 公釐)</PresentationFormat>
  <Paragraphs>19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2" baseType="lpstr">
      <vt:lpstr>HGP創英角ｺﾞｼｯｸUB</vt:lpstr>
      <vt:lpstr>ＭＳ Ｐゴシック</vt:lpstr>
      <vt:lpstr>游明朝</vt:lpstr>
      <vt:lpstr>微軟正黑體</vt:lpstr>
      <vt:lpstr>新細明體</vt:lpstr>
      <vt:lpstr>Arial</vt:lpstr>
      <vt:lpstr>Segoe UI</vt:lpstr>
      <vt:lpstr>Times New Roman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Kinsei-宋欣政</cp:lastModifiedBy>
  <cp:revision>32</cp:revision>
  <dcterms:created xsi:type="dcterms:W3CDTF">2017-11-09T07:26:57Z</dcterms:created>
  <dcterms:modified xsi:type="dcterms:W3CDTF">2018-11-07T03:11:54Z</dcterms:modified>
</cp:coreProperties>
</file>