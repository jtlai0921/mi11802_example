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373" autoAdjust="0"/>
  </p:normalViewPr>
  <p:slideViewPr>
    <p:cSldViewPr snapToGrid="0">
      <p:cViewPr varScale="1">
        <p:scale>
          <a:sx n="113" d="100"/>
          <a:sy n="113" d="100"/>
        </p:scale>
        <p:origin x="12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xmlns="" id="{6B2AD09C-B496-49F2-A41B-65F907A8B9A0}"/>
              </a:ext>
            </a:extLst>
          </p:cNvPr>
          <p:cNvGrpSpPr/>
          <p:nvPr/>
        </p:nvGrpSpPr>
        <p:grpSpPr>
          <a:xfrm>
            <a:off x="604023" y="-5772"/>
            <a:ext cx="8697953" cy="6395422"/>
            <a:chOff x="604023" y="-5772"/>
            <a:chExt cx="8697953" cy="6395422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xmlns="" id="{32F96A8A-D31C-4096-98D5-A28E87AA8B99}"/>
                </a:ext>
              </a:extLst>
            </p:cNvPr>
            <p:cNvSpPr/>
            <p:nvPr/>
          </p:nvSpPr>
          <p:spPr>
            <a:xfrm>
              <a:off x="604024" y="0"/>
              <a:ext cx="8697952" cy="106188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604023" y="1788238"/>
              <a:ext cx="8697953" cy="2192747"/>
            </a:xfrm>
            <a:prstGeom prst="rect">
              <a:avLst/>
            </a:prstGeom>
            <a:noFill/>
          </p:spPr>
          <p:txBody>
            <a:bodyPr wrap="square" numCol="3" spcCol="216000" rtlCol="0" anchor="t" anchorCtr="0">
              <a:noAutofit/>
            </a:bodyPr>
            <a:lstStyle/>
            <a:p>
              <a:pPr algn="just">
                <a:spcAft>
                  <a:spcPts val="600"/>
                </a:spcAft>
              </a:pP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改裝成身在飯店的同時，又可以感受到國外列車的旅遊氣氛的房間。房間的形象表現出，通往廣場和列車月台的旅客列車的車廂。</a:t>
              </a:r>
              <a:endPara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>
                <a:spcAft>
                  <a:spcPts val="600"/>
                </a:spcAft>
              </a:pP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內部採用充滿摩登且高級質感的設計。可感受到搭乘國外列車的氣氛。雖然不是個寬敞的客房，但仍可以</a:t>
              </a: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適度的來回走動，給人舒適的感受。</a:t>
              </a:r>
              <a:endPara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>
                <a:spcAft>
                  <a:spcPts val="600"/>
                </a:spcAft>
              </a:pP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車內的寬敞窗戶嵌有大畫面的監視器，眺望</a:t>
              </a:r>
              <a:r>
                <a:rPr lang="en-US" altLang="zh-TW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『</a:t>
              </a: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車窗</a:t>
              </a:r>
              <a:r>
                <a:rPr lang="en-US" altLang="zh-TW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』</a:t>
              </a: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的風景，既爽快且魄力十足。當初準備了國外</a:t>
              </a:r>
              <a:r>
                <a:rPr lang="en-US" altLang="zh-TW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種的車窗內容。</a:t>
              </a:r>
              <a:endPara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>
                <a:spcAft>
                  <a:spcPts val="600"/>
                </a:spcAft>
              </a:pP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客房裡有</a:t>
              </a: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著</a:t>
              </a: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優</a:t>
              </a: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閒的</a:t>
              </a: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時尚</a:t>
              </a: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。可以在</a:t>
              </a: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兩人獨處的空間裡享受觀賞觀光景點的影像的樂趣。</a:t>
              </a:r>
              <a:endParaRPr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>
                <a:spcAft>
                  <a:spcPts val="600"/>
                </a:spcAft>
              </a:pP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亦可協助安排迎賓香檳、玫瑰花束、料理，讓賓客和重要的人一起共度美好的邂逅紀念日或求婚紀念日。</a:t>
              </a:r>
              <a:endPara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>
                <a:spcAft>
                  <a:spcPts val="600"/>
                </a:spcAft>
              </a:pP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可入住人數為</a:t>
              </a:r>
              <a:r>
                <a:rPr lang="en-US" altLang="zh-TW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</a:t>
              </a: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人，但亦可當成</a:t>
              </a:r>
              <a:r>
                <a:rPr lang="en-US" altLang="zh-TW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10</a:t>
              </a: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人以內的</a:t>
              </a: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會議室使用。住宿</a:t>
              </a:r>
              <a:r>
                <a:rPr lang="en-US" altLang="zh-TW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夜，附早餐預定價格為</a:t>
              </a:r>
              <a:r>
                <a:rPr lang="en-US" altLang="zh-TW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萬</a:t>
              </a:r>
              <a:r>
                <a:rPr lang="en-US" altLang="zh-TW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5</a:t>
              </a: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千萬日圓。</a:t>
              </a:r>
              <a:endParaRPr lang="en-US" altLang="ja-JP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>
                <a:spcAft>
                  <a:spcPts val="600"/>
                </a:spcAft>
              </a:pP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房內備有</a:t>
              </a: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雙人床、三溫暖、按摩浴缸、電視、</a:t>
              </a:r>
              <a:r>
                <a:rPr lang="en-US" altLang="zh-TW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DVD</a:t>
              </a: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播放機、微波爐、咖啡機、網路、冷暖空調，不受任何人干擾，同時又可舒適度過的設備。</a:t>
              </a:r>
              <a:endPara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1040782" y="525170"/>
              <a:ext cx="39122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可從</a:t>
              </a:r>
              <a:r>
                <a:rPr lang="en-US" altLang="zh-TW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『</a:t>
              </a:r>
              <a:r>
                <a:rPr lang="zh-TW" altLang="en-US" sz="20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車窗</a:t>
              </a:r>
              <a:r>
                <a:rPr lang="en-US" altLang="zh-TW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』</a:t>
              </a:r>
              <a:r>
                <a:rPr lang="zh-TW" altLang="en-US" sz="20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看到外國的景色</a:t>
              </a:r>
              <a:endParaRPr lang="ja-JP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xmlns="" id="{535BEC6C-9BA2-48FA-9F34-B66E8300CD61}"/>
                </a:ext>
              </a:extLst>
            </p:cNvPr>
            <p:cNvSpPr txBox="1"/>
            <p:nvPr/>
          </p:nvSpPr>
          <p:spPr>
            <a:xfrm>
              <a:off x="7408582" y="679059"/>
              <a:ext cx="17637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TW" altLang="en-US" sz="10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飯店改裝企劃書</a:t>
              </a:r>
              <a:endParaRPr lang="ja-JP" altLang="en-US" sz="1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xmlns="" id="{5AB6C596-C755-45FA-8369-3ADCD6ECE9C5}"/>
                </a:ext>
              </a:extLst>
            </p:cNvPr>
            <p:cNvSpPr txBox="1"/>
            <p:nvPr/>
          </p:nvSpPr>
          <p:spPr>
            <a:xfrm>
              <a:off x="604024" y="4572214"/>
              <a:ext cx="8697952" cy="1817436"/>
            </a:xfrm>
            <a:prstGeom prst="rect">
              <a:avLst/>
            </a:prstGeom>
            <a:noFill/>
          </p:spPr>
          <p:txBody>
            <a:bodyPr wrap="square" numCol="3" spcCol="216000" rtlCol="0" anchor="t" anchorCtr="0">
              <a:noAutofit/>
            </a:bodyPr>
            <a:lstStyle>
              <a:defPPr>
                <a:defRPr lang="en-US"/>
              </a:defPPr>
              <a:lvl1pPr indent="88900" algn="just">
                <a:defRPr sz="1200">
                  <a:latin typeface="游ゴシック" panose="020B0400000000000000" pitchFamily="50" charset="-128"/>
                  <a:cs typeface="Arial" panose="020B0604020202020204" pitchFamily="34" charset="0"/>
                </a:defRPr>
              </a:lvl1pPr>
            </a:lstStyle>
            <a:p>
              <a:pPr indent="0">
                <a:spcAft>
                  <a:spcPts val="600"/>
                </a:spcAft>
              </a:pPr>
              <a:r>
                <a:rPr lang="zh-TW" altLang="en-US" smtClean="0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冰河急行（瑞士）</a:t>
              </a:r>
              <a:endParaRPr lang="ja-JP" altLang="en-US" dirty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indent="0">
                <a:spcAft>
                  <a:spcPts val="600"/>
                </a:spcAft>
              </a:pP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以世界第一為傲的冰河急行。從太陽城鎮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聖莫里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茲，到馬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特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洪峰山腳下的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策馬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特，全長</a:t>
              </a:r>
              <a:r>
                <a:rPr lang="en-US" altLang="zh-TW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269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公里的絕景路線。縱橫阿爾卑斯山脈地段，從世界頂端通往深山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裡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。世界旅行者所憧憬的感動美景。</a:t>
              </a:r>
              <a:endParaRPr lang="en-US" altLang="zh-TW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indent="0">
                <a:spcAft>
                  <a:spcPts val="600"/>
                </a:spcAft>
              </a:pP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indent="0">
                <a:spcAft>
                  <a:spcPts val="600"/>
                </a:spcAft>
              </a:pP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indent="0">
                <a:spcAft>
                  <a:spcPts val="600"/>
                </a:spcAft>
              </a:pPr>
              <a:r>
                <a:rPr lang="zh-TW" altLang="en-US" smtClean="0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霍</a:t>
              </a:r>
              <a:r>
                <a:rPr lang="zh-TW" altLang="en-US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格華茲特快</a:t>
              </a:r>
              <a:r>
                <a:rPr lang="zh-TW" altLang="en-US" smtClean="0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列車（英國）</a:t>
              </a:r>
              <a:endParaRPr lang="ja-JP" altLang="en-US" smtClean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indent="0">
                <a:spcAft>
                  <a:spcPts val="600"/>
                </a:spcAft>
              </a:pP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因電影</a:t>
              </a:r>
              <a:r>
                <a:rPr lang="en-US" altLang="zh-TW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『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哈利波特</a:t>
              </a:r>
              <a:r>
                <a:rPr lang="en-US" altLang="zh-TW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』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而聞名的霍格華茲特快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列車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的行車景色。行駛於蘇格蘭的「詹姆士號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」，往返威廉堡和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馬萊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格之間的</a:t>
              </a:r>
              <a:r>
                <a:rPr lang="en-US" altLang="zh-TW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SL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列車。巡遊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蘇格蘭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高地的自然風景連綿不斷。</a:t>
              </a:r>
              <a:endParaRPr lang="en-US" altLang="zh-TW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indent="0">
                <a:spcAft>
                  <a:spcPts val="600"/>
                </a:spcAft>
              </a:pPr>
              <a:endParaRPr lang="ja-JP" altLang="en-US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indent="0">
                <a:spcAft>
                  <a:spcPts val="600"/>
                </a:spcAft>
              </a:pP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indent="0">
                <a:spcAft>
                  <a:spcPts val="600"/>
                </a:spcAft>
              </a:pPr>
              <a:r>
                <a:rPr lang="zh-TW" altLang="en-US" smtClean="0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馬來亞鐵道（馬來西亞）</a:t>
              </a:r>
              <a:endParaRPr lang="en-US" altLang="ja-JP" dirty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indent="0">
                <a:spcAft>
                  <a:spcPts val="600"/>
                </a:spcAft>
              </a:pP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從泰國的曼谷經由馬來西亞的吉隆坡，通往新加坡，長約</a:t>
              </a:r>
              <a:r>
                <a:rPr lang="en-US" altLang="zh-TW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2,000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公里，連接馬來半島的馬來亞鐵道。一邊觀賞車窗外的熱帶雨林、充滿異國情調的城鎮風景，一邊體驗超越國境的樂趣。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xmlns="" id="{25CCB023-8DA8-4846-98DF-3B8E924E4974}"/>
                </a:ext>
              </a:extLst>
            </p:cNvPr>
            <p:cNvSpPr txBox="1"/>
            <p:nvPr/>
          </p:nvSpPr>
          <p:spPr>
            <a:xfrm>
              <a:off x="604023" y="1428928"/>
              <a:ext cx="12157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smtClean="0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內容</a:t>
              </a:r>
              <a:endParaRPr lang="ja-JP" altLang="en-US" sz="1600" b="1" dirty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xmlns="" id="{043F2CC1-00C4-4D61-9ADE-FEC7661E2825}"/>
                </a:ext>
              </a:extLst>
            </p:cNvPr>
            <p:cNvSpPr txBox="1"/>
            <p:nvPr/>
          </p:nvSpPr>
          <p:spPr>
            <a:xfrm>
              <a:off x="604023" y="4224052"/>
              <a:ext cx="12157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smtClean="0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車窗影像</a:t>
              </a:r>
              <a:endParaRPr lang="ja-JP" altLang="en-US" sz="1600" b="1" dirty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pic>
          <p:nvPicPr>
            <p:cNvPr id="22" name="図 21">
              <a:extLst>
                <a:ext uri="{FF2B5EF4-FFF2-40B4-BE49-F238E27FC236}">
                  <a16:creationId xmlns:a16="http://schemas.microsoft.com/office/drawing/2014/main" xmlns="" id="{545B774F-1963-44D5-872C-DCA920521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2412" y="-5772"/>
              <a:ext cx="1593822" cy="10618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415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xmlns="" id="{6D053B89-ED23-4F4C-B573-0DB41A1B6C68}"/>
              </a:ext>
            </a:extLst>
          </p:cNvPr>
          <p:cNvGrpSpPr/>
          <p:nvPr/>
        </p:nvGrpSpPr>
        <p:grpSpPr>
          <a:xfrm>
            <a:off x="604023" y="-5772"/>
            <a:ext cx="8697953" cy="6529235"/>
            <a:chOff x="604023" y="-5772"/>
            <a:chExt cx="8697953" cy="6529235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604023" y="1788240"/>
              <a:ext cx="8697953" cy="2163123"/>
            </a:xfrm>
            <a:prstGeom prst="rect">
              <a:avLst/>
            </a:prstGeom>
            <a:noFill/>
          </p:spPr>
          <p:txBody>
            <a:bodyPr wrap="square" numCol="1" spcCol="216000" rtlCol="0" anchor="t" anchorCtr="0">
              <a:noAutofit/>
            </a:bodyPr>
            <a:lstStyle/>
            <a:p>
              <a:pPr algn="just"/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改裝成身在飯店的同時，又可以感受到國外列車的旅遊氣氛的房間。房間的形象表現出，通往廣場和列車月台的旅客列車的車廂。</a:t>
              </a:r>
            </a:p>
            <a:p>
              <a:pPr algn="just"/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內部採用充滿摩登且高級質感的設計。可感受到搭乘國外列車的氣氛。雖然不是個寬敞的客房，但仍可以適度的來回走動，給人舒適的感受。</a:t>
              </a:r>
            </a:p>
            <a:p>
              <a:pPr algn="just"/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車內的寬敞窗戶嵌有大畫面的監視器，眺望</a:t>
              </a:r>
              <a:r>
                <a:rPr lang="en-US" altLang="zh-TW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『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車窗</a:t>
              </a:r>
              <a:r>
                <a:rPr lang="en-US" altLang="zh-TW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』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的風景，既爽快且魄力十足。當初準備了國外</a:t>
              </a:r>
              <a:r>
                <a:rPr lang="en-US" altLang="zh-TW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種的車窗內容。</a:t>
              </a:r>
            </a:p>
            <a:p>
              <a:pPr algn="just"/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客房裡有著優閒的時尚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。可以在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兩人獨處的空間裡享受觀賞觀光景點的影像的樂趣。</a:t>
              </a:r>
            </a:p>
            <a:p>
              <a:pPr algn="just"/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亦可協助安排迎賓香檳、玫瑰花束、料理，讓賓客和重要的人一起共度美好的邂逅紀念日或求婚紀念日。</a:t>
              </a:r>
            </a:p>
            <a:p>
              <a:pPr algn="just"/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可入住人數為</a:t>
              </a:r>
              <a:r>
                <a:rPr lang="en-US" altLang="zh-TW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人，但亦可當成</a:t>
              </a:r>
              <a:r>
                <a:rPr lang="en-US" altLang="zh-TW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10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人以內的會議室使用。住宿</a:t>
              </a:r>
              <a:r>
                <a:rPr lang="en-US" altLang="zh-TW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夜，附早餐預定價格為</a:t>
              </a:r>
              <a:r>
                <a:rPr lang="en-US" altLang="zh-TW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萬</a:t>
              </a:r>
              <a:r>
                <a:rPr lang="en-US" altLang="zh-TW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5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千萬日圓。</a:t>
              </a:r>
            </a:p>
            <a:p>
              <a:pPr algn="just"/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房內備有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雙人床、三溫暖、按摩浴缸、電視、</a:t>
              </a:r>
              <a:r>
                <a:rPr lang="en-US" altLang="zh-TW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DVD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播放機、微波爐、咖啡機、網路、冷暖空調，不受任何人干擾，同時又可舒適度過的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設備。</a:t>
              </a:r>
              <a:endParaRPr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xmlns="" id="{5AB6C596-C755-45FA-8369-3ADCD6ECE9C5}"/>
                </a:ext>
              </a:extLst>
            </p:cNvPr>
            <p:cNvSpPr txBox="1"/>
            <p:nvPr/>
          </p:nvSpPr>
          <p:spPr>
            <a:xfrm>
              <a:off x="604024" y="4572213"/>
              <a:ext cx="8697952" cy="1951250"/>
            </a:xfrm>
            <a:prstGeom prst="rect">
              <a:avLst/>
            </a:prstGeom>
            <a:noFill/>
          </p:spPr>
          <p:txBody>
            <a:bodyPr wrap="square" numCol="1" spcCol="216000" rtlCol="0" anchor="t" anchorCtr="0">
              <a:noAutofit/>
            </a:bodyPr>
            <a:lstStyle>
              <a:defPPr>
                <a:defRPr lang="en-US"/>
              </a:defPPr>
              <a:lvl1pPr algn="just">
                <a:defRPr sz="1200">
                  <a:latin typeface="游ゴシック" panose="020B0400000000000000" pitchFamily="50" charset="-128"/>
                  <a:cs typeface="Arial" panose="020B0604020202020204" pitchFamily="34" charset="0"/>
                </a:defRPr>
              </a:lvl1pPr>
            </a:lstStyle>
            <a:p>
              <a:r>
                <a:rPr lang="zh-TW" altLang="en-US" sz="1100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冰河急行（瑞士） </a:t>
              </a:r>
              <a:endParaRPr lang="ja-JP" altLang="en-US" sz="1100" dirty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以世界第一為傲的冰河急行。從太陽城鎮聖莫里茲，到馬特洪峰山腳下的策馬特，全長</a:t>
              </a:r>
              <a:r>
                <a:rPr lang="en-US" altLang="zh-TW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269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公里的絕景路線。縱橫阿爾卑斯山脈地段，從世界頂端通往深山裡。世界旅行者所憧憬的感動美景。</a:t>
              </a:r>
              <a:endPara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endPara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100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霍格華茲特快列車（英國</a:t>
              </a:r>
              <a:r>
                <a:rPr lang="zh-TW" altLang="en-US" sz="1100" smtClean="0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）</a:t>
              </a:r>
              <a:endParaRPr lang="ja-JP" altLang="en-US" sz="1100" dirty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因電影</a:t>
              </a:r>
              <a:r>
                <a:rPr lang="en-US" altLang="zh-TW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『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哈利波特</a:t>
              </a:r>
              <a:r>
                <a:rPr lang="en-US" altLang="zh-TW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』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而聞名的霍格華茲特快列車的行車景色。行駛於蘇格蘭的「詹姆士號」，往返威廉堡和馬萊格之間的</a:t>
              </a:r>
              <a:r>
                <a:rPr lang="en-US" altLang="zh-TW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SL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列車。巡遊蘇格蘭高地的自然風景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連綿不斷。</a:t>
              </a:r>
              <a:endPara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endParaRPr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100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馬來亞鐵道（</a:t>
              </a:r>
              <a:r>
                <a:rPr lang="zh-TW" altLang="en-US" sz="1100" smtClean="0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馬來西亞）</a:t>
              </a:r>
              <a:endParaRPr lang="en-US" altLang="ja-JP" sz="1100" dirty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從泰國的曼谷經由馬來西亞的吉隆坡，通往新加坡，長約</a:t>
              </a:r>
              <a:r>
                <a:rPr lang="en-US" altLang="zh-TW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2,000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公里，連接馬來半島的馬來亞鐵道。一邊觀賞車窗外的熱帶雨林、充滿異國情調的城鎮風景，一邊體驗超越國境的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樂趣。</a:t>
              </a:r>
              <a:endParaRPr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endPara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xmlns="" id="{25CCB023-8DA8-4846-98DF-3B8E924E4974}"/>
                </a:ext>
              </a:extLst>
            </p:cNvPr>
            <p:cNvSpPr txBox="1"/>
            <p:nvPr/>
          </p:nvSpPr>
          <p:spPr>
            <a:xfrm>
              <a:off x="604023" y="1428928"/>
              <a:ext cx="12157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smtClean="0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內容</a:t>
              </a:r>
              <a:endParaRPr lang="ja-JP" altLang="en-US" sz="1600" b="1" dirty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xmlns="" id="{043F2CC1-00C4-4D61-9ADE-FEC7661E2825}"/>
                </a:ext>
              </a:extLst>
            </p:cNvPr>
            <p:cNvSpPr txBox="1"/>
            <p:nvPr/>
          </p:nvSpPr>
          <p:spPr>
            <a:xfrm>
              <a:off x="604023" y="4224052"/>
              <a:ext cx="12157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600" b="1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車窗影像</a:t>
              </a:r>
              <a:endParaRPr lang="ja-JP" altLang="en-US" sz="1600" b="1" dirty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xmlns="" id="{A3661595-74C7-4704-B055-DDBFFBE1489E}"/>
                </a:ext>
              </a:extLst>
            </p:cNvPr>
            <p:cNvSpPr/>
            <p:nvPr/>
          </p:nvSpPr>
          <p:spPr>
            <a:xfrm>
              <a:off x="604024" y="0"/>
              <a:ext cx="8697952" cy="106188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xmlns="" id="{F2F86D0D-B519-41EC-AACD-893A2D7948D9}"/>
                </a:ext>
              </a:extLst>
            </p:cNvPr>
            <p:cNvSpPr txBox="1"/>
            <p:nvPr/>
          </p:nvSpPr>
          <p:spPr>
            <a:xfrm>
              <a:off x="1040782" y="525170"/>
              <a:ext cx="39122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可從</a:t>
              </a:r>
              <a:r>
                <a:rPr lang="en-US" altLang="zh-TW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『</a:t>
              </a:r>
              <a:r>
                <a:rPr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車窗</a:t>
              </a:r>
              <a:r>
                <a:rPr lang="en-US" altLang="zh-TW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』</a:t>
              </a:r>
              <a:r>
                <a:rPr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看到外國的景色</a:t>
              </a:r>
              <a:endParaRPr lang="ja-JP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xmlns="" id="{95D31644-C2FD-493D-84B4-D32DAF2D1603}"/>
                </a:ext>
              </a:extLst>
            </p:cNvPr>
            <p:cNvSpPr txBox="1"/>
            <p:nvPr/>
          </p:nvSpPr>
          <p:spPr>
            <a:xfrm>
              <a:off x="7408582" y="679059"/>
              <a:ext cx="17637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TW" altLang="en-US" sz="1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飯店改裝企劃書</a:t>
              </a:r>
            </a:p>
          </p:txBody>
        </p:sp>
        <p:pic>
          <p:nvPicPr>
            <p:cNvPr id="16" name="図 15">
              <a:extLst>
                <a:ext uri="{FF2B5EF4-FFF2-40B4-BE49-F238E27FC236}">
                  <a16:creationId xmlns:a16="http://schemas.microsoft.com/office/drawing/2014/main" xmlns="" id="{096E528D-77A9-4118-B409-698DDB0BF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2412" y="-5772"/>
              <a:ext cx="1593822" cy="10618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xmlns="" id="{DB5947C7-A8C3-43D8-AA78-633F3FE2D6B9}"/>
              </a:ext>
            </a:extLst>
          </p:cNvPr>
          <p:cNvGrpSpPr/>
          <p:nvPr/>
        </p:nvGrpSpPr>
        <p:grpSpPr>
          <a:xfrm>
            <a:off x="604023" y="0"/>
            <a:ext cx="8697953" cy="6542716"/>
            <a:chOff x="604023" y="0"/>
            <a:chExt cx="8697953" cy="6542716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xmlns="" id="{32F96A8A-D31C-4096-98D5-A28E87AA8B99}"/>
                </a:ext>
              </a:extLst>
            </p:cNvPr>
            <p:cNvSpPr/>
            <p:nvPr/>
          </p:nvSpPr>
          <p:spPr>
            <a:xfrm>
              <a:off x="604024" y="0"/>
              <a:ext cx="8697952" cy="106188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604023" y="1788238"/>
              <a:ext cx="8697953" cy="2192747"/>
            </a:xfrm>
            <a:prstGeom prst="rect">
              <a:avLst/>
            </a:prstGeom>
            <a:noFill/>
          </p:spPr>
          <p:txBody>
            <a:bodyPr wrap="square" numCol="3" spcCol="216000" rtlCol="0" anchor="t" anchorCtr="0">
              <a:noAutofit/>
            </a:bodyPr>
            <a:lstStyle/>
            <a:p>
              <a:pPr algn="just">
                <a:spcAft>
                  <a:spcPts val="600"/>
                </a:spcAft>
              </a:pP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改裝成身在飯店的同時，又可以感受到國外列車的旅遊氣氛的房間。房間的形象表現出，通往廣場和列車月台的旅客列車的車廂。</a:t>
              </a:r>
            </a:p>
            <a:p>
              <a:pPr algn="just">
                <a:spcAft>
                  <a:spcPts val="600"/>
                </a:spcAft>
              </a:pP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內部採用充滿摩登且高級質感的設計。可感受到搭乘國外列車的氣氛。雖然不是個寬敞的客房，但仍可以適度的來回走動，給人舒適的感受。</a:t>
              </a:r>
            </a:p>
            <a:p>
              <a:pPr algn="just">
                <a:spcAft>
                  <a:spcPts val="600"/>
                </a:spcAft>
              </a:pP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車內的寬敞窗戶嵌有大畫面的監視器，眺望</a:t>
              </a:r>
              <a:r>
                <a:rPr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『</a:t>
              </a: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車窗</a:t>
              </a:r>
              <a:r>
                <a:rPr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』</a:t>
              </a: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的風景，既爽快且魄力十足。當初準備了國外</a:t>
              </a:r>
              <a:r>
                <a:rPr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種的車窗內容。</a:t>
              </a:r>
            </a:p>
            <a:p>
              <a:pPr algn="just">
                <a:spcAft>
                  <a:spcPts val="600"/>
                </a:spcAft>
              </a:pP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客房裡有著優閒的時尚</a:t>
              </a: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。可以在</a:t>
              </a: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兩人獨處的空間裡享受觀賞觀光景點的影像的樂趣。</a:t>
              </a:r>
            </a:p>
            <a:p>
              <a:pPr algn="just">
                <a:spcAft>
                  <a:spcPts val="600"/>
                </a:spcAft>
              </a:pP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亦可協助安排迎賓香檳、玫瑰花束、料理，讓賓客和重要的人一起共度美好的邂逅紀念日或求婚紀念日。</a:t>
              </a:r>
            </a:p>
            <a:p>
              <a:pPr algn="just">
                <a:spcAft>
                  <a:spcPts val="600"/>
                </a:spcAft>
              </a:pP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可入住人數為</a:t>
              </a:r>
              <a:r>
                <a:rPr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</a:t>
              </a: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人，但亦可當成</a:t>
              </a:r>
              <a:r>
                <a:rPr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10</a:t>
              </a: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人以內的會議室使用。住宿</a:t>
              </a:r>
              <a:r>
                <a:rPr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夜，附早餐預定價格為</a:t>
              </a:r>
              <a:r>
                <a:rPr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萬</a:t>
              </a:r>
              <a:r>
                <a:rPr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5</a:t>
              </a: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千萬日圓。</a:t>
              </a:r>
            </a:p>
            <a:p>
              <a:pPr algn="just">
                <a:spcAft>
                  <a:spcPts val="600"/>
                </a:spcAft>
              </a:pPr>
              <a:r>
                <a:rPr lang="zh-TW" altLang="en-US" sz="1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房內備有</a:t>
              </a: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雙人床、三溫暖、按摩浴缸、電視、</a:t>
              </a:r>
              <a:r>
                <a:rPr lang="en-US" altLang="zh-TW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DVD</a:t>
              </a:r>
              <a:r>
                <a:rPr lang="zh-TW" altLang="en-US" sz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播放機、微波爐、咖啡機、網路、冷暖空調，不受任何人干擾，同時又可舒適度過的設備。</a:t>
              </a:r>
              <a:endParaRPr lang="ja-JP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1040782" y="525170"/>
              <a:ext cx="39122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可從</a:t>
              </a:r>
              <a:r>
                <a:rPr lang="en-US" altLang="zh-TW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『</a:t>
              </a:r>
              <a:r>
                <a:rPr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車窗</a:t>
              </a:r>
              <a:r>
                <a:rPr lang="en-US" altLang="zh-TW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』</a:t>
              </a:r>
              <a:r>
                <a:rPr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看到外國的景色</a:t>
              </a:r>
              <a:endParaRPr lang="ja-JP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xmlns="" id="{535BEC6C-9BA2-48FA-9F34-B66E8300CD61}"/>
                </a:ext>
              </a:extLst>
            </p:cNvPr>
            <p:cNvSpPr txBox="1"/>
            <p:nvPr/>
          </p:nvSpPr>
          <p:spPr>
            <a:xfrm>
              <a:off x="7408582" y="679059"/>
              <a:ext cx="17637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TW" altLang="en-US" sz="1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飯店改裝企劃書</a:t>
              </a:r>
              <a:endParaRPr lang="ja-JP" altLang="en-US" sz="1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xmlns="" id="{5AB6C596-C755-45FA-8369-3ADCD6ECE9C5}"/>
                </a:ext>
              </a:extLst>
            </p:cNvPr>
            <p:cNvSpPr txBox="1"/>
            <p:nvPr/>
          </p:nvSpPr>
          <p:spPr>
            <a:xfrm>
              <a:off x="683916" y="4393329"/>
              <a:ext cx="5962211" cy="2108778"/>
            </a:xfrm>
            <a:prstGeom prst="rect">
              <a:avLst/>
            </a:prstGeom>
            <a:noFill/>
          </p:spPr>
          <p:txBody>
            <a:bodyPr wrap="square" numCol="2" spcCol="216000" rtlCol="0" anchor="t" anchorCtr="0">
              <a:noAutofit/>
            </a:bodyPr>
            <a:lstStyle>
              <a:defPPr>
                <a:defRPr lang="en-US"/>
              </a:defPPr>
              <a:lvl1pPr indent="88900" algn="just">
                <a:defRPr sz="1200">
                  <a:latin typeface="游ゴシック" panose="020B0400000000000000" pitchFamily="50" charset="-128"/>
                  <a:cs typeface="Arial" panose="020B0604020202020204" pitchFamily="34" charset="0"/>
                </a:defRPr>
              </a:lvl1pPr>
            </a:lstStyle>
            <a:p>
              <a:pPr indent="0">
                <a:spcAft>
                  <a:spcPts val="600"/>
                </a:spcAft>
              </a:pPr>
              <a:r>
                <a:rPr lang="ja-JP" altLang="en-US" sz="900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冰河急行（瑞士</a:t>
              </a:r>
              <a:r>
                <a:rPr lang="ja-JP" altLang="en-US" sz="900" smtClean="0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）</a:t>
              </a:r>
              <a:endParaRPr lang="ja-JP" altLang="en-US" sz="900" dirty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indent="0">
                <a:spcAft>
                  <a:spcPts val="600"/>
                </a:spcAft>
              </a:pP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以世界第一為傲的冰河急行。從太陽城鎮聖莫里茲，到馬特洪峰山腳下的策馬特，全長</a:t>
              </a:r>
              <a:r>
                <a:rPr lang="en-US" altLang="zh-TW" sz="9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269</a:t>
              </a: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公里的絕景路線。縱橫阿爾卑斯山脈地段，從世界頂端通往深山裡。世界旅行者所憧憬的感動美景。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indent="0">
                <a:spcAft>
                  <a:spcPts val="600"/>
                </a:spcAft>
              </a:pPr>
              <a:r>
                <a:rPr lang="zh-TW" altLang="en-US" sz="900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霍格華茲特快列車（</a:t>
              </a:r>
              <a:r>
                <a:rPr lang="zh-TW" altLang="en-US" sz="900" smtClean="0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英國）</a:t>
              </a:r>
              <a:endParaRPr lang="ja-JP" altLang="en-US" sz="900" dirty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indent="0">
                <a:spcAft>
                  <a:spcPts val="600"/>
                </a:spcAft>
              </a:pP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因電影</a:t>
              </a:r>
              <a:r>
                <a:rPr lang="en-US" altLang="zh-TW" sz="9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『</a:t>
              </a: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哈利波特</a:t>
              </a:r>
              <a:r>
                <a:rPr lang="en-US" altLang="zh-TW" sz="9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』</a:t>
              </a: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而聞名的霍格華茲特快列車的行車景色。行駛於蘇格蘭的「詹姆士號」，往返威廉堡和馬萊格之間的</a:t>
              </a:r>
              <a:r>
                <a:rPr lang="en-US" altLang="zh-TW" sz="9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SL</a:t>
              </a: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列車。巡遊蘇格蘭高地的自然風景</a:t>
              </a:r>
              <a:r>
                <a:rPr lang="zh-TW" altLang="en-US" sz="9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連綿不斷。</a:t>
              </a:r>
              <a:endParaRPr lang="ja-JP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indent="0">
                <a:spcAft>
                  <a:spcPts val="600"/>
                </a:spcAft>
              </a:pP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indent="0">
                <a:spcAft>
                  <a:spcPts val="600"/>
                </a:spcAft>
              </a:pPr>
              <a:r>
                <a:rPr lang="zh-TW" altLang="en-US" sz="900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馬來亞鐵道（馬來西亞</a:t>
              </a:r>
              <a:r>
                <a:rPr lang="ja-JP" altLang="en-US" sz="900" smtClean="0">
                  <a:solidFill>
                    <a:schemeClr val="tx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）</a:t>
              </a:r>
              <a:endParaRPr lang="en-US" altLang="ja-JP" sz="900" dirty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indent="0">
                <a:spcAft>
                  <a:spcPts val="600"/>
                </a:spcAft>
              </a:pP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從泰國的曼谷經由馬來西亞的吉隆坡，通往新加坡，長約</a:t>
              </a:r>
              <a:r>
                <a:rPr lang="en-US" altLang="zh-TW" sz="9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2,000</a:t>
              </a: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公里，連接馬來半島的馬來亞鐵道。一邊觀賞車窗外的熱帶雨林、充滿異國情調的城鎮風景，一邊體驗超越國境的</a:t>
              </a:r>
              <a:r>
                <a:rPr lang="zh-TW" altLang="en-US" sz="9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樂趣。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indent="0">
                <a:spcAft>
                  <a:spcPts val="600"/>
                </a:spcAft>
              </a:pPr>
              <a:r>
                <a:rPr lang="zh-TW" altLang="en-US" sz="9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尼羅河快車（埃及）</a:t>
              </a:r>
              <a:endParaRPr lang="ja-JP" altLang="en-US" sz="900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indent="0">
                <a:spcAft>
                  <a:spcPts val="600"/>
                </a:spcAft>
              </a:pPr>
              <a:r>
                <a:rPr lang="zh-TW" altLang="en-US" sz="9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往返因</a:t>
              </a:r>
              <a:r>
                <a:rPr lang="ja-JP" altLang="en-US" sz="9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圖</a:t>
              </a:r>
              <a:r>
                <a:rPr lang="ja-JP" altLang="en-US" sz="9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坦卡</a:t>
              </a:r>
              <a:r>
                <a:rPr lang="ja-JP" altLang="en-US" sz="9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門</a:t>
              </a:r>
              <a:r>
                <a:rPr lang="zh-TW" altLang="en-US" sz="9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而聞名的王家之谷</a:t>
              </a: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盧克索，和有名的三座大</a:t>
              </a:r>
              <a:r>
                <a:rPr lang="zh-TW" altLang="en-US" sz="9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金字塔</a:t>
              </a: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吉</a:t>
              </a:r>
              <a:r>
                <a:rPr lang="zh-TW" altLang="en-US" sz="9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薩之間。</a:t>
              </a:r>
              <a:r>
                <a:rPr lang="zh-TW" altLang="en-US" sz="9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吉</a:t>
              </a:r>
              <a:r>
                <a:rPr lang="zh-TW" altLang="en-US" sz="9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薩是在約</a:t>
              </a:r>
              <a:r>
                <a:rPr lang="en-US" altLang="ja-JP" sz="9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4500</a:t>
              </a:r>
              <a:r>
                <a:rPr lang="zh-TW" altLang="en-US" sz="9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年前相當繁榮的三大金字塔的知名都市。享受讓人憶起超過</a:t>
              </a:r>
              <a:r>
                <a:rPr lang="en-US" altLang="ja-JP" sz="9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2000</a:t>
              </a:r>
              <a:r>
                <a:rPr lang="zh-TW" altLang="en-US" sz="9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年時空之悠久歷史的異國列車之旅。</a:t>
              </a:r>
              <a:endParaRPr lang="en-US" altLang="ja-JP" sz="9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xmlns="" id="{25CCB023-8DA8-4846-98DF-3B8E924E4974}"/>
                </a:ext>
              </a:extLst>
            </p:cNvPr>
            <p:cNvSpPr txBox="1"/>
            <p:nvPr/>
          </p:nvSpPr>
          <p:spPr>
            <a:xfrm>
              <a:off x="604023" y="1428928"/>
              <a:ext cx="12157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600" b="1" dirty="0">
                  <a:solidFill>
                    <a:schemeClr val="accent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内容</a:t>
              </a: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xmlns="" id="{22A6B57D-9362-4904-82D7-73063B83D8CF}"/>
                </a:ext>
              </a:extLst>
            </p:cNvPr>
            <p:cNvSpPr/>
            <p:nvPr/>
          </p:nvSpPr>
          <p:spPr>
            <a:xfrm>
              <a:off x="604023" y="4224052"/>
              <a:ext cx="6121998" cy="2318664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xmlns="" id="{043F2CC1-00C4-4D61-9ADE-FEC7661E2825}"/>
                </a:ext>
              </a:extLst>
            </p:cNvPr>
            <p:cNvSpPr txBox="1"/>
            <p:nvPr/>
          </p:nvSpPr>
          <p:spPr>
            <a:xfrm>
              <a:off x="822402" y="4102261"/>
              <a:ext cx="778963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000" smtClean="0">
                  <a:solidFill>
                    <a:schemeClr val="accent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車窗影像</a:t>
              </a:r>
              <a:endParaRPr lang="ja-JP" altLang="en-US" sz="1000" dirty="0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xmlns="" id="{39832CD0-3757-48A7-95AC-647EFFF4EA45}"/>
                </a:ext>
              </a:extLst>
            </p:cNvPr>
            <p:cNvSpPr/>
            <p:nvPr/>
          </p:nvSpPr>
          <p:spPr>
            <a:xfrm>
              <a:off x="6983576" y="4224052"/>
              <a:ext cx="2318400" cy="2318664"/>
            </a:xfrm>
            <a:prstGeom prst="rect">
              <a:avLst/>
            </a:prstGeom>
            <a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 l="-25055" r="-2505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6056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</TotalTime>
  <Words>1347</Words>
  <Application>Microsoft Office PowerPoint</Application>
  <PresentationFormat>A4 紙張 (210x297 公釐)</PresentationFormat>
  <Paragraphs>60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32</cp:revision>
  <dcterms:created xsi:type="dcterms:W3CDTF">2017-11-09T07:26:57Z</dcterms:created>
  <dcterms:modified xsi:type="dcterms:W3CDTF">2018-10-01T01:35:34Z</dcterms:modified>
</cp:coreProperties>
</file>